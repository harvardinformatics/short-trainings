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7" r:id="rId10"/>
    <p:sldId id="266" r:id="rId11"/>
    <p:sldId id="268" r:id="rId12"/>
    <p:sldId id="269" r:id="rId13"/>
    <p:sldId id="270" r:id="rId14"/>
    <p:sldId id="275" r:id="rId15"/>
    <p:sldId id="271" r:id="rId16"/>
    <p:sldId id="272" r:id="rId17"/>
    <p:sldId id="274" r:id="rId18"/>
    <p:sldId id="279" r:id="rId19"/>
    <p:sldId id="278" r:id="rId20"/>
    <p:sldId id="287" r:id="rId21"/>
    <p:sldId id="282" r:id="rId22"/>
    <p:sldId id="280" r:id="rId23"/>
    <p:sldId id="284" r:id="rId24"/>
    <p:sldId id="283" r:id="rId25"/>
    <p:sldId id="277" r:id="rId26"/>
    <p:sldId id="288" r:id="rId27"/>
    <p:sldId id="286" r:id="rId28"/>
    <p:sldId id="276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95"/>
    <p:restoredTop sz="94795"/>
  </p:normalViewPr>
  <p:slideViewPr>
    <p:cSldViewPr snapToGrid="0">
      <p:cViewPr varScale="1">
        <p:scale>
          <a:sx n="82" d="100"/>
          <a:sy n="82" d="100"/>
        </p:scale>
        <p:origin x="192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93F27-609C-2446-8993-2F40C57A4F30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F9A82-992B-1546-A14C-4462D2BE9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122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39AFE-2C7E-834C-86CA-92AF0474549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65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9CD3E-1E3F-0368-619F-168F5C4C0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EBDE6-DC76-E8A1-7DBC-E7019CF3C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95814-7235-C779-F35C-208CCABBF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B7B66-AF92-E194-8EDC-2298EA6DE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F9A82-992B-1546-A14C-4462D2BE985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90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0803-5DF5-9460-DC7B-68F9A5EC7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A76BE-C281-F33C-8714-088589FC6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2F4D0-C216-A160-6151-1AD729EA6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D2CF2-840B-0AB1-56B8-60DF85639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F9A82-992B-1546-A14C-4462D2BE985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26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9BED9-962A-9467-FB20-9F5E0443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816A5-0BE0-F31C-E16E-01CB02DE2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092E4-5E11-F04F-4BD8-D7CBDC9D5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B7007-780F-CC2C-2047-EDFD332D1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F9A82-992B-1546-A14C-4462D2BE985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79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686A3-01B4-B67C-119F-E66A3183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5B008-CC05-ADFC-460D-78E64EE60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96484-1D06-9B6F-A15E-72428E1B7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085A8-ACB6-2F89-AE30-1FC12EBD1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F9A82-992B-1546-A14C-4462D2BE985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5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CF88A-CC87-95BD-C7AF-4B39557FD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EA780-9220-3B47-13A9-5556F2769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1C982-2690-73B1-9500-1D58FA4FB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CCAEB-FD07-7B39-15D9-206C0B0D9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F9A82-992B-1546-A14C-4462D2BE985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54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37E22-E2BD-41E6-48D0-B9B438981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60674-87E2-2A46-CCB3-9032285F8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7D734-49A4-3C90-2E0E-F1CD44924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46042-47D0-83DA-0E3F-750EC770B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F9A82-992B-1546-A14C-4462D2BE985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29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F5EF1-269A-87AE-653B-E6F518F2B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7D69B-B9B5-D39D-B0BC-4B4DA5C35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76688-16D4-CBD0-FC3C-F40308B2B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A4D30-8E3A-6961-5E31-56C16C443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F9A82-992B-1546-A14C-4462D2BE985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70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2B62D-2E3D-20ED-7F7A-B06BD83E4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871DC-B9A9-659C-9EBC-7E4C1F966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7675C-78E3-FF3A-18AC-B47B8FA4B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173ED-693F-39C8-37B9-3CC46D00B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F9A82-992B-1546-A14C-4462D2BE985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3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F1E2F-6EC0-5630-D309-DE5B1751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0F0CD-CF56-FF90-0736-26BE549F4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E3867-3F14-F810-AD8F-60EFC36B2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EB5C6-315D-9E42-B0C5-C40C4E305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F9A82-992B-1546-A14C-4462D2BE985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71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41F59-ADF0-C0A8-7FE3-94053A45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4446E-84B8-8A25-3B6E-791BC8758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7FEE74-66DB-2549-291E-F6F0A6965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0D8E0-9359-ED13-7458-158B807BB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F9A82-992B-1546-A14C-4462D2BE985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3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80917-5E7D-C8A6-9DFC-F9B91A4A5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90187-2EDD-CB8C-9AB2-5189E6FA0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E8148-55E3-98DD-2992-6A97C76BF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AC2A5-7C89-AE24-01D8-EB7BDA32F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F9A82-992B-1546-A14C-4462D2BE985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68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3672-72C4-2AD0-88D2-D3B4B80B0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0C6FC-6665-84A8-7097-065E1B40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28AEF-C15B-9629-2A3C-E18C18914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A642-9034-854F-BB24-AEADA1F8496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92EC6-66E6-6526-467F-713B37619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E25BC-F2E6-8FF4-9EB6-1F0F9D22A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344B-B748-9748-99B4-333F37F1E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4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B22A6-9097-F4E7-2FCE-F016513F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2C7A9-88B0-678C-536B-DC68767F1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ACFE4-6103-3048-8AF1-966FF5A0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A642-9034-854F-BB24-AEADA1F8496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F9A1E-5434-85EB-D9D3-30460ED7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390AD-B950-F458-DADB-8EF54F080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344B-B748-9748-99B4-333F37F1E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4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13698-8378-5824-5B96-05EE76F26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BE579-0408-CEB6-603A-17443FB71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A8A0-5802-3EDF-1036-17DB22C36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A642-9034-854F-BB24-AEADA1F8496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1234E-D7F7-9433-D4F7-A2AAC39B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65F6C-6A18-0579-B251-C667D595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344B-B748-9748-99B4-333F37F1E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24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B05EE-33A2-4402-686C-48B7B65D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BA53A-BB85-2D26-C1F8-6418B7DB2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7ED46-BC06-C6A6-E5D9-C3D3DE88C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E825B-015C-6E9B-842A-E7C1E87DB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A642-9034-854F-BB24-AEADA1F8496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7A0F3-52B7-BC83-6948-DA29AF76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32732-503A-651B-B19B-7690D99A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344B-B748-9748-99B4-333F37F1E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60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3DAC-EF55-1D2B-1D87-CB82A8AA8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53551-B9F4-1627-34EA-287478E44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896C5-F665-7D5C-FA73-1D78697DD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3450E-A0D9-768D-3A05-513E475598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8F47DA-91DD-F1CC-072C-1340158A3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02DA6C-F859-7798-765E-33D5234D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A642-9034-854F-BB24-AEADA1F8496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9993A-CD92-B411-2680-06E2F56A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E1DEED-D637-E182-76E4-D84C9644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344B-B748-9748-99B4-333F37F1E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99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0094-BA29-A542-5C29-F8B64FD8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674FF6-9811-9FF5-3B8F-496C896B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A642-9034-854F-BB24-AEADA1F8496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C72B4-6549-B660-09CA-F453CA537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0BFA6-A180-F614-B153-0F857A21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344B-B748-9748-99B4-333F37F1E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5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A61B5-EAF0-9DC5-5CA4-D928F8D8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A642-9034-854F-BB24-AEADA1F8496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A0DAC9-7A3F-4417-E8C2-58DEB314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75FBA-D6F1-6A71-43AE-1525B05D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344B-B748-9748-99B4-333F37F1E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43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919CF-70C2-D80E-E041-F07722D27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59BD2-6E92-26BC-FB13-ABDCC2CF6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C54F4-D45E-3FEC-5515-10606C5CE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85F5E-8704-0193-F8C1-AEC1F17DC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A642-9034-854F-BB24-AEADA1F8496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EEC99-F4B4-4BBD-61B2-4F103C8AC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6E66B-872C-8B20-2698-C244DDBA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344B-B748-9748-99B4-333F37F1E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1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4DD9-7CC3-DA55-EDBC-1B631B797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10A6C2-6ABB-25AF-AEBA-3ECE307F4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77FBC-1D4A-151C-7665-C52F7129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EF1EA-481C-9D8D-B713-6B6D7E059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A642-9034-854F-BB24-AEADA1F8496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42F34-9CF7-2000-0048-06C3A9B8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65D63-64F1-9692-03A6-9332E03E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344B-B748-9748-99B4-333F37F1E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79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0813A-AD3C-55AA-2AB6-9885AA398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F145E1-228A-74B6-DFD6-DBF3665EC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A84C5-AAB5-8069-7AE6-EF47A95C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A642-9034-854F-BB24-AEADA1F8496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A1FF0-FFAD-16AD-44CA-B0ECA6CC9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7A0F5-F824-E947-D6F2-D07CD4D4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344B-B748-9748-99B4-333F37F1E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1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1B16D-ADF9-5C6D-F190-13B57454A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0CDF4-88BD-3A1D-4B5E-485F5EC98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97DEE-0FDA-5FF6-9318-9F4B8C24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A642-9034-854F-BB24-AEADA1F8496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1739-D703-9A68-A5B6-0055157D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A754A-04CA-BD98-70E0-9EFD4D2A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344B-B748-9748-99B4-333F37F1E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47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9BAFB3-A357-460E-4C55-0B1B81B9A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9F90-D20E-31A5-786C-2630EA370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9F879-6566-8A77-33FA-4F01DCC1C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52A642-9034-854F-BB24-AEADA1F8496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03B6B-CC4A-BFC2-9AA1-50AA5D276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68D78-9A08-8B48-E482-2244C3667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62344B-B748-9748-99B4-333F37F1E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5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angnengCSU/compleas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vardinformatics/AnnotationRNAseqAssembl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arvardinformatics/AnnotationBRAK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CEEE3-815F-C14B-7B41-E2D48C6FEC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Introduction to Genome Annotation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48957-3C60-03DB-F6B6-4887E1BF4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89952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05 March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B4F41-2215-84E1-96FB-E37038BA3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12" y="5349876"/>
            <a:ext cx="1323024" cy="13230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03E2C3-937B-7F39-4BA5-DE8ADA457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270" y="5516513"/>
            <a:ext cx="3849026" cy="98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245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34C02F-2ED7-E1C4-B6D3-E04945119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Helvetica Light" panose="020B0403020202020204" pitchFamily="34" charset="0"/>
              </a:rPr>
              <a:t>Workshop 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04BF7C-613B-4EC7-EA77-679F8C1B2664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00D54B-9804-559E-9D05-1327A09DD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sz="3200" dirty="0">
                <a:latin typeface="Helvetica Light" panose="020B0403020202020204" pitchFamily="34" charset="0"/>
              </a:rPr>
              <a:t>Gain an understanding of what a genome annotation is and the general approaches for generating an annotation</a:t>
            </a:r>
          </a:p>
          <a:p>
            <a:r>
              <a:rPr lang="en-US" sz="3200" dirty="0">
                <a:latin typeface="Helvetica Light" panose="020B0403020202020204" pitchFamily="34" charset="0"/>
              </a:rPr>
              <a:t>Enable you to pick an appropriate genome annotation method based upon your research needs and available genomic resources</a:t>
            </a:r>
          </a:p>
          <a:p>
            <a:r>
              <a:rPr lang="en-US" sz="3200" dirty="0">
                <a:latin typeface="Helvetica Light" panose="020B0403020202020204" pitchFamily="34" charset="0"/>
              </a:rPr>
              <a:t>Develop an understanding of quality assessment metrics necessary to determine whether your annotation is any good</a:t>
            </a:r>
          </a:p>
        </p:txBody>
      </p:sp>
    </p:spTree>
    <p:extLst>
      <p:ext uri="{BB962C8B-B14F-4D97-AF65-F5344CB8AC3E}">
        <p14:creationId xmlns:p14="http://schemas.microsoft.com/office/powerpoint/2010/main" val="95695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DA1CE-67FD-0876-DD38-3CB18C82C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9936CC-8E61-2324-64FA-C95A43B9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Helvetica Light" panose="020B0403020202020204" pitchFamily="34" charset="0"/>
              </a:rPr>
              <a:t>What is not covered in this workshop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F5630F-9CCD-0C00-A095-2C62DB366EF4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F9F6703-4353-B7E5-3338-212673B5D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sz="3200" dirty="0">
                <a:latin typeface="Helvetica Light" panose="020B0403020202020204" pitchFamily="34" charset="0"/>
              </a:rPr>
              <a:t>Live-coding implementation of any recommended tools</a:t>
            </a:r>
          </a:p>
          <a:p>
            <a:r>
              <a:rPr lang="en-US" sz="3200" dirty="0">
                <a:latin typeface="Helvetica Light" panose="020B0403020202020204" pitchFamily="34" charset="0"/>
              </a:rPr>
              <a:t>Obtaining functional information such as Gene Ontology (GO) terms or gene symbols</a:t>
            </a:r>
          </a:p>
        </p:txBody>
      </p:sp>
    </p:spTree>
    <p:extLst>
      <p:ext uri="{BB962C8B-B14F-4D97-AF65-F5344CB8AC3E}">
        <p14:creationId xmlns:p14="http://schemas.microsoft.com/office/powerpoint/2010/main" val="427186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66905-859B-B652-58F2-098A4112E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6C0FB6-1BDA-8C87-A0E5-ED501359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Helvetica Light" panose="020B0403020202020204" pitchFamily="34" charset="0"/>
              </a:rPr>
              <a:t>What we mean by genome annotation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55492-F064-6EF3-E260-1BAF44444A9D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FDE301-28CC-55E4-AC52-0EA0F73D4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sz="3200" dirty="0">
                <a:latin typeface="Helvetica Light" panose="020B0403020202020204" pitchFamily="34" charset="0"/>
              </a:rPr>
              <a:t>The prediction of transcript intervals for a genome, including higher level structures (genes) and transcript constituent parts, e.g.</a:t>
            </a:r>
          </a:p>
          <a:p>
            <a:pPr lvl="1"/>
            <a:r>
              <a:rPr lang="en-US" sz="2800" dirty="0">
                <a:latin typeface="Helvetica Light" panose="020B0403020202020204" pitchFamily="34" charset="0"/>
              </a:rPr>
              <a:t> exons</a:t>
            </a:r>
          </a:p>
          <a:p>
            <a:pPr lvl="1"/>
            <a:r>
              <a:rPr lang="en-US" sz="2800" dirty="0">
                <a:latin typeface="Helvetica Light" panose="020B0403020202020204" pitchFamily="34" charset="0"/>
              </a:rPr>
              <a:t>coding portions of exons (CDS) </a:t>
            </a:r>
          </a:p>
          <a:p>
            <a:pPr lvl="1"/>
            <a:r>
              <a:rPr lang="en-US" sz="2800" dirty="0">
                <a:latin typeface="Helvetica Light" panose="020B0403020202020204" pitchFamily="34" charset="0"/>
              </a:rPr>
              <a:t>UTRs</a:t>
            </a:r>
          </a:p>
          <a:p>
            <a:pPr lvl="1"/>
            <a:r>
              <a:rPr lang="en-US" sz="2800" dirty="0">
                <a:latin typeface="Helvetica Light" panose="020B0403020202020204" pitchFamily="34" charset="0"/>
              </a:rPr>
              <a:t>start and stop codons</a:t>
            </a:r>
          </a:p>
          <a:p>
            <a:r>
              <a:rPr lang="en-US" sz="3200" dirty="0">
                <a:latin typeface="Helvetica Light" panose="020B0403020202020204" pitchFamily="34" charset="0"/>
              </a:rPr>
              <a:t>Obtaining functional information using resources such as </a:t>
            </a:r>
            <a:r>
              <a:rPr lang="en-US" sz="3200" dirty="0" err="1">
                <a:latin typeface="Helvetica Light" panose="020B0403020202020204" pitchFamily="34" charset="0"/>
              </a:rPr>
              <a:t>eggNOG</a:t>
            </a:r>
            <a:r>
              <a:rPr lang="en-US" sz="3200" dirty="0">
                <a:latin typeface="Helvetica Light" panose="020B0403020202020204" pitchFamily="34" charset="0"/>
              </a:rPr>
              <a:t>-Mapper is NOT covered today</a:t>
            </a:r>
          </a:p>
        </p:txBody>
      </p:sp>
    </p:spTree>
    <p:extLst>
      <p:ext uri="{BB962C8B-B14F-4D97-AF65-F5344CB8AC3E}">
        <p14:creationId xmlns:p14="http://schemas.microsoft.com/office/powerpoint/2010/main" val="376820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BC86D-9E3E-E8EC-CA5B-3D194C51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1C0A642-3882-0C07-D332-43FEA9CE5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An annotation of the coqui frog (</a:t>
            </a:r>
            <a:r>
              <a:rPr lang="en-US" sz="3200" dirty="0" err="1">
                <a:latin typeface="Helvetica Light" panose="020B0403020202020204" pitchFamily="34" charset="0"/>
              </a:rPr>
              <a:t>Eleuthrodactylus</a:t>
            </a:r>
            <a:r>
              <a:rPr lang="en-US" sz="3200" dirty="0">
                <a:latin typeface="Helvetica Light" panose="020B0403020202020204" pitchFamily="34" charset="0"/>
              </a:rPr>
              <a:t> coqui)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5873F4-8B42-04BA-92E2-1AE6FFE4B5D9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423A16A-897D-C8DE-269B-DD056789B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98" y="1690686"/>
            <a:ext cx="10569005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16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0AFDA-7A15-D311-10C5-D7EE0533E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C79EB9-0A24-DEB4-49E2-0E25FBCC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The (somewhat confusing) anatomy of </a:t>
            </a:r>
            <a:r>
              <a:rPr lang="en-US" sz="3200" dirty="0" err="1">
                <a:latin typeface="Helvetica Light" panose="020B0403020202020204" pitchFamily="34" charset="0"/>
              </a:rPr>
              <a:t>gtf</a:t>
            </a:r>
            <a:r>
              <a:rPr lang="en-US" sz="3200" dirty="0">
                <a:latin typeface="Helvetica Light" panose="020B0403020202020204" pitchFamily="34" charset="0"/>
              </a:rPr>
              <a:t>/gff3 files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D9976C-7938-8CF4-B78D-249BC9B4D190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71EC4F8-A38E-05BA-9D6A-82ED30A30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396454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sz="3200" dirty="0" err="1">
                <a:latin typeface="Helvetica Light" panose="020B0403020202020204" pitchFamily="34" charset="0"/>
              </a:rPr>
              <a:t>gtf</a:t>
            </a:r>
            <a:r>
              <a:rPr lang="en-US" sz="3200" dirty="0">
                <a:latin typeface="Helvetica Light" panose="020B0403020202020204" pitchFamily="34" charset="0"/>
              </a:rPr>
              <a:t> and gff3 files contain 9 tab-separated columns</a:t>
            </a:r>
            <a:endParaRPr lang="en-US" dirty="0">
              <a:latin typeface="Helvetica Light" panose="020B0403020202020204" pitchFamily="34" charset="0"/>
            </a:endParaRPr>
          </a:p>
          <a:p>
            <a:pPr lvl="1"/>
            <a:r>
              <a:rPr lang="en-US" sz="2800" dirty="0">
                <a:latin typeface="Helvetica Light" panose="020B0403020202020204" pitchFamily="34" charset="0"/>
              </a:rPr>
              <a:t>Gff3 is the current standard although some tools still output </a:t>
            </a:r>
            <a:r>
              <a:rPr lang="en-US" sz="2800" dirty="0" err="1">
                <a:latin typeface="Helvetica Light" panose="020B0403020202020204" pitchFamily="34" charset="0"/>
              </a:rPr>
              <a:t>gtf</a:t>
            </a:r>
            <a:endParaRPr lang="en-US" sz="2800" dirty="0">
              <a:latin typeface="Helvetica Light" panose="020B0403020202020204" pitchFamily="34" charset="0"/>
            </a:endParaRPr>
          </a:p>
          <a:p>
            <a:pPr lvl="1"/>
            <a:r>
              <a:rPr lang="en-US" sz="2800" b="1" dirty="0" err="1">
                <a:latin typeface="Helvetica Light" panose="020B0403020202020204" pitchFamily="34" charset="0"/>
              </a:rPr>
              <a:t>seqname</a:t>
            </a:r>
            <a:r>
              <a:rPr lang="en-US" sz="2800" b="1" dirty="0">
                <a:latin typeface="Helvetica Light" panose="020B0403020202020204" pitchFamily="34" charset="0"/>
              </a:rPr>
              <a:t>, source, feature, start, end, score, strand, frame, attribute</a:t>
            </a:r>
          </a:p>
          <a:p>
            <a:r>
              <a:rPr lang="en-US" sz="3200" b="1" dirty="0">
                <a:latin typeface="Helvetica Light" panose="020B0403020202020204" pitchFamily="34" charset="0"/>
              </a:rPr>
              <a:t>Not all annotations include the same features</a:t>
            </a:r>
          </a:p>
          <a:p>
            <a:pPr lvl="1"/>
            <a:r>
              <a:rPr lang="en-US" sz="2800" b="1" dirty="0">
                <a:latin typeface="Helvetica Light" panose="020B0403020202020204" pitchFamily="34" charset="0"/>
              </a:rPr>
              <a:t>Some don’t include CDS</a:t>
            </a:r>
          </a:p>
          <a:p>
            <a:pPr lvl="1"/>
            <a:r>
              <a:rPr lang="en-US" sz="2800" b="1" dirty="0">
                <a:latin typeface="Helvetica Light" panose="020B0403020202020204" pitchFamily="34" charset="0"/>
              </a:rPr>
              <a:t>Some include, e.g.:</a:t>
            </a:r>
          </a:p>
          <a:p>
            <a:pPr lvl="2"/>
            <a:r>
              <a:rPr lang="en-US" sz="2400" b="1" dirty="0">
                <a:latin typeface="Helvetica Light" panose="020B0403020202020204" pitchFamily="34" charset="0"/>
              </a:rPr>
              <a:t>Introns</a:t>
            </a:r>
          </a:p>
          <a:p>
            <a:pPr lvl="2"/>
            <a:r>
              <a:rPr lang="en-US" sz="2400" b="1" dirty="0">
                <a:latin typeface="Helvetica Light" panose="020B0403020202020204" pitchFamily="34" charset="0"/>
              </a:rPr>
              <a:t>Various classes of small or non-coding RNAs</a:t>
            </a:r>
          </a:p>
          <a:p>
            <a:r>
              <a:rPr lang="en-US" sz="3200" dirty="0">
                <a:latin typeface="Helvetica Light" panose="020B0403020202020204" pitchFamily="34" charset="0"/>
              </a:rPr>
              <a:t>Files often violate the standard!</a:t>
            </a:r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3200" dirty="0">
                <a:latin typeface="Helvetica Light" panose="020B0403020202020204" pitchFamily="34" charset="0"/>
              </a:rPr>
              <a:t>NCBI human genome annotation example</a:t>
            </a:r>
          </a:p>
          <a:p>
            <a:pPr lvl="1"/>
            <a:r>
              <a:rPr lang="en-US" dirty="0"/>
              <a:t>GCF_000001405.39_GRCh38.p13_genomic.gff</a:t>
            </a:r>
          </a:p>
          <a:p>
            <a:pPr marL="457200" lvl="1" indent="0">
              <a:buNone/>
            </a:pPr>
            <a:r>
              <a:rPr lang="en-US" sz="2800" dirty="0">
                <a:latin typeface="Helvetica Light" panose="020B0403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634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7734C-F6AB-2062-5144-F282FB2E5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A82F24-C410-1231-F565-A9617D0CF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err="1">
                <a:latin typeface="Helvetica Light" panose="020B0403020202020204" pitchFamily="34" charset="0"/>
              </a:rPr>
              <a:t>Gff</a:t>
            </a:r>
            <a:r>
              <a:rPr lang="en-US" sz="3200" dirty="0">
                <a:latin typeface="Helvetica Light" panose="020B0403020202020204" pitchFamily="34" charset="0"/>
              </a:rPr>
              <a:t> files continued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11B1AA-2C3E-C7BE-BAC3-076A2D357324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21DF4C-D32D-4041-2C69-5354FDDFC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20"/>
            <a:ext cx="10515600" cy="27718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One can find CDS annotations without a specified frame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Transcript features may have an ambiguous strand (“?” or “.”)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What’s in the attribute feature is highly variable among annotations that derive from different sources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Contrast the NCBI gff3 with one produced by converting a </a:t>
            </a:r>
            <a:r>
              <a:rPr lang="en-US" sz="2400" dirty="0" err="1">
                <a:latin typeface="Helvetica Light" panose="020B0403020202020204" pitchFamily="34" charset="0"/>
              </a:rPr>
              <a:t>Stringtie</a:t>
            </a:r>
            <a:r>
              <a:rPr lang="en-US" sz="2400" dirty="0">
                <a:latin typeface="Helvetica Light" panose="020B0403020202020204" pitchFamily="34" charset="0"/>
              </a:rPr>
              <a:t> </a:t>
            </a:r>
            <a:r>
              <a:rPr lang="en-US" sz="2400" dirty="0" err="1">
                <a:latin typeface="Helvetica Light" panose="020B0403020202020204" pitchFamily="34" charset="0"/>
              </a:rPr>
              <a:t>gtf</a:t>
            </a:r>
            <a:r>
              <a:rPr lang="en-US" sz="2400" dirty="0">
                <a:latin typeface="Helvetica Light" panose="020B0403020202020204" pitchFamily="34" charset="0"/>
              </a:rPr>
              <a:t> to gff3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32616-F909-8C52-44ED-40754E48278B}"/>
              </a:ext>
            </a:extLst>
          </p:cNvPr>
          <p:cNvSpPr txBox="1"/>
          <p:nvPr/>
        </p:nvSpPr>
        <p:spPr>
          <a:xfrm>
            <a:off x="838200" y="4405524"/>
            <a:ext cx="101213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gffread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human_stringtie-hisat2_merge.gtf -o human_stringtie-hisat2_merge.gff3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##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gff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-version 3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NC_000001.11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StringTie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transcript 14359 16856 1000.00 - . ID=MSTRG.1.1;geneID=MSTRG.1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NC_000001.11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StringTie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exon 14359 14829 1000.00 - . Parent=MSTRG.1.1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NC_000001.11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StringTie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exon 14970 15038 1000.00 - . Parent=MSTRG.1.1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NC_000001.11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StringTie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exon 15796 15947 1000.00 - . Parent=MSTRG.1.1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NC_000001.11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StringTie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exon 16607 16856 1000.00 - . Parent=MSTRG.1.1</a:t>
            </a:r>
          </a:p>
          <a:p>
            <a:endParaRPr lang="en-US" sz="1400" dirty="0">
              <a:latin typeface="Helvetica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A3BD09-6993-E177-7ADA-B9CC20DBF05E}"/>
              </a:ext>
            </a:extLst>
          </p:cNvPr>
          <p:cNvSpPr/>
          <p:nvPr/>
        </p:nvSpPr>
        <p:spPr>
          <a:xfrm>
            <a:off x="8375374" y="4797286"/>
            <a:ext cx="781878" cy="47259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8F5300-D92D-1ECB-2A38-345A3F81215D}"/>
              </a:ext>
            </a:extLst>
          </p:cNvPr>
          <p:cNvCxnSpPr/>
          <p:nvPr/>
        </p:nvCxnSpPr>
        <p:spPr>
          <a:xfrm flipH="1" flipV="1">
            <a:off x="8971722" y="5269879"/>
            <a:ext cx="954156" cy="653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1CB1B7-53B4-B6FB-9644-C17FBB62B835}"/>
              </a:ext>
            </a:extLst>
          </p:cNvPr>
          <p:cNvSpPr txBox="1"/>
          <p:nvPr/>
        </p:nvSpPr>
        <p:spPr>
          <a:xfrm>
            <a:off x="8865704" y="5923722"/>
            <a:ext cx="287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should be ”Parent” !!</a:t>
            </a:r>
          </a:p>
        </p:txBody>
      </p:sp>
    </p:spTree>
    <p:extLst>
      <p:ext uri="{BB962C8B-B14F-4D97-AF65-F5344CB8AC3E}">
        <p14:creationId xmlns:p14="http://schemas.microsoft.com/office/powerpoint/2010/main" val="1195615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04CAAD-8328-A720-9F4B-906FD7610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Helvetica Light" panose="020B0403020202020204" pitchFamily="34" charset="0"/>
              </a:rPr>
              <a:t>How do genome annotation tools work?</a:t>
            </a:r>
          </a:p>
        </p:txBody>
      </p:sp>
    </p:spTree>
    <p:extLst>
      <p:ext uri="{BB962C8B-B14F-4D97-AF65-F5344CB8AC3E}">
        <p14:creationId xmlns:p14="http://schemas.microsoft.com/office/powerpoint/2010/main" val="2386719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4B3E8-3F29-6E92-B734-EE7C8B437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5FAEC9-244E-9163-7893-AC12E327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Three flavors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B9290B-CD26-8D99-6EE3-8335C688B9D3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90374CA-07E0-7040-6D93-391819ED9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396454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sz="3200" dirty="0">
                <a:latin typeface="Helvetica Light" panose="020B0403020202020204" pitchFamily="34" charset="0"/>
              </a:rPr>
              <a:t>Hidden Markov Model (HMM) approaches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Scans the genome sequence and identifies genomic positions that switch between protein-coding (CDS) and non-coding status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Can use evidence from protein-to-genome or RNA-seq reads/transcripts to genome to guide HMMs</a:t>
            </a:r>
          </a:p>
          <a:p>
            <a:r>
              <a:rPr lang="en-US" dirty="0">
                <a:latin typeface="Helvetica Light" panose="020B0403020202020204" pitchFamily="34" charset="0"/>
              </a:rPr>
              <a:t>RNA-seq assemblers</a:t>
            </a:r>
          </a:p>
          <a:p>
            <a:pPr lvl="1"/>
            <a:r>
              <a:rPr lang="en-US" dirty="0"/>
              <a:t>Takes RNA-seq reads aligned to a genome to build a splice graph, from which the transcript sequences are extracted</a:t>
            </a:r>
          </a:p>
          <a:p>
            <a:r>
              <a:rPr lang="en-US" dirty="0" err="1"/>
              <a:t>Liftover</a:t>
            </a:r>
            <a:endParaRPr lang="en-US" dirty="0"/>
          </a:p>
          <a:p>
            <a:pPr lvl="1"/>
            <a:r>
              <a:rPr lang="en-US" dirty="0"/>
              <a:t>Uses whole-genome alignment from a (high quality) source genome to transfer annotation information (ideally also of high quality) to a target genome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sz="2800" dirty="0">
                <a:latin typeface="Helvetica Light" panose="020B0403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93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B6D79-5758-F444-B2D9-0A1D53694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 Light" panose="020B0403020202020204" pitchFamily="34" charset="0"/>
              </a:rPr>
              <a:t>Some well-established methods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4AA0BC-DF2F-5E4A-9186-212E1D3EA87E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A696FD6-7647-CA46-B503-1E1A03955FED}"/>
              </a:ext>
            </a:extLst>
          </p:cNvPr>
          <p:cNvSpPr txBox="1"/>
          <p:nvPr/>
        </p:nvSpPr>
        <p:spPr>
          <a:xfrm>
            <a:off x="2608458" y="2361778"/>
            <a:ext cx="11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ndale Mono" panose="020B0509000000000004" pitchFamily="49" charset="0"/>
              </a:rPr>
              <a:t>BRAKER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C0ABFB-9A76-1F4C-B0FE-1D4EF02A3E20}"/>
              </a:ext>
            </a:extLst>
          </p:cNvPr>
          <p:cNvSpPr txBox="1"/>
          <p:nvPr/>
        </p:nvSpPr>
        <p:spPr>
          <a:xfrm>
            <a:off x="141931" y="2361778"/>
            <a:ext cx="1103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ndale Mono" panose="020B0509000000000004" pitchFamily="49" charset="0"/>
              </a:rPr>
              <a:t>TOGA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2944C3-D59A-4A46-B169-2F743E41E5B1}"/>
              </a:ext>
            </a:extLst>
          </p:cNvPr>
          <p:cNvSpPr txBox="1"/>
          <p:nvPr/>
        </p:nvSpPr>
        <p:spPr>
          <a:xfrm>
            <a:off x="3596856" y="2361778"/>
            <a:ext cx="2143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ndale Mono" panose="020B0509000000000004" pitchFamily="49" charset="0"/>
              </a:rPr>
              <a:t>CGP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5E76D5-770C-1547-8EA8-A9C009E8F4A4}"/>
              </a:ext>
            </a:extLst>
          </p:cNvPr>
          <p:cNvSpPr txBox="1"/>
          <p:nvPr/>
        </p:nvSpPr>
        <p:spPr>
          <a:xfrm>
            <a:off x="5908320" y="1632943"/>
            <a:ext cx="2145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Helvetica Light" panose="020B0403020202020204" pitchFamily="34" charset="0"/>
              </a:rPr>
              <a:t>Assemby</a:t>
            </a:r>
            <a:r>
              <a:rPr lang="en-US" dirty="0">
                <a:latin typeface="Helvetica Light" panose="020B0403020202020204" pitchFamily="34" charset="0"/>
              </a:rPr>
              <a:t> from Reads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E27EEE-D213-664D-9FF5-A33515E3DAE5}"/>
              </a:ext>
            </a:extLst>
          </p:cNvPr>
          <p:cNvCxnSpPr>
            <a:cxnSpLocks/>
          </p:cNvCxnSpPr>
          <p:nvPr/>
        </p:nvCxnSpPr>
        <p:spPr>
          <a:xfrm>
            <a:off x="2566656" y="1709642"/>
            <a:ext cx="0" cy="4783233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10698AB-8AF0-174B-9B48-0058605ECEBF}"/>
              </a:ext>
            </a:extLst>
          </p:cNvPr>
          <p:cNvSpPr txBox="1"/>
          <p:nvPr/>
        </p:nvSpPr>
        <p:spPr>
          <a:xfrm>
            <a:off x="203506" y="1597318"/>
            <a:ext cx="1993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Annotation Transfer/</a:t>
            </a:r>
            <a:r>
              <a:rPr lang="en-US" dirty="0" err="1">
                <a:latin typeface="Helvetica Light" panose="020B0403020202020204" pitchFamily="34" charset="0"/>
              </a:rPr>
              <a:t>Liftover</a:t>
            </a:r>
            <a:endParaRPr lang="en-US" dirty="0">
              <a:latin typeface="Helvetica Light" panose="020B0403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64E306-F685-0D40-8BAA-944F1E16D65F}"/>
              </a:ext>
            </a:extLst>
          </p:cNvPr>
          <p:cNvCxnSpPr>
            <a:cxnSpLocks/>
          </p:cNvCxnSpPr>
          <p:nvPr/>
        </p:nvCxnSpPr>
        <p:spPr>
          <a:xfrm flipH="1">
            <a:off x="682171" y="2301548"/>
            <a:ext cx="10827660" cy="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E0D7CE-E3C0-2447-B6C7-4DBFC2AB1D41}"/>
              </a:ext>
            </a:extLst>
          </p:cNvPr>
          <p:cNvSpPr txBox="1"/>
          <p:nvPr/>
        </p:nvSpPr>
        <p:spPr>
          <a:xfrm>
            <a:off x="2757839" y="1673468"/>
            <a:ext cx="2089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Evidence aware </a:t>
            </a:r>
            <a:r>
              <a:rPr lang="en-US" i="1" dirty="0">
                <a:latin typeface="HELVETICA LIGHT" panose="020B0403020202020204" pitchFamily="34" charset="0"/>
              </a:rPr>
              <a:t>ab initio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348582C-1B41-FF4B-ADEF-6AD367C7D70C}"/>
              </a:ext>
            </a:extLst>
          </p:cNvPr>
          <p:cNvCxnSpPr>
            <a:cxnSpLocks/>
          </p:cNvCxnSpPr>
          <p:nvPr/>
        </p:nvCxnSpPr>
        <p:spPr>
          <a:xfrm>
            <a:off x="5559031" y="1709642"/>
            <a:ext cx="0" cy="4783233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5D33A71-C07E-5C4B-805D-48E533CE3956}"/>
              </a:ext>
            </a:extLst>
          </p:cNvPr>
          <p:cNvCxnSpPr>
            <a:cxnSpLocks/>
          </p:cNvCxnSpPr>
          <p:nvPr/>
        </p:nvCxnSpPr>
        <p:spPr>
          <a:xfrm>
            <a:off x="8285245" y="1709642"/>
            <a:ext cx="0" cy="4783233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3554052-1AA1-7040-8654-F5ACF7330FAB}"/>
              </a:ext>
            </a:extLst>
          </p:cNvPr>
          <p:cNvSpPr txBox="1"/>
          <p:nvPr/>
        </p:nvSpPr>
        <p:spPr>
          <a:xfrm>
            <a:off x="2169460" y="3183702"/>
            <a:ext cx="382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Protein </a:t>
            </a:r>
            <a:r>
              <a:rPr lang="en-US" u="sng" dirty="0">
                <a:latin typeface="Helvetica Light" panose="020B0403020202020204" pitchFamily="34" charset="0"/>
              </a:rPr>
              <a:t>OR</a:t>
            </a:r>
            <a:r>
              <a:rPr lang="en-US" dirty="0">
                <a:latin typeface="Helvetica Light" panose="020B0403020202020204" pitchFamily="34" charset="0"/>
              </a:rPr>
              <a:t> RNA-seq 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EB8397-2BFA-094F-AF72-050CF5307CD8}"/>
              </a:ext>
            </a:extLst>
          </p:cNvPr>
          <p:cNvSpPr txBox="1"/>
          <p:nvPr/>
        </p:nvSpPr>
        <p:spPr>
          <a:xfrm>
            <a:off x="3108333" y="4795345"/>
            <a:ext cx="1942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model training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2D4F47-33DA-BD47-A4F9-04CD0552FA74}"/>
              </a:ext>
            </a:extLst>
          </p:cNvPr>
          <p:cNvSpPr txBox="1"/>
          <p:nvPr/>
        </p:nvSpPr>
        <p:spPr>
          <a:xfrm>
            <a:off x="3390703" y="5493788"/>
            <a:ext cx="137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prediction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6C9497-D6DC-7E48-BCD6-A05B113985D0}"/>
              </a:ext>
            </a:extLst>
          </p:cNvPr>
          <p:cNvSpPr txBox="1"/>
          <p:nvPr/>
        </p:nvSpPr>
        <p:spPr>
          <a:xfrm>
            <a:off x="5460791" y="3570166"/>
            <a:ext cx="306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Andale Mono" panose="020B0509000000000004" pitchFamily="49" charset="0"/>
              </a:rPr>
              <a:t>Stringtie,Scallop</a:t>
            </a:r>
            <a:endParaRPr lang="en-US" b="1" dirty="0">
              <a:latin typeface="Andale Mono" panose="020B0509000000000004" pitchFamily="49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8D28B2-3194-9E43-AA2C-F2A78F70003E}"/>
              </a:ext>
            </a:extLst>
          </p:cNvPr>
          <p:cNvSpPr txBox="1"/>
          <p:nvPr/>
        </p:nvSpPr>
        <p:spPr>
          <a:xfrm>
            <a:off x="6193350" y="4179690"/>
            <a:ext cx="1491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Transcript assembly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090AB2A-1CFD-8F42-865B-F9A92AF6692A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6939061" y="3396987"/>
            <a:ext cx="1" cy="173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1691361-E3D9-1340-B554-AB48FB166013}"/>
              </a:ext>
            </a:extLst>
          </p:cNvPr>
          <p:cNvSpPr txBox="1"/>
          <p:nvPr/>
        </p:nvSpPr>
        <p:spPr>
          <a:xfrm>
            <a:off x="727217" y="2881016"/>
            <a:ext cx="1292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reference genome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44D451D-E670-A043-873A-3A273E76E2E6}"/>
              </a:ext>
            </a:extLst>
          </p:cNvPr>
          <p:cNvSpPr txBox="1"/>
          <p:nvPr/>
        </p:nvSpPr>
        <p:spPr>
          <a:xfrm>
            <a:off x="727217" y="3511924"/>
            <a:ext cx="1292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reference annotation (</a:t>
            </a:r>
            <a:r>
              <a:rPr lang="en-US" dirty="0" err="1">
                <a:latin typeface="Helvetica Light" panose="020B0403020202020204" pitchFamily="34" charset="0"/>
              </a:rPr>
              <a:t>gff</a:t>
            </a:r>
            <a:r>
              <a:rPr lang="en-US" dirty="0">
                <a:latin typeface="Helvetica Light" panose="020B0403020202020204" pitchFamily="34" charset="0"/>
              </a:rPr>
              <a:t>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A25886A-019D-A94C-83E6-39F7F40D84B5}"/>
              </a:ext>
            </a:extLst>
          </p:cNvPr>
          <p:cNvSpPr txBox="1"/>
          <p:nvPr/>
        </p:nvSpPr>
        <p:spPr>
          <a:xfrm>
            <a:off x="393405" y="4570458"/>
            <a:ext cx="1103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Helvetica Light" panose="020B0403020202020204" pitchFamily="34" charset="0"/>
              </a:rPr>
              <a:t>exon-aware </a:t>
            </a:r>
            <a:r>
              <a:rPr lang="en-US" b="1" dirty="0" err="1">
                <a:solidFill>
                  <a:srgbClr val="FF0000"/>
                </a:solidFill>
                <a:latin typeface="Helvetica Light" panose="020B0403020202020204" pitchFamily="34" charset="0"/>
              </a:rPr>
              <a:t>liftover</a:t>
            </a:r>
            <a:endParaRPr lang="en-US" dirty="0">
              <a:latin typeface="Helvetica Light" panose="020B0403020202020204" pitchFamily="34" charset="0"/>
            </a:endParaRPr>
          </a:p>
        </p:txBody>
      </p:sp>
      <p:cxnSp>
        <p:nvCxnSpPr>
          <p:cNvPr id="89" name="Curved Connector 88">
            <a:extLst>
              <a:ext uri="{FF2B5EF4-FFF2-40B4-BE49-F238E27FC236}">
                <a16:creationId xmlns:a16="http://schemas.microsoft.com/office/drawing/2014/main" id="{E1F5101C-A25D-5740-A0DA-21B860CB636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55750" y="3973589"/>
            <a:ext cx="109108" cy="1058534"/>
          </a:xfrm>
          <a:prstGeom prst="curvedConnector3">
            <a:avLst>
              <a:gd name="adj1" fmla="val -209517"/>
            </a:avLst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A8421318-0117-0D44-BC79-956628AADEDF}"/>
              </a:ext>
            </a:extLst>
          </p:cNvPr>
          <p:cNvSpPr txBox="1"/>
          <p:nvPr/>
        </p:nvSpPr>
        <p:spPr>
          <a:xfrm>
            <a:off x="555958" y="5992253"/>
            <a:ext cx="137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prediction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0A1CF71-5F5B-DB41-9B47-AA5BC46FB562}"/>
              </a:ext>
            </a:extLst>
          </p:cNvPr>
          <p:cNvCxnSpPr>
            <a:cxnSpLocks/>
            <a:stCxn id="85" idx="2"/>
            <a:endCxn id="93" idx="0"/>
          </p:cNvCxnSpPr>
          <p:nvPr/>
        </p:nvCxnSpPr>
        <p:spPr>
          <a:xfrm>
            <a:off x="944948" y="5493788"/>
            <a:ext cx="300042" cy="498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D33FF106-373A-844E-B504-CBBA35CF18D6}"/>
              </a:ext>
            </a:extLst>
          </p:cNvPr>
          <p:cNvSpPr txBox="1"/>
          <p:nvPr/>
        </p:nvSpPr>
        <p:spPr>
          <a:xfrm>
            <a:off x="5773510" y="3027655"/>
            <a:ext cx="2331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Splice alignment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54B72E7-0832-B444-B3FC-5BD703EC1D3A}"/>
              </a:ext>
            </a:extLst>
          </p:cNvPr>
          <p:cNvSpPr txBox="1"/>
          <p:nvPr/>
        </p:nvSpPr>
        <p:spPr>
          <a:xfrm>
            <a:off x="8942768" y="1612044"/>
            <a:ext cx="2145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Multi-annotation source integration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4B739F6-B12A-724E-956B-FA8520F435C3}"/>
              </a:ext>
            </a:extLst>
          </p:cNvPr>
          <p:cNvSpPr txBox="1"/>
          <p:nvPr/>
        </p:nvSpPr>
        <p:spPr>
          <a:xfrm>
            <a:off x="8481998" y="2361778"/>
            <a:ext cx="131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ndale Mono" panose="020B0509000000000004" pitchFamily="49" charset="0"/>
              </a:rPr>
              <a:t>MAKER2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4C624E-61CF-52CA-0231-7E31EA542B0F}"/>
              </a:ext>
            </a:extLst>
          </p:cNvPr>
          <p:cNvSpPr txBox="1"/>
          <p:nvPr/>
        </p:nvSpPr>
        <p:spPr>
          <a:xfrm>
            <a:off x="5741968" y="2361778"/>
            <a:ext cx="2394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ndale Mono" panose="020B0509000000000004" pitchFamily="49" charset="0"/>
              </a:rPr>
              <a:t>HISAT2,STAR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675AB64-9BC3-5C8B-A5C0-9556D713F5A9}"/>
              </a:ext>
            </a:extLst>
          </p:cNvPr>
          <p:cNvCxnSpPr>
            <a:cxnSpLocks/>
            <a:stCxn id="56" idx="2"/>
            <a:endCxn id="107" idx="0"/>
          </p:cNvCxnSpPr>
          <p:nvPr/>
        </p:nvCxnSpPr>
        <p:spPr>
          <a:xfrm>
            <a:off x="6939061" y="2731110"/>
            <a:ext cx="0" cy="296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1BA9539-F750-DA2B-3AA3-6612D7777F21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6939062" y="3939498"/>
            <a:ext cx="0" cy="240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E3A7450-C8A7-0A7D-C8A6-8E767025135B}"/>
              </a:ext>
            </a:extLst>
          </p:cNvPr>
          <p:cNvCxnSpPr>
            <a:cxnSpLocks/>
          </p:cNvCxnSpPr>
          <p:nvPr/>
        </p:nvCxnSpPr>
        <p:spPr>
          <a:xfrm>
            <a:off x="3323117" y="2798908"/>
            <a:ext cx="0" cy="336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58B1FCF-32DF-D850-0664-A018491852B0}"/>
              </a:ext>
            </a:extLst>
          </p:cNvPr>
          <p:cNvCxnSpPr>
            <a:cxnSpLocks/>
          </p:cNvCxnSpPr>
          <p:nvPr/>
        </p:nvCxnSpPr>
        <p:spPr>
          <a:xfrm>
            <a:off x="9141680" y="2768323"/>
            <a:ext cx="0" cy="336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76F40D3-2157-3389-0E01-9A19A365414D}"/>
              </a:ext>
            </a:extLst>
          </p:cNvPr>
          <p:cNvSpPr txBox="1"/>
          <p:nvPr/>
        </p:nvSpPr>
        <p:spPr>
          <a:xfrm>
            <a:off x="8398241" y="3202205"/>
            <a:ext cx="1491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Helvetica Light" panose="020B0403020202020204" pitchFamily="34" charset="0"/>
              </a:rPr>
              <a:t>ab initio </a:t>
            </a:r>
            <a:r>
              <a:rPr lang="en-US" dirty="0">
                <a:latin typeface="Helvetica Light" panose="020B0403020202020204" pitchFamily="34" charset="0"/>
              </a:rPr>
              <a:t>prediction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9970850-2DB8-E3C8-387B-3532CB0B7CBC}"/>
              </a:ext>
            </a:extLst>
          </p:cNvPr>
          <p:cNvCxnSpPr>
            <a:cxnSpLocks/>
          </p:cNvCxnSpPr>
          <p:nvPr/>
        </p:nvCxnSpPr>
        <p:spPr>
          <a:xfrm>
            <a:off x="9139889" y="3786512"/>
            <a:ext cx="0" cy="336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363BB80-3F51-5FEE-A21D-FA860B390999}"/>
              </a:ext>
            </a:extLst>
          </p:cNvPr>
          <p:cNvSpPr txBox="1"/>
          <p:nvPr/>
        </p:nvSpPr>
        <p:spPr>
          <a:xfrm>
            <a:off x="8265895" y="4112088"/>
            <a:ext cx="17676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Evidence-based filtering w/ protein and/or RNA-seq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57171-38AD-4D00-B8E8-1EFCF6B5DF77}"/>
              </a:ext>
            </a:extLst>
          </p:cNvPr>
          <p:cNvSpPr txBox="1"/>
          <p:nvPr/>
        </p:nvSpPr>
        <p:spPr>
          <a:xfrm>
            <a:off x="10136707" y="2361778"/>
            <a:ext cx="131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ndale Mono" panose="020B0509000000000004" pitchFamily="49" charset="0"/>
              </a:rPr>
              <a:t>BRAKER3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9E73DA-2DFB-87DD-D9D0-5450D899D209}"/>
              </a:ext>
            </a:extLst>
          </p:cNvPr>
          <p:cNvCxnSpPr>
            <a:cxnSpLocks/>
          </p:cNvCxnSpPr>
          <p:nvPr/>
        </p:nvCxnSpPr>
        <p:spPr>
          <a:xfrm>
            <a:off x="10797617" y="2773721"/>
            <a:ext cx="0" cy="336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167CD40-1D81-21A5-23B7-B52CFB8FF1E7}"/>
              </a:ext>
            </a:extLst>
          </p:cNvPr>
          <p:cNvSpPr txBox="1"/>
          <p:nvPr/>
        </p:nvSpPr>
        <p:spPr>
          <a:xfrm>
            <a:off x="2647337" y="3916592"/>
            <a:ext cx="2860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hints </a:t>
            </a:r>
            <a:r>
              <a:rPr lang="en-US" sz="1600" dirty="0">
                <a:latin typeface="Helvetica Light" panose="020B0403020202020204" pitchFamily="34" charset="0"/>
              </a:rPr>
              <a:t>(via alignment)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883A5C5-153E-5543-E156-0AD16D79E82C}"/>
              </a:ext>
            </a:extLst>
          </p:cNvPr>
          <p:cNvCxnSpPr>
            <a:cxnSpLocks/>
          </p:cNvCxnSpPr>
          <p:nvPr/>
        </p:nvCxnSpPr>
        <p:spPr>
          <a:xfrm>
            <a:off x="4598575" y="2798908"/>
            <a:ext cx="0" cy="336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208AF9A-7454-8B59-8B35-BA7F2F786D0D}"/>
              </a:ext>
            </a:extLst>
          </p:cNvPr>
          <p:cNvCxnSpPr>
            <a:cxnSpLocks/>
            <a:stCxn id="22" idx="2"/>
            <a:endCxn id="37" idx="0"/>
          </p:cNvCxnSpPr>
          <p:nvPr/>
        </p:nvCxnSpPr>
        <p:spPr>
          <a:xfrm flipH="1">
            <a:off x="4077420" y="3553034"/>
            <a:ext cx="2315" cy="363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D6A34C1-56DC-6D02-CB5D-24A8CCADE193}"/>
              </a:ext>
            </a:extLst>
          </p:cNvPr>
          <p:cNvCxnSpPr>
            <a:cxnSpLocks/>
            <a:stCxn id="37" idx="2"/>
            <a:endCxn id="30" idx="0"/>
          </p:cNvCxnSpPr>
          <p:nvPr/>
        </p:nvCxnSpPr>
        <p:spPr>
          <a:xfrm>
            <a:off x="4077420" y="4285924"/>
            <a:ext cx="2316" cy="509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B441070-260C-C6F4-7BCD-232801CA61A9}"/>
              </a:ext>
            </a:extLst>
          </p:cNvPr>
          <p:cNvCxnSpPr>
            <a:cxnSpLocks/>
            <a:stCxn id="30" idx="2"/>
            <a:endCxn id="33" idx="0"/>
          </p:cNvCxnSpPr>
          <p:nvPr/>
        </p:nvCxnSpPr>
        <p:spPr>
          <a:xfrm flipH="1">
            <a:off x="4079735" y="5164677"/>
            <a:ext cx="1" cy="329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2578950A-2073-838B-61E1-50F083715F58}"/>
              </a:ext>
            </a:extLst>
          </p:cNvPr>
          <p:cNvSpPr txBox="1"/>
          <p:nvPr/>
        </p:nvSpPr>
        <p:spPr>
          <a:xfrm>
            <a:off x="9889164" y="3160410"/>
            <a:ext cx="1833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Protein </a:t>
            </a:r>
            <a:r>
              <a:rPr lang="en-US" u="sng" dirty="0">
                <a:latin typeface="Helvetica Light" panose="020B0403020202020204" pitchFamily="34" charset="0"/>
              </a:rPr>
              <a:t>AND</a:t>
            </a:r>
            <a:r>
              <a:rPr lang="en-US" dirty="0">
                <a:latin typeface="Helvetica Light" panose="020B0403020202020204" pitchFamily="34" charset="0"/>
              </a:rPr>
              <a:t> RNA-seq data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7CDF887-9DD5-D061-D120-9CDA84AD877B}"/>
              </a:ext>
            </a:extLst>
          </p:cNvPr>
          <p:cNvCxnSpPr>
            <a:cxnSpLocks/>
          </p:cNvCxnSpPr>
          <p:nvPr/>
        </p:nvCxnSpPr>
        <p:spPr>
          <a:xfrm>
            <a:off x="10805839" y="3830540"/>
            <a:ext cx="0" cy="336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EFB0226-64B3-F719-A4E6-080286012559}"/>
              </a:ext>
            </a:extLst>
          </p:cNvPr>
          <p:cNvSpPr txBox="1"/>
          <p:nvPr/>
        </p:nvSpPr>
        <p:spPr>
          <a:xfrm>
            <a:off x="10087900" y="4185843"/>
            <a:ext cx="143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hints</a:t>
            </a:r>
            <a:endParaRPr lang="en-US" sz="1600" dirty="0">
              <a:latin typeface="Helvetica Light" panose="020B0403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528B7CF-FFF6-8C77-57D8-93CD3F4808A3}"/>
              </a:ext>
            </a:extLst>
          </p:cNvPr>
          <p:cNvSpPr txBox="1"/>
          <p:nvPr/>
        </p:nvSpPr>
        <p:spPr>
          <a:xfrm>
            <a:off x="9868176" y="5032123"/>
            <a:ext cx="1942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model training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5B09EBF-518C-F50D-252F-A84EC4D93DD2}"/>
              </a:ext>
            </a:extLst>
          </p:cNvPr>
          <p:cNvSpPr txBox="1"/>
          <p:nvPr/>
        </p:nvSpPr>
        <p:spPr>
          <a:xfrm>
            <a:off x="10161179" y="5730566"/>
            <a:ext cx="137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prediction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741BB7FF-DE80-F7D4-61E8-CF657B3E1CE9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10837263" y="4522702"/>
            <a:ext cx="2316" cy="509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DA6B2D6-12C3-879E-48E9-3534404C93F9}"/>
              </a:ext>
            </a:extLst>
          </p:cNvPr>
          <p:cNvCxnSpPr>
            <a:cxnSpLocks/>
            <a:stCxn id="96" idx="2"/>
            <a:endCxn id="97" idx="0"/>
          </p:cNvCxnSpPr>
          <p:nvPr/>
        </p:nvCxnSpPr>
        <p:spPr>
          <a:xfrm>
            <a:off x="10839579" y="5401455"/>
            <a:ext cx="10632" cy="329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C90359A-14E5-B619-DE0C-23A71C02E05A}"/>
              </a:ext>
            </a:extLst>
          </p:cNvPr>
          <p:cNvSpPr txBox="1"/>
          <p:nvPr/>
        </p:nvSpPr>
        <p:spPr>
          <a:xfrm>
            <a:off x="1095730" y="2361778"/>
            <a:ext cx="1274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Andale Mono" panose="020B0509000000000004" pitchFamily="49" charset="0"/>
              </a:rPr>
              <a:t>Liftoff</a:t>
            </a:r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B2EF335F-EF45-7AF4-D886-61464F9B66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64577" y="3973589"/>
            <a:ext cx="109108" cy="1058534"/>
          </a:xfrm>
          <a:prstGeom prst="curvedConnector3">
            <a:avLst>
              <a:gd name="adj1" fmla="val -209517"/>
            </a:avLst>
          </a:prstGeom>
          <a:ln w="2222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5DABA51-4CCF-D834-0917-39A12FAA1F04}"/>
              </a:ext>
            </a:extLst>
          </p:cNvPr>
          <p:cNvSpPr txBox="1"/>
          <p:nvPr/>
        </p:nvSpPr>
        <p:spPr>
          <a:xfrm>
            <a:off x="1232418" y="4727626"/>
            <a:ext cx="1103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Helvetica Light" panose="020B0403020202020204" pitchFamily="34" charset="0"/>
              </a:rPr>
              <a:t>naïve </a:t>
            </a:r>
            <a:r>
              <a:rPr lang="en-US" b="1" dirty="0" err="1">
                <a:solidFill>
                  <a:srgbClr val="0070C0"/>
                </a:solidFill>
                <a:latin typeface="Helvetica Light" panose="020B0403020202020204" pitchFamily="34" charset="0"/>
              </a:rPr>
              <a:t>liftover</a:t>
            </a:r>
            <a:endParaRPr lang="en-US" dirty="0">
              <a:solidFill>
                <a:srgbClr val="0070C0"/>
              </a:solidFill>
              <a:latin typeface="Helvetica Light" panose="020B0403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51DF7A-CEAE-3CB8-0B9C-3251A1EC3619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1405119" y="5373957"/>
            <a:ext cx="378842" cy="618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732A818-4EC3-8115-2B28-17A2A42F3551}"/>
              </a:ext>
            </a:extLst>
          </p:cNvPr>
          <p:cNvCxnSpPr>
            <a:cxnSpLocks/>
          </p:cNvCxnSpPr>
          <p:nvPr/>
        </p:nvCxnSpPr>
        <p:spPr>
          <a:xfrm>
            <a:off x="6939061" y="4826021"/>
            <a:ext cx="0" cy="240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6504DBA-23DC-FF20-A476-41B70CD595BD}"/>
              </a:ext>
            </a:extLst>
          </p:cNvPr>
          <p:cNvSpPr txBox="1"/>
          <p:nvPr/>
        </p:nvSpPr>
        <p:spPr>
          <a:xfrm>
            <a:off x="6088287" y="5043425"/>
            <a:ext cx="176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Helvetica Light" panose="020B0403020202020204" pitchFamily="34" charset="0"/>
              </a:rPr>
              <a:t>Transdecoder</a:t>
            </a:r>
            <a:endParaRPr lang="en-US" dirty="0">
              <a:latin typeface="Helvetica Light" panose="020B0403020202020204" pitchFamily="3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43B7BBD-2432-6F77-6612-C708EF4D2950}"/>
              </a:ext>
            </a:extLst>
          </p:cNvPr>
          <p:cNvCxnSpPr>
            <a:cxnSpLocks/>
          </p:cNvCxnSpPr>
          <p:nvPr/>
        </p:nvCxnSpPr>
        <p:spPr>
          <a:xfrm>
            <a:off x="6939061" y="5412757"/>
            <a:ext cx="0" cy="240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BD49306-2D50-538A-0B46-ADCE7573C0E8}"/>
              </a:ext>
            </a:extLst>
          </p:cNvPr>
          <p:cNvSpPr txBox="1"/>
          <p:nvPr/>
        </p:nvSpPr>
        <p:spPr>
          <a:xfrm>
            <a:off x="6259046" y="5773430"/>
            <a:ext cx="137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Light" panose="020B0403020202020204" pitchFamily="34" charset="0"/>
              </a:rPr>
              <a:t>CDS annotation</a:t>
            </a:r>
          </a:p>
        </p:txBody>
      </p:sp>
    </p:spTree>
    <p:extLst>
      <p:ext uri="{BB962C8B-B14F-4D97-AF65-F5344CB8AC3E}">
        <p14:creationId xmlns:p14="http://schemas.microsoft.com/office/powerpoint/2010/main" val="2746901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514B-69F2-657B-FB2D-11C6A3C4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87B504-3852-DDBF-50C8-05A5A5D3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What method should you use? Depends upon whether…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8AB0CD-82F1-3292-5A15-DDE08DB9CB86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713AD1E-7A86-29BC-AC45-6D06448A8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401754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sz="3200" dirty="0">
                <a:latin typeface="Helvetica Light" panose="020B0403020202020204" pitchFamily="34" charset="0"/>
              </a:rPr>
              <a:t>You have paired-end RNA-seq data</a:t>
            </a:r>
          </a:p>
          <a:p>
            <a:r>
              <a:rPr lang="en-US" sz="3200" dirty="0">
                <a:latin typeface="Helvetica Light" panose="020B0403020202020204" pitchFamily="34" charset="0"/>
              </a:rPr>
              <a:t>There is a high-quality annotate reference genome from a not too distantly related species</a:t>
            </a:r>
          </a:p>
          <a:p>
            <a:r>
              <a:rPr lang="en-US" sz="3200" dirty="0">
                <a:latin typeface="Helvetica Light" panose="020B0403020202020204" pitchFamily="34" charset="0"/>
              </a:rPr>
              <a:t>Your objectives</a:t>
            </a:r>
          </a:p>
          <a:p>
            <a:pPr lvl="1"/>
            <a:r>
              <a:rPr lang="en-US" sz="2800" dirty="0">
                <a:latin typeface="Helvetica Light" panose="020B0403020202020204" pitchFamily="34" charset="0"/>
              </a:rPr>
              <a:t>Are you interested in gene and isoform-level expression variation?</a:t>
            </a:r>
          </a:p>
          <a:p>
            <a:pPr lvl="1"/>
            <a:r>
              <a:rPr lang="en-US" sz="2800" dirty="0">
                <a:latin typeface="Helvetica Light" panose="020B0403020202020204" pitchFamily="34" charset="0"/>
              </a:rPr>
              <a:t>Are you only interested in protein-coding genes, or recovering amino acid sequences?</a:t>
            </a:r>
          </a:p>
          <a:p>
            <a:pPr lvl="1"/>
            <a:r>
              <a:rPr lang="en-US" sz="2800" dirty="0">
                <a:latin typeface="Helvetica Light" panose="020B0403020202020204" pitchFamily="34" charset="0"/>
              </a:rPr>
              <a:t>Do you only care about conserved orthologs or do you want to recover as many real genes as possible?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44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37AD0-4283-3316-C20E-D0ED32B4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1C618A-85B4-79EA-0D8B-27AD4BF51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Helvetica Light" panose="020B0403020202020204" pitchFamily="34" charset="0"/>
              </a:rPr>
              <a:t>The annotation tool performance interlude</a:t>
            </a:r>
          </a:p>
        </p:txBody>
      </p:sp>
    </p:spTree>
    <p:extLst>
      <p:ext uri="{BB962C8B-B14F-4D97-AF65-F5344CB8AC3E}">
        <p14:creationId xmlns:p14="http://schemas.microsoft.com/office/powerpoint/2010/main" val="814039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35925-7366-9880-0FD3-48AB3E535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B6F1F30-B0CA-47FB-B1DE-12A3479D5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Some tools can produce tons of very short transcripts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8E7509-9AC0-3A99-AC0D-39283913101D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8FFC38C-930F-28F0-55E9-558C1551F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50" y="2374767"/>
            <a:ext cx="6894576" cy="26517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632C55-A405-7B30-F876-394405EC22E9}"/>
              </a:ext>
            </a:extLst>
          </p:cNvPr>
          <p:cNvSpPr txBox="1"/>
          <p:nvPr/>
        </p:nvSpPr>
        <p:spPr>
          <a:xfrm>
            <a:off x="-125896" y="1801895"/>
            <a:ext cx="2875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pitchFamily="2" charset="0"/>
              </a:rPr>
              <a:t>Human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98E1DC-9F04-6E0D-A19B-4DB88AF61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009" y="2032727"/>
            <a:ext cx="4686299" cy="37490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2944D2-6297-D9A8-2012-729DFE91ABF2}"/>
              </a:ext>
            </a:extLst>
          </p:cNvPr>
          <p:cNvSpPr txBox="1"/>
          <p:nvPr/>
        </p:nvSpPr>
        <p:spPr>
          <a:xfrm>
            <a:off x="6545943" y="6311956"/>
            <a:ext cx="4963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Freedman and </a:t>
            </a:r>
            <a:r>
              <a:rPr lang="en-US" sz="1400" dirty="0" err="1"/>
              <a:t>Sackton</a:t>
            </a:r>
            <a:r>
              <a:rPr lang="en-US" sz="1400" dirty="0"/>
              <a:t> (2025), </a:t>
            </a:r>
            <a:r>
              <a:rPr lang="en-US" sz="1400" i="1" dirty="0"/>
              <a:t>Genome Research</a:t>
            </a:r>
          </a:p>
        </p:txBody>
      </p:sp>
    </p:spTree>
    <p:extLst>
      <p:ext uri="{BB962C8B-B14F-4D97-AF65-F5344CB8AC3E}">
        <p14:creationId xmlns:p14="http://schemas.microsoft.com/office/powerpoint/2010/main" val="2214490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CECE6-0973-197B-0D55-B1EB0FAE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4BAE4CE-0CA3-25A3-AF2C-52A9585E1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And a seeming excess of </a:t>
            </a:r>
            <a:r>
              <a:rPr lang="en-US" sz="3200" dirty="0" err="1">
                <a:latin typeface="Helvetica Light" panose="020B0403020202020204" pitchFamily="34" charset="0"/>
              </a:rPr>
              <a:t>monoexonic</a:t>
            </a:r>
            <a:r>
              <a:rPr lang="en-US" sz="3200" dirty="0">
                <a:latin typeface="Helvetica Light" panose="020B0403020202020204" pitchFamily="34" charset="0"/>
              </a:rPr>
              <a:t> transcripts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5CD97B-0B9C-7773-7A11-D8BFA9B05F41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29224F5-2107-E36F-296F-23672449C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898" y="1646772"/>
            <a:ext cx="7448205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411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255D1-9C00-1E76-E20C-F7C80EFEC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2E3EA77-2B0A-D4DA-18C4-73438FD00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Some tools tend to make false positive predictions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147112-BA39-5F35-3F40-51EFE833B72C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0A3BFFC-658A-8925-FBD7-73A28B722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894" y="1584672"/>
            <a:ext cx="7714213" cy="5303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AB5B1D-E60B-D38E-953A-6AB3EAEDBBE8}"/>
              </a:ext>
            </a:extLst>
          </p:cNvPr>
          <p:cNvSpPr txBox="1"/>
          <p:nvPr/>
        </p:nvSpPr>
        <p:spPr>
          <a:xfrm>
            <a:off x="8902535" y="6231265"/>
            <a:ext cx="3146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 Freedman and </a:t>
            </a:r>
            <a:r>
              <a:rPr lang="en-US" sz="1400" dirty="0" err="1"/>
              <a:t>Sackton</a:t>
            </a:r>
            <a:r>
              <a:rPr lang="en-US" sz="1400" dirty="0"/>
              <a:t> (2025),</a:t>
            </a:r>
            <a:r>
              <a:rPr lang="en-US" sz="1400" i="1" dirty="0"/>
              <a:t> Genome Research</a:t>
            </a:r>
          </a:p>
        </p:txBody>
      </p:sp>
    </p:spTree>
    <p:extLst>
      <p:ext uri="{BB962C8B-B14F-4D97-AF65-F5344CB8AC3E}">
        <p14:creationId xmlns:p14="http://schemas.microsoft.com/office/powerpoint/2010/main" val="2511834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5C2B-A239-3A9A-3AF2-70DADA55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9D9FE9-402B-D05A-ABB6-D9B179F7A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Tools vary in their recovery of real genes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B9A6E6-7575-6CAD-B78C-C069A99FF0AE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29972E6-24E4-C93D-1BB6-B933116F2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41685"/>
            <a:ext cx="7040880" cy="30175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908A75-A0A3-7E1D-9132-53609AF194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" r="19996" b="6666"/>
          <a:stretch/>
        </p:blipFill>
        <p:spPr>
          <a:xfrm>
            <a:off x="5864403" y="4090307"/>
            <a:ext cx="6193706" cy="2743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6188B3-397A-68A0-A995-FD281BBD6318}"/>
              </a:ext>
            </a:extLst>
          </p:cNvPr>
          <p:cNvSpPr txBox="1"/>
          <p:nvPr/>
        </p:nvSpPr>
        <p:spPr>
          <a:xfrm>
            <a:off x="448095" y="6185098"/>
            <a:ext cx="4963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 Freedman and </a:t>
            </a:r>
            <a:r>
              <a:rPr lang="en-US" sz="1400" dirty="0" err="1"/>
              <a:t>Sackton</a:t>
            </a:r>
            <a:r>
              <a:rPr lang="en-US" sz="1400" dirty="0"/>
              <a:t>, </a:t>
            </a:r>
            <a:r>
              <a:rPr lang="en-US" sz="1400" i="1" dirty="0"/>
              <a:t>in press @ </a:t>
            </a:r>
            <a:r>
              <a:rPr lang="en-US" sz="1400" dirty="0"/>
              <a:t>Genome Research</a:t>
            </a:r>
          </a:p>
        </p:txBody>
      </p:sp>
    </p:spTree>
    <p:extLst>
      <p:ext uri="{BB962C8B-B14F-4D97-AF65-F5344CB8AC3E}">
        <p14:creationId xmlns:p14="http://schemas.microsoft.com/office/powerpoint/2010/main" val="1950313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74F7E-D1C3-292B-FBD1-BF966C4D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CF8355C-BB03-02CA-C95D-79D113BE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And in how much RNA-seq data can align to them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CDED3B-948E-D5B2-A0B7-9AA7036309BC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5678D0D-6961-ABCD-61A3-978F856A7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20875"/>
            <a:ext cx="7772400" cy="4572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E59CED-F726-F4FC-3B1E-F573353F375B}"/>
              </a:ext>
            </a:extLst>
          </p:cNvPr>
          <p:cNvSpPr txBox="1"/>
          <p:nvPr/>
        </p:nvSpPr>
        <p:spPr>
          <a:xfrm>
            <a:off x="6545943" y="6311956"/>
            <a:ext cx="4963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 Freedman and </a:t>
            </a:r>
            <a:r>
              <a:rPr lang="en-US" sz="1400" dirty="0" err="1"/>
              <a:t>Sackton</a:t>
            </a:r>
            <a:r>
              <a:rPr lang="en-US" sz="1400" dirty="0"/>
              <a:t> (2025), </a:t>
            </a:r>
            <a:r>
              <a:rPr lang="en-US" sz="1400" i="1" dirty="0"/>
              <a:t>Genome Research</a:t>
            </a:r>
          </a:p>
        </p:txBody>
      </p:sp>
    </p:spTree>
    <p:extLst>
      <p:ext uri="{BB962C8B-B14F-4D97-AF65-F5344CB8AC3E}">
        <p14:creationId xmlns:p14="http://schemas.microsoft.com/office/powerpoint/2010/main" val="3687722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750D3-0C4A-00FD-6F71-B9CAD25F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F05758-8E81-8E88-1AD1-3B9AC9E0C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Helvetica Light" panose="020B0403020202020204" pitchFamily="34" charset="0"/>
              </a:rPr>
              <a:t>What metrics should you use to evaluate your new annotation?</a:t>
            </a:r>
          </a:p>
        </p:txBody>
      </p:sp>
    </p:spTree>
    <p:extLst>
      <p:ext uri="{BB962C8B-B14F-4D97-AF65-F5344CB8AC3E}">
        <p14:creationId xmlns:p14="http://schemas.microsoft.com/office/powerpoint/2010/main" val="493573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CE892-EC35-31EF-50A9-853373FD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F0C9BF-8EC5-2CB7-E80D-B06B4117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Proteome: BUSCO recovery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114508-3AB5-ACF1-FACF-4DA8AC38C3AE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835E552-C0EA-0815-6375-7B6C47FAA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47199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 err="1">
                <a:latin typeface="Helvetica Light" panose="020B0403020202020204" pitchFamily="34" charset="0"/>
              </a:rPr>
              <a:t>Compleasm</a:t>
            </a:r>
            <a:r>
              <a:rPr lang="en-US" dirty="0">
                <a:latin typeface="Helvetica Light" panose="020B0403020202020204" pitchFamily="34" charset="0"/>
              </a:rPr>
              <a:t> (</a:t>
            </a:r>
            <a:r>
              <a:rPr lang="en-US" dirty="0">
                <a:latin typeface="Helvetica Light" panose="020B0403020202020204" pitchFamily="34" charset="0"/>
                <a:hlinkClick r:id="rId3"/>
              </a:rPr>
              <a:t>https://github.com/huangnengCSU/compleasm</a:t>
            </a:r>
            <a:r>
              <a:rPr lang="en-US" dirty="0">
                <a:latin typeface="Helvetica Light" panose="020B0403020202020204" pitchFamily="34" charset="0"/>
              </a:rPr>
              <a:t>)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Avoids some problems with BUSCO software</a:t>
            </a:r>
          </a:p>
          <a:p>
            <a:r>
              <a:rPr lang="en-US" dirty="0" err="1">
                <a:latin typeface="Helvetica Light" panose="020B0403020202020204" pitchFamily="34" charset="0"/>
              </a:rPr>
              <a:t>Compleasm</a:t>
            </a:r>
            <a:r>
              <a:rPr lang="en-US" dirty="0">
                <a:latin typeface="Helvetica Light" panose="020B0403020202020204" pitchFamily="34" charset="0"/>
              </a:rPr>
              <a:t> score: 1-(# missing BUSCOs/# BUSCOs searched)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If recovery of BUSCOs is poor, likely similar (or worse) performance for less conserved sequences</a:t>
            </a:r>
          </a:p>
          <a:p>
            <a:r>
              <a:rPr lang="en-US" dirty="0">
                <a:latin typeface="Helvetica Light" panose="020B0403020202020204" pitchFamily="34" charset="0"/>
              </a:rPr>
              <a:t>Need to choose the appropriate BUSCO database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Available at various taxonomic levels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66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19678-182D-6897-58FC-EC57AED5D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E6BF43-D244-6401-170C-0882E46AB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Proteome: coverage of “reference” proteins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B5A3F5-18C8-3FD0-34DF-12E404123F40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A1CC237-CF42-BAEC-59DF-F258A695E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4000500" cy="47199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If you can construct a “reference” protein BLAST database from genomes that aren’t too distantly related to yours, coverage of those proteins gives an idea as to sensitivity and accuracy of your annotation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EF5237-2059-A37A-2041-4FC44BA5A964}"/>
              </a:ext>
            </a:extLst>
          </p:cNvPr>
          <p:cNvGrpSpPr/>
          <p:nvPr/>
        </p:nvGrpSpPr>
        <p:grpSpPr>
          <a:xfrm>
            <a:off x="525153" y="1736032"/>
            <a:ext cx="11260447" cy="4871357"/>
            <a:chOff x="525153" y="1736032"/>
            <a:chExt cx="11260447" cy="487135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4A4DD24-E7EB-8BD7-780A-AC71148FE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5700" y="1736032"/>
              <a:ext cx="6819900" cy="4871357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6776CFA-2C89-D8AD-9789-E1AD4086882E}"/>
                </a:ext>
              </a:extLst>
            </p:cNvPr>
            <p:cNvSpPr txBox="1"/>
            <p:nvPr/>
          </p:nvSpPr>
          <p:spPr>
            <a:xfrm>
              <a:off x="525153" y="6276319"/>
              <a:ext cx="49638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from Freedman and </a:t>
              </a:r>
              <a:r>
                <a:rPr lang="en-US" sz="1400" dirty="0" err="1"/>
                <a:t>Sackton</a:t>
              </a:r>
              <a:r>
                <a:rPr lang="en-US" sz="1400" dirty="0"/>
                <a:t> (2025), </a:t>
              </a:r>
              <a:r>
                <a:rPr lang="en-US" sz="1400" i="1" dirty="0"/>
                <a:t>Genome Research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242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0483B-BC74-30E1-7691-B8F26FB74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727DF5-DE01-82AF-E4BF-23664E576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Proteome: </a:t>
            </a:r>
            <a:r>
              <a:rPr lang="en-US" sz="3200" dirty="0" err="1">
                <a:latin typeface="Helvetica Light" panose="020B0403020202020204" pitchFamily="34" charset="0"/>
              </a:rPr>
              <a:t>Psauron</a:t>
            </a:r>
            <a:r>
              <a:rPr lang="en-US" sz="3200" dirty="0">
                <a:latin typeface="Helvetica Light" panose="020B0403020202020204" pitchFamily="34" charset="0"/>
              </a:rPr>
              <a:t> scores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E6CDDE-1534-2E2E-6EAF-5E891ADED9E1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C8E1494-87A0-E99E-2AB2-0D6133879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47199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dirty="0" err="1">
                <a:latin typeface="Helvetica Light" panose="020B0403020202020204" pitchFamily="34" charset="0"/>
              </a:rPr>
              <a:t>Psauron</a:t>
            </a:r>
            <a:r>
              <a:rPr lang="en-US" dirty="0">
                <a:latin typeface="Helvetica Light" panose="020B0403020202020204" pitchFamily="34" charset="0"/>
              </a:rPr>
              <a:t> (Sommer et al. </a:t>
            </a:r>
            <a:r>
              <a:rPr lang="en-US" dirty="0" err="1">
                <a:latin typeface="Helvetica Light" panose="020B0403020202020204" pitchFamily="34" charset="0"/>
              </a:rPr>
              <a:t>bioRxiv</a:t>
            </a:r>
            <a:r>
              <a:rPr lang="en-US" dirty="0">
                <a:latin typeface="Helvetica Light" panose="020B0403020202020204" pitchFamily="34" charset="0"/>
              </a:rPr>
              <a:t>) uses a machine learning model trained on &gt; 1000 plant and animal genomes to predict accuracy of protein-coding predictions</a:t>
            </a:r>
          </a:p>
          <a:p>
            <a:r>
              <a:rPr lang="en-US" dirty="0">
                <a:latin typeface="Helvetica Light" panose="020B0403020202020204" pitchFamily="34" charset="0"/>
              </a:rPr>
              <a:t>Produces transcript level scores that estimate likelihood sequence is real</a:t>
            </a:r>
          </a:p>
          <a:p>
            <a:r>
              <a:rPr lang="en-US" dirty="0">
                <a:latin typeface="Helvetica Light" panose="020B0403020202020204" pitchFamily="34" charset="0"/>
              </a:rPr>
              <a:t>Also produces an overall score for the input </a:t>
            </a:r>
            <a:r>
              <a:rPr lang="en-US" dirty="0" err="1">
                <a:latin typeface="Helvetica Light" panose="020B0403020202020204" pitchFamily="34" charset="0"/>
              </a:rPr>
              <a:t>fasta</a:t>
            </a:r>
            <a:r>
              <a:rPr lang="en-US" dirty="0">
                <a:latin typeface="Helvetica Light" panose="020B0403020202020204" pitchFamily="34" charset="0"/>
              </a:rPr>
              <a:t> (CDS or amino acid sequence)</a:t>
            </a:r>
          </a:p>
          <a:p>
            <a:r>
              <a:rPr lang="en-US" dirty="0">
                <a:latin typeface="Helvetica Light" panose="020B0403020202020204" pitchFamily="34" charset="0"/>
              </a:rPr>
              <a:t>We have found that the overall score correlates well with the fraction of predictions that have blast hits to a high quality reference </a:t>
            </a:r>
            <a:r>
              <a:rPr lang="en-US" dirty="0" err="1">
                <a:latin typeface="Helvetica Light" panose="020B0403020202020204" pitchFamily="34" charset="0"/>
              </a:rPr>
              <a:t>annotaton</a:t>
            </a:r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Potential to use transcript-level scores as part of a filtering regime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97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B2401-EB23-42C6-5515-480382E1D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49529B8-90D3-6B36-7861-F9F976F21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Transcriptome: RNA-seq alignment rates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86A093-6E85-4227-5EAF-2585661F3193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78E1655-3968-2128-7A67-3F0AFE62E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47199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If you have RNA-seq data, if the alignment rate to your annotation is low, may indicate you have not captured the full diversity of the transcriptome</a:t>
            </a:r>
          </a:p>
          <a:p>
            <a:r>
              <a:rPr lang="en-US" dirty="0">
                <a:latin typeface="Helvetica Light" panose="020B0403020202020204" pitchFamily="34" charset="0"/>
              </a:rPr>
              <a:t>But this can be influenced by things such as the proportion of pre-mRNA and non-coding sequences in an RNA-seq library</a:t>
            </a:r>
          </a:p>
          <a:p>
            <a:r>
              <a:rPr lang="en-US" dirty="0">
                <a:latin typeface="Helvetica Light" panose="020B0403020202020204" pitchFamily="34" charset="0"/>
              </a:rPr>
              <a:t>Particularly worrisome if your annotation is produced by a method that assembles transcripts FROM THE RNA-SEQ DATA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endParaRPr lang="en-US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5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6E73-B2CD-F7A4-F502-8888311C9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EA1F6FA-DB2E-B90A-7963-B8555E85C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Ability to obtain functional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A85022-E41A-F2CB-1A72-B0DCEC9DAD31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6FAEDA5-5C86-350A-CB05-F909AC723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47199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If you can’t obtain functional information, there’s not much to say downstream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E.g. with a reference genome, what do you say when an “uncharacterized protein” is differentially expressed between conditions?</a:t>
            </a:r>
          </a:p>
          <a:p>
            <a:r>
              <a:rPr lang="en-US" dirty="0">
                <a:latin typeface="Helvetica Light" panose="020B0403020202020204" pitchFamily="34" charset="0"/>
              </a:rPr>
              <a:t>For practical purposes, methods that produce greater proportions of annotations that can return </a:t>
            </a:r>
            <a:r>
              <a:rPr lang="en-US" dirty="0" err="1">
                <a:latin typeface="Helvetica Light" panose="020B0403020202020204" pitchFamily="34" charset="0"/>
              </a:rPr>
              <a:t>orthology</a:t>
            </a:r>
            <a:r>
              <a:rPr lang="en-US" dirty="0">
                <a:latin typeface="Helvetica Light" panose="020B0403020202020204" pitchFamily="34" charset="0"/>
              </a:rPr>
              <a:t> information, gene symbols and GO terms via resources such as </a:t>
            </a:r>
            <a:r>
              <a:rPr lang="en-US" dirty="0" err="1">
                <a:latin typeface="Helvetica Light" panose="020B0403020202020204" pitchFamily="34" charset="0"/>
              </a:rPr>
              <a:t>EggNOG</a:t>
            </a:r>
            <a:r>
              <a:rPr lang="en-US" dirty="0">
                <a:latin typeface="Helvetica Light" panose="020B0403020202020204" pitchFamily="34" charset="0"/>
              </a:rPr>
              <a:t>-mapper, will be more useful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Assuming those functional annotations are correct!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03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2BF17-1E98-B737-2B6B-A07314DAF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ED0A6D3-8D5F-5896-469B-46E2790B9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Warning signs 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779EEAD-E119-8099-FA69-FDC8EDF7F65E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52831-319C-8572-23C4-0838877D6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82746" cy="4117975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Poor BUSCO recovery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Low </a:t>
            </a:r>
            <a:r>
              <a:rPr lang="en-US" sz="2400" dirty="0" err="1">
                <a:latin typeface="Helvetica Light" panose="020B0403020202020204" pitchFamily="34" charset="0"/>
              </a:rPr>
              <a:t>compleasm</a:t>
            </a:r>
            <a:r>
              <a:rPr lang="en-US" sz="2400" dirty="0">
                <a:latin typeface="Helvetica Light" panose="020B0403020202020204" pitchFamily="34" charset="0"/>
              </a:rPr>
              <a:t> scores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Large numbers of </a:t>
            </a:r>
            <a:r>
              <a:rPr lang="en-US" sz="2400" dirty="0" err="1">
                <a:latin typeface="Helvetica Light" panose="020B0403020202020204" pitchFamily="34" charset="0"/>
              </a:rPr>
              <a:t>monoexonic</a:t>
            </a:r>
            <a:r>
              <a:rPr lang="en-US" sz="2400" dirty="0">
                <a:latin typeface="Helvetica Light" panose="020B0403020202020204" pitchFamily="34" charset="0"/>
              </a:rPr>
              <a:t> transcripts or isoforms per gene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Low frequency of BLAST hits to reference or consensus protein databases (e.g. Uniref90)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Low coverage of reference proteins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Poor RNA-seq alignment rate (especially if you used RNA-seq data for your annotation)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Genes known to be highly expressed in your study organism are missing in your annotation</a:t>
            </a:r>
          </a:p>
          <a:p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86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0DBA0-9009-809D-F9D5-11E024D46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707A307-9D1E-3BA3-02BE-F56B57071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Some generic options, (ignoring study-specific considerations)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31F06B-72EE-51A8-FFB7-3F5DDB41DF0D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88EA9C7-55F0-F48B-3012-7B95393C1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47199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If have a good, closely related annotation, and focused on protein-coding genes, try TOGA</a:t>
            </a:r>
          </a:p>
          <a:p>
            <a:r>
              <a:rPr lang="en-US" dirty="0">
                <a:latin typeface="Helvetica Light" panose="020B0403020202020204" pitchFamily="34" charset="0"/>
              </a:rPr>
              <a:t>If have RNA-seq data and no closely related genome, or want the entire transcriptome, use </a:t>
            </a:r>
            <a:r>
              <a:rPr lang="en-US" dirty="0" err="1">
                <a:latin typeface="Helvetica Light" panose="020B0403020202020204" pitchFamily="34" charset="0"/>
              </a:rPr>
              <a:t>Stringtie</a:t>
            </a:r>
            <a:r>
              <a:rPr lang="en-US" dirty="0">
                <a:latin typeface="Helvetica Light" panose="020B0403020202020204" pitchFamily="34" charset="0"/>
              </a:rPr>
              <a:t> + </a:t>
            </a:r>
            <a:r>
              <a:rPr lang="en-US" dirty="0" err="1">
                <a:latin typeface="Helvetica Light" panose="020B0403020202020204" pitchFamily="34" charset="0"/>
              </a:rPr>
              <a:t>TransDecoder</a:t>
            </a:r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If don’t have a closely related genome and no RNA-seq data, try BRAKER2</a:t>
            </a:r>
          </a:p>
          <a:p>
            <a:r>
              <a:rPr lang="en-US" dirty="0">
                <a:latin typeface="Helvetica Light" panose="020B0403020202020204" pitchFamily="34" charset="0"/>
              </a:rPr>
              <a:t>Consider integrating </a:t>
            </a:r>
            <a:r>
              <a:rPr lang="en-US" dirty="0" err="1">
                <a:latin typeface="Helvetica Light" panose="020B0403020202020204" pitchFamily="34" charset="0"/>
              </a:rPr>
              <a:t>TOGA+Stringtie</a:t>
            </a:r>
            <a:r>
              <a:rPr lang="en-US" dirty="0">
                <a:latin typeface="Helvetica Light" panose="020B0403020202020204" pitchFamily="34" charset="0"/>
              </a:rPr>
              <a:t> when have RNA-seq data</a:t>
            </a:r>
          </a:p>
          <a:p>
            <a:r>
              <a:rPr lang="en-US" dirty="0">
                <a:latin typeface="Helvetica Light" panose="020B0403020202020204" pitchFamily="34" charset="0"/>
              </a:rPr>
              <a:t>Consider integrating BRAKER3 + </a:t>
            </a:r>
            <a:r>
              <a:rPr lang="en-US" dirty="0" err="1">
                <a:latin typeface="Helvetica Light" panose="020B0403020202020204" pitchFamily="34" charset="0"/>
              </a:rPr>
              <a:t>Stringtie</a:t>
            </a:r>
            <a:r>
              <a:rPr lang="en-US" dirty="0">
                <a:latin typeface="Helvetica Light" panose="020B0403020202020204" pitchFamily="34" charset="0"/>
              </a:rPr>
              <a:t> when have RNA-seq but no closely related genome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endParaRPr lang="en-US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85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78DD0-F45B-6239-23A1-338A60C04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557B1F-D0CA-9A4C-2452-BBDECA33D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The annotation method choice decision tree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05E54B-DF09-AF00-F507-2FE9A3EC34F0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D493618-3CE9-E6FE-D52C-E59C1743A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250" y="1630462"/>
            <a:ext cx="7772400" cy="486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622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96504-05C9-47D4-A05C-39DDE757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61535A-58B2-C752-F439-FB0B7D132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How do I merge/integrate multiple annotation sources?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26CCA2-AFE3-6EAF-391C-CFE8B8994936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891F7A2-C9A5-5FC3-CEDD-C4C319196966}"/>
              </a:ext>
            </a:extLst>
          </p:cNvPr>
          <p:cNvSpPr/>
          <p:nvPr/>
        </p:nvSpPr>
        <p:spPr>
          <a:xfrm>
            <a:off x="1270845" y="1796196"/>
            <a:ext cx="2286000" cy="2286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4224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TOGA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37D09E-145A-DD84-966E-1BBAA81EA255}"/>
              </a:ext>
            </a:extLst>
          </p:cNvPr>
          <p:cNvSpPr/>
          <p:nvPr/>
        </p:nvSpPr>
        <p:spPr>
          <a:xfrm>
            <a:off x="1270845" y="3106057"/>
            <a:ext cx="2286000" cy="2286000"/>
          </a:xfrm>
          <a:prstGeom prst="ellipse">
            <a:avLst/>
          </a:prstGeom>
          <a:solidFill>
            <a:schemeClr val="accent5">
              <a:lumMod val="40000"/>
              <a:lumOff val="60000"/>
              <a:alpha val="4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Stringtie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2BBBE7E-DF06-890A-30DC-42A6A4FD2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30" y="1588119"/>
            <a:ext cx="6588369" cy="47199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Naïve approach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Choose one method as “base”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Add features from the second method not found in first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Iterate if &gt; 2 methods</a:t>
            </a:r>
          </a:p>
          <a:p>
            <a:r>
              <a:rPr lang="en-US" dirty="0">
                <a:latin typeface="Helvetica Light" panose="020B0403020202020204" pitchFamily="34" charset="0"/>
              </a:rPr>
              <a:t>Employ a scoring schema to pick “good” transcripts”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BRAKER3 does this, with (occasionally) favorable results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Other methods (e.g. Mikado) seem to lead to information loss</a:t>
            </a:r>
          </a:p>
          <a:p>
            <a:pPr lvl="2"/>
            <a:r>
              <a:rPr lang="en-US" dirty="0">
                <a:latin typeface="Helvetica Light" panose="020B0403020202020204" pitchFamily="34" charset="0"/>
              </a:rPr>
              <a:t>Merged annotation has lower BUSCO scores than the best of the merged annotations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endParaRPr lang="en-US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C8B7AF-A2B5-DACE-9AFD-E066860083C3}"/>
              </a:ext>
            </a:extLst>
          </p:cNvPr>
          <p:cNvSpPr txBox="1"/>
          <p:nvPr/>
        </p:nvSpPr>
        <p:spPr>
          <a:xfrm>
            <a:off x="3460537" y="3106057"/>
            <a:ext cx="1304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7543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FDE85-09CF-A14B-D5D0-C6541D3E8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3A2C3E-FEFE-D64B-1373-628436F0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16478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Helvetica Light" panose="020B0403020202020204" pitchFamily="34" charset="0"/>
              </a:rPr>
              <a:t>Remaining challenges with genome annotation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121CE-F12C-89FF-5096-9518B8375884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318DF79-3C9B-9DF3-F73C-F735E9D77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5257800" cy="47199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sz="3200" dirty="0">
                <a:latin typeface="Helvetica Light" panose="020B0403020202020204" pitchFamily="34" charset="0"/>
              </a:rPr>
              <a:t>Better integration tools</a:t>
            </a:r>
          </a:p>
          <a:p>
            <a:r>
              <a:rPr lang="en-US" sz="3200" dirty="0">
                <a:latin typeface="Helvetica Light" panose="020B0403020202020204" pitchFamily="34" charset="0"/>
              </a:rPr>
              <a:t>Evidence that open reading frame (ORF) detection for RNA-seq assemblies misses terminal CDS exons (and other ORFs)</a:t>
            </a:r>
          </a:p>
          <a:p>
            <a:pPr marL="0" indent="0">
              <a:buNone/>
            </a:pPr>
            <a:endParaRPr lang="en-US" dirty="0">
              <a:latin typeface="Helvetica Light" panose="020B0403020202020204" pitchFamily="34" charset="0"/>
            </a:endParaRPr>
          </a:p>
          <a:p>
            <a:endParaRPr lang="en-US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2AF6D3-7735-D925-6EF7-C4BACD7997F5}"/>
              </a:ext>
            </a:extLst>
          </p:cNvPr>
          <p:cNvGrpSpPr/>
          <p:nvPr/>
        </p:nvGrpSpPr>
        <p:grpSpPr>
          <a:xfrm>
            <a:off x="6676571" y="2399160"/>
            <a:ext cx="4963886" cy="3908872"/>
            <a:chOff x="6676571" y="2399160"/>
            <a:chExt cx="4963886" cy="3908872"/>
          </a:xfrm>
        </p:grpSpPr>
        <p:pic>
          <p:nvPicPr>
            <p:cNvPr id="3" name="Picture 2" descr="A graph of different colored dots&#10;&#10;Description automatically generated">
              <a:extLst>
                <a:ext uri="{FF2B5EF4-FFF2-40B4-BE49-F238E27FC236}">
                  <a16:creationId xmlns:a16="http://schemas.microsoft.com/office/drawing/2014/main" id="{A3C9A264-7A7C-168C-33F5-FCEBE0903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800" y="2399160"/>
              <a:ext cx="4572000" cy="3200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E3E0FD-FBB0-490D-3D59-F9A9F29DB636}"/>
                </a:ext>
              </a:extLst>
            </p:cNvPr>
            <p:cNvSpPr txBox="1"/>
            <p:nvPr/>
          </p:nvSpPr>
          <p:spPr>
            <a:xfrm>
              <a:off x="6676571" y="6000255"/>
              <a:ext cx="49638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Freedman and </a:t>
              </a:r>
              <a:r>
                <a:rPr lang="en-US" sz="1400" dirty="0" err="1"/>
                <a:t>Sackton</a:t>
              </a:r>
              <a:r>
                <a:rPr lang="en-US" sz="1400" dirty="0"/>
                <a:t> (2025) , </a:t>
              </a:r>
              <a:r>
                <a:rPr lang="en-US" sz="1400" i="1" dirty="0"/>
                <a:t>Genome Research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77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CA5B0-61C8-B593-F1EB-08A1A0491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5D1AE8-1766-1D98-0A0F-4E61A0F8D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Our </a:t>
            </a:r>
            <a:r>
              <a:rPr lang="en-US" sz="3200" dirty="0" err="1">
                <a:latin typeface="Helvetica Light" panose="020B0403020202020204" pitchFamily="34" charset="0"/>
              </a:rPr>
              <a:t>Snakemake</a:t>
            </a:r>
            <a:r>
              <a:rPr lang="en-US" sz="3200" dirty="0">
                <a:latin typeface="Helvetica Light" panose="020B0403020202020204" pitchFamily="34" charset="0"/>
              </a:rPr>
              <a:t> workflows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0DF178-42C0-78C6-67E4-0031F7C4DFEB}"/>
              </a:ext>
            </a:extLst>
          </p:cNvPr>
          <p:cNvCxnSpPr>
            <a:cxnSpLocks/>
          </p:cNvCxnSpPr>
          <p:nvPr/>
        </p:nvCxnSpPr>
        <p:spPr>
          <a:xfrm>
            <a:off x="838200" y="1465943"/>
            <a:ext cx="10671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83FADFA-4479-6577-B4B3-E6C7EB050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47199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3200" dirty="0">
              <a:latin typeface="Helvetica Light" panose="020B0403020202020204" pitchFamily="34" charset="0"/>
            </a:endParaRPr>
          </a:p>
          <a:p>
            <a:r>
              <a:rPr lang="en-US" b="1" dirty="0" err="1">
                <a:latin typeface="Helvetica Light" panose="020B0403020202020204" pitchFamily="34" charset="0"/>
              </a:rPr>
              <a:t>Stringtie</a:t>
            </a:r>
            <a:r>
              <a:rPr lang="en-US" b="1" dirty="0">
                <a:latin typeface="Helvetica Light" panose="020B0403020202020204" pitchFamily="34" charset="0"/>
              </a:rPr>
              <a:t> + CDS annotation with </a:t>
            </a:r>
            <a:r>
              <a:rPr lang="en-US" b="1" dirty="0" err="1">
                <a:latin typeface="Helvetica Light" panose="020B0403020202020204" pitchFamily="34" charset="0"/>
              </a:rPr>
              <a:t>TransDecoder</a:t>
            </a:r>
            <a:endParaRPr lang="en-US" b="1" dirty="0">
              <a:latin typeface="Helvetica Light" panose="020B0403020202020204" pitchFamily="34" charset="0"/>
            </a:endParaRPr>
          </a:p>
          <a:p>
            <a:pPr lvl="1"/>
            <a:r>
              <a:rPr lang="en-US" dirty="0">
                <a:latin typeface="Helvetica Light" panose="020B0403020202020204" pitchFamily="34" charset="0"/>
                <a:hlinkClick r:id="rId3"/>
              </a:rPr>
              <a:t>https://github.com/harvardinformatics/AnnotationRNAseqAssembly</a:t>
            </a:r>
            <a:endParaRPr lang="en-US" dirty="0">
              <a:latin typeface="Helvetica Light" panose="020B0403020202020204" pitchFamily="34" charset="0"/>
            </a:endParaRP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Consumes RNA-seq PE </a:t>
            </a:r>
            <a:r>
              <a:rPr lang="en-US" dirty="0" err="1">
                <a:latin typeface="Helvetica Light" panose="020B0403020202020204" pitchFamily="34" charset="0"/>
              </a:rPr>
              <a:t>fastq</a:t>
            </a:r>
            <a:r>
              <a:rPr lang="en-US" dirty="0">
                <a:latin typeface="Helvetica Light" panose="020B0403020202020204" pitchFamily="34" charset="0"/>
              </a:rPr>
              <a:t> files and a genome </a:t>
            </a:r>
            <a:r>
              <a:rPr lang="en-US" dirty="0" err="1">
                <a:latin typeface="Helvetica Light" panose="020B0403020202020204" pitchFamily="34" charset="0"/>
              </a:rPr>
              <a:t>fasta</a:t>
            </a:r>
            <a:endParaRPr lang="en-US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BRAKER2</a:t>
            </a:r>
            <a:r>
              <a:rPr lang="en-US" dirty="0">
                <a:latin typeface="Helvetica Light" panose="020B0403020202020204" pitchFamily="34" charset="0"/>
              </a:rPr>
              <a:t> or </a:t>
            </a:r>
            <a:r>
              <a:rPr lang="en-US" b="1" dirty="0">
                <a:latin typeface="Helvetica Light" panose="020B0403020202020204" pitchFamily="34" charset="0"/>
              </a:rPr>
              <a:t>BRAKER3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Given public protein resources, if have RNA-seq data should use BRAKER3, as BRAKER1 (RNA-seq only) typically doesn’t doesn’t perform as well</a:t>
            </a:r>
          </a:p>
          <a:p>
            <a:pPr lvl="1"/>
            <a:r>
              <a:rPr lang="en-US" dirty="0">
                <a:latin typeface="Helvetica Light" panose="020B0403020202020204" pitchFamily="34" charset="0"/>
                <a:hlinkClick r:id="rId4"/>
              </a:rPr>
              <a:t>https://github.com/harvardinformatics/AnnotationBRAKER</a:t>
            </a:r>
            <a:endParaRPr lang="en-US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TOGA</a:t>
            </a:r>
          </a:p>
          <a:p>
            <a:pPr lvl="1"/>
            <a:r>
              <a:rPr lang="en-US" dirty="0">
                <a:latin typeface="Helvetica Light" panose="020B0403020202020204" pitchFamily="34" charset="0"/>
              </a:rPr>
              <a:t>https://</a:t>
            </a:r>
            <a:r>
              <a:rPr lang="en-US" dirty="0" err="1">
                <a:latin typeface="Helvetica Light" panose="020B0403020202020204" pitchFamily="34" charset="0"/>
              </a:rPr>
              <a:t>github.com</a:t>
            </a:r>
            <a:r>
              <a:rPr lang="en-US" dirty="0">
                <a:latin typeface="Helvetica Light" panose="020B0403020202020204" pitchFamily="34" charset="0"/>
              </a:rPr>
              <a:t>/</a:t>
            </a:r>
            <a:r>
              <a:rPr lang="en-US" dirty="0" err="1">
                <a:latin typeface="Helvetica Light" panose="020B0403020202020204" pitchFamily="34" charset="0"/>
              </a:rPr>
              <a:t>harvardinformatics</a:t>
            </a:r>
            <a:r>
              <a:rPr lang="en-US" dirty="0">
                <a:latin typeface="Helvetica Light" panose="020B0403020202020204" pitchFamily="34" charset="0"/>
              </a:rPr>
              <a:t>/</a:t>
            </a:r>
            <a:r>
              <a:rPr lang="en-US" dirty="0" err="1">
                <a:latin typeface="Helvetica Light" panose="020B0403020202020204" pitchFamily="34" charset="0"/>
              </a:rPr>
              <a:t>GenomeAnnotation</a:t>
            </a:r>
            <a:r>
              <a:rPr lang="en-US" dirty="0">
                <a:latin typeface="Helvetica Light" panose="020B0403020202020204" pitchFamily="34" charset="0"/>
              </a:rPr>
              <a:t>/tree/master/TOGA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25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1494</Words>
  <Application>Microsoft Macintosh PowerPoint</Application>
  <PresentationFormat>Widescreen</PresentationFormat>
  <Paragraphs>202</Paragraphs>
  <Slides>29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Andale Mono</vt:lpstr>
      <vt:lpstr>Aptos</vt:lpstr>
      <vt:lpstr>Aptos Display</vt:lpstr>
      <vt:lpstr>Arial</vt:lpstr>
      <vt:lpstr>Helvetica</vt:lpstr>
      <vt:lpstr>HELVETICA LIGHT</vt:lpstr>
      <vt:lpstr>HELVETICA LIGHT</vt:lpstr>
      <vt:lpstr>Menlo</vt:lpstr>
      <vt:lpstr>Office Theme</vt:lpstr>
      <vt:lpstr>Introduction to Genome Annotation</vt:lpstr>
      <vt:lpstr>Workshop Objectives</vt:lpstr>
      <vt:lpstr>What is not covered in this workshop</vt:lpstr>
      <vt:lpstr>What we mean by genome annotation</vt:lpstr>
      <vt:lpstr>An annotation of the coqui frog (Eleuthrodactylus coqui)</vt:lpstr>
      <vt:lpstr>The (somewhat confusing) anatomy of gtf/gff3 files</vt:lpstr>
      <vt:lpstr>Gff files continued</vt:lpstr>
      <vt:lpstr>How do genome annotation tools work?</vt:lpstr>
      <vt:lpstr>Three flavors</vt:lpstr>
      <vt:lpstr>Some well-established methods</vt:lpstr>
      <vt:lpstr>What method should you use? Depends upon whether…</vt:lpstr>
      <vt:lpstr>The annotation tool performance interlude</vt:lpstr>
      <vt:lpstr>Some tools can produce tons of very short transcripts</vt:lpstr>
      <vt:lpstr>And a seeming excess of monoexonic transcripts</vt:lpstr>
      <vt:lpstr>Some tools tend to make false positive predictions</vt:lpstr>
      <vt:lpstr>Tools vary in their recovery of real genes</vt:lpstr>
      <vt:lpstr>And in how much RNA-seq data can align to them</vt:lpstr>
      <vt:lpstr>What metrics should you use to evaluate your new annotation?</vt:lpstr>
      <vt:lpstr>Proteome: BUSCO recovery</vt:lpstr>
      <vt:lpstr>Proteome: coverage of “reference” proteins</vt:lpstr>
      <vt:lpstr>Proteome: Psauron scores</vt:lpstr>
      <vt:lpstr>Transcriptome: RNA-seq alignment rates</vt:lpstr>
      <vt:lpstr>Ability to obtain functional information</vt:lpstr>
      <vt:lpstr>Warning signs …</vt:lpstr>
      <vt:lpstr>Some generic options, (ignoring study-specific considerations)</vt:lpstr>
      <vt:lpstr>The annotation method choice decision tree</vt:lpstr>
      <vt:lpstr>How do I merge/integrate multiple annotation sources?</vt:lpstr>
      <vt:lpstr>Remaining challenges with genome annotation</vt:lpstr>
      <vt:lpstr>Our Snakemake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Freedman, Adam</dc:creator>
  <cp:lastModifiedBy>Adam Freedman</cp:lastModifiedBy>
  <cp:revision>40</cp:revision>
  <dcterms:created xsi:type="dcterms:W3CDTF">2024-10-21T21:11:34Z</dcterms:created>
  <dcterms:modified xsi:type="dcterms:W3CDTF">2025-11-25T14:59:11Z</dcterms:modified>
</cp:coreProperties>
</file>