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57" r:id="rId3"/>
    <p:sldId id="320" r:id="rId4"/>
    <p:sldId id="296" r:id="rId5"/>
    <p:sldId id="313" r:id="rId6"/>
    <p:sldId id="297" r:id="rId7"/>
    <p:sldId id="309" r:id="rId8"/>
    <p:sldId id="310" r:id="rId9"/>
    <p:sldId id="311" r:id="rId10"/>
    <p:sldId id="308" r:id="rId11"/>
    <p:sldId id="312" r:id="rId12"/>
    <p:sldId id="321" r:id="rId13"/>
    <p:sldId id="314" r:id="rId14"/>
    <p:sldId id="334" r:id="rId15"/>
    <p:sldId id="322" r:id="rId16"/>
    <p:sldId id="325" r:id="rId17"/>
    <p:sldId id="326" r:id="rId18"/>
    <p:sldId id="327" r:id="rId19"/>
    <p:sldId id="328" r:id="rId20"/>
    <p:sldId id="329" r:id="rId21"/>
    <p:sldId id="330" r:id="rId22"/>
    <p:sldId id="324" r:id="rId23"/>
    <p:sldId id="332" r:id="rId24"/>
    <p:sldId id="323" r:id="rId25"/>
    <p:sldId id="331" r:id="rId26"/>
    <p:sldId id="336" r:id="rId27"/>
    <p:sldId id="333" r:id="rId28"/>
    <p:sldId id="337" r:id="rId29"/>
    <p:sldId id="335" r:id="rId30"/>
    <p:sldId id="338" r:id="rId31"/>
    <p:sldId id="339" r:id="rId32"/>
    <p:sldId id="342" r:id="rId33"/>
    <p:sldId id="285" r:id="rId34"/>
    <p:sldId id="340" r:id="rId35"/>
    <p:sldId id="343" r:id="rId36"/>
    <p:sldId id="341" r:id="rId37"/>
    <p:sldId id="315" r:id="rId38"/>
    <p:sldId id="316" r:id="rId39"/>
    <p:sldId id="317" r:id="rId40"/>
    <p:sldId id="269" r:id="rId41"/>
    <p:sldId id="318" r:id="rId42"/>
    <p:sldId id="344" r:id="rId43"/>
    <p:sldId id="277" r:id="rId44"/>
    <p:sldId id="275" r:id="rId45"/>
    <p:sldId id="319"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8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62"/>
    <p:restoredTop sz="79452"/>
  </p:normalViewPr>
  <p:slideViewPr>
    <p:cSldViewPr snapToGrid="0" snapToObjects="1">
      <p:cViewPr varScale="1">
        <p:scale>
          <a:sx n="100" d="100"/>
          <a:sy n="100" d="100"/>
        </p:scale>
        <p:origin x="1656" y="160"/>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6362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95FF0-FA9A-E00B-8394-F77ADD7BAE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178F5A-9AF8-D308-CEDE-12DB71C789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0E2212-5455-89B6-E46E-2621D9EB38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588B84-7EB2-F7A4-5D76-0CE52008FAE7}"/>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403343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BA23A-7BCD-D096-6732-DF78568E59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04907F-BB5C-DDF2-E1DD-0C2BDEAE97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95BA8B-BD47-D3BE-B50D-C1F5041027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A6FB1A-4235-C91B-F469-602C1B949E5A}"/>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916112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55CFF-20DB-F778-9FF7-DBD1DA42E7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DEF96C-7B10-984B-8C1B-D88D2761E5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E92768-69AB-3AA8-5010-F1EC97C850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724DD7-DCE9-BF6A-A89C-071EBB4B6A24}"/>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42071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B13DD-96DB-B18A-158A-C05D84C402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C5B15E-CEC7-1E34-2F82-8EF6CF66ED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7B6447-F745-1588-E000-D1CD55E41F17}"/>
              </a:ext>
            </a:extLst>
          </p:cNvPr>
          <p:cNvSpPr>
            <a:spLocks noGrp="1"/>
          </p:cNvSpPr>
          <p:nvPr>
            <p:ph type="body" idx="1"/>
          </p:nvPr>
        </p:nvSpPr>
        <p:spPr/>
        <p:txBody>
          <a:bodyPr/>
          <a:lstStyle/>
          <a:p>
            <a:r>
              <a:rPr lang="en-US" dirty="0"/>
              <a:t> Generally, free tier access has significant limits and often doesn’t include the latest models</a:t>
            </a:r>
          </a:p>
          <a:p>
            <a:r>
              <a:rPr lang="en-US" dirty="0"/>
              <a:t>Personal plans are usually around $20/month at the entry level</a:t>
            </a:r>
          </a:p>
          <a:p>
            <a:r>
              <a:rPr lang="en-US" dirty="0"/>
              <a:t>Harvard provides:</a:t>
            </a:r>
          </a:p>
          <a:p>
            <a:pPr marL="285750" indent="-285750">
              <a:buFontTx/>
              <a:buChar char="-"/>
            </a:pPr>
            <a:r>
              <a:rPr lang="en-US" dirty="0"/>
              <a:t>HUIT AI Sandbox</a:t>
            </a:r>
          </a:p>
          <a:p>
            <a:pPr marL="285750" indent="-285750">
              <a:buFontTx/>
              <a:buChar char="-"/>
            </a:pPr>
            <a:r>
              <a:rPr lang="en-US" dirty="0"/>
              <a:t>ChatGPT Edu</a:t>
            </a:r>
          </a:p>
          <a:p>
            <a:pPr marL="285750" indent="-285750">
              <a:buFontTx/>
              <a:buChar char="-"/>
            </a:pPr>
            <a:r>
              <a:rPr lang="en-US" dirty="0"/>
              <a:t>Gemini via </a:t>
            </a:r>
            <a:r>
              <a:rPr lang="en-US" dirty="0" err="1"/>
              <a:t>g.Harvard</a:t>
            </a:r>
            <a:endParaRPr lang="en-US" dirty="0"/>
          </a:p>
          <a:p>
            <a:pPr marL="285750" indent="-285750">
              <a:buFontTx/>
              <a:buChar char="-"/>
            </a:pPr>
            <a:endParaRPr lang="en-US" dirty="0"/>
          </a:p>
          <a:p>
            <a:pPr marL="285750" indent="-285750">
              <a:buFontTx/>
              <a:buChar char="-"/>
            </a:pPr>
            <a:endParaRPr lang="en-US" dirty="0"/>
          </a:p>
          <a:p>
            <a:r>
              <a:rPr lang="en-US" dirty="0"/>
              <a:t>HUIT AI Sandbox is really a sandbox</a:t>
            </a:r>
          </a:p>
          <a:p>
            <a:r>
              <a:rPr lang="en-US" dirty="0"/>
              <a:t>Gemini via </a:t>
            </a:r>
            <a:r>
              <a:rPr lang="en-US" dirty="0" err="1"/>
              <a:t>g.Harvard</a:t>
            </a:r>
            <a:r>
              <a:rPr lang="en-US" dirty="0"/>
              <a:t> or ChatGPT Edu will give you access to current frontier models</a:t>
            </a:r>
          </a:p>
          <a:p>
            <a:endParaRPr lang="en-US" dirty="0"/>
          </a:p>
          <a:p>
            <a:r>
              <a:rPr lang="en-US" dirty="0"/>
              <a:t>Access via Harvard to protect privacy and data. Approved for up to Level 3 data. See GAI page for more</a:t>
            </a:r>
          </a:p>
        </p:txBody>
      </p:sp>
      <p:sp>
        <p:nvSpPr>
          <p:cNvPr id="4" name="Slide Number Placeholder 3">
            <a:extLst>
              <a:ext uri="{FF2B5EF4-FFF2-40B4-BE49-F238E27FC236}">
                <a16:creationId xmlns:a16="http://schemas.microsoft.com/office/drawing/2014/main" id="{76910F90-12E5-97C0-7ED7-1B98ADE73551}"/>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527119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1625C-7FD1-6243-C917-2A17D3E35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16EED8-6337-D693-6252-BD63890F8B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B0AABC-8631-4867-DAFC-A061510E645C}"/>
              </a:ext>
            </a:extLst>
          </p:cNvPr>
          <p:cNvSpPr>
            <a:spLocks noGrp="1"/>
          </p:cNvSpPr>
          <p:nvPr>
            <p:ph type="body" idx="1"/>
          </p:nvPr>
        </p:nvSpPr>
        <p:spPr/>
        <p:txBody>
          <a:bodyPr/>
          <a:lstStyle/>
          <a:p>
            <a:r>
              <a:rPr lang="en-US" dirty="0"/>
              <a:t> Generally, free tier access has significant limits and often doesn’t include the latest models</a:t>
            </a:r>
          </a:p>
          <a:p>
            <a:r>
              <a:rPr lang="en-US" dirty="0"/>
              <a:t>Personal plans are usually around $20/month at the entry level</a:t>
            </a:r>
          </a:p>
          <a:p>
            <a:r>
              <a:rPr lang="en-US" dirty="0"/>
              <a:t>Harvard provides:</a:t>
            </a:r>
          </a:p>
          <a:p>
            <a:pPr marL="285750" indent="-285750">
              <a:buFontTx/>
              <a:buChar char="-"/>
            </a:pPr>
            <a:r>
              <a:rPr lang="en-US" dirty="0"/>
              <a:t>HUIT AI Sandbox</a:t>
            </a:r>
          </a:p>
          <a:p>
            <a:pPr marL="285750" indent="-285750">
              <a:buFontTx/>
              <a:buChar char="-"/>
            </a:pPr>
            <a:r>
              <a:rPr lang="en-US" dirty="0"/>
              <a:t>ChatGPT Edu</a:t>
            </a:r>
          </a:p>
          <a:p>
            <a:pPr marL="285750" indent="-285750">
              <a:buFontTx/>
              <a:buChar char="-"/>
            </a:pPr>
            <a:r>
              <a:rPr lang="en-US" dirty="0"/>
              <a:t>Gemini via </a:t>
            </a:r>
            <a:r>
              <a:rPr lang="en-US" dirty="0" err="1"/>
              <a:t>g.Harvard</a:t>
            </a:r>
            <a:endParaRPr lang="en-US" dirty="0"/>
          </a:p>
          <a:p>
            <a:pPr marL="285750" indent="-285750">
              <a:buFontTx/>
              <a:buChar char="-"/>
            </a:pPr>
            <a:endParaRPr lang="en-US" dirty="0"/>
          </a:p>
          <a:p>
            <a:pPr marL="285750" indent="-285750">
              <a:buFontTx/>
              <a:buChar char="-"/>
            </a:pPr>
            <a:endParaRPr lang="en-US" dirty="0"/>
          </a:p>
          <a:p>
            <a:r>
              <a:rPr lang="en-US" dirty="0"/>
              <a:t>HUIT AI Sandbox is really a sandbox</a:t>
            </a:r>
          </a:p>
          <a:p>
            <a:r>
              <a:rPr lang="en-US" dirty="0"/>
              <a:t>Gemini via </a:t>
            </a:r>
            <a:r>
              <a:rPr lang="en-US" dirty="0" err="1"/>
              <a:t>g.Harvard</a:t>
            </a:r>
            <a:r>
              <a:rPr lang="en-US" dirty="0"/>
              <a:t> or ChatGPT Edu will give you access to current frontier models</a:t>
            </a:r>
          </a:p>
          <a:p>
            <a:endParaRPr lang="en-US" dirty="0"/>
          </a:p>
          <a:p>
            <a:r>
              <a:rPr lang="en-US" dirty="0"/>
              <a:t>Access via Harvard to protect privacy and data. Approved for up to Level 3 data. See GAI page for more</a:t>
            </a:r>
          </a:p>
        </p:txBody>
      </p:sp>
      <p:sp>
        <p:nvSpPr>
          <p:cNvPr id="4" name="Slide Number Placeholder 3">
            <a:extLst>
              <a:ext uri="{FF2B5EF4-FFF2-40B4-BE49-F238E27FC236}">
                <a16:creationId xmlns:a16="http://schemas.microsoft.com/office/drawing/2014/main" id="{A1C04303-9781-0F3D-8338-E8F59029BD7F}"/>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8534898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C576F-EC80-D601-56D6-08E54C1BBB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D7342A-4CB3-CBE7-39F8-09608F8C69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A5574-F84A-F22B-1C22-D42F1A0943E1}"/>
              </a:ext>
            </a:extLst>
          </p:cNvPr>
          <p:cNvSpPr>
            <a:spLocks noGrp="1"/>
          </p:cNvSpPr>
          <p:nvPr>
            <p:ph type="body" idx="1"/>
          </p:nvPr>
        </p:nvSpPr>
        <p:spPr/>
        <p:txBody>
          <a:bodyPr/>
          <a:lstStyle/>
          <a:p>
            <a:r>
              <a:rPr lang="en-US" dirty="0"/>
              <a:t> Generally, free tier access has significant limits and often doesn’t include the latest models</a:t>
            </a:r>
          </a:p>
          <a:p>
            <a:r>
              <a:rPr lang="en-US" dirty="0"/>
              <a:t>Personal plans are usually around $20/month at the entry level</a:t>
            </a:r>
          </a:p>
          <a:p>
            <a:r>
              <a:rPr lang="en-US" dirty="0"/>
              <a:t>Harvard provides:</a:t>
            </a:r>
          </a:p>
          <a:p>
            <a:pPr marL="285750" indent="-285750">
              <a:buFontTx/>
              <a:buChar char="-"/>
            </a:pPr>
            <a:r>
              <a:rPr lang="en-US" dirty="0"/>
              <a:t>HUIT AI Sandbox</a:t>
            </a:r>
          </a:p>
          <a:p>
            <a:pPr marL="285750" indent="-285750">
              <a:buFontTx/>
              <a:buChar char="-"/>
            </a:pPr>
            <a:r>
              <a:rPr lang="en-US" dirty="0"/>
              <a:t>ChatGPT Edu</a:t>
            </a:r>
          </a:p>
          <a:p>
            <a:pPr marL="285750" indent="-285750">
              <a:buFontTx/>
              <a:buChar char="-"/>
            </a:pPr>
            <a:r>
              <a:rPr lang="en-US" dirty="0"/>
              <a:t>Gemini via </a:t>
            </a:r>
            <a:r>
              <a:rPr lang="en-US" dirty="0" err="1"/>
              <a:t>g.Harvard</a:t>
            </a:r>
            <a:endParaRPr lang="en-US" dirty="0"/>
          </a:p>
          <a:p>
            <a:pPr marL="285750" indent="-285750">
              <a:buFontTx/>
              <a:buChar char="-"/>
            </a:pPr>
            <a:endParaRPr lang="en-US" dirty="0"/>
          </a:p>
          <a:p>
            <a:pPr marL="285750" indent="-285750">
              <a:buFontTx/>
              <a:buChar char="-"/>
            </a:pPr>
            <a:endParaRPr lang="en-US" dirty="0"/>
          </a:p>
          <a:p>
            <a:r>
              <a:rPr lang="en-US" dirty="0"/>
              <a:t>HUIT AI Sandbox is really a sandbox</a:t>
            </a:r>
          </a:p>
          <a:p>
            <a:r>
              <a:rPr lang="en-US" dirty="0"/>
              <a:t>Gemini via </a:t>
            </a:r>
            <a:r>
              <a:rPr lang="en-US" dirty="0" err="1"/>
              <a:t>g.Harvard</a:t>
            </a:r>
            <a:r>
              <a:rPr lang="en-US" dirty="0"/>
              <a:t> or ChatGPT Edu will give you access to current frontier models</a:t>
            </a:r>
          </a:p>
          <a:p>
            <a:endParaRPr lang="en-US" dirty="0"/>
          </a:p>
          <a:p>
            <a:r>
              <a:rPr lang="en-US" dirty="0"/>
              <a:t>Access via Harvard to protect privacy and data. Approved for up to Level 3 data. See GAI page for more</a:t>
            </a:r>
          </a:p>
        </p:txBody>
      </p:sp>
      <p:sp>
        <p:nvSpPr>
          <p:cNvPr id="4" name="Slide Number Placeholder 3">
            <a:extLst>
              <a:ext uri="{FF2B5EF4-FFF2-40B4-BE49-F238E27FC236}">
                <a16:creationId xmlns:a16="http://schemas.microsoft.com/office/drawing/2014/main" id="{3F631C03-EC4F-3CA3-EC08-7B93DDB4FFD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2862384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530B2-89A7-D6ED-89C4-2EDB8409BF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D8564B-3EC8-121C-5E62-EA54F7D324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D44BE7-8004-C652-33A9-34F43CFE5929}"/>
              </a:ext>
            </a:extLst>
          </p:cNvPr>
          <p:cNvSpPr>
            <a:spLocks noGrp="1"/>
          </p:cNvSpPr>
          <p:nvPr>
            <p:ph type="body" idx="1"/>
          </p:nvPr>
        </p:nvSpPr>
        <p:spPr/>
        <p:txBody>
          <a:bodyPr/>
          <a:lstStyle/>
          <a:p>
            <a:r>
              <a:rPr lang="en-US" dirty="0"/>
              <a:t> Generally, free tier access has significant limits and often doesn’t include the latest models</a:t>
            </a:r>
          </a:p>
          <a:p>
            <a:r>
              <a:rPr lang="en-US" dirty="0"/>
              <a:t>Personal plans are usually around $20/month at the entry level</a:t>
            </a:r>
          </a:p>
          <a:p>
            <a:r>
              <a:rPr lang="en-US" dirty="0"/>
              <a:t>Harvard provides:</a:t>
            </a:r>
          </a:p>
          <a:p>
            <a:pPr marL="285750" indent="-285750">
              <a:buFontTx/>
              <a:buChar char="-"/>
            </a:pPr>
            <a:r>
              <a:rPr lang="en-US" dirty="0"/>
              <a:t>HUIT AI Sandbox</a:t>
            </a:r>
          </a:p>
          <a:p>
            <a:pPr marL="285750" indent="-285750">
              <a:buFontTx/>
              <a:buChar char="-"/>
            </a:pPr>
            <a:r>
              <a:rPr lang="en-US" dirty="0"/>
              <a:t>ChatGPT Edu</a:t>
            </a:r>
          </a:p>
          <a:p>
            <a:pPr marL="285750" indent="-285750">
              <a:buFontTx/>
              <a:buChar char="-"/>
            </a:pPr>
            <a:r>
              <a:rPr lang="en-US" dirty="0"/>
              <a:t>Gemini via </a:t>
            </a:r>
            <a:r>
              <a:rPr lang="en-US" dirty="0" err="1"/>
              <a:t>g.Harvard</a:t>
            </a:r>
            <a:endParaRPr lang="en-US" dirty="0"/>
          </a:p>
          <a:p>
            <a:pPr marL="285750" indent="-285750">
              <a:buFontTx/>
              <a:buChar char="-"/>
            </a:pPr>
            <a:endParaRPr lang="en-US" dirty="0"/>
          </a:p>
          <a:p>
            <a:pPr marL="285750" indent="-285750">
              <a:buFontTx/>
              <a:buChar char="-"/>
            </a:pPr>
            <a:endParaRPr lang="en-US" dirty="0"/>
          </a:p>
          <a:p>
            <a:r>
              <a:rPr lang="en-US" dirty="0"/>
              <a:t>HUIT AI Sandbox is really a sandbox</a:t>
            </a:r>
          </a:p>
          <a:p>
            <a:r>
              <a:rPr lang="en-US" dirty="0"/>
              <a:t>Gemini via </a:t>
            </a:r>
            <a:r>
              <a:rPr lang="en-US" dirty="0" err="1"/>
              <a:t>g.Harvard</a:t>
            </a:r>
            <a:r>
              <a:rPr lang="en-US" dirty="0"/>
              <a:t> or ChatGPT Edu will give you access to current frontier models</a:t>
            </a:r>
          </a:p>
          <a:p>
            <a:endParaRPr lang="en-US" dirty="0"/>
          </a:p>
          <a:p>
            <a:r>
              <a:rPr lang="en-US" dirty="0"/>
              <a:t>Access via Harvard to protect privacy and data. Approved for up to Level 3 data. See GAI page for more</a:t>
            </a:r>
          </a:p>
        </p:txBody>
      </p:sp>
      <p:sp>
        <p:nvSpPr>
          <p:cNvPr id="4" name="Slide Number Placeholder 3">
            <a:extLst>
              <a:ext uri="{FF2B5EF4-FFF2-40B4-BE49-F238E27FC236}">
                <a16:creationId xmlns:a16="http://schemas.microsoft.com/office/drawing/2014/main" id="{8BB49C04-1B73-63F8-24C0-DD96CF60F4FA}"/>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0535310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385DA-62FF-16EB-F3DF-4343B6F73F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A238B8-EF2D-50CD-9F0C-71B5D46163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8B49D9-21DB-4D8F-091F-403CA1D5D311}"/>
              </a:ext>
            </a:extLst>
          </p:cNvPr>
          <p:cNvSpPr>
            <a:spLocks noGrp="1"/>
          </p:cNvSpPr>
          <p:nvPr>
            <p:ph type="body" idx="1"/>
          </p:nvPr>
        </p:nvSpPr>
        <p:spPr/>
        <p:txBody>
          <a:bodyPr/>
          <a:lstStyle/>
          <a:p>
            <a:r>
              <a:rPr lang="en-US" dirty="0"/>
              <a:t> Generally, free tier access has significant limits and often doesn’t include the latest models</a:t>
            </a:r>
          </a:p>
          <a:p>
            <a:r>
              <a:rPr lang="en-US" dirty="0"/>
              <a:t>Personal plans are usually around $20/month at the entry level</a:t>
            </a:r>
          </a:p>
          <a:p>
            <a:r>
              <a:rPr lang="en-US" dirty="0"/>
              <a:t>Harvard provides:</a:t>
            </a:r>
          </a:p>
          <a:p>
            <a:pPr marL="285750" indent="-285750">
              <a:buFontTx/>
              <a:buChar char="-"/>
            </a:pPr>
            <a:r>
              <a:rPr lang="en-US" dirty="0"/>
              <a:t>HUIT AI Sandbox</a:t>
            </a:r>
          </a:p>
          <a:p>
            <a:pPr marL="285750" indent="-285750">
              <a:buFontTx/>
              <a:buChar char="-"/>
            </a:pPr>
            <a:r>
              <a:rPr lang="en-US" dirty="0"/>
              <a:t>ChatGPT Edu</a:t>
            </a:r>
          </a:p>
          <a:p>
            <a:pPr marL="285750" indent="-285750">
              <a:buFontTx/>
              <a:buChar char="-"/>
            </a:pPr>
            <a:r>
              <a:rPr lang="en-US" dirty="0"/>
              <a:t>Gemini via </a:t>
            </a:r>
            <a:r>
              <a:rPr lang="en-US" dirty="0" err="1"/>
              <a:t>g.Harvard</a:t>
            </a:r>
            <a:endParaRPr lang="en-US" dirty="0"/>
          </a:p>
          <a:p>
            <a:pPr marL="285750" indent="-285750">
              <a:buFontTx/>
              <a:buChar char="-"/>
            </a:pPr>
            <a:endParaRPr lang="en-US" dirty="0"/>
          </a:p>
          <a:p>
            <a:pPr marL="285750" indent="-285750">
              <a:buFontTx/>
              <a:buChar char="-"/>
            </a:pPr>
            <a:endParaRPr lang="en-US" dirty="0"/>
          </a:p>
          <a:p>
            <a:r>
              <a:rPr lang="en-US" dirty="0"/>
              <a:t>HUIT AI Sandbox is really a sandbox</a:t>
            </a:r>
          </a:p>
          <a:p>
            <a:r>
              <a:rPr lang="en-US" dirty="0"/>
              <a:t>Gemini via </a:t>
            </a:r>
            <a:r>
              <a:rPr lang="en-US" dirty="0" err="1"/>
              <a:t>g.Harvard</a:t>
            </a:r>
            <a:r>
              <a:rPr lang="en-US" dirty="0"/>
              <a:t> or ChatGPT Edu will give you access to current frontier models</a:t>
            </a:r>
          </a:p>
          <a:p>
            <a:endParaRPr lang="en-US" dirty="0"/>
          </a:p>
          <a:p>
            <a:r>
              <a:rPr lang="en-US" dirty="0"/>
              <a:t>Access via Harvard to protect privacy and data. Approved for up to Level 3 data. See GAI page for more</a:t>
            </a:r>
          </a:p>
        </p:txBody>
      </p:sp>
      <p:sp>
        <p:nvSpPr>
          <p:cNvPr id="4" name="Slide Number Placeholder 3">
            <a:extLst>
              <a:ext uri="{FF2B5EF4-FFF2-40B4-BE49-F238E27FC236}">
                <a16:creationId xmlns:a16="http://schemas.microsoft.com/office/drawing/2014/main" id="{494F2A53-6E28-7BA0-5A3E-B53413B1C1F5}"/>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4432070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86652-C097-7F4C-A726-CA3BC3B09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C94F6C-B510-313F-A8B5-DA2E51AAB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EF9B52-F5E3-A8D1-FB2B-D4C7BBC3538E}"/>
              </a:ext>
            </a:extLst>
          </p:cNvPr>
          <p:cNvSpPr>
            <a:spLocks noGrp="1"/>
          </p:cNvSpPr>
          <p:nvPr>
            <p:ph type="body" idx="1"/>
          </p:nvPr>
        </p:nvSpPr>
        <p:spPr/>
        <p:txBody>
          <a:bodyPr/>
          <a:lstStyle/>
          <a:p>
            <a:r>
              <a:rPr lang="en-US" dirty="0"/>
              <a:t> Generally, free tier access has significant limits and often doesn’t include the latest models</a:t>
            </a:r>
          </a:p>
          <a:p>
            <a:r>
              <a:rPr lang="en-US" dirty="0"/>
              <a:t>Personal plans are usually around $20/month at the entry level</a:t>
            </a:r>
          </a:p>
          <a:p>
            <a:r>
              <a:rPr lang="en-US" dirty="0"/>
              <a:t>Harvard provides:</a:t>
            </a:r>
          </a:p>
          <a:p>
            <a:pPr marL="285750" indent="-285750">
              <a:buFontTx/>
              <a:buChar char="-"/>
            </a:pPr>
            <a:r>
              <a:rPr lang="en-US" dirty="0"/>
              <a:t>HUIT AI Sandbox</a:t>
            </a:r>
          </a:p>
          <a:p>
            <a:pPr marL="285750" indent="-285750">
              <a:buFontTx/>
              <a:buChar char="-"/>
            </a:pPr>
            <a:r>
              <a:rPr lang="en-US" dirty="0"/>
              <a:t>ChatGPT Edu</a:t>
            </a:r>
          </a:p>
          <a:p>
            <a:pPr marL="285750" indent="-285750">
              <a:buFontTx/>
              <a:buChar char="-"/>
            </a:pPr>
            <a:r>
              <a:rPr lang="en-US" dirty="0"/>
              <a:t>Gemini via </a:t>
            </a:r>
            <a:r>
              <a:rPr lang="en-US" dirty="0" err="1"/>
              <a:t>g.Harvard</a:t>
            </a:r>
            <a:endParaRPr lang="en-US" dirty="0"/>
          </a:p>
          <a:p>
            <a:pPr marL="285750" indent="-285750">
              <a:buFontTx/>
              <a:buChar char="-"/>
            </a:pPr>
            <a:endParaRPr lang="en-US" dirty="0"/>
          </a:p>
          <a:p>
            <a:pPr marL="285750" indent="-285750">
              <a:buFontTx/>
              <a:buChar char="-"/>
            </a:pPr>
            <a:endParaRPr lang="en-US" dirty="0"/>
          </a:p>
          <a:p>
            <a:r>
              <a:rPr lang="en-US" dirty="0"/>
              <a:t>HUIT AI Sandbox is really a sandbox</a:t>
            </a:r>
          </a:p>
          <a:p>
            <a:r>
              <a:rPr lang="en-US" dirty="0"/>
              <a:t>Gemini via </a:t>
            </a:r>
            <a:r>
              <a:rPr lang="en-US" dirty="0" err="1"/>
              <a:t>g.Harvard</a:t>
            </a:r>
            <a:r>
              <a:rPr lang="en-US" dirty="0"/>
              <a:t> or ChatGPT Edu will give you access to current frontier models</a:t>
            </a:r>
          </a:p>
          <a:p>
            <a:endParaRPr lang="en-US" dirty="0"/>
          </a:p>
          <a:p>
            <a:r>
              <a:rPr lang="en-US" dirty="0"/>
              <a:t>Access via Harvard to protect privacy and data. Approved for up to Level 3 data. See GAI page for more</a:t>
            </a:r>
          </a:p>
        </p:txBody>
      </p:sp>
      <p:sp>
        <p:nvSpPr>
          <p:cNvPr id="4" name="Slide Number Placeholder 3">
            <a:extLst>
              <a:ext uri="{FF2B5EF4-FFF2-40B4-BE49-F238E27FC236}">
                <a16:creationId xmlns:a16="http://schemas.microsoft.com/office/drawing/2014/main" id="{A5E9A5E0-0D3B-5B9A-FB3B-5328C4A1AD5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512000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6053C-5864-AAD5-B552-C1B2332BF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A17B1-5B10-2A37-DF88-9641D5FDCA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981CAC-9056-095B-AFC2-A77397C90D6F}"/>
              </a:ext>
            </a:extLst>
          </p:cNvPr>
          <p:cNvSpPr>
            <a:spLocks noGrp="1"/>
          </p:cNvSpPr>
          <p:nvPr>
            <p:ph type="body" idx="1"/>
          </p:nvPr>
        </p:nvSpPr>
        <p:spPr/>
        <p:txBody>
          <a:bodyPr/>
          <a:lstStyle/>
          <a:p>
            <a:r>
              <a:rPr lang="en-US" dirty="0"/>
              <a:t>Give a flavor of how to interact with LLMs in bioinformatics contexts. Feel free to play along!</a:t>
            </a:r>
          </a:p>
          <a:p>
            <a:endParaRPr lang="en-US" dirty="0"/>
          </a:p>
          <a:p>
            <a:r>
              <a:rPr lang="en-US" dirty="0"/>
              <a:t>I both have a lot experience with bioinformatics and a lot experience using and testing AI tools. But these are my personal observations. We don’t really have a lot of formalized “best practices” for AI yet, and it is a growing issue. </a:t>
            </a:r>
          </a:p>
          <a:p>
            <a:r>
              <a:rPr lang="en-US" dirty="0"/>
              <a:t>The best way to figure out effective ways to use AI productively is to just try using AI</a:t>
            </a:r>
          </a:p>
          <a:p>
            <a:r>
              <a:rPr lang="en-US" dirty="0"/>
              <a:t>Encourage people to try out some of these prompts as we go</a:t>
            </a:r>
          </a:p>
          <a:p>
            <a:r>
              <a:rPr lang="en-US" dirty="0"/>
              <a:t>Also – we have office hours every Wednesday afternoon in Northwest Labs B227, and encourage people to come by. We’re always happy to chat about people’s AI experiences.</a:t>
            </a:r>
          </a:p>
        </p:txBody>
      </p:sp>
      <p:sp>
        <p:nvSpPr>
          <p:cNvPr id="4" name="Slide Number Placeholder 3">
            <a:extLst>
              <a:ext uri="{FF2B5EF4-FFF2-40B4-BE49-F238E27FC236}">
                <a16:creationId xmlns:a16="http://schemas.microsoft.com/office/drawing/2014/main" id="{EA1693C2-B458-3E07-D9BB-A46BA25BB3AD}"/>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1572594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4729F-A137-7AA6-D69A-03709BD51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4D7E3C-0FC5-6480-A84B-59C3020B40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5CEF87-D603-ABA8-CF4D-1DD6956AF7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517906-E778-8776-06F7-142B5E0D2ACB}"/>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3290031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50714-5507-EC5B-9767-060CA238E4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38CDC-6CA6-DD35-394A-2B7A4A7AF8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BE0CD0-217D-5BD3-4867-0772416848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7DCDF3-6359-D6D5-940A-419661EC6831}"/>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1285700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73221-117C-ED85-D19C-19A68B3973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C8F65C-0DF6-12F3-92BD-27728CB2D9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703F0D-3603-95F6-07B1-ECB124C75CA0}"/>
              </a:ext>
            </a:extLst>
          </p:cNvPr>
          <p:cNvSpPr>
            <a:spLocks noGrp="1"/>
          </p:cNvSpPr>
          <p:nvPr>
            <p:ph type="body" idx="1"/>
          </p:nvPr>
        </p:nvSpPr>
        <p:spPr/>
        <p:txBody>
          <a:bodyPr/>
          <a:lstStyle/>
          <a:p>
            <a:r>
              <a:rPr lang="en-US" dirty="0"/>
              <a:t>Here is the setup. You are working on a genome assembly you downloaded from NCBI, and trying to get some tool to run. You </a:t>
            </a:r>
            <a:r>
              <a:rPr lang="en-US" dirty="0" err="1"/>
              <a:t>labmate</a:t>
            </a:r>
            <a:r>
              <a:rPr lang="en-US" dirty="0"/>
              <a:t> tells you the genome needs to be hard-masked. You know you downloaded a masked genome, but you’re not what “hard-masked” means or how to check if your genome is hard masked, and if its not how to hard-mask it. </a:t>
            </a:r>
          </a:p>
          <a:p>
            <a:endParaRPr lang="en-US" dirty="0"/>
          </a:p>
          <a:p>
            <a:r>
              <a:rPr lang="en-US" dirty="0"/>
              <a:t>Let’s look at prompt. Key points:</a:t>
            </a:r>
            <a:br>
              <a:rPr lang="en-US" dirty="0"/>
            </a:br>
            <a:r>
              <a:rPr lang="en-US" dirty="0"/>
              <a:t>provide context</a:t>
            </a:r>
          </a:p>
          <a:p>
            <a:r>
              <a:rPr lang="en-US" dirty="0"/>
              <a:t>tell what I want</a:t>
            </a:r>
          </a:p>
          <a:p>
            <a:endParaRPr lang="en-US" dirty="0"/>
          </a:p>
          <a:p>
            <a:r>
              <a:rPr lang="en-US" dirty="0"/>
              <a:t>Don’t bother with:</a:t>
            </a:r>
            <a:br>
              <a:rPr lang="en-US" dirty="0"/>
            </a:br>
            <a:r>
              <a:rPr lang="en-US" dirty="0"/>
              <a:t>“you are an expert bioinformatician” or other kinds of complex prompt engineering things like that</a:t>
            </a:r>
          </a:p>
          <a:p>
            <a:endParaRPr lang="en-US" dirty="0"/>
          </a:p>
          <a:p>
            <a:r>
              <a:rPr lang="en-US" dirty="0"/>
              <a:t>but you actually don’t always need context, you just have to be iterative. for example, if you try “what does hard-masked mean” as a prompt you’ll probably get to the right place if you just iterate a few times</a:t>
            </a:r>
          </a:p>
        </p:txBody>
      </p:sp>
      <p:sp>
        <p:nvSpPr>
          <p:cNvPr id="4" name="Slide Number Placeholder 3">
            <a:extLst>
              <a:ext uri="{FF2B5EF4-FFF2-40B4-BE49-F238E27FC236}">
                <a16:creationId xmlns:a16="http://schemas.microsoft.com/office/drawing/2014/main" id="{8E1ACBAA-2322-4614-010F-EF4FB014B216}"/>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5340457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C4634-CB8F-48E0-9670-442E9B11DF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9C80AB-EDA1-68B4-E51E-DA28288327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EF20C7-35ED-5EAA-0383-085CCD328F3B}"/>
              </a:ext>
            </a:extLst>
          </p:cNvPr>
          <p:cNvSpPr>
            <a:spLocks noGrp="1"/>
          </p:cNvSpPr>
          <p:nvPr>
            <p:ph type="body" idx="1"/>
          </p:nvPr>
        </p:nvSpPr>
        <p:spPr/>
        <p:txBody>
          <a:bodyPr/>
          <a:lstStyle/>
          <a:p>
            <a:r>
              <a:rPr lang="en-US" dirty="0"/>
              <a:t>Here is the setup. You are working on a genome assembly you downloaded from NCBI, and trying to get some tool to run. You </a:t>
            </a:r>
            <a:r>
              <a:rPr lang="en-US" dirty="0" err="1"/>
              <a:t>labmate</a:t>
            </a:r>
            <a:r>
              <a:rPr lang="en-US" dirty="0"/>
              <a:t> tells you the genome needs to be hard-masked. You know you downloaded a masked genome, but you’re not what “hard-masked” means or how to check if your genome is hard masked, and if its not how to hard-mask it. </a:t>
            </a:r>
          </a:p>
          <a:p>
            <a:endParaRPr lang="en-US" dirty="0"/>
          </a:p>
          <a:p>
            <a:endParaRPr lang="en-US" dirty="0"/>
          </a:p>
        </p:txBody>
      </p:sp>
      <p:sp>
        <p:nvSpPr>
          <p:cNvPr id="4" name="Slide Number Placeholder 3">
            <a:extLst>
              <a:ext uri="{FF2B5EF4-FFF2-40B4-BE49-F238E27FC236}">
                <a16:creationId xmlns:a16="http://schemas.microsoft.com/office/drawing/2014/main" id="{6EC2ABC2-EB82-F8A1-C775-BD670385644B}"/>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349007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DCD8D-0A4E-BC2B-BC47-BEFBA9C0D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9D6CB-0C61-F2D8-C517-ABB01B2FB3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ADCB97-30EA-1D7D-99F3-B6D5E66078D6}"/>
              </a:ext>
            </a:extLst>
          </p:cNvPr>
          <p:cNvSpPr>
            <a:spLocks noGrp="1"/>
          </p:cNvSpPr>
          <p:nvPr>
            <p:ph type="body" idx="1"/>
          </p:nvPr>
        </p:nvSpPr>
        <p:spPr/>
        <p:txBody>
          <a:bodyPr/>
          <a:lstStyle/>
          <a:p>
            <a:r>
              <a:rPr lang="en-US" dirty="0"/>
              <a:t>Here is the setup. You are working on a genome assembly you downloaded from NCBI, and trying to get some tool to run. You </a:t>
            </a:r>
            <a:r>
              <a:rPr lang="en-US" dirty="0" err="1"/>
              <a:t>labmate</a:t>
            </a:r>
            <a:r>
              <a:rPr lang="en-US" dirty="0"/>
              <a:t> tells you the genome needs to be hard-masked. You know you downloaded a masked genome, but you’re not what “hard-masked” means or how to check if your genome is hard masked, and if its not how to hard-mask it. </a:t>
            </a:r>
          </a:p>
          <a:p>
            <a:endParaRPr lang="en-US" dirty="0"/>
          </a:p>
          <a:p>
            <a:endParaRPr lang="en-US" dirty="0"/>
          </a:p>
        </p:txBody>
      </p:sp>
      <p:sp>
        <p:nvSpPr>
          <p:cNvPr id="4" name="Slide Number Placeholder 3">
            <a:extLst>
              <a:ext uri="{FF2B5EF4-FFF2-40B4-BE49-F238E27FC236}">
                <a16:creationId xmlns:a16="http://schemas.microsoft.com/office/drawing/2014/main" id="{5B7855AE-F60C-E9C2-6B75-54E77D82E0BE}"/>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6540690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533EA-F3A7-526D-FBF7-959883B375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C48DFB-60C0-BB1D-F7A2-786AE4200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5E11F7-8E39-DBBB-726C-BCD6A248D2C7}"/>
              </a:ext>
            </a:extLst>
          </p:cNvPr>
          <p:cNvSpPr>
            <a:spLocks noGrp="1"/>
          </p:cNvSpPr>
          <p:nvPr>
            <p:ph type="body" idx="1"/>
          </p:nvPr>
        </p:nvSpPr>
        <p:spPr/>
        <p:txBody>
          <a:bodyPr/>
          <a:lstStyle/>
          <a:p>
            <a:r>
              <a:rPr lang="en-US" dirty="0"/>
              <a:t>Here is the setup. You are working on a genome assembly you downloaded from NCBI, and trying to get some tool to run. You </a:t>
            </a:r>
            <a:r>
              <a:rPr lang="en-US" dirty="0" err="1"/>
              <a:t>labmate</a:t>
            </a:r>
            <a:r>
              <a:rPr lang="en-US" dirty="0"/>
              <a:t> tells you the genome needs to be hard-masked. You know you downloaded a masked genome, but you’re not what “hard-masked” means or how to check if your genome is hard masked, and if its not how to hard-mask it. </a:t>
            </a:r>
          </a:p>
          <a:p>
            <a:endParaRPr lang="en-US" dirty="0"/>
          </a:p>
          <a:p>
            <a:endParaRPr lang="en-US" dirty="0"/>
          </a:p>
        </p:txBody>
      </p:sp>
      <p:sp>
        <p:nvSpPr>
          <p:cNvPr id="4" name="Slide Number Placeholder 3">
            <a:extLst>
              <a:ext uri="{FF2B5EF4-FFF2-40B4-BE49-F238E27FC236}">
                <a16:creationId xmlns:a16="http://schemas.microsoft.com/office/drawing/2014/main" id="{F1C63EF5-A021-CB39-5B5C-8811425B3A29}"/>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0919602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FDE6B-5869-1130-7C0B-D22607162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78A71E-F165-5109-45E7-20B192CA25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FC51BD-515A-1626-7286-1CEC938736F1}"/>
              </a:ext>
            </a:extLst>
          </p:cNvPr>
          <p:cNvSpPr>
            <a:spLocks noGrp="1"/>
          </p:cNvSpPr>
          <p:nvPr>
            <p:ph type="body" idx="1"/>
          </p:nvPr>
        </p:nvSpPr>
        <p:spPr/>
        <p:txBody>
          <a:bodyPr/>
          <a:lstStyle/>
          <a:p>
            <a:r>
              <a:rPr lang="en-US" dirty="0"/>
              <a:t>Here is the setup. You are working on a genome assembly you downloaded from NCBI, and trying to get some tool to run. You </a:t>
            </a:r>
            <a:r>
              <a:rPr lang="en-US" dirty="0" err="1"/>
              <a:t>labmate</a:t>
            </a:r>
            <a:r>
              <a:rPr lang="en-US" dirty="0"/>
              <a:t> tells you the genome needs to be hard-masked. You know you downloaded a masked genome, but you’re not what “hard-masked” means or how to check if your genome is hard masked, and if its not how to hard-mask it. </a:t>
            </a:r>
          </a:p>
          <a:p>
            <a:endParaRPr lang="en-US" dirty="0"/>
          </a:p>
          <a:p>
            <a:endParaRPr lang="en-US" dirty="0"/>
          </a:p>
        </p:txBody>
      </p:sp>
      <p:sp>
        <p:nvSpPr>
          <p:cNvPr id="4" name="Slide Number Placeholder 3">
            <a:extLst>
              <a:ext uri="{FF2B5EF4-FFF2-40B4-BE49-F238E27FC236}">
                <a16:creationId xmlns:a16="http://schemas.microsoft.com/office/drawing/2014/main" id="{F9357E62-3C37-86F8-7F42-96866A3D9F6E}"/>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5210443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B8545-7F3C-CCB9-17C2-E39BEDA2C2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F3442E-10D9-B27E-F17A-45A7C35118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629EE0-AFEB-8A86-EBF8-59BE81DD5287}"/>
              </a:ext>
            </a:extLst>
          </p:cNvPr>
          <p:cNvSpPr>
            <a:spLocks noGrp="1"/>
          </p:cNvSpPr>
          <p:nvPr>
            <p:ph type="body" idx="1"/>
          </p:nvPr>
        </p:nvSpPr>
        <p:spPr/>
        <p:txBody>
          <a:bodyPr/>
          <a:lstStyle/>
          <a:p>
            <a:r>
              <a:rPr lang="en-US" dirty="0"/>
              <a:t>Here is the setup. You are working on a genome assembly you downloaded from NCBI, and trying to get some tool to run. You </a:t>
            </a:r>
            <a:r>
              <a:rPr lang="en-US" dirty="0" err="1"/>
              <a:t>labmate</a:t>
            </a:r>
            <a:r>
              <a:rPr lang="en-US" dirty="0"/>
              <a:t> tells you the genome needs to be hard-masked. You know you downloaded a masked genome, but you’re not what “hard-masked” means or how to check if your genome is hard masked, and if its not how to hard-mask it. </a:t>
            </a:r>
          </a:p>
          <a:p>
            <a:endParaRPr lang="en-US" dirty="0"/>
          </a:p>
          <a:p>
            <a:endParaRPr lang="en-US" dirty="0"/>
          </a:p>
        </p:txBody>
      </p:sp>
      <p:sp>
        <p:nvSpPr>
          <p:cNvPr id="4" name="Slide Number Placeholder 3">
            <a:extLst>
              <a:ext uri="{FF2B5EF4-FFF2-40B4-BE49-F238E27FC236}">
                <a16:creationId xmlns:a16="http://schemas.microsoft.com/office/drawing/2014/main" id="{A45DF155-1338-0DA5-E62D-B460159D462B}"/>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1414656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2C84D-139C-5217-CD9A-29172A0CA2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43CD3-E0EC-D85E-7D8F-DEC45F2C34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5D3351-A0D9-7155-EE8C-2AE94609A3BA}"/>
              </a:ext>
            </a:extLst>
          </p:cNvPr>
          <p:cNvSpPr>
            <a:spLocks noGrp="1"/>
          </p:cNvSpPr>
          <p:nvPr>
            <p:ph type="body" idx="1"/>
          </p:nvPr>
        </p:nvSpPr>
        <p:spPr/>
        <p:txBody>
          <a:bodyPr/>
          <a:lstStyle/>
          <a:p>
            <a:r>
              <a:rPr lang="en-US" dirty="0"/>
              <a:t>This is obviously not what we want! Instead of hard masking, we’ve just turned our entire sequence to Ns.</a:t>
            </a:r>
          </a:p>
        </p:txBody>
      </p:sp>
      <p:sp>
        <p:nvSpPr>
          <p:cNvPr id="4" name="Slide Number Placeholder 3">
            <a:extLst>
              <a:ext uri="{FF2B5EF4-FFF2-40B4-BE49-F238E27FC236}">
                <a16:creationId xmlns:a16="http://schemas.microsoft.com/office/drawing/2014/main" id="{044F5EB2-6EBA-ADD0-C335-E5CD46164278}"/>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6907086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0BFE5-83C5-1094-CF40-73BEB1A466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144E83-C516-4DC7-A9AA-D719206AB1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58A571-63E9-8A79-A94D-7650500344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AFED69-11B0-28E9-E9E5-3F3EC2DE7016}"/>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63125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6C08B-319D-7383-CF41-CE202C4F3F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D402B9-6583-0428-EEED-CEAE03CD38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93BE78-3B61-E10F-B3FC-48C18CD1857E}"/>
              </a:ext>
            </a:extLst>
          </p:cNvPr>
          <p:cNvSpPr>
            <a:spLocks noGrp="1"/>
          </p:cNvSpPr>
          <p:nvPr>
            <p:ph type="body" idx="1"/>
          </p:nvPr>
        </p:nvSpPr>
        <p:spPr/>
        <p:txBody>
          <a:bodyPr/>
          <a:lstStyle/>
          <a:p>
            <a:r>
              <a:rPr lang="en-US" dirty="0"/>
              <a:t>You are doing some kind of analysis and you get some long error message that you don’t understand. </a:t>
            </a:r>
          </a:p>
          <a:p>
            <a:endParaRPr lang="en-US" dirty="0"/>
          </a:p>
          <a:p>
            <a:r>
              <a:rPr lang="en-US" dirty="0"/>
              <a:t>Let’s actually do a live demo here. I’m going to use Gemini for this, and I’ll go over a few error messages.</a:t>
            </a:r>
          </a:p>
          <a:p>
            <a:endParaRPr lang="en-US" dirty="0"/>
          </a:p>
          <a:p>
            <a:r>
              <a:rPr lang="en-US" dirty="0"/>
              <a:t>Use prompt2.txt</a:t>
            </a:r>
          </a:p>
        </p:txBody>
      </p:sp>
      <p:sp>
        <p:nvSpPr>
          <p:cNvPr id="4" name="Slide Number Placeholder 3">
            <a:extLst>
              <a:ext uri="{FF2B5EF4-FFF2-40B4-BE49-F238E27FC236}">
                <a16:creationId xmlns:a16="http://schemas.microsoft.com/office/drawing/2014/main" id="{C4E8CDB5-EF31-DD54-DE4E-AE0FD8E7DD9E}"/>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9243463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0B50E-6974-1EAE-E8FC-439C462EA6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D1D0A0-D3F9-E99E-DBDE-3F02B24B1E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F88E8A-73D4-5226-5FA9-A323A93B5A3C}"/>
              </a:ext>
            </a:extLst>
          </p:cNvPr>
          <p:cNvSpPr>
            <a:spLocks noGrp="1"/>
          </p:cNvSpPr>
          <p:nvPr>
            <p:ph type="body" idx="1"/>
          </p:nvPr>
        </p:nvSpPr>
        <p:spPr/>
        <p:txBody>
          <a:bodyPr/>
          <a:lstStyle/>
          <a:p>
            <a:r>
              <a:rPr lang="en-US" dirty="0"/>
              <a:t>You are doing some kind of analysis and you get some long error message that you don’t understand. </a:t>
            </a:r>
          </a:p>
          <a:p>
            <a:endParaRPr lang="en-US" dirty="0"/>
          </a:p>
          <a:p>
            <a:r>
              <a:rPr lang="en-US" dirty="0"/>
              <a:t>Let’s actually do a live demo here. I’m going to use Gemini for this, and I’ll go over a few error messages.</a:t>
            </a:r>
          </a:p>
          <a:p>
            <a:endParaRPr lang="en-US" dirty="0"/>
          </a:p>
          <a:p>
            <a:r>
              <a:rPr lang="en-US" dirty="0"/>
              <a:t>Use prompt1.txt</a:t>
            </a:r>
          </a:p>
        </p:txBody>
      </p:sp>
      <p:sp>
        <p:nvSpPr>
          <p:cNvPr id="4" name="Slide Number Placeholder 3">
            <a:extLst>
              <a:ext uri="{FF2B5EF4-FFF2-40B4-BE49-F238E27FC236}">
                <a16:creationId xmlns:a16="http://schemas.microsoft.com/office/drawing/2014/main" id="{E269519A-6C88-64A0-31A3-8AC93898EEA2}"/>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9243778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3BB8F-326E-E76F-D983-2A744A8EB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38669-5214-5674-ADF6-D81059070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AE7CB6-CEC4-2074-95F7-2C647242AD93}"/>
              </a:ext>
            </a:extLst>
          </p:cNvPr>
          <p:cNvSpPr>
            <a:spLocks noGrp="1"/>
          </p:cNvSpPr>
          <p:nvPr>
            <p:ph type="body" idx="1"/>
          </p:nvPr>
        </p:nvSpPr>
        <p:spPr/>
        <p:txBody>
          <a:bodyPr/>
          <a:lstStyle/>
          <a:p>
            <a:r>
              <a:rPr lang="en-US" dirty="0"/>
              <a:t>You are doing some kind of analysis and you get some long error message that you don’t understand. </a:t>
            </a:r>
          </a:p>
          <a:p>
            <a:endParaRPr lang="en-US" dirty="0"/>
          </a:p>
          <a:p>
            <a:r>
              <a:rPr lang="en-US" dirty="0"/>
              <a:t>Let’s actually do a live demo here. I’m going to use Gemini for this, and I’ll go over a few error messages.</a:t>
            </a:r>
          </a:p>
          <a:p>
            <a:endParaRPr lang="en-US" dirty="0"/>
          </a:p>
          <a:p>
            <a:r>
              <a:rPr lang="en-US" dirty="0"/>
              <a:t>Use prompt2.txt</a:t>
            </a:r>
          </a:p>
        </p:txBody>
      </p:sp>
      <p:sp>
        <p:nvSpPr>
          <p:cNvPr id="4" name="Slide Number Placeholder 3">
            <a:extLst>
              <a:ext uri="{FF2B5EF4-FFF2-40B4-BE49-F238E27FC236}">
                <a16:creationId xmlns:a16="http://schemas.microsoft.com/office/drawing/2014/main" id="{2E684FD4-936D-AA92-2A2D-C54CD7EB473D}"/>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6417685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8F98C-3B03-D04A-C805-A05A4DED4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25B801-D0AF-42D4-A03B-B3F1B67E3E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00742F-A1EF-0D41-C8BB-A6F5D61819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2EE201-A583-3F85-8E61-2A1701987B94}"/>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3704502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DB35D-5806-784C-4961-6D7550ABF4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299ADF-92E4-7DCF-7390-647211623E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1E7259-8FD3-C8A7-6DCE-F05CC0C6DC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514606-6899-2EC2-0A28-1F4EE251F871}"/>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9092121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C168B-C80A-9FA7-190A-F813CCA0EA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70A524-DCFD-046A-1B65-4BE6A92593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CE380B-9181-2286-5527-9614ECD6195F}"/>
              </a:ext>
            </a:extLst>
          </p:cNvPr>
          <p:cNvSpPr>
            <a:spLocks noGrp="1"/>
          </p:cNvSpPr>
          <p:nvPr>
            <p:ph type="body" idx="1"/>
          </p:nvPr>
        </p:nvSpPr>
        <p:spPr/>
        <p:txBody>
          <a:bodyPr/>
          <a:lstStyle/>
          <a:p>
            <a:r>
              <a:rPr lang="en-US" dirty="0"/>
              <a:t>Do a live demo</a:t>
            </a:r>
          </a:p>
          <a:p>
            <a:r>
              <a:rPr lang="en-US" dirty="0"/>
              <a:t>Need a sample data set</a:t>
            </a:r>
          </a:p>
        </p:txBody>
      </p:sp>
      <p:sp>
        <p:nvSpPr>
          <p:cNvPr id="4" name="Slide Number Placeholder 3">
            <a:extLst>
              <a:ext uri="{FF2B5EF4-FFF2-40B4-BE49-F238E27FC236}">
                <a16:creationId xmlns:a16="http://schemas.microsoft.com/office/drawing/2014/main" id="{DE15BFB0-9483-3D20-1A4F-E4F375035CD6}"/>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860966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7D588-D738-020F-EFE7-8AA34E63B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B6137A-3C70-E687-79E5-16F1166A94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E91379-C492-B1A2-9210-52AA2E6A2F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2498D6-8D43-3370-0C25-EFD69A0C5DF1}"/>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4307432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A140E-744A-4711-DFAF-B6653B209F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6DE74F-5EAC-FA55-2FB9-3943421598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41F923-A2D5-5D63-570F-D4165EEF08D9}"/>
              </a:ext>
            </a:extLst>
          </p:cNvPr>
          <p:cNvSpPr>
            <a:spLocks noGrp="1"/>
          </p:cNvSpPr>
          <p:nvPr>
            <p:ph type="body" idx="1"/>
          </p:nvPr>
        </p:nvSpPr>
        <p:spPr/>
        <p:txBody>
          <a:bodyPr/>
          <a:lstStyle/>
          <a:p>
            <a:r>
              <a:rPr lang="en-US" dirty="0"/>
              <a:t>Just about anything that you can accomplish by writing a computer program – which is a shockingly large number of things – you can potentially get an AI agent to do well. </a:t>
            </a:r>
          </a:p>
          <a:p>
            <a:endParaRPr lang="en-US" dirty="0"/>
          </a:p>
          <a:p>
            <a:r>
              <a:rPr lang="en-US" dirty="0"/>
              <a:t>But sometimes it will do it poorly. </a:t>
            </a:r>
          </a:p>
          <a:p>
            <a:endParaRPr lang="en-US" dirty="0"/>
          </a:p>
          <a:p>
            <a:r>
              <a:rPr lang="en-US" dirty="0"/>
              <a:t>How do you get good results?</a:t>
            </a:r>
          </a:p>
        </p:txBody>
      </p:sp>
      <p:sp>
        <p:nvSpPr>
          <p:cNvPr id="4" name="Slide Number Placeholder 3">
            <a:extLst>
              <a:ext uri="{FF2B5EF4-FFF2-40B4-BE49-F238E27FC236}">
                <a16:creationId xmlns:a16="http://schemas.microsoft.com/office/drawing/2014/main" id="{EED897F5-8C44-6417-9864-871222284C81}"/>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5161057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8302E-CA2C-97B4-4D35-4541B4291A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16C4BF-AE1F-DFE7-3C77-CC3D544EE7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856585-FF4B-5423-CACD-BBF3C5616F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502841-4C27-1D87-2E8F-A3DF9A033CE8}"/>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0772657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3F319-95F6-3D06-04A9-0216291397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3CBC1D-A9F2-CEDD-D83B-9707B68D2E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9ED4C4-1A81-B23B-3AF3-628D873A79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BFFAFF-88D8-1424-88F4-58FD95E2F5C7}"/>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1200829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F5D03-0EC0-1C94-E05F-05F6375CE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EA4971-61F1-CD2E-DB88-E815FFD697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014337-6E09-B91E-D48E-D31118ADF9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239F45-515A-BC0C-ADE9-E54E6127281E}"/>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689510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33AA3-F722-8FD6-A1E6-3D93EE2563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D8202-18DB-72DC-70D9-40791CAB97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FD84A6-570E-F593-1269-5D706C4039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AEEEA9-85FF-ECCE-70E3-ADDFE5379098}"/>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24051115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22D6B-C82A-8683-1907-C549B8CA92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3B7B62-32CC-4C7C-6E03-98ACA608CB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BAB617-609C-5744-7C44-262ACC95BF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7F9BB7-E846-28C7-00DB-EB8C1434BD93}"/>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31208572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15241-6044-9D2A-0BBD-3202F90B4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210EF-2D66-6CA4-AF45-583BE871A0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C247D2-577B-D714-F8C1-02262C28FB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ED47D1-F648-94F5-734E-AF4C28353435}"/>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3423184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9B306-1CB7-4352-426D-70FF52A1F0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589E4D-C20B-0E26-FC09-3FADAE31FF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9EB85-A90C-C3C4-EA60-F7DEEA536CFF}"/>
              </a:ext>
            </a:extLst>
          </p:cNvPr>
          <p:cNvSpPr>
            <a:spLocks noGrp="1"/>
          </p:cNvSpPr>
          <p:nvPr>
            <p:ph type="body" idx="1"/>
          </p:nvPr>
        </p:nvSpPr>
        <p:spPr/>
        <p:txBody>
          <a:bodyPr/>
          <a:lstStyle/>
          <a:p>
            <a:r>
              <a:rPr lang="en-US" dirty="0"/>
              <a:t>Mention examples: How many “R”s in strawberry; should I walk or drive to a car wash</a:t>
            </a:r>
            <a:br>
              <a:rPr lang="en-US" dirty="0"/>
            </a:br>
            <a:r>
              <a:rPr lang="en-US" dirty="0"/>
              <a:t>Solutions: test and verify before you trust the output; in my experience at least, the jagged edge is not random, that is failure modes tend to be consistent. If AI is good at X, it is probably reliably good at X. but this is very different from how we usually think about computers as being deterministic</a:t>
            </a:r>
            <a:br>
              <a:rPr lang="en-US" dirty="0"/>
            </a:br>
            <a:r>
              <a:rPr lang="en-US" dirty="0"/>
              <a:t>If errors are catastrophic, build verification into your workflows!</a:t>
            </a:r>
          </a:p>
        </p:txBody>
      </p:sp>
      <p:sp>
        <p:nvSpPr>
          <p:cNvPr id="4" name="Slide Number Placeholder 3">
            <a:extLst>
              <a:ext uri="{FF2B5EF4-FFF2-40B4-BE49-F238E27FC236}">
                <a16:creationId xmlns:a16="http://schemas.microsoft.com/office/drawing/2014/main" id="{B8E05C00-E0AB-6F5E-9EED-BCFCD8440D7E}"/>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302067259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6879A-9DE1-EC52-559E-412F803C6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A753B9-CBA7-D3A4-CBB3-2AC6990F3C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D1E33E-75E8-7B2C-12F8-C23CF355FF37}"/>
              </a:ext>
            </a:extLst>
          </p:cNvPr>
          <p:cNvSpPr>
            <a:spLocks noGrp="1"/>
          </p:cNvSpPr>
          <p:nvPr>
            <p:ph type="body" idx="1"/>
          </p:nvPr>
        </p:nvSpPr>
        <p:spPr/>
        <p:txBody>
          <a:bodyPr/>
          <a:lstStyle/>
          <a:p>
            <a:r>
              <a:rPr lang="en-US" dirty="0"/>
              <a:t>Solutions: prefer to ask AI to generate code to analyze data, rather than just ”guess” at conclusions. Tricky for things like pattern matching here, though. Other solutions: report exact model; ask the question 10 (or 100?) times to generate a distribution of yes/no answers. Don’t trust AI self-reports of probability, though!</a:t>
            </a:r>
          </a:p>
        </p:txBody>
      </p:sp>
      <p:sp>
        <p:nvSpPr>
          <p:cNvPr id="4" name="Slide Number Placeholder 3">
            <a:extLst>
              <a:ext uri="{FF2B5EF4-FFF2-40B4-BE49-F238E27FC236}">
                <a16:creationId xmlns:a16="http://schemas.microsoft.com/office/drawing/2014/main" id="{E97803DC-E699-16A7-7E2B-37E20CDFA95F}"/>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39325128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”simple” bioinformatics tasks often involve massively parallel analysis and require non-trivial compute. LLMs, while they can help set this kind of thing up and debug problems, are very poorly suited to actually managing large data flows (though, of course, this can change, and command line LLM agents may soon be able to submit jobs for you – who knows!)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F701C-1569-EA46-6AB3-AE22BA41FF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69F874-E9E8-1E53-1B77-5D4EE2AD61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D47D5C-DEC0-8B2D-EA5D-114F2BF7F312}"/>
              </a:ext>
            </a:extLst>
          </p:cNvPr>
          <p:cNvSpPr>
            <a:spLocks noGrp="1"/>
          </p:cNvSpPr>
          <p:nvPr>
            <p:ph type="body" idx="1"/>
          </p:nvPr>
        </p:nvSpPr>
        <p:spPr/>
        <p:txBody>
          <a:bodyPr/>
          <a:lstStyle/>
          <a:p>
            <a:pPr marL="228600" indent="-228600">
              <a:buSzPct val="100000"/>
              <a:buChar char="•"/>
            </a:pPr>
            <a:r>
              <a:rPr lang="en-US" dirty="0"/>
              <a:t>A lot of bioinformatics data is big files, often in binary formats, that AI cannot really handle. Too big to load into context, for example. Command line AI agents are a possibility, but these kinds of things are currently resistant to analysis in the kinds of tools we’ve discussed today</a:t>
            </a:r>
            <a:br>
              <a:rPr lang="en-US" dirty="0"/>
            </a:br>
            <a:br>
              <a:rPr lang="en-US" dirty="0"/>
            </a:br>
            <a:r>
              <a:rPr lang="en-US" sz="1200" dirty="0">
                <a:solidFill>
                  <a:srgbClr val="1F2937"/>
                </a:solidFill>
                <a:latin typeface="Aptos" pitchFamily="34" charset="0"/>
                <a:ea typeface="Aptos" pitchFamily="34" charset="-122"/>
                <a:cs typeface="Aptos" pitchFamily="34" charset="-120"/>
              </a:rPr>
              <a:t>Too large for direct inspection in chat</a:t>
            </a:r>
            <a:r>
              <a:rPr lang="en-US" sz="1200" dirty="0">
                <a:solidFill>
                  <a:schemeClr val="tx1"/>
                </a:solidFill>
                <a:latin typeface="+mn-lt"/>
                <a:ea typeface="+mn-ea"/>
                <a:cs typeface="+mn-cs"/>
              </a:rPr>
              <a:t>. </a:t>
            </a:r>
            <a:r>
              <a:rPr lang="en-US" sz="1200" dirty="0">
                <a:solidFill>
                  <a:srgbClr val="1F2937"/>
                </a:solidFill>
                <a:latin typeface="Aptos" pitchFamily="34" charset="0"/>
                <a:ea typeface="Aptos" pitchFamily="34" charset="-122"/>
                <a:cs typeface="Aptos" pitchFamily="34" charset="-120"/>
              </a:rPr>
              <a:t>LLMs are better at helping with the code around these files</a:t>
            </a:r>
            <a:r>
              <a:rPr lang="en-US" dirty="0"/>
              <a:t>. </a:t>
            </a:r>
          </a:p>
        </p:txBody>
      </p:sp>
      <p:sp>
        <p:nvSpPr>
          <p:cNvPr id="4" name="Slide Number Placeholder 3">
            <a:extLst>
              <a:ext uri="{FF2B5EF4-FFF2-40B4-BE49-F238E27FC236}">
                <a16:creationId xmlns:a16="http://schemas.microsoft.com/office/drawing/2014/main" id="{6E468A5F-CDC7-15AE-9B55-B66FA5B129A1}"/>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20974617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81430-75D5-2600-DC3A-1FDCB7678F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7F99E0-BFE9-65D9-8540-F6D08FEBAE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5D88B6-3531-922F-4395-172FF3F894ED}"/>
              </a:ext>
            </a:extLst>
          </p:cNvPr>
          <p:cNvSpPr>
            <a:spLocks noGrp="1"/>
          </p:cNvSpPr>
          <p:nvPr>
            <p:ph type="body" idx="1"/>
          </p:nvPr>
        </p:nvSpPr>
        <p:spPr/>
        <p:txBody>
          <a:bodyPr/>
          <a:lstStyle/>
          <a:p>
            <a:pPr marL="228600" indent="-228600">
              <a:buSzPct val="100000"/>
              <a:buChar char="•"/>
            </a:pPr>
            <a:r>
              <a:rPr lang="en-US" dirty="0"/>
              <a:t>A lot of bioinformatics data is big files, often in binary formats, that AI cannot really handle. Too big to load into context, for example. Command line AI agents are a possibility, but these kinds of things are currently resistant to analysis in the kinds of tools we’ve discussed today</a:t>
            </a:r>
            <a:br>
              <a:rPr lang="en-US" dirty="0"/>
            </a:br>
            <a:br>
              <a:rPr lang="en-US" dirty="0"/>
            </a:br>
            <a:r>
              <a:rPr lang="en-US" sz="1200" dirty="0">
                <a:solidFill>
                  <a:srgbClr val="1F2937"/>
                </a:solidFill>
                <a:latin typeface="Aptos" pitchFamily="34" charset="0"/>
                <a:ea typeface="Aptos" pitchFamily="34" charset="-122"/>
                <a:cs typeface="Aptos" pitchFamily="34" charset="-120"/>
              </a:rPr>
              <a:t>Too large for direct inspection in chat</a:t>
            </a:r>
            <a:r>
              <a:rPr lang="en-US" sz="1200" dirty="0">
                <a:solidFill>
                  <a:schemeClr val="tx1"/>
                </a:solidFill>
                <a:latin typeface="+mn-lt"/>
                <a:ea typeface="+mn-ea"/>
                <a:cs typeface="+mn-cs"/>
              </a:rPr>
              <a:t>. </a:t>
            </a:r>
            <a:r>
              <a:rPr lang="en-US" sz="1200" dirty="0">
                <a:solidFill>
                  <a:srgbClr val="1F2937"/>
                </a:solidFill>
                <a:latin typeface="Aptos" pitchFamily="34" charset="0"/>
                <a:ea typeface="Aptos" pitchFamily="34" charset="-122"/>
                <a:cs typeface="Aptos" pitchFamily="34" charset="-120"/>
              </a:rPr>
              <a:t>LLMs are better at helping with the code around these files</a:t>
            </a:r>
            <a:r>
              <a:rPr lang="en-US" dirty="0"/>
              <a:t>. </a:t>
            </a:r>
          </a:p>
        </p:txBody>
      </p:sp>
      <p:sp>
        <p:nvSpPr>
          <p:cNvPr id="4" name="Slide Number Placeholder 3">
            <a:extLst>
              <a:ext uri="{FF2B5EF4-FFF2-40B4-BE49-F238E27FC236}">
                <a16:creationId xmlns:a16="http://schemas.microsoft.com/office/drawing/2014/main" id="{C8643397-FD2C-0D8D-2232-D1F6E3970D61}"/>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5834588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B9696-7DA5-4505-5789-9515479DD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E7CA27-A7D2-B04E-70CA-8DA862FDF5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2A9758-A34C-9699-922E-49BCD5CC6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FDB99C-ED37-6907-F6C5-F35EB96839DB}"/>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3858848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0" y="0"/>
            <a:ext cx="12191695" cy="411480"/>
          </a:xfrm>
          <a:prstGeom prst="rect">
            <a:avLst/>
          </a:prstGeom>
          <a:solidFill>
            <a:srgbClr val="A51C30"/>
          </a:solidFill>
          <a:ln w="12700">
            <a:solidFill>
              <a:srgbClr val="A51C30"/>
            </a:solidFill>
            <a:prstDash val="solid"/>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13751C75-419D-5D41-8AAE-23197B908873}" type="datetime1">
              <a:rPr lang="en-US" smtClean="0"/>
              <a:t>3/12/26</a:t>
            </a:fld>
            <a:endParaRPr lang="en-US"/>
          </a:p>
        </p:txBody>
      </p:sp>
      <p:sp>
        <p:nvSpPr>
          <p:cNvPr id="3" name="Footer Placeholder 2"/>
          <p:cNvSpPr>
            <a:spLocks noGrp="1"/>
          </p:cNvSpPr>
          <p:nvPr>
            <p:ph type="ftr" sz="quarter" idx="11"/>
          </p:nvPr>
        </p:nvSpPr>
        <p:spPr>
          <a:xfrm>
            <a:off x="804672" y="6227064"/>
            <a:ext cx="10588752" cy="320040"/>
          </a:xfrm>
        </p:spPr>
        <p:txBody>
          <a:bodyPr/>
          <a:lstStyle/>
          <a:p>
            <a:r>
              <a:rPr lang="en-US"/>
              <a:t>informatics.fas.harvard.edu</a:t>
            </a:r>
          </a:p>
        </p:txBody>
      </p:sp>
      <p:sp>
        <p:nvSpPr>
          <p:cNvPr id="4" name="Slide Number Placeholder 3"/>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34254627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67160" y="6547104"/>
            <a:ext cx="411480"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777777"/>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huit.harvard.edu/ai-sandbox"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www.huit.harvard.edu/ai/tools" TargetMode="External"/><Relationship Id="rId5" Type="http://schemas.openxmlformats.org/officeDocument/2006/relationships/hyperlink" Target="https://www.huit.harvard.edu/openai-chatgpt-edu" TargetMode="External"/><Relationship Id="rId4" Type="http://schemas.openxmlformats.org/officeDocument/2006/relationships/hyperlink" Target="https://gemini.google.com/"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huit.harvard.edu/ai-sandbox"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www.huit.harvard.edu/ai/tools" TargetMode="External"/><Relationship Id="rId5" Type="http://schemas.openxmlformats.org/officeDocument/2006/relationships/hyperlink" Target="https://www.huit.harvard.edu/openai-chatgpt-edu" TargetMode="External"/><Relationship Id="rId4" Type="http://schemas.openxmlformats.org/officeDocument/2006/relationships/hyperlink" Target="https://gemini.google.com/"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huit.harvard.edu/ai-sandbox"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www.huit.harvard.edu/ai/tools" TargetMode="External"/><Relationship Id="rId5" Type="http://schemas.openxmlformats.org/officeDocument/2006/relationships/hyperlink" Target="https://www.huit.harvard.edu/openai-chatgpt-edu" TargetMode="External"/><Relationship Id="rId4" Type="http://schemas.openxmlformats.org/officeDocument/2006/relationships/hyperlink" Target="https://gemini.google.com/"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huit.harvard.edu/ai-sandbox"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www.huit.harvard.edu/ai/tools" TargetMode="External"/><Relationship Id="rId5" Type="http://schemas.openxmlformats.org/officeDocument/2006/relationships/hyperlink" Target="https://www.huit.harvard.edu/openai-chatgpt-edu" TargetMode="External"/><Relationship Id="rId4" Type="http://schemas.openxmlformats.org/officeDocument/2006/relationships/hyperlink" Target="https://gemini.google.com/"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85800" y="1356527"/>
            <a:ext cx="10698480" cy="3838472"/>
          </a:xfrm>
          <a:prstGeom prst="rect">
            <a:avLst/>
          </a:prstGeom>
          <a:solidFill>
            <a:srgbClr val="FFFFFF"/>
          </a:solidFill>
          <a:ln w="12700">
            <a:solidFill>
              <a:srgbClr val="E1E6EC"/>
            </a:solidFill>
            <a:prstDash val="solid"/>
          </a:ln>
        </p:spPr>
        <p:txBody>
          <a:bodyPr/>
          <a:lstStyle/>
          <a:p>
            <a:endParaRPr lang="en-US"/>
          </a:p>
        </p:txBody>
      </p:sp>
      <p:sp>
        <p:nvSpPr>
          <p:cNvPr id="3" name="Text 1"/>
          <p:cNvSpPr/>
          <p:nvPr/>
        </p:nvSpPr>
        <p:spPr>
          <a:xfrm>
            <a:off x="1005840" y="1828800"/>
            <a:ext cx="9692640" cy="1188720"/>
          </a:xfrm>
          <a:prstGeom prst="rect">
            <a:avLst/>
          </a:prstGeom>
          <a:noFill/>
          <a:ln/>
        </p:spPr>
        <p:txBody>
          <a:bodyPr wrap="square" lIns="254" tIns="254" rIns="254" bIns="254" rtlCol="0" anchor="ctr"/>
          <a:lstStyle/>
          <a:p>
            <a:pPr marL="0" indent="0" algn="ctr">
              <a:buNone/>
            </a:pPr>
            <a:r>
              <a:rPr lang="en-US" sz="4000" b="1" dirty="0">
                <a:solidFill>
                  <a:srgbClr val="1F2937"/>
                </a:solidFill>
                <a:latin typeface="Aptos Display" pitchFamily="34" charset="0"/>
              </a:rPr>
              <a:t>Using Large Language Models for Bioinformatics</a:t>
            </a:r>
            <a:endParaRPr lang="en-US" sz="4000" dirty="0"/>
          </a:p>
        </p:txBody>
      </p:sp>
      <p:sp>
        <p:nvSpPr>
          <p:cNvPr id="5" name="Text 3"/>
          <p:cNvSpPr/>
          <p:nvPr/>
        </p:nvSpPr>
        <p:spPr>
          <a:xfrm>
            <a:off x="1554480" y="3657599"/>
            <a:ext cx="8686800" cy="643095"/>
          </a:xfrm>
          <a:prstGeom prst="rect">
            <a:avLst/>
          </a:prstGeom>
          <a:noFill/>
          <a:ln/>
        </p:spPr>
        <p:txBody>
          <a:bodyPr wrap="square" lIns="0" tIns="0" rIns="0" bIns="0" rtlCol="0" anchor="ctr"/>
          <a:lstStyle/>
          <a:p>
            <a:pPr marL="0" indent="0" algn="ctr">
              <a:buNone/>
            </a:pPr>
            <a:r>
              <a:rPr lang="en-US" sz="2200" dirty="0">
                <a:solidFill>
                  <a:srgbClr val="5B6470"/>
                </a:solidFill>
                <a:latin typeface="Aptos" pitchFamily="34" charset="0"/>
                <a:ea typeface="Aptos" pitchFamily="34" charset="-122"/>
                <a:cs typeface="Aptos" pitchFamily="34" charset="-120"/>
              </a:rPr>
              <a:t>Harvard FAS Bioinformatics Virtual Training</a:t>
            </a:r>
          </a:p>
          <a:p>
            <a:pPr marL="0" indent="0" algn="ctr">
              <a:buNone/>
            </a:pPr>
            <a:r>
              <a:rPr lang="en-US" sz="2200" dirty="0">
                <a:solidFill>
                  <a:srgbClr val="5B6470"/>
                </a:solidFill>
                <a:latin typeface="Aptos" pitchFamily="34" charset="0"/>
              </a:rPr>
              <a:t>March 12, 2026</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nvSpPr>
        <p:spPr>
          <a:xfrm>
            <a:off x="960120" y="1600200"/>
            <a:ext cx="9178667" cy="2730640"/>
          </a:xfrm>
          <a:prstGeom prst="rect">
            <a:avLst/>
          </a:prstGeom>
          <a:noFill/>
          <a:ln/>
        </p:spPr>
        <p:txBody>
          <a:bodyPr wrap="square" lIns="254" tIns="254" rIns="254" bIns="254" rtlCol="0" anchor="t">
            <a:noAutofit/>
          </a:bodyPr>
          <a:lstStyle/>
          <a:p>
            <a:pPr marL="514350" indent="-514350">
              <a:buSzPct val="100000"/>
              <a:buAutoNum type="arabicParenBoth"/>
            </a:pPr>
            <a:r>
              <a:rPr lang="en-US" sz="3600" dirty="0">
                <a:solidFill>
                  <a:srgbClr val="1F2937"/>
                </a:solidFill>
                <a:latin typeface="Aptos" pitchFamily="34" charset="0"/>
                <a:ea typeface="Aptos" pitchFamily="34" charset="-122"/>
                <a:cs typeface="Aptos" pitchFamily="34" charset="-120"/>
              </a:rPr>
              <a:t> A quick overview of the AI landscape</a:t>
            </a:r>
          </a:p>
          <a:p>
            <a:pPr marL="514350" indent="-514350">
              <a:buSzPct val="100000"/>
              <a:buAutoNum type="arabicParenBoth"/>
            </a:pPr>
            <a:endParaRPr lang="en-US" sz="3600" dirty="0">
              <a:solidFill>
                <a:srgbClr val="1F2937"/>
              </a:solidFill>
              <a:latin typeface="Aptos" pitchFamily="34" charset="0"/>
              <a:ea typeface="Aptos" pitchFamily="34" charset="-122"/>
              <a:cs typeface="Aptos" pitchFamily="34" charset="-120"/>
            </a:endParaRPr>
          </a:p>
          <a:p>
            <a:pPr marL="514350" indent="-514350">
              <a:buSzPct val="100000"/>
              <a:buAutoNum type="arabicParenBoth"/>
            </a:pPr>
            <a:r>
              <a:rPr lang="en-US" sz="3600" dirty="0">
                <a:solidFill>
                  <a:srgbClr val="1F2937"/>
                </a:solidFill>
                <a:latin typeface="Aptos" pitchFamily="34" charset="0"/>
                <a:ea typeface="Aptos" pitchFamily="34" charset="-122"/>
                <a:cs typeface="Aptos" pitchFamily="34" charset="-120"/>
              </a:rPr>
              <a:t> Example use cases for bioinformatics</a:t>
            </a:r>
          </a:p>
          <a:p>
            <a:pPr marL="514350" indent="-514350">
              <a:buSzPct val="100000"/>
              <a:buAutoNum type="arabicParenBoth"/>
            </a:pPr>
            <a:endParaRPr lang="en-US" sz="3600" dirty="0">
              <a:solidFill>
                <a:srgbClr val="1F2937"/>
              </a:solidFill>
              <a:latin typeface="Aptos" pitchFamily="34" charset="0"/>
              <a:ea typeface="Aptos" pitchFamily="34" charset="-122"/>
              <a:cs typeface="Aptos" pitchFamily="34" charset="-120"/>
            </a:endParaRPr>
          </a:p>
          <a:p>
            <a:pPr marL="514350" indent="-514350">
              <a:buSzPct val="100000"/>
              <a:buAutoNum type="arabicParenBoth"/>
            </a:pPr>
            <a:r>
              <a:rPr lang="en-US" sz="3600" dirty="0">
                <a:solidFill>
                  <a:srgbClr val="1F2937"/>
                </a:solidFill>
                <a:latin typeface="Aptos" pitchFamily="34" charset="0"/>
                <a:ea typeface="Aptos" pitchFamily="34" charset="-122"/>
                <a:cs typeface="Aptos" pitchFamily="34" charset="-120"/>
              </a:rPr>
              <a:t> Limits, caveats, and challenges</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BD621-3EEC-7BF9-CBA4-EAD2E94554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D70A441-D173-7CCC-6C77-4B26712DFE2F}"/>
              </a:ext>
            </a:extLst>
          </p:cNvPr>
          <p:cNvSpPr txBox="1"/>
          <p:nvPr/>
        </p:nvSpPr>
        <p:spPr>
          <a:xfrm>
            <a:off x="448962" y="3044279"/>
            <a:ext cx="11294075" cy="769441"/>
          </a:xfrm>
          <a:prstGeom prst="rect">
            <a:avLst/>
          </a:prstGeom>
          <a:noFill/>
        </p:spPr>
        <p:txBody>
          <a:bodyPr wrap="square" rtlCol="0">
            <a:spAutoFit/>
          </a:bodyPr>
          <a:lstStyle/>
          <a:p>
            <a:pPr algn="ctr"/>
            <a:r>
              <a:rPr lang="en-US" sz="4400" dirty="0"/>
              <a:t>The AI Landscape in March 2026</a:t>
            </a:r>
          </a:p>
        </p:txBody>
      </p:sp>
    </p:spTree>
    <p:extLst>
      <p:ext uri="{BB962C8B-B14F-4D97-AF65-F5344CB8AC3E}">
        <p14:creationId xmlns:p14="http://schemas.microsoft.com/office/powerpoint/2010/main" val="2031042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613DF-B5EB-2B26-97B9-1F93BC47E83E}"/>
            </a:ext>
          </a:extLst>
        </p:cNvPr>
        <p:cNvGrpSpPr/>
        <p:nvPr/>
      </p:nvGrpSpPr>
      <p:grpSpPr>
        <a:xfrm>
          <a:off x="0" y="0"/>
          <a:ext cx="0" cy="0"/>
          <a:chOff x="0" y="0"/>
          <a:chExt cx="0" cy="0"/>
        </a:xfrm>
      </p:grpSpPr>
      <p:pic>
        <p:nvPicPr>
          <p:cNvPr id="3" name="Picture 2" descr="A group of black lines with white text&#10;&#10;AI-generated content may be incorrect.">
            <a:extLst>
              <a:ext uri="{FF2B5EF4-FFF2-40B4-BE49-F238E27FC236}">
                <a16:creationId xmlns:a16="http://schemas.microsoft.com/office/drawing/2014/main" id="{9D17FE4C-A8C7-8D61-A7DE-FD85E910D529}"/>
              </a:ext>
            </a:extLst>
          </p:cNvPr>
          <p:cNvPicPr>
            <a:picLocks noChangeAspect="1"/>
          </p:cNvPicPr>
          <p:nvPr/>
        </p:nvPicPr>
        <p:blipFill>
          <a:blip r:embed="rId3"/>
          <a:srcRect t="10217" b="16140"/>
          <a:stretch>
            <a:fillRect/>
          </a:stretch>
        </p:blipFill>
        <p:spPr>
          <a:xfrm>
            <a:off x="0" y="269618"/>
            <a:ext cx="11859214" cy="5822264"/>
          </a:xfrm>
          <a:prstGeom prst="rect">
            <a:avLst/>
          </a:prstGeom>
        </p:spPr>
      </p:pic>
      <p:sp>
        <p:nvSpPr>
          <p:cNvPr id="4" name="TextBox 3">
            <a:extLst>
              <a:ext uri="{FF2B5EF4-FFF2-40B4-BE49-F238E27FC236}">
                <a16:creationId xmlns:a16="http://schemas.microsoft.com/office/drawing/2014/main" id="{B30E198D-ED8E-AE13-6ADD-DF4E7ED0A9F7}"/>
              </a:ext>
            </a:extLst>
          </p:cNvPr>
          <p:cNvSpPr txBox="1"/>
          <p:nvPr/>
        </p:nvSpPr>
        <p:spPr>
          <a:xfrm>
            <a:off x="9657521" y="6403716"/>
            <a:ext cx="2201693" cy="369332"/>
          </a:xfrm>
          <a:prstGeom prst="rect">
            <a:avLst/>
          </a:prstGeom>
          <a:noFill/>
        </p:spPr>
        <p:txBody>
          <a:bodyPr wrap="none" rtlCol="0">
            <a:spAutoFit/>
          </a:bodyPr>
          <a:lstStyle/>
          <a:p>
            <a:r>
              <a:rPr lang="en-US" dirty="0"/>
              <a:t>Image: ChatGPT 5.4</a:t>
            </a:r>
          </a:p>
        </p:txBody>
      </p:sp>
    </p:spTree>
    <p:extLst>
      <p:ext uri="{BB962C8B-B14F-4D97-AF65-F5344CB8AC3E}">
        <p14:creationId xmlns:p14="http://schemas.microsoft.com/office/powerpoint/2010/main" val="2401268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07BA7-599F-A9A3-5838-CD70CA303CF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40EE0E0-D5A9-8E88-F106-72120D8433B5}"/>
              </a:ext>
            </a:extLst>
          </p:cNvPr>
          <p:cNvSpPr txBox="1"/>
          <p:nvPr/>
        </p:nvSpPr>
        <p:spPr>
          <a:xfrm>
            <a:off x="3049030" y="3244334"/>
            <a:ext cx="6098058" cy="369332"/>
          </a:xfrm>
          <a:prstGeom prst="rect">
            <a:avLst/>
          </a:prstGeom>
          <a:noFill/>
        </p:spPr>
        <p:txBody>
          <a:bodyPr wrap="square">
            <a:spAutoFit/>
          </a:bodyPr>
          <a:lstStyle/>
          <a:p>
            <a:endParaRPr lang="en-US" dirty="0"/>
          </a:p>
        </p:txBody>
      </p:sp>
      <p:pic>
        <p:nvPicPr>
          <p:cNvPr id="7" name="Picture 6">
            <a:extLst>
              <a:ext uri="{FF2B5EF4-FFF2-40B4-BE49-F238E27FC236}">
                <a16:creationId xmlns:a16="http://schemas.microsoft.com/office/drawing/2014/main" id="{79D56919-FAC7-D333-8D1E-F2DDDEBCB913}"/>
              </a:ext>
            </a:extLst>
          </p:cNvPr>
          <p:cNvPicPr>
            <a:picLocks noChangeAspect="1"/>
          </p:cNvPicPr>
          <p:nvPr/>
        </p:nvPicPr>
        <p:blipFill>
          <a:blip r:embed="rId3"/>
          <a:srcRect t="3270" b="4084"/>
          <a:stretch>
            <a:fillRect/>
          </a:stretch>
        </p:blipFill>
        <p:spPr>
          <a:xfrm>
            <a:off x="0" y="93361"/>
            <a:ext cx="12187194" cy="6301946"/>
          </a:xfrm>
          <a:prstGeom prst="rect">
            <a:avLst/>
          </a:prstGeom>
        </p:spPr>
      </p:pic>
      <p:sp>
        <p:nvSpPr>
          <p:cNvPr id="8" name="TextBox 7">
            <a:extLst>
              <a:ext uri="{FF2B5EF4-FFF2-40B4-BE49-F238E27FC236}">
                <a16:creationId xmlns:a16="http://schemas.microsoft.com/office/drawing/2014/main" id="{DEC45265-369C-9967-1C9A-62B7DF5D95E1}"/>
              </a:ext>
            </a:extLst>
          </p:cNvPr>
          <p:cNvSpPr txBox="1"/>
          <p:nvPr/>
        </p:nvSpPr>
        <p:spPr>
          <a:xfrm>
            <a:off x="8072093" y="6437871"/>
            <a:ext cx="4115101" cy="369332"/>
          </a:xfrm>
          <a:prstGeom prst="rect">
            <a:avLst/>
          </a:prstGeom>
          <a:noFill/>
        </p:spPr>
        <p:txBody>
          <a:bodyPr wrap="none" rtlCol="0">
            <a:spAutoFit/>
          </a:bodyPr>
          <a:lstStyle/>
          <a:p>
            <a:r>
              <a:rPr lang="en-US" dirty="0"/>
              <a:t>Image: Nano Banana 2 (Gemini/Google)</a:t>
            </a:r>
          </a:p>
        </p:txBody>
      </p:sp>
    </p:spTree>
    <p:extLst>
      <p:ext uri="{BB962C8B-B14F-4D97-AF65-F5344CB8AC3E}">
        <p14:creationId xmlns:p14="http://schemas.microsoft.com/office/powerpoint/2010/main" val="4138653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72857-1B5F-8560-1576-0DF68D5D06D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FD85287-46A7-F5EE-B44C-44591BC0D4BD}"/>
              </a:ext>
            </a:extLst>
          </p:cNvPr>
          <p:cNvSpPr txBox="1"/>
          <p:nvPr/>
        </p:nvSpPr>
        <p:spPr>
          <a:xfrm>
            <a:off x="210065" y="593125"/>
            <a:ext cx="11294075" cy="584775"/>
          </a:xfrm>
          <a:prstGeom prst="rect">
            <a:avLst/>
          </a:prstGeom>
          <a:noFill/>
        </p:spPr>
        <p:txBody>
          <a:bodyPr wrap="square" rtlCol="0">
            <a:spAutoFit/>
          </a:bodyPr>
          <a:lstStyle/>
          <a:p>
            <a:r>
              <a:rPr lang="en-US" sz="3200" dirty="0"/>
              <a:t>Harvard provides access to generative AI tools</a:t>
            </a:r>
          </a:p>
        </p:txBody>
      </p:sp>
      <p:graphicFrame>
        <p:nvGraphicFramePr>
          <p:cNvPr id="10" name="Table 9">
            <a:extLst>
              <a:ext uri="{FF2B5EF4-FFF2-40B4-BE49-F238E27FC236}">
                <a16:creationId xmlns:a16="http://schemas.microsoft.com/office/drawing/2014/main" id="{ED4F3233-DB63-7D55-8D36-90FBA799ABA2}"/>
              </a:ext>
            </a:extLst>
          </p:cNvPr>
          <p:cNvGraphicFramePr>
            <a:graphicFrameLocks noGrp="1"/>
          </p:cNvGraphicFramePr>
          <p:nvPr>
            <p:extLst>
              <p:ext uri="{D42A27DB-BD31-4B8C-83A1-F6EECF244321}">
                <p14:modId xmlns:p14="http://schemas.microsoft.com/office/powerpoint/2010/main" val="3097403563"/>
              </p:ext>
            </p:extLst>
          </p:nvPr>
        </p:nvGraphicFramePr>
        <p:xfrm>
          <a:off x="448962" y="1442023"/>
          <a:ext cx="11294076" cy="4450080"/>
        </p:xfrm>
        <a:graphic>
          <a:graphicData uri="http://schemas.openxmlformats.org/drawingml/2006/table">
            <a:tbl>
              <a:tblPr firstRow="1" bandRow="1">
                <a:tableStyleId>{5C22544A-7EE6-4342-B048-85BDC9FD1C3A}</a:tableStyleId>
              </a:tblPr>
              <a:tblGrid>
                <a:gridCol w="1935892">
                  <a:extLst>
                    <a:ext uri="{9D8B030D-6E8A-4147-A177-3AD203B41FA5}">
                      <a16:colId xmlns:a16="http://schemas.microsoft.com/office/drawing/2014/main" val="207295144"/>
                    </a:ext>
                  </a:extLst>
                </a:gridCol>
                <a:gridCol w="2681416">
                  <a:extLst>
                    <a:ext uri="{9D8B030D-6E8A-4147-A177-3AD203B41FA5}">
                      <a16:colId xmlns:a16="http://schemas.microsoft.com/office/drawing/2014/main" val="2177694306"/>
                    </a:ext>
                  </a:extLst>
                </a:gridCol>
                <a:gridCol w="2545492">
                  <a:extLst>
                    <a:ext uri="{9D8B030D-6E8A-4147-A177-3AD203B41FA5}">
                      <a16:colId xmlns:a16="http://schemas.microsoft.com/office/drawing/2014/main" val="420943041"/>
                    </a:ext>
                  </a:extLst>
                </a:gridCol>
                <a:gridCol w="4131276">
                  <a:extLst>
                    <a:ext uri="{9D8B030D-6E8A-4147-A177-3AD203B41FA5}">
                      <a16:colId xmlns:a16="http://schemas.microsoft.com/office/drawing/2014/main" val="2995396921"/>
                    </a:ext>
                  </a:extLst>
                </a:gridCol>
              </a:tblGrid>
              <a:tr h="460919">
                <a:tc>
                  <a:txBody>
                    <a:bodyPr/>
                    <a:lstStyle/>
                    <a:p>
                      <a:r>
                        <a:rPr lang="en-US" sz="2800" dirty="0"/>
                        <a:t>Tool</a:t>
                      </a:r>
                    </a:p>
                  </a:txBody>
                  <a:tcPr/>
                </a:tc>
                <a:tc>
                  <a:txBody>
                    <a:bodyPr/>
                    <a:lstStyle/>
                    <a:p>
                      <a:r>
                        <a:rPr lang="en-US" sz="2800" dirty="0"/>
                        <a:t>Models</a:t>
                      </a:r>
                    </a:p>
                  </a:txBody>
                  <a:tcPr/>
                </a:tc>
                <a:tc>
                  <a:txBody>
                    <a:bodyPr/>
                    <a:lstStyle/>
                    <a:p>
                      <a:r>
                        <a:rPr lang="en-US" sz="2800" dirty="0"/>
                        <a:t>Use</a:t>
                      </a:r>
                    </a:p>
                  </a:txBody>
                  <a:tcPr/>
                </a:tc>
                <a:tc>
                  <a:txBody>
                    <a:bodyPr/>
                    <a:lstStyle/>
                    <a:p>
                      <a:r>
                        <a:rPr lang="en-US" sz="2800" dirty="0"/>
                        <a:t>Access</a:t>
                      </a:r>
                    </a:p>
                  </a:txBody>
                  <a:tcPr/>
                </a:tc>
                <a:extLst>
                  <a:ext uri="{0D108BD9-81ED-4DB2-BD59-A6C34878D82A}">
                    <a16:rowId xmlns:a16="http://schemas.microsoft.com/office/drawing/2014/main" val="2372080229"/>
                  </a:ext>
                </a:extLst>
              </a:tr>
              <a:tr h="1036560">
                <a:tc>
                  <a:txBody>
                    <a:bodyPr/>
                    <a:lstStyle/>
                    <a:p>
                      <a:r>
                        <a:rPr lang="en-US" sz="2400" dirty="0"/>
                        <a:t>AI Sandbox</a:t>
                      </a:r>
                    </a:p>
                  </a:txBody>
                  <a:tcPr/>
                </a:tc>
                <a:tc>
                  <a:txBody>
                    <a:bodyPr/>
                    <a:lstStyle/>
                    <a:p>
                      <a:r>
                        <a:rPr lang="en-US" sz="2400" dirty="0"/>
                        <a:t>Multiple models from different providers</a:t>
                      </a:r>
                    </a:p>
                  </a:txBody>
                  <a:tcPr/>
                </a:tc>
                <a:tc>
                  <a:txBody>
                    <a:bodyPr/>
                    <a:lstStyle/>
                    <a:p>
                      <a:r>
                        <a:rPr lang="en-US" sz="2400" dirty="0"/>
                        <a:t>Chatbot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hlinkClick r:id="rId3"/>
                        </a:rPr>
                        <a:t>https://www.huit.harvard.edu/ai-sandbox</a:t>
                      </a:r>
                      <a:endParaRPr lang="en-US" sz="2400" dirty="0"/>
                    </a:p>
                  </a:txBody>
                  <a:tcPr/>
                </a:tc>
                <a:extLst>
                  <a:ext uri="{0D108BD9-81ED-4DB2-BD59-A6C34878D82A}">
                    <a16:rowId xmlns:a16="http://schemas.microsoft.com/office/drawing/2014/main" val="9942329"/>
                  </a:ext>
                </a:extLst>
              </a:tr>
              <a:tr h="1036560">
                <a:tc>
                  <a:txBody>
                    <a:bodyPr/>
                    <a:lstStyle/>
                    <a:p>
                      <a:r>
                        <a:rPr lang="en-US" sz="2400" dirty="0"/>
                        <a:t>Gemini</a:t>
                      </a:r>
                    </a:p>
                  </a:txBody>
                  <a:tcPr/>
                </a:tc>
                <a:tc>
                  <a:txBody>
                    <a:bodyPr/>
                    <a:lstStyle/>
                    <a:p>
                      <a:r>
                        <a:rPr lang="en-US" sz="2400" dirty="0"/>
                        <a:t>Gemini 3, </a:t>
                      </a:r>
                      <a:r>
                        <a:rPr lang="en-US" sz="2400" dirty="0" err="1"/>
                        <a:t>NotebookLLM</a:t>
                      </a:r>
                      <a:r>
                        <a:rPr lang="en-US" sz="2400" dirty="0"/>
                        <a:t>, Antigravity (coding agent)</a:t>
                      </a:r>
                    </a:p>
                  </a:txBody>
                  <a:tcPr/>
                </a:tc>
                <a:tc>
                  <a:txBody>
                    <a:bodyPr/>
                    <a:lstStyle/>
                    <a:p>
                      <a:r>
                        <a:rPr lang="en-US" sz="2400" dirty="0"/>
                        <a:t>Chatbot, data analysis, agentic coding</a:t>
                      </a:r>
                    </a:p>
                  </a:txBody>
                  <a:tcPr/>
                </a:tc>
                <a:tc>
                  <a:txBody>
                    <a:bodyPr/>
                    <a:lstStyle/>
                    <a:p>
                      <a:r>
                        <a:rPr lang="en-US" sz="2400" dirty="0">
                          <a:hlinkClick r:id="rId4"/>
                        </a:rPr>
                        <a:t>https://gemini.google.com/</a:t>
                      </a:r>
                      <a:r>
                        <a:rPr lang="en-US" sz="2400" dirty="0"/>
                        <a:t> (</a:t>
                      </a:r>
                      <a:r>
                        <a:rPr lang="en-US" sz="2400" dirty="0" err="1"/>
                        <a:t>g.Harvard</a:t>
                      </a:r>
                      <a:r>
                        <a:rPr lang="en-US" sz="2400" dirty="0"/>
                        <a:t> account)</a:t>
                      </a:r>
                    </a:p>
                  </a:txBody>
                  <a:tcPr/>
                </a:tc>
                <a:extLst>
                  <a:ext uri="{0D108BD9-81ED-4DB2-BD59-A6C34878D82A}">
                    <a16:rowId xmlns:a16="http://schemas.microsoft.com/office/drawing/2014/main" val="3398542653"/>
                  </a:ext>
                </a:extLst>
              </a:tr>
              <a:tr h="1036560">
                <a:tc>
                  <a:txBody>
                    <a:bodyPr/>
                    <a:lstStyle/>
                    <a:p>
                      <a:r>
                        <a:rPr lang="en-US" sz="2400" dirty="0"/>
                        <a:t>OpenAI ChatGPT Edu</a:t>
                      </a:r>
                    </a:p>
                  </a:txBody>
                  <a:tcPr/>
                </a:tc>
                <a:tc>
                  <a:txBody>
                    <a:bodyPr/>
                    <a:lstStyle/>
                    <a:p>
                      <a:r>
                        <a:rPr lang="en-US" sz="2400" dirty="0"/>
                        <a:t>GPT family, Codex (coding agent)</a:t>
                      </a:r>
                    </a:p>
                  </a:txBody>
                  <a:tcPr/>
                </a:tc>
                <a:tc>
                  <a:txBody>
                    <a:bodyPr/>
                    <a:lstStyle/>
                    <a:p>
                      <a:r>
                        <a:rPr lang="en-US" sz="2400" dirty="0"/>
                        <a:t>Chatbot, data analysis, agentic coding</a:t>
                      </a:r>
                    </a:p>
                  </a:txBody>
                  <a:tcPr/>
                </a:tc>
                <a:tc>
                  <a:txBody>
                    <a:bodyPr/>
                    <a:lstStyle/>
                    <a:p>
                      <a:r>
                        <a:rPr lang="en-US" sz="2400" dirty="0">
                          <a:hlinkClick r:id="rId5"/>
                        </a:rPr>
                        <a:t>https://www.huit.harvard.edu/openai-chatgpt-edu</a:t>
                      </a:r>
                      <a:r>
                        <a:rPr lang="en-US" sz="2400" dirty="0"/>
                        <a:t> (request access)</a:t>
                      </a:r>
                    </a:p>
                  </a:txBody>
                  <a:tcPr/>
                </a:tc>
                <a:extLst>
                  <a:ext uri="{0D108BD9-81ED-4DB2-BD59-A6C34878D82A}">
                    <a16:rowId xmlns:a16="http://schemas.microsoft.com/office/drawing/2014/main" val="1733572828"/>
                  </a:ext>
                </a:extLst>
              </a:tr>
            </a:tbl>
          </a:graphicData>
        </a:graphic>
      </p:graphicFrame>
      <p:sp>
        <p:nvSpPr>
          <p:cNvPr id="11" name="TextBox 10">
            <a:extLst>
              <a:ext uri="{FF2B5EF4-FFF2-40B4-BE49-F238E27FC236}">
                <a16:creationId xmlns:a16="http://schemas.microsoft.com/office/drawing/2014/main" id="{541C5D1A-8CF1-65AB-70B4-ADABAD55D206}"/>
              </a:ext>
            </a:extLst>
          </p:cNvPr>
          <p:cNvSpPr txBox="1"/>
          <p:nvPr/>
        </p:nvSpPr>
        <p:spPr>
          <a:xfrm>
            <a:off x="5393216" y="6264875"/>
            <a:ext cx="6798784" cy="492443"/>
          </a:xfrm>
          <a:prstGeom prst="rect">
            <a:avLst/>
          </a:prstGeom>
          <a:noFill/>
        </p:spPr>
        <p:txBody>
          <a:bodyPr wrap="none" rtlCol="0">
            <a:spAutoFit/>
          </a:bodyPr>
          <a:lstStyle/>
          <a:p>
            <a:r>
              <a:rPr lang="en-US" sz="2600" dirty="0"/>
              <a:t>Source: </a:t>
            </a:r>
            <a:r>
              <a:rPr lang="en-US" sz="2600" dirty="0">
                <a:hlinkClick r:id="rId6"/>
              </a:rPr>
              <a:t>https://www.huit.harvard.edu/ai/tools</a:t>
            </a:r>
            <a:endParaRPr lang="en-US" sz="2600" dirty="0"/>
          </a:p>
        </p:txBody>
      </p:sp>
      <p:sp>
        <p:nvSpPr>
          <p:cNvPr id="12" name="Rectangle 11">
            <a:extLst>
              <a:ext uri="{FF2B5EF4-FFF2-40B4-BE49-F238E27FC236}">
                <a16:creationId xmlns:a16="http://schemas.microsoft.com/office/drawing/2014/main" id="{7AFEFD0E-F64D-1BA1-F216-AACF4F487A8B}"/>
              </a:ext>
            </a:extLst>
          </p:cNvPr>
          <p:cNvSpPr/>
          <p:nvPr/>
        </p:nvSpPr>
        <p:spPr>
          <a:xfrm>
            <a:off x="210065" y="1952367"/>
            <a:ext cx="11640065" cy="4040659"/>
          </a:xfrm>
          <a:prstGeom prst="rect">
            <a:avLst/>
          </a:prstGeom>
          <a:solidFill>
            <a:srgbClr val="F7F8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2612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49FFC-29B5-0E68-BFD1-0903567F483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31A4D1B-FE24-54FC-2720-D63FCE4B9D81}"/>
              </a:ext>
            </a:extLst>
          </p:cNvPr>
          <p:cNvSpPr txBox="1"/>
          <p:nvPr/>
        </p:nvSpPr>
        <p:spPr>
          <a:xfrm>
            <a:off x="210065" y="593125"/>
            <a:ext cx="11294075" cy="584775"/>
          </a:xfrm>
          <a:prstGeom prst="rect">
            <a:avLst/>
          </a:prstGeom>
          <a:noFill/>
        </p:spPr>
        <p:txBody>
          <a:bodyPr wrap="square" rtlCol="0">
            <a:spAutoFit/>
          </a:bodyPr>
          <a:lstStyle/>
          <a:p>
            <a:r>
              <a:rPr lang="en-US" sz="3200" dirty="0"/>
              <a:t>Harvard provides access to generative AI tools</a:t>
            </a:r>
          </a:p>
        </p:txBody>
      </p:sp>
      <p:graphicFrame>
        <p:nvGraphicFramePr>
          <p:cNvPr id="10" name="Table 9">
            <a:extLst>
              <a:ext uri="{FF2B5EF4-FFF2-40B4-BE49-F238E27FC236}">
                <a16:creationId xmlns:a16="http://schemas.microsoft.com/office/drawing/2014/main" id="{5CAD0431-6FBE-4849-BA0E-EF179CCF5AD0}"/>
              </a:ext>
            </a:extLst>
          </p:cNvPr>
          <p:cNvGraphicFramePr>
            <a:graphicFrameLocks noGrp="1"/>
          </p:cNvGraphicFramePr>
          <p:nvPr/>
        </p:nvGraphicFramePr>
        <p:xfrm>
          <a:off x="448962" y="1442023"/>
          <a:ext cx="11294076" cy="4450080"/>
        </p:xfrm>
        <a:graphic>
          <a:graphicData uri="http://schemas.openxmlformats.org/drawingml/2006/table">
            <a:tbl>
              <a:tblPr firstRow="1" bandRow="1">
                <a:tableStyleId>{5C22544A-7EE6-4342-B048-85BDC9FD1C3A}</a:tableStyleId>
              </a:tblPr>
              <a:tblGrid>
                <a:gridCol w="1935892">
                  <a:extLst>
                    <a:ext uri="{9D8B030D-6E8A-4147-A177-3AD203B41FA5}">
                      <a16:colId xmlns:a16="http://schemas.microsoft.com/office/drawing/2014/main" val="207295144"/>
                    </a:ext>
                  </a:extLst>
                </a:gridCol>
                <a:gridCol w="2681416">
                  <a:extLst>
                    <a:ext uri="{9D8B030D-6E8A-4147-A177-3AD203B41FA5}">
                      <a16:colId xmlns:a16="http://schemas.microsoft.com/office/drawing/2014/main" val="2177694306"/>
                    </a:ext>
                  </a:extLst>
                </a:gridCol>
                <a:gridCol w="2545492">
                  <a:extLst>
                    <a:ext uri="{9D8B030D-6E8A-4147-A177-3AD203B41FA5}">
                      <a16:colId xmlns:a16="http://schemas.microsoft.com/office/drawing/2014/main" val="420943041"/>
                    </a:ext>
                  </a:extLst>
                </a:gridCol>
                <a:gridCol w="4131276">
                  <a:extLst>
                    <a:ext uri="{9D8B030D-6E8A-4147-A177-3AD203B41FA5}">
                      <a16:colId xmlns:a16="http://schemas.microsoft.com/office/drawing/2014/main" val="2995396921"/>
                    </a:ext>
                  </a:extLst>
                </a:gridCol>
              </a:tblGrid>
              <a:tr h="460919">
                <a:tc>
                  <a:txBody>
                    <a:bodyPr/>
                    <a:lstStyle/>
                    <a:p>
                      <a:r>
                        <a:rPr lang="en-US" sz="2800" dirty="0"/>
                        <a:t>Tool</a:t>
                      </a:r>
                    </a:p>
                  </a:txBody>
                  <a:tcPr/>
                </a:tc>
                <a:tc>
                  <a:txBody>
                    <a:bodyPr/>
                    <a:lstStyle/>
                    <a:p>
                      <a:r>
                        <a:rPr lang="en-US" sz="2800" dirty="0"/>
                        <a:t>Models</a:t>
                      </a:r>
                    </a:p>
                  </a:txBody>
                  <a:tcPr/>
                </a:tc>
                <a:tc>
                  <a:txBody>
                    <a:bodyPr/>
                    <a:lstStyle/>
                    <a:p>
                      <a:r>
                        <a:rPr lang="en-US" sz="2800" dirty="0"/>
                        <a:t>Use</a:t>
                      </a:r>
                    </a:p>
                  </a:txBody>
                  <a:tcPr/>
                </a:tc>
                <a:tc>
                  <a:txBody>
                    <a:bodyPr/>
                    <a:lstStyle/>
                    <a:p>
                      <a:r>
                        <a:rPr lang="en-US" sz="2800" dirty="0"/>
                        <a:t>Access</a:t>
                      </a:r>
                    </a:p>
                  </a:txBody>
                  <a:tcPr/>
                </a:tc>
                <a:extLst>
                  <a:ext uri="{0D108BD9-81ED-4DB2-BD59-A6C34878D82A}">
                    <a16:rowId xmlns:a16="http://schemas.microsoft.com/office/drawing/2014/main" val="2372080229"/>
                  </a:ext>
                </a:extLst>
              </a:tr>
              <a:tr h="1036560">
                <a:tc>
                  <a:txBody>
                    <a:bodyPr/>
                    <a:lstStyle/>
                    <a:p>
                      <a:r>
                        <a:rPr lang="en-US" sz="2400" dirty="0"/>
                        <a:t>AI Sandbox</a:t>
                      </a:r>
                    </a:p>
                  </a:txBody>
                  <a:tcPr/>
                </a:tc>
                <a:tc>
                  <a:txBody>
                    <a:bodyPr/>
                    <a:lstStyle/>
                    <a:p>
                      <a:r>
                        <a:rPr lang="en-US" sz="2400" dirty="0"/>
                        <a:t>Multiple models from different providers</a:t>
                      </a:r>
                    </a:p>
                  </a:txBody>
                  <a:tcPr/>
                </a:tc>
                <a:tc>
                  <a:txBody>
                    <a:bodyPr/>
                    <a:lstStyle/>
                    <a:p>
                      <a:r>
                        <a:rPr lang="en-US" sz="2400" dirty="0"/>
                        <a:t>Chatbot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hlinkClick r:id="rId3"/>
                        </a:rPr>
                        <a:t>https://www.huit.harvard.edu/ai-sandbox</a:t>
                      </a:r>
                      <a:endParaRPr lang="en-US" sz="2400" dirty="0"/>
                    </a:p>
                  </a:txBody>
                  <a:tcPr/>
                </a:tc>
                <a:extLst>
                  <a:ext uri="{0D108BD9-81ED-4DB2-BD59-A6C34878D82A}">
                    <a16:rowId xmlns:a16="http://schemas.microsoft.com/office/drawing/2014/main" val="9942329"/>
                  </a:ext>
                </a:extLst>
              </a:tr>
              <a:tr h="1036560">
                <a:tc>
                  <a:txBody>
                    <a:bodyPr/>
                    <a:lstStyle/>
                    <a:p>
                      <a:r>
                        <a:rPr lang="en-US" sz="2400" dirty="0"/>
                        <a:t>Gemini</a:t>
                      </a:r>
                    </a:p>
                  </a:txBody>
                  <a:tcPr/>
                </a:tc>
                <a:tc>
                  <a:txBody>
                    <a:bodyPr/>
                    <a:lstStyle/>
                    <a:p>
                      <a:r>
                        <a:rPr lang="en-US" sz="2400" dirty="0"/>
                        <a:t>Gemini 3, </a:t>
                      </a:r>
                      <a:r>
                        <a:rPr lang="en-US" sz="2400" dirty="0" err="1"/>
                        <a:t>NotebookLLM</a:t>
                      </a:r>
                      <a:r>
                        <a:rPr lang="en-US" sz="2400" dirty="0"/>
                        <a:t>, Antigravity (coding agent)</a:t>
                      </a:r>
                    </a:p>
                  </a:txBody>
                  <a:tcPr/>
                </a:tc>
                <a:tc>
                  <a:txBody>
                    <a:bodyPr/>
                    <a:lstStyle/>
                    <a:p>
                      <a:r>
                        <a:rPr lang="en-US" sz="2400" dirty="0"/>
                        <a:t>Chatbot, data analysis, agentic coding</a:t>
                      </a:r>
                    </a:p>
                  </a:txBody>
                  <a:tcPr/>
                </a:tc>
                <a:tc>
                  <a:txBody>
                    <a:bodyPr/>
                    <a:lstStyle/>
                    <a:p>
                      <a:r>
                        <a:rPr lang="en-US" sz="2400" dirty="0">
                          <a:hlinkClick r:id="rId4"/>
                        </a:rPr>
                        <a:t>https://gemini.google.com/</a:t>
                      </a:r>
                      <a:r>
                        <a:rPr lang="en-US" sz="2400" dirty="0"/>
                        <a:t> (</a:t>
                      </a:r>
                      <a:r>
                        <a:rPr lang="en-US" sz="2400" dirty="0" err="1"/>
                        <a:t>g.Harvard</a:t>
                      </a:r>
                      <a:r>
                        <a:rPr lang="en-US" sz="2400" dirty="0"/>
                        <a:t> account)</a:t>
                      </a:r>
                    </a:p>
                  </a:txBody>
                  <a:tcPr/>
                </a:tc>
                <a:extLst>
                  <a:ext uri="{0D108BD9-81ED-4DB2-BD59-A6C34878D82A}">
                    <a16:rowId xmlns:a16="http://schemas.microsoft.com/office/drawing/2014/main" val="3398542653"/>
                  </a:ext>
                </a:extLst>
              </a:tr>
              <a:tr h="1036560">
                <a:tc>
                  <a:txBody>
                    <a:bodyPr/>
                    <a:lstStyle/>
                    <a:p>
                      <a:r>
                        <a:rPr lang="en-US" sz="2400" dirty="0"/>
                        <a:t>OpenAI ChatGPT Edu</a:t>
                      </a:r>
                    </a:p>
                  </a:txBody>
                  <a:tcPr/>
                </a:tc>
                <a:tc>
                  <a:txBody>
                    <a:bodyPr/>
                    <a:lstStyle/>
                    <a:p>
                      <a:r>
                        <a:rPr lang="en-US" sz="2400" dirty="0"/>
                        <a:t>GPT family, Codex (coding agent)</a:t>
                      </a:r>
                    </a:p>
                  </a:txBody>
                  <a:tcPr/>
                </a:tc>
                <a:tc>
                  <a:txBody>
                    <a:bodyPr/>
                    <a:lstStyle/>
                    <a:p>
                      <a:r>
                        <a:rPr lang="en-US" sz="2400" dirty="0"/>
                        <a:t>Chatbot, data analysis, agentic coding</a:t>
                      </a:r>
                    </a:p>
                  </a:txBody>
                  <a:tcPr/>
                </a:tc>
                <a:tc>
                  <a:txBody>
                    <a:bodyPr/>
                    <a:lstStyle/>
                    <a:p>
                      <a:r>
                        <a:rPr lang="en-US" sz="2400" dirty="0">
                          <a:hlinkClick r:id="rId5"/>
                        </a:rPr>
                        <a:t>https://www.huit.harvard.edu/openai-chatgpt-edu</a:t>
                      </a:r>
                      <a:r>
                        <a:rPr lang="en-US" sz="2400" dirty="0"/>
                        <a:t> (request access)</a:t>
                      </a:r>
                    </a:p>
                  </a:txBody>
                  <a:tcPr/>
                </a:tc>
                <a:extLst>
                  <a:ext uri="{0D108BD9-81ED-4DB2-BD59-A6C34878D82A}">
                    <a16:rowId xmlns:a16="http://schemas.microsoft.com/office/drawing/2014/main" val="1733572828"/>
                  </a:ext>
                </a:extLst>
              </a:tr>
            </a:tbl>
          </a:graphicData>
        </a:graphic>
      </p:graphicFrame>
      <p:sp>
        <p:nvSpPr>
          <p:cNvPr id="11" name="TextBox 10">
            <a:extLst>
              <a:ext uri="{FF2B5EF4-FFF2-40B4-BE49-F238E27FC236}">
                <a16:creationId xmlns:a16="http://schemas.microsoft.com/office/drawing/2014/main" id="{B3F9F39C-95C8-F18E-5F9C-699A9775C145}"/>
              </a:ext>
            </a:extLst>
          </p:cNvPr>
          <p:cNvSpPr txBox="1"/>
          <p:nvPr/>
        </p:nvSpPr>
        <p:spPr>
          <a:xfrm>
            <a:off x="5393216" y="6264875"/>
            <a:ext cx="6798784" cy="492443"/>
          </a:xfrm>
          <a:prstGeom prst="rect">
            <a:avLst/>
          </a:prstGeom>
          <a:noFill/>
        </p:spPr>
        <p:txBody>
          <a:bodyPr wrap="none" rtlCol="0">
            <a:spAutoFit/>
          </a:bodyPr>
          <a:lstStyle/>
          <a:p>
            <a:r>
              <a:rPr lang="en-US" sz="2600" dirty="0"/>
              <a:t>Source: </a:t>
            </a:r>
            <a:r>
              <a:rPr lang="en-US" sz="2600" dirty="0">
                <a:hlinkClick r:id="rId6"/>
              </a:rPr>
              <a:t>https://www.huit.harvard.edu/ai/tools</a:t>
            </a:r>
            <a:endParaRPr lang="en-US" sz="2600" dirty="0"/>
          </a:p>
        </p:txBody>
      </p:sp>
      <p:sp>
        <p:nvSpPr>
          <p:cNvPr id="12" name="Rectangle 11">
            <a:extLst>
              <a:ext uri="{FF2B5EF4-FFF2-40B4-BE49-F238E27FC236}">
                <a16:creationId xmlns:a16="http://schemas.microsoft.com/office/drawing/2014/main" id="{A0612785-AA73-1AC2-1534-532642B42269}"/>
              </a:ext>
            </a:extLst>
          </p:cNvPr>
          <p:cNvSpPr/>
          <p:nvPr/>
        </p:nvSpPr>
        <p:spPr>
          <a:xfrm>
            <a:off x="210065" y="3163330"/>
            <a:ext cx="11640065" cy="2829696"/>
          </a:xfrm>
          <a:prstGeom prst="rect">
            <a:avLst/>
          </a:prstGeom>
          <a:solidFill>
            <a:srgbClr val="F7F8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969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78DC6-4110-0FBD-1697-4BD9CFA2CD3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9853268-41D1-F834-D78A-D39ECEB064DA}"/>
              </a:ext>
            </a:extLst>
          </p:cNvPr>
          <p:cNvSpPr txBox="1"/>
          <p:nvPr/>
        </p:nvSpPr>
        <p:spPr>
          <a:xfrm>
            <a:off x="210065" y="593125"/>
            <a:ext cx="11294075" cy="584775"/>
          </a:xfrm>
          <a:prstGeom prst="rect">
            <a:avLst/>
          </a:prstGeom>
          <a:noFill/>
        </p:spPr>
        <p:txBody>
          <a:bodyPr wrap="square" rtlCol="0">
            <a:spAutoFit/>
          </a:bodyPr>
          <a:lstStyle/>
          <a:p>
            <a:r>
              <a:rPr lang="en-US" sz="3200" dirty="0"/>
              <a:t>Harvard provides access to generative AI tools</a:t>
            </a:r>
          </a:p>
        </p:txBody>
      </p:sp>
      <p:graphicFrame>
        <p:nvGraphicFramePr>
          <p:cNvPr id="10" name="Table 9">
            <a:extLst>
              <a:ext uri="{FF2B5EF4-FFF2-40B4-BE49-F238E27FC236}">
                <a16:creationId xmlns:a16="http://schemas.microsoft.com/office/drawing/2014/main" id="{D3958136-2564-5C3A-EB59-3D05A63E0454}"/>
              </a:ext>
            </a:extLst>
          </p:cNvPr>
          <p:cNvGraphicFramePr>
            <a:graphicFrameLocks noGrp="1"/>
          </p:cNvGraphicFramePr>
          <p:nvPr/>
        </p:nvGraphicFramePr>
        <p:xfrm>
          <a:off x="448962" y="1442023"/>
          <a:ext cx="11294076" cy="4450080"/>
        </p:xfrm>
        <a:graphic>
          <a:graphicData uri="http://schemas.openxmlformats.org/drawingml/2006/table">
            <a:tbl>
              <a:tblPr firstRow="1" bandRow="1">
                <a:tableStyleId>{5C22544A-7EE6-4342-B048-85BDC9FD1C3A}</a:tableStyleId>
              </a:tblPr>
              <a:tblGrid>
                <a:gridCol w="1935892">
                  <a:extLst>
                    <a:ext uri="{9D8B030D-6E8A-4147-A177-3AD203B41FA5}">
                      <a16:colId xmlns:a16="http://schemas.microsoft.com/office/drawing/2014/main" val="207295144"/>
                    </a:ext>
                  </a:extLst>
                </a:gridCol>
                <a:gridCol w="2681416">
                  <a:extLst>
                    <a:ext uri="{9D8B030D-6E8A-4147-A177-3AD203B41FA5}">
                      <a16:colId xmlns:a16="http://schemas.microsoft.com/office/drawing/2014/main" val="2177694306"/>
                    </a:ext>
                  </a:extLst>
                </a:gridCol>
                <a:gridCol w="2545492">
                  <a:extLst>
                    <a:ext uri="{9D8B030D-6E8A-4147-A177-3AD203B41FA5}">
                      <a16:colId xmlns:a16="http://schemas.microsoft.com/office/drawing/2014/main" val="420943041"/>
                    </a:ext>
                  </a:extLst>
                </a:gridCol>
                <a:gridCol w="4131276">
                  <a:extLst>
                    <a:ext uri="{9D8B030D-6E8A-4147-A177-3AD203B41FA5}">
                      <a16:colId xmlns:a16="http://schemas.microsoft.com/office/drawing/2014/main" val="2995396921"/>
                    </a:ext>
                  </a:extLst>
                </a:gridCol>
              </a:tblGrid>
              <a:tr h="460919">
                <a:tc>
                  <a:txBody>
                    <a:bodyPr/>
                    <a:lstStyle/>
                    <a:p>
                      <a:r>
                        <a:rPr lang="en-US" sz="2800" dirty="0"/>
                        <a:t>Tool</a:t>
                      </a:r>
                    </a:p>
                  </a:txBody>
                  <a:tcPr/>
                </a:tc>
                <a:tc>
                  <a:txBody>
                    <a:bodyPr/>
                    <a:lstStyle/>
                    <a:p>
                      <a:r>
                        <a:rPr lang="en-US" sz="2800" dirty="0"/>
                        <a:t>Models</a:t>
                      </a:r>
                    </a:p>
                  </a:txBody>
                  <a:tcPr/>
                </a:tc>
                <a:tc>
                  <a:txBody>
                    <a:bodyPr/>
                    <a:lstStyle/>
                    <a:p>
                      <a:r>
                        <a:rPr lang="en-US" sz="2800" dirty="0"/>
                        <a:t>Use</a:t>
                      </a:r>
                    </a:p>
                  </a:txBody>
                  <a:tcPr/>
                </a:tc>
                <a:tc>
                  <a:txBody>
                    <a:bodyPr/>
                    <a:lstStyle/>
                    <a:p>
                      <a:r>
                        <a:rPr lang="en-US" sz="2800" dirty="0"/>
                        <a:t>Access</a:t>
                      </a:r>
                    </a:p>
                  </a:txBody>
                  <a:tcPr/>
                </a:tc>
                <a:extLst>
                  <a:ext uri="{0D108BD9-81ED-4DB2-BD59-A6C34878D82A}">
                    <a16:rowId xmlns:a16="http://schemas.microsoft.com/office/drawing/2014/main" val="2372080229"/>
                  </a:ext>
                </a:extLst>
              </a:tr>
              <a:tr h="1036560">
                <a:tc>
                  <a:txBody>
                    <a:bodyPr/>
                    <a:lstStyle/>
                    <a:p>
                      <a:r>
                        <a:rPr lang="en-US" sz="2400" dirty="0"/>
                        <a:t>AI Sandbox</a:t>
                      </a:r>
                    </a:p>
                  </a:txBody>
                  <a:tcPr/>
                </a:tc>
                <a:tc>
                  <a:txBody>
                    <a:bodyPr/>
                    <a:lstStyle/>
                    <a:p>
                      <a:r>
                        <a:rPr lang="en-US" sz="2400" dirty="0"/>
                        <a:t>Multiple models from different providers</a:t>
                      </a:r>
                    </a:p>
                  </a:txBody>
                  <a:tcPr/>
                </a:tc>
                <a:tc>
                  <a:txBody>
                    <a:bodyPr/>
                    <a:lstStyle/>
                    <a:p>
                      <a:r>
                        <a:rPr lang="en-US" sz="2400" dirty="0"/>
                        <a:t>Chatbot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hlinkClick r:id="rId3"/>
                        </a:rPr>
                        <a:t>https://www.huit.harvard.edu/ai-sandbox</a:t>
                      </a:r>
                      <a:endParaRPr lang="en-US" sz="2400" dirty="0"/>
                    </a:p>
                  </a:txBody>
                  <a:tcPr/>
                </a:tc>
                <a:extLst>
                  <a:ext uri="{0D108BD9-81ED-4DB2-BD59-A6C34878D82A}">
                    <a16:rowId xmlns:a16="http://schemas.microsoft.com/office/drawing/2014/main" val="9942329"/>
                  </a:ext>
                </a:extLst>
              </a:tr>
              <a:tr h="1036560">
                <a:tc>
                  <a:txBody>
                    <a:bodyPr/>
                    <a:lstStyle/>
                    <a:p>
                      <a:r>
                        <a:rPr lang="en-US" sz="2400" dirty="0"/>
                        <a:t>Gemini</a:t>
                      </a:r>
                    </a:p>
                  </a:txBody>
                  <a:tcPr/>
                </a:tc>
                <a:tc>
                  <a:txBody>
                    <a:bodyPr/>
                    <a:lstStyle/>
                    <a:p>
                      <a:r>
                        <a:rPr lang="en-US" sz="2400" dirty="0"/>
                        <a:t>Gemini 3, </a:t>
                      </a:r>
                      <a:r>
                        <a:rPr lang="en-US" sz="2400" dirty="0" err="1"/>
                        <a:t>NotebookLLM</a:t>
                      </a:r>
                      <a:r>
                        <a:rPr lang="en-US" sz="2400" dirty="0"/>
                        <a:t>, Antigravity (coding agent)</a:t>
                      </a:r>
                    </a:p>
                  </a:txBody>
                  <a:tcPr/>
                </a:tc>
                <a:tc>
                  <a:txBody>
                    <a:bodyPr/>
                    <a:lstStyle/>
                    <a:p>
                      <a:r>
                        <a:rPr lang="en-US" sz="2400" dirty="0"/>
                        <a:t>Chatbot, data analysis, agentic coding</a:t>
                      </a:r>
                    </a:p>
                  </a:txBody>
                  <a:tcPr/>
                </a:tc>
                <a:tc>
                  <a:txBody>
                    <a:bodyPr/>
                    <a:lstStyle/>
                    <a:p>
                      <a:r>
                        <a:rPr lang="en-US" sz="2400" dirty="0">
                          <a:hlinkClick r:id="rId4"/>
                        </a:rPr>
                        <a:t>https://gemini.google.com/</a:t>
                      </a:r>
                      <a:r>
                        <a:rPr lang="en-US" sz="2400" dirty="0"/>
                        <a:t> (</a:t>
                      </a:r>
                      <a:r>
                        <a:rPr lang="en-US" sz="2400" dirty="0" err="1"/>
                        <a:t>g.Harvard</a:t>
                      </a:r>
                      <a:r>
                        <a:rPr lang="en-US" sz="2400" dirty="0"/>
                        <a:t> account)</a:t>
                      </a:r>
                    </a:p>
                  </a:txBody>
                  <a:tcPr/>
                </a:tc>
                <a:extLst>
                  <a:ext uri="{0D108BD9-81ED-4DB2-BD59-A6C34878D82A}">
                    <a16:rowId xmlns:a16="http://schemas.microsoft.com/office/drawing/2014/main" val="3398542653"/>
                  </a:ext>
                </a:extLst>
              </a:tr>
              <a:tr h="1036560">
                <a:tc>
                  <a:txBody>
                    <a:bodyPr/>
                    <a:lstStyle/>
                    <a:p>
                      <a:r>
                        <a:rPr lang="en-US" sz="2400" dirty="0"/>
                        <a:t>OpenAI ChatGPT Edu</a:t>
                      </a:r>
                    </a:p>
                  </a:txBody>
                  <a:tcPr/>
                </a:tc>
                <a:tc>
                  <a:txBody>
                    <a:bodyPr/>
                    <a:lstStyle/>
                    <a:p>
                      <a:r>
                        <a:rPr lang="en-US" sz="2400" dirty="0"/>
                        <a:t>GPT family, Codex (coding agent)</a:t>
                      </a:r>
                    </a:p>
                  </a:txBody>
                  <a:tcPr/>
                </a:tc>
                <a:tc>
                  <a:txBody>
                    <a:bodyPr/>
                    <a:lstStyle/>
                    <a:p>
                      <a:r>
                        <a:rPr lang="en-US" sz="2400" dirty="0"/>
                        <a:t>Chatbot, data analysis, agentic coding</a:t>
                      </a:r>
                    </a:p>
                  </a:txBody>
                  <a:tcPr/>
                </a:tc>
                <a:tc>
                  <a:txBody>
                    <a:bodyPr/>
                    <a:lstStyle/>
                    <a:p>
                      <a:r>
                        <a:rPr lang="en-US" sz="2400" dirty="0">
                          <a:hlinkClick r:id="rId5"/>
                        </a:rPr>
                        <a:t>https://www.huit.harvard.edu/openai-chatgpt-edu</a:t>
                      </a:r>
                      <a:r>
                        <a:rPr lang="en-US" sz="2400" dirty="0"/>
                        <a:t> (request access)</a:t>
                      </a:r>
                    </a:p>
                  </a:txBody>
                  <a:tcPr/>
                </a:tc>
                <a:extLst>
                  <a:ext uri="{0D108BD9-81ED-4DB2-BD59-A6C34878D82A}">
                    <a16:rowId xmlns:a16="http://schemas.microsoft.com/office/drawing/2014/main" val="1733572828"/>
                  </a:ext>
                </a:extLst>
              </a:tr>
            </a:tbl>
          </a:graphicData>
        </a:graphic>
      </p:graphicFrame>
      <p:sp>
        <p:nvSpPr>
          <p:cNvPr id="11" name="TextBox 10">
            <a:extLst>
              <a:ext uri="{FF2B5EF4-FFF2-40B4-BE49-F238E27FC236}">
                <a16:creationId xmlns:a16="http://schemas.microsoft.com/office/drawing/2014/main" id="{821F14A9-86F2-72DD-55B4-6010DF2C390C}"/>
              </a:ext>
            </a:extLst>
          </p:cNvPr>
          <p:cNvSpPr txBox="1"/>
          <p:nvPr/>
        </p:nvSpPr>
        <p:spPr>
          <a:xfrm>
            <a:off x="5393216" y="6264875"/>
            <a:ext cx="6798784" cy="492443"/>
          </a:xfrm>
          <a:prstGeom prst="rect">
            <a:avLst/>
          </a:prstGeom>
          <a:noFill/>
        </p:spPr>
        <p:txBody>
          <a:bodyPr wrap="none" rtlCol="0">
            <a:spAutoFit/>
          </a:bodyPr>
          <a:lstStyle/>
          <a:p>
            <a:r>
              <a:rPr lang="en-US" sz="2600" dirty="0"/>
              <a:t>Source: </a:t>
            </a:r>
            <a:r>
              <a:rPr lang="en-US" sz="2600" dirty="0">
                <a:hlinkClick r:id="rId6"/>
              </a:rPr>
              <a:t>https://www.huit.harvard.edu/ai/tools</a:t>
            </a:r>
            <a:endParaRPr lang="en-US" sz="2600" dirty="0"/>
          </a:p>
        </p:txBody>
      </p:sp>
      <p:sp>
        <p:nvSpPr>
          <p:cNvPr id="12" name="Rectangle 11">
            <a:extLst>
              <a:ext uri="{FF2B5EF4-FFF2-40B4-BE49-F238E27FC236}">
                <a16:creationId xmlns:a16="http://schemas.microsoft.com/office/drawing/2014/main" id="{68A1A74F-9C99-16DB-22F5-24EAA03AA55D}"/>
              </a:ext>
            </a:extLst>
          </p:cNvPr>
          <p:cNvSpPr/>
          <p:nvPr/>
        </p:nvSpPr>
        <p:spPr>
          <a:xfrm>
            <a:off x="210065" y="4695568"/>
            <a:ext cx="11640065" cy="1297458"/>
          </a:xfrm>
          <a:prstGeom prst="rect">
            <a:avLst/>
          </a:prstGeom>
          <a:solidFill>
            <a:srgbClr val="F7F8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9992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A9137-7A78-319D-4C33-A2F3C0631A4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263CF70-C7C4-98BF-0B97-CE29624A9064}"/>
              </a:ext>
            </a:extLst>
          </p:cNvPr>
          <p:cNvSpPr txBox="1"/>
          <p:nvPr/>
        </p:nvSpPr>
        <p:spPr>
          <a:xfrm>
            <a:off x="210065" y="593125"/>
            <a:ext cx="11294075" cy="584775"/>
          </a:xfrm>
          <a:prstGeom prst="rect">
            <a:avLst/>
          </a:prstGeom>
          <a:noFill/>
        </p:spPr>
        <p:txBody>
          <a:bodyPr wrap="square" rtlCol="0">
            <a:spAutoFit/>
          </a:bodyPr>
          <a:lstStyle/>
          <a:p>
            <a:r>
              <a:rPr lang="en-US" sz="3200" dirty="0"/>
              <a:t>Harvard provides access to generative AI tools</a:t>
            </a:r>
          </a:p>
        </p:txBody>
      </p:sp>
      <p:graphicFrame>
        <p:nvGraphicFramePr>
          <p:cNvPr id="10" name="Table 9">
            <a:extLst>
              <a:ext uri="{FF2B5EF4-FFF2-40B4-BE49-F238E27FC236}">
                <a16:creationId xmlns:a16="http://schemas.microsoft.com/office/drawing/2014/main" id="{6CD9BA97-419B-A194-828C-F3DF1263BA9A}"/>
              </a:ext>
            </a:extLst>
          </p:cNvPr>
          <p:cNvGraphicFramePr>
            <a:graphicFrameLocks noGrp="1"/>
          </p:cNvGraphicFramePr>
          <p:nvPr/>
        </p:nvGraphicFramePr>
        <p:xfrm>
          <a:off x="448962" y="1442023"/>
          <a:ext cx="11294076" cy="4450080"/>
        </p:xfrm>
        <a:graphic>
          <a:graphicData uri="http://schemas.openxmlformats.org/drawingml/2006/table">
            <a:tbl>
              <a:tblPr firstRow="1" bandRow="1">
                <a:tableStyleId>{5C22544A-7EE6-4342-B048-85BDC9FD1C3A}</a:tableStyleId>
              </a:tblPr>
              <a:tblGrid>
                <a:gridCol w="1935892">
                  <a:extLst>
                    <a:ext uri="{9D8B030D-6E8A-4147-A177-3AD203B41FA5}">
                      <a16:colId xmlns:a16="http://schemas.microsoft.com/office/drawing/2014/main" val="207295144"/>
                    </a:ext>
                  </a:extLst>
                </a:gridCol>
                <a:gridCol w="2681416">
                  <a:extLst>
                    <a:ext uri="{9D8B030D-6E8A-4147-A177-3AD203B41FA5}">
                      <a16:colId xmlns:a16="http://schemas.microsoft.com/office/drawing/2014/main" val="2177694306"/>
                    </a:ext>
                  </a:extLst>
                </a:gridCol>
                <a:gridCol w="2545492">
                  <a:extLst>
                    <a:ext uri="{9D8B030D-6E8A-4147-A177-3AD203B41FA5}">
                      <a16:colId xmlns:a16="http://schemas.microsoft.com/office/drawing/2014/main" val="420943041"/>
                    </a:ext>
                  </a:extLst>
                </a:gridCol>
                <a:gridCol w="4131276">
                  <a:extLst>
                    <a:ext uri="{9D8B030D-6E8A-4147-A177-3AD203B41FA5}">
                      <a16:colId xmlns:a16="http://schemas.microsoft.com/office/drawing/2014/main" val="2995396921"/>
                    </a:ext>
                  </a:extLst>
                </a:gridCol>
              </a:tblGrid>
              <a:tr h="460919">
                <a:tc>
                  <a:txBody>
                    <a:bodyPr/>
                    <a:lstStyle/>
                    <a:p>
                      <a:r>
                        <a:rPr lang="en-US" sz="2800" dirty="0"/>
                        <a:t>Tool</a:t>
                      </a:r>
                    </a:p>
                  </a:txBody>
                  <a:tcPr/>
                </a:tc>
                <a:tc>
                  <a:txBody>
                    <a:bodyPr/>
                    <a:lstStyle/>
                    <a:p>
                      <a:r>
                        <a:rPr lang="en-US" sz="2800" dirty="0"/>
                        <a:t>Models</a:t>
                      </a:r>
                    </a:p>
                  </a:txBody>
                  <a:tcPr/>
                </a:tc>
                <a:tc>
                  <a:txBody>
                    <a:bodyPr/>
                    <a:lstStyle/>
                    <a:p>
                      <a:r>
                        <a:rPr lang="en-US" sz="2800" dirty="0"/>
                        <a:t>Use</a:t>
                      </a:r>
                    </a:p>
                  </a:txBody>
                  <a:tcPr/>
                </a:tc>
                <a:tc>
                  <a:txBody>
                    <a:bodyPr/>
                    <a:lstStyle/>
                    <a:p>
                      <a:r>
                        <a:rPr lang="en-US" sz="2800" dirty="0"/>
                        <a:t>Access</a:t>
                      </a:r>
                    </a:p>
                  </a:txBody>
                  <a:tcPr/>
                </a:tc>
                <a:extLst>
                  <a:ext uri="{0D108BD9-81ED-4DB2-BD59-A6C34878D82A}">
                    <a16:rowId xmlns:a16="http://schemas.microsoft.com/office/drawing/2014/main" val="2372080229"/>
                  </a:ext>
                </a:extLst>
              </a:tr>
              <a:tr h="1036560">
                <a:tc>
                  <a:txBody>
                    <a:bodyPr/>
                    <a:lstStyle/>
                    <a:p>
                      <a:r>
                        <a:rPr lang="en-US" sz="2400" dirty="0"/>
                        <a:t>AI Sandbox</a:t>
                      </a:r>
                    </a:p>
                  </a:txBody>
                  <a:tcPr/>
                </a:tc>
                <a:tc>
                  <a:txBody>
                    <a:bodyPr/>
                    <a:lstStyle/>
                    <a:p>
                      <a:r>
                        <a:rPr lang="en-US" sz="2400" dirty="0"/>
                        <a:t>Multiple models from different providers</a:t>
                      </a:r>
                    </a:p>
                  </a:txBody>
                  <a:tcPr/>
                </a:tc>
                <a:tc>
                  <a:txBody>
                    <a:bodyPr/>
                    <a:lstStyle/>
                    <a:p>
                      <a:r>
                        <a:rPr lang="en-US" sz="2400" dirty="0"/>
                        <a:t>Chatbot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hlinkClick r:id="rId3"/>
                        </a:rPr>
                        <a:t>https://www.huit.harvard.edu/ai-sandbox</a:t>
                      </a:r>
                      <a:endParaRPr lang="en-US" sz="2400" dirty="0"/>
                    </a:p>
                  </a:txBody>
                  <a:tcPr/>
                </a:tc>
                <a:extLst>
                  <a:ext uri="{0D108BD9-81ED-4DB2-BD59-A6C34878D82A}">
                    <a16:rowId xmlns:a16="http://schemas.microsoft.com/office/drawing/2014/main" val="9942329"/>
                  </a:ext>
                </a:extLst>
              </a:tr>
              <a:tr h="1036560">
                <a:tc>
                  <a:txBody>
                    <a:bodyPr/>
                    <a:lstStyle/>
                    <a:p>
                      <a:r>
                        <a:rPr lang="en-US" sz="2400" dirty="0"/>
                        <a:t>Gemini</a:t>
                      </a:r>
                    </a:p>
                  </a:txBody>
                  <a:tcPr/>
                </a:tc>
                <a:tc>
                  <a:txBody>
                    <a:bodyPr/>
                    <a:lstStyle/>
                    <a:p>
                      <a:r>
                        <a:rPr lang="en-US" sz="2400" dirty="0"/>
                        <a:t>Gemini 3, </a:t>
                      </a:r>
                      <a:r>
                        <a:rPr lang="en-US" sz="2400" dirty="0" err="1"/>
                        <a:t>NotebookLLM</a:t>
                      </a:r>
                      <a:r>
                        <a:rPr lang="en-US" sz="2400" dirty="0"/>
                        <a:t>, Antigravity (coding agent)</a:t>
                      </a:r>
                    </a:p>
                  </a:txBody>
                  <a:tcPr/>
                </a:tc>
                <a:tc>
                  <a:txBody>
                    <a:bodyPr/>
                    <a:lstStyle/>
                    <a:p>
                      <a:r>
                        <a:rPr lang="en-US" sz="2400" dirty="0"/>
                        <a:t>Chatbot, data analysis, agentic coding</a:t>
                      </a:r>
                    </a:p>
                  </a:txBody>
                  <a:tcPr/>
                </a:tc>
                <a:tc>
                  <a:txBody>
                    <a:bodyPr/>
                    <a:lstStyle/>
                    <a:p>
                      <a:r>
                        <a:rPr lang="en-US" sz="2400" dirty="0">
                          <a:hlinkClick r:id="rId4"/>
                        </a:rPr>
                        <a:t>https://gemini.google.com/</a:t>
                      </a:r>
                      <a:r>
                        <a:rPr lang="en-US" sz="2400" dirty="0"/>
                        <a:t> (</a:t>
                      </a:r>
                      <a:r>
                        <a:rPr lang="en-US" sz="2400" dirty="0" err="1"/>
                        <a:t>g.Harvard</a:t>
                      </a:r>
                      <a:r>
                        <a:rPr lang="en-US" sz="2400" dirty="0"/>
                        <a:t> account)</a:t>
                      </a:r>
                    </a:p>
                  </a:txBody>
                  <a:tcPr/>
                </a:tc>
                <a:extLst>
                  <a:ext uri="{0D108BD9-81ED-4DB2-BD59-A6C34878D82A}">
                    <a16:rowId xmlns:a16="http://schemas.microsoft.com/office/drawing/2014/main" val="3398542653"/>
                  </a:ext>
                </a:extLst>
              </a:tr>
              <a:tr h="1036560">
                <a:tc>
                  <a:txBody>
                    <a:bodyPr/>
                    <a:lstStyle/>
                    <a:p>
                      <a:r>
                        <a:rPr lang="en-US" sz="2400" dirty="0"/>
                        <a:t>OpenAI ChatGPT Edu</a:t>
                      </a:r>
                    </a:p>
                  </a:txBody>
                  <a:tcPr/>
                </a:tc>
                <a:tc>
                  <a:txBody>
                    <a:bodyPr/>
                    <a:lstStyle/>
                    <a:p>
                      <a:r>
                        <a:rPr lang="en-US" sz="2400" dirty="0"/>
                        <a:t>GPT family, Codex (coding agent)</a:t>
                      </a:r>
                    </a:p>
                  </a:txBody>
                  <a:tcPr/>
                </a:tc>
                <a:tc>
                  <a:txBody>
                    <a:bodyPr/>
                    <a:lstStyle/>
                    <a:p>
                      <a:r>
                        <a:rPr lang="en-US" sz="2400" dirty="0"/>
                        <a:t>Chatbot, data analysis, agentic coding</a:t>
                      </a:r>
                    </a:p>
                  </a:txBody>
                  <a:tcPr/>
                </a:tc>
                <a:tc>
                  <a:txBody>
                    <a:bodyPr/>
                    <a:lstStyle/>
                    <a:p>
                      <a:r>
                        <a:rPr lang="en-US" sz="2400" dirty="0">
                          <a:hlinkClick r:id="rId5"/>
                        </a:rPr>
                        <a:t>https://www.huit.harvard.edu/openai-chatgpt-edu</a:t>
                      </a:r>
                      <a:r>
                        <a:rPr lang="en-US" sz="2400" dirty="0"/>
                        <a:t> (request access)</a:t>
                      </a:r>
                    </a:p>
                  </a:txBody>
                  <a:tcPr/>
                </a:tc>
                <a:extLst>
                  <a:ext uri="{0D108BD9-81ED-4DB2-BD59-A6C34878D82A}">
                    <a16:rowId xmlns:a16="http://schemas.microsoft.com/office/drawing/2014/main" val="1733572828"/>
                  </a:ext>
                </a:extLst>
              </a:tr>
            </a:tbl>
          </a:graphicData>
        </a:graphic>
      </p:graphicFrame>
      <p:sp>
        <p:nvSpPr>
          <p:cNvPr id="11" name="TextBox 10">
            <a:extLst>
              <a:ext uri="{FF2B5EF4-FFF2-40B4-BE49-F238E27FC236}">
                <a16:creationId xmlns:a16="http://schemas.microsoft.com/office/drawing/2014/main" id="{34163AE6-734C-5A36-075F-7B12CD99EEFB}"/>
              </a:ext>
            </a:extLst>
          </p:cNvPr>
          <p:cNvSpPr txBox="1"/>
          <p:nvPr/>
        </p:nvSpPr>
        <p:spPr>
          <a:xfrm>
            <a:off x="5393216" y="6264875"/>
            <a:ext cx="6798784" cy="492443"/>
          </a:xfrm>
          <a:prstGeom prst="rect">
            <a:avLst/>
          </a:prstGeom>
          <a:noFill/>
        </p:spPr>
        <p:txBody>
          <a:bodyPr wrap="none" rtlCol="0">
            <a:spAutoFit/>
          </a:bodyPr>
          <a:lstStyle/>
          <a:p>
            <a:r>
              <a:rPr lang="en-US" sz="2600" dirty="0"/>
              <a:t>Source: </a:t>
            </a:r>
            <a:r>
              <a:rPr lang="en-US" sz="2600" dirty="0">
                <a:hlinkClick r:id="rId6"/>
              </a:rPr>
              <a:t>https://www.huit.harvard.edu/ai/tools</a:t>
            </a:r>
            <a:endParaRPr lang="en-US" sz="2600" dirty="0"/>
          </a:p>
        </p:txBody>
      </p:sp>
    </p:spTree>
    <p:extLst>
      <p:ext uri="{BB962C8B-B14F-4D97-AF65-F5344CB8AC3E}">
        <p14:creationId xmlns:p14="http://schemas.microsoft.com/office/powerpoint/2010/main" val="3438829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B7740-386D-BC29-202A-7B7170F8A1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59955FB-2637-83DA-A84F-4F9C72538ED6}"/>
              </a:ext>
            </a:extLst>
          </p:cNvPr>
          <p:cNvSpPr txBox="1"/>
          <p:nvPr/>
        </p:nvSpPr>
        <p:spPr>
          <a:xfrm>
            <a:off x="210065" y="593125"/>
            <a:ext cx="11294075" cy="584775"/>
          </a:xfrm>
          <a:prstGeom prst="rect">
            <a:avLst/>
          </a:prstGeom>
          <a:noFill/>
        </p:spPr>
        <p:txBody>
          <a:bodyPr wrap="square" rtlCol="0">
            <a:spAutoFit/>
          </a:bodyPr>
          <a:lstStyle/>
          <a:p>
            <a:r>
              <a:rPr lang="en-US" sz="3200" dirty="0"/>
              <a:t>Benefits of Harvard AI Tools: Privacy and Security</a:t>
            </a:r>
          </a:p>
        </p:txBody>
      </p:sp>
      <p:pic>
        <p:nvPicPr>
          <p:cNvPr id="3" name="Picture 2">
            <a:extLst>
              <a:ext uri="{FF2B5EF4-FFF2-40B4-BE49-F238E27FC236}">
                <a16:creationId xmlns:a16="http://schemas.microsoft.com/office/drawing/2014/main" id="{1FA77E89-C7D2-C02E-C9C6-D0380FBDABB6}"/>
              </a:ext>
            </a:extLst>
          </p:cNvPr>
          <p:cNvPicPr>
            <a:picLocks noChangeAspect="1"/>
          </p:cNvPicPr>
          <p:nvPr/>
        </p:nvPicPr>
        <p:blipFill>
          <a:blip r:embed="rId3"/>
          <a:srcRect b="25710"/>
          <a:stretch>
            <a:fillRect/>
          </a:stretch>
        </p:blipFill>
        <p:spPr>
          <a:xfrm>
            <a:off x="627463" y="1355939"/>
            <a:ext cx="10638502" cy="3080137"/>
          </a:xfrm>
          <a:prstGeom prst="rect">
            <a:avLst/>
          </a:prstGeom>
        </p:spPr>
      </p:pic>
      <p:sp>
        <p:nvSpPr>
          <p:cNvPr id="8" name="TextBox 7">
            <a:extLst>
              <a:ext uri="{FF2B5EF4-FFF2-40B4-BE49-F238E27FC236}">
                <a16:creationId xmlns:a16="http://schemas.microsoft.com/office/drawing/2014/main" id="{2B364AED-2424-65FF-A92B-A8FF336342F8}"/>
              </a:ext>
            </a:extLst>
          </p:cNvPr>
          <p:cNvSpPr txBox="1"/>
          <p:nvPr/>
        </p:nvSpPr>
        <p:spPr>
          <a:xfrm>
            <a:off x="1161535" y="2174790"/>
            <a:ext cx="2420663" cy="769441"/>
          </a:xfrm>
          <a:prstGeom prst="rect">
            <a:avLst/>
          </a:prstGeom>
          <a:noFill/>
        </p:spPr>
        <p:txBody>
          <a:bodyPr wrap="none" rtlCol="0">
            <a:spAutoFit/>
          </a:bodyPr>
          <a:lstStyle/>
          <a:p>
            <a:r>
              <a:rPr lang="en-US" sz="2200" dirty="0">
                <a:solidFill>
                  <a:schemeClr val="bg2"/>
                </a:solidFill>
              </a:rPr>
              <a:t>Example:</a:t>
            </a:r>
          </a:p>
          <a:p>
            <a:r>
              <a:rPr lang="en-US" sz="2200" dirty="0">
                <a:solidFill>
                  <a:schemeClr val="bg2"/>
                </a:solidFill>
              </a:rPr>
              <a:t>Public Information</a:t>
            </a:r>
          </a:p>
        </p:txBody>
      </p:sp>
      <p:sp>
        <p:nvSpPr>
          <p:cNvPr id="10" name="TextBox 9">
            <a:extLst>
              <a:ext uri="{FF2B5EF4-FFF2-40B4-BE49-F238E27FC236}">
                <a16:creationId xmlns:a16="http://schemas.microsoft.com/office/drawing/2014/main" id="{F8EA27E5-8F50-DB8B-275C-2CA8BA94D2F1}"/>
              </a:ext>
            </a:extLst>
          </p:cNvPr>
          <p:cNvSpPr txBox="1"/>
          <p:nvPr/>
        </p:nvSpPr>
        <p:spPr>
          <a:xfrm>
            <a:off x="4465258" y="2197905"/>
            <a:ext cx="2958823" cy="769441"/>
          </a:xfrm>
          <a:prstGeom prst="rect">
            <a:avLst/>
          </a:prstGeom>
          <a:noFill/>
        </p:spPr>
        <p:txBody>
          <a:bodyPr wrap="none" rtlCol="0">
            <a:spAutoFit/>
          </a:bodyPr>
          <a:lstStyle/>
          <a:p>
            <a:r>
              <a:rPr lang="en-US" sz="2200" dirty="0"/>
              <a:t>Example:</a:t>
            </a:r>
          </a:p>
          <a:p>
            <a:r>
              <a:rPr lang="en-US" sz="2200" dirty="0"/>
              <a:t>Unpublished Research</a:t>
            </a:r>
          </a:p>
        </p:txBody>
      </p:sp>
      <p:sp>
        <p:nvSpPr>
          <p:cNvPr id="11" name="TextBox 10">
            <a:extLst>
              <a:ext uri="{FF2B5EF4-FFF2-40B4-BE49-F238E27FC236}">
                <a16:creationId xmlns:a16="http://schemas.microsoft.com/office/drawing/2014/main" id="{63D16436-02C5-4F85-750D-FA5CA174CDFA}"/>
              </a:ext>
            </a:extLst>
          </p:cNvPr>
          <p:cNvSpPr txBox="1"/>
          <p:nvPr/>
        </p:nvSpPr>
        <p:spPr>
          <a:xfrm>
            <a:off x="8382547" y="2174789"/>
            <a:ext cx="2216632" cy="769441"/>
          </a:xfrm>
          <a:prstGeom prst="rect">
            <a:avLst/>
          </a:prstGeom>
          <a:noFill/>
        </p:spPr>
        <p:txBody>
          <a:bodyPr wrap="none" rtlCol="0">
            <a:spAutoFit/>
          </a:bodyPr>
          <a:lstStyle/>
          <a:p>
            <a:r>
              <a:rPr lang="en-US" sz="2200" dirty="0"/>
              <a:t>Example:</a:t>
            </a:r>
          </a:p>
          <a:p>
            <a:r>
              <a:rPr lang="en-US" sz="2200" dirty="0"/>
              <a:t>Student Records</a:t>
            </a:r>
          </a:p>
        </p:txBody>
      </p:sp>
      <p:sp>
        <p:nvSpPr>
          <p:cNvPr id="12" name="Rectangle 11">
            <a:extLst>
              <a:ext uri="{FF2B5EF4-FFF2-40B4-BE49-F238E27FC236}">
                <a16:creationId xmlns:a16="http://schemas.microsoft.com/office/drawing/2014/main" id="{FB2925A8-CA70-5101-E694-987972DEA544}"/>
              </a:ext>
            </a:extLst>
          </p:cNvPr>
          <p:cNvSpPr/>
          <p:nvPr/>
        </p:nvSpPr>
        <p:spPr>
          <a:xfrm>
            <a:off x="627463" y="4621427"/>
            <a:ext cx="3474980" cy="345989"/>
          </a:xfrm>
          <a:prstGeom prst="rect">
            <a:avLst/>
          </a:prstGeom>
          <a:solidFill>
            <a:srgbClr val="00B05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OK</a:t>
            </a:r>
          </a:p>
        </p:txBody>
      </p:sp>
      <p:sp>
        <p:nvSpPr>
          <p:cNvPr id="13" name="Rectangle 12">
            <a:extLst>
              <a:ext uri="{FF2B5EF4-FFF2-40B4-BE49-F238E27FC236}">
                <a16:creationId xmlns:a16="http://schemas.microsoft.com/office/drawing/2014/main" id="{44375A1C-399D-2618-21DF-C6B3EC4074BA}"/>
              </a:ext>
            </a:extLst>
          </p:cNvPr>
          <p:cNvSpPr/>
          <p:nvPr/>
        </p:nvSpPr>
        <p:spPr>
          <a:xfrm>
            <a:off x="624375" y="5735830"/>
            <a:ext cx="10638501" cy="345989"/>
          </a:xfrm>
          <a:prstGeom prst="rect">
            <a:avLst/>
          </a:prstGeom>
          <a:solidFill>
            <a:srgbClr val="00B05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OK</a:t>
            </a:r>
          </a:p>
        </p:txBody>
      </p:sp>
      <p:sp>
        <p:nvSpPr>
          <p:cNvPr id="14" name="Rectangle 13">
            <a:extLst>
              <a:ext uri="{FF2B5EF4-FFF2-40B4-BE49-F238E27FC236}">
                <a16:creationId xmlns:a16="http://schemas.microsoft.com/office/drawing/2014/main" id="{CBC5B8A8-00FA-F562-48DB-9200B08693C0}"/>
              </a:ext>
            </a:extLst>
          </p:cNvPr>
          <p:cNvSpPr/>
          <p:nvPr/>
        </p:nvSpPr>
        <p:spPr>
          <a:xfrm>
            <a:off x="4216135" y="4614115"/>
            <a:ext cx="7049830" cy="345989"/>
          </a:xfrm>
          <a:prstGeom prst="rect">
            <a:avLst/>
          </a:prstGeom>
          <a:solidFill>
            <a:srgbClr val="FF000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AGAINST GUIDELINES</a:t>
            </a:r>
          </a:p>
        </p:txBody>
      </p:sp>
      <p:sp>
        <p:nvSpPr>
          <p:cNvPr id="15" name="TextBox 14">
            <a:extLst>
              <a:ext uri="{FF2B5EF4-FFF2-40B4-BE49-F238E27FC236}">
                <a16:creationId xmlns:a16="http://schemas.microsoft.com/office/drawing/2014/main" id="{FB9AA8DA-F277-F1D6-29AE-93F0CF39A1C3}"/>
              </a:ext>
            </a:extLst>
          </p:cNvPr>
          <p:cNvSpPr txBox="1"/>
          <p:nvPr/>
        </p:nvSpPr>
        <p:spPr>
          <a:xfrm>
            <a:off x="624375" y="4967190"/>
            <a:ext cx="6956135" cy="369332"/>
          </a:xfrm>
          <a:prstGeom prst="rect">
            <a:avLst/>
          </a:prstGeom>
          <a:noFill/>
        </p:spPr>
        <p:txBody>
          <a:bodyPr wrap="none" rtlCol="0">
            <a:spAutoFit/>
          </a:bodyPr>
          <a:lstStyle/>
          <a:p>
            <a:r>
              <a:rPr lang="en-US" dirty="0"/>
              <a:t>Personal accounts (</a:t>
            </a:r>
            <a:r>
              <a:rPr lang="en-US" dirty="0" err="1"/>
              <a:t>e.g</a:t>
            </a:r>
            <a:r>
              <a:rPr lang="en-US" dirty="0"/>
              <a:t>, free ChatGPT or a personal Google account) </a:t>
            </a:r>
          </a:p>
        </p:txBody>
      </p:sp>
      <p:sp>
        <p:nvSpPr>
          <p:cNvPr id="16" name="TextBox 15">
            <a:extLst>
              <a:ext uri="{FF2B5EF4-FFF2-40B4-BE49-F238E27FC236}">
                <a16:creationId xmlns:a16="http://schemas.microsoft.com/office/drawing/2014/main" id="{13BA1E03-7C72-3366-FA73-D2ABFF6E5048}"/>
              </a:ext>
            </a:extLst>
          </p:cNvPr>
          <p:cNvSpPr txBox="1"/>
          <p:nvPr/>
        </p:nvSpPr>
        <p:spPr>
          <a:xfrm>
            <a:off x="624374" y="6081819"/>
            <a:ext cx="4282647" cy="369332"/>
          </a:xfrm>
          <a:prstGeom prst="rect">
            <a:avLst/>
          </a:prstGeom>
          <a:noFill/>
        </p:spPr>
        <p:txBody>
          <a:bodyPr wrap="none" rtlCol="0">
            <a:spAutoFit/>
          </a:bodyPr>
          <a:lstStyle/>
          <a:p>
            <a:r>
              <a:rPr lang="en-US" dirty="0"/>
              <a:t>Harvard-provided generative AI resources</a:t>
            </a:r>
          </a:p>
        </p:txBody>
      </p:sp>
    </p:spTree>
    <p:extLst>
      <p:ext uri="{BB962C8B-B14F-4D97-AF65-F5344CB8AC3E}">
        <p14:creationId xmlns:p14="http://schemas.microsoft.com/office/powerpoint/2010/main" val="3047316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D4D1E-642E-6050-7CF7-E25228DD94D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6E24E7-1CC6-4B53-1103-F77066FDFA52}"/>
              </a:ext>
            </a:extLst>
          </p:cNvPr>
          <p:cNvSpPr txBox="1"/>
          <p:nvPr/>
        </p:nvSpPr>
        <p:spPr>
          <a:xfrm>
            <a:off x="210065" y="593125"/>
            <a:ext cx="11294075" cy="584775"/>
          </a:xfrm>
          <a:prstGeom prst="rect">
            <a:avLst/>
          </a:prstGeom>
          <a:noFill/>
        </p:spPr>
        <p:txBody>
          <a:bodyPr wrap="square" rtlCol="0">
            <a:spAutoFit/>
          </a:bodyPr>
          <a:lstStyle/>
          <a:p>
            <a:r>
              <a:rPr lang="en-US" sz="3200" dirty="0"/>
              <a:t>Benefits of Harvard AI Tools: Cost</a:t>
            </a:r>
          </a:p>
        </p:txBody>
      </p:sp>
      <p:pic>
        <p:nvPicPr>
          <p:cNvPr id="5" name="Picture 4">
            <a:extLst>
              <a:ext uri="{FF2B5EF4-FFF2-40B4-BE49-F238E27FC236}">
                <a16:creationId xmlns:a16="http://schemas.microsoft.com/office/drawing/2014/main" id="{D8D0E41B-C1F4-C9DF-F92E-1661C7487584}"/>
              </a:ext>
            </a:extLst>
          </p:cNvPr>
          <p:cNvPicPr>
            <a:picLocks noChangeAspect="1"/>
          </p:cNvPicPr>
          <p:nvPr/>
        </p:nvPicPr>
        <p:blipFill>
          <a:blip r:embed="rId3"/>
          <a:stretch>
            <a:fillRect/>
          </a:stretch>
        </p:blipFill>
        <p:spPr>
          <a:xfrm>
            <a:off x="337399" y="4341194"/>
            <a:ext cx="11166741" cy="1923681"/>
          </a:xfrm>
          <a:prstGeom prst="rect">
            <a:avLst/>
          </a:prstGeom>
        </p:spPr>
      </p:pic>
      <p:cxnSp>
        <p:nvCxnSpPr>
          <p:cNvPr id="7" name="Straight Arrow Connector 6">
            <a:extLst>
              <a:ext uri="{FF2B5EF4-FFF2-40B4-BE49-F238E27FC236}">
                <a16:creationId xmlns:a16="http://schemas.microsoft.com/office/drawing/2014/main" id="{17DD3CB7-F706-274D-C44D-6B1917722940}"/>
              </a:ext>
            </a:extLst>
          </p:cNvPr>
          <p:cNvCxnSpPr>
            <a:cxnSpLocks/>
          </p:cNvCxnSpPr>
          <p:nvPr/>
        </p:nvCxnSpPr>
        <p:spPr>
          <a:xfrm>
            <a:off x="1519881" y="3457686"/>
            <a:ext cx="0" cy="716692"/>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D402C5F-F530-56C5-25CF-8776E3C02D7B}"/>
              </a:ext>
            </a:extLst>
          </p:cNvPr>
          <p:cNvSpPr txBox="1"/>
          <p:nvPr/>
        </p:nvSpPr>
        <p:spPr>
          <a:xfrm>
            <a:off x="135848" y="1982450"/>
            <a:ext cx="2768066" cy="1446550"/>
          </a:xfrm>
          <a:prstGeom prst="rect">
            <a:avLst/>
          </a:prstGeom>
          <a:noFill/>
        </p:spPr>
        <p:txBody>
          <a:bodyPr wrap="none" rtlCol="0">
            <a:spAutoFit/>
          </a:bodyPr>
          <a:lstStyle/>
          <a:p>
            <a:pPr algn="ctr"/>
            <a:r>
              <a:rPr lang="en-US" sz="2200" u="sng" dirty="0"/>
              <a:t>Free ChatGPT</a:t>
            </a:r>
          </a:p>
          <a:p>
            <a:pPr algn="ctr"/>
            <a:r>
              <a:rPr lang="en-US" sz="2200" dirty="0"/>
              <a:t>Limited models</a:t>
            </a:r>
          </a:p>
          <a:p>
            <a:pPr algn="ctr"/>
            <a:r>
              <a:rPr lang="en-US" sz="2200" dirty="0"/>
              <a:t>No reasoning models</a:t>
            </a:r>
          </a:p>
          <a:p>
            <a:pPr algn="ctr"/>
            <a:r>
              <a:rPr lang="en-US" sz="2200" dirty="0"/>
              <a:t>No agentic tools</a:t>
            </a:r>
          </a:p>
        </p:txBody>
      </p:sp>
      <p:cxnSp>
        <p:nvCxnSpPr>
          <p:cNvPr id="18" name="Straight Arrow Connector 17">
            <a:extLst>
              <a:ext uri="{FF2B5EF4-FFF2-40B4-BE49-F238E27FC236}">
                <a16:creationId xmlns:a16="http://schemas.microsoft.com/office/drawing/2014/main" id="{0ED01900-7DED-4B35-06AF-CB7F61A8A0B6}"/>
              </a:ext>
            </a:extLst>
          </p:cNvPr>
          <p:cNvCxnSpPr>
            <a:cxnSpLocks/>
          </p:cNvCxnSpPr>
          <p:nvPr/>
        </p:nvCxnSpPr>
        <p:spPr>
          <a:xfrm>
            <a:off x="8503511" y="3101546"/>
            <a:ext cx="0" cy="1239648"/>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64734DF-A2ED-9448-450A-898E710170C1}"/>
              </a:ext>
            </a:extLst>
          </p:cNvPr>
          <p:cNvSpPr txBox="1"/>
          <p:nvPr/>
        </p:nvSpPr>
        <p:spPr>
          <a:xfrm>
            <a:off x="5502882" y="1625686"/>
            <a:ext cx="6001258" cy="1446550"/>
          </a:xfrm>
          <a:prstGeom prst="rect">
            <a:avLst/>
          </a:prstGeom>
          <a:noFill/>
        </p:spPr>
        <p:txBody>
          <a:bodyPr wrap="square" rtlCol="0">
            <a:spAutoFit/>
          </a:bodyPr>
          <a:lstStyle/>
          <a:p>
            <a:pPr algn="ctr"/>
            <a:r>
              <a:rPr lang="en-US" sz="2200" u="sng" dirty="0"/>
              <a:t>Harvard Provided Access</a:t>
            </a:r>
          </a:p>
          <a:p>
            <a:pPr algn="ctr"/>
            <a:r>
              <a:rPr lang="en-US" sz="2200" dirty="0"/>
              <a:t>Extending thinking models</a:t>
            </a:r>
          </a:p>
          <a:p>
            <a:pPr algn="ctr"/>
            <a:r>
              <a:rPr lang="en-US" sz="2200" dirty="0"/>
              <a:t>Deep Research models</a:t>
            </a:r>
          </a:p>
          <a:p>
            <a:pPr algn="ctr"/>
            <a:r>
              <a:rPr lang="en-US" sz="2200" dirty="0"/>
              <a:t>Coding agents</a:t>
            </a:r>
          </a:p>
        </p:txBody>
      </p:sp>
      <p:sp>
        <p:nvSpPr>
          <p:cNvPr id="23" name="TextBox 22">
            <a:extLst>
              <a:ext uri="{FF2B5EF4-FFF2-40B4-BE49-F238E27FC236}">
                <a16:creationId xmlns:a16="http://schemas.microsoft.com/office/drawing/2014/main" id="{A8B8D8DC-B3E3-9ED7-FCC3-C21F3A41653F}"/>
              </a:ext>
            </a:extLst>
          </p:cNvPr>
          <p:cNvSpPr txBox="1"/>
          <p:nvPr/>
        </p:nvSpPr>
        <p:spPr>
          <a:xfrm>
            <a:off x="6096000" y="6488668"/>
            <a:ext cx="6226705" cy="369332"/>
          </a:xfrm>
          <a:prstGeom prst="rect">
            <a:avLst/>
          </a:prstGeom>
          <a:noFill/>
        </p:spPr>
        <p:txBody>
          <a:bodyPr wrap="none" rtlCol="0">
            <a:spAutoFit/>
          </a:bodyPr>
          <a:lstStyle/>
          <a:p>
            <a:r>
              <a:rPr lang="en-US" dirty="0"/>
              <a:t>(OpenAI example; Google pricing and capabilities are similar)</a:t>
            </a:r>
          </a:p>
        </p:txBody>
      </p:sp>
    </p:spTree>
    <p:extLst>
      <p:ext uri="{BB962C8B-B14F-4D97-AF65-F5344CB8AC3E}">
        <p14:creationId xmlns:p14="http://schemas.microsoft.com/office/powerpoint/2010/main" val="872503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75D33-4154-BBF5-9D0F-3BF25A0B08A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95CE3F6-B6BB-85A6-CA2C-53A1B7485C8D}"/>
              </a:ext>
            </a:extLst>
          </p:cNvPr>
          <p:cNvSpPr txBox="1"/>
          <p:nvPr/>
        </p:nvSpPr>
        <p:spPr>
          <a:xfrm>
            <a:off x="448962" y="3044279"/>
            <a:ext cx="11294075" cy="769441"/>
          </a:xfrm>
          <a:prstGeom prst="rect">
            <a:avLst/>
          </a:prstGeom>
          <a:noFill/>
        </p:spPr>
        <p:txBody>
          <a:bodyPr wrap="square" rtlCol="0">
            <a:spAutoFit/>
          </a:bodyPr>
          <a:lstStyle/>
          <a:p>
            <a:pPr algn="ctr"/>
            <a:r>
              <a:rPr lang="en-US" sz="4400" dirty="0"/>
              <a:t>Example Use Cases for Bioinformatics</a:t>
            </a:r>
          </a:p>
        </p:txBody>
      </p:sp>
    </p:spTree>
    <p:extLst>
      <p:ext uri="{BB962C8B-B14F-4D97-AF65-F5344CB8AC3E}">
        <p14:creationId xmlns:p14="http://schemas.microsoft.com/office/powerpoint/2010/main" val="2273003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36CBA-D16A-0186-E643-F516C6DD3E0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69BBC532-3C03-F55B-E00F-54BAB2EF4AFC}"/>
              </a:ext>
            </a:extLst>
          </p:cNvPr>
          <p:cNvSpPr/>
          <p:nvPr/>
        </p:nvSpPr>
        <p:spPr>
          <a:xfrm>
            <a:off x="1083688" y="2007972"/>
            <a:ext cx="10309242" cy="3601995"/>
          </a:xfrm>
          <a:prstGeom prst="rect">
            <a:avLst/>
          </a:prstGeom>
          <a:noFill/>
          <a:ln/>
        </p:spPr>
        <p:txBody>
          <a:bodyPr wrap="square" lIns="254" tIns="254" rIns="254" bIns="254" rtlCol="0" anchor="t">
            <a:noAutofit/>
          </a:bodyPr>
          <a:lstStyle/>
          <a:p>
            <a:pPr marL="514350" indent="-514350">
              <a:buSzPct val="100000"/>
              <a:buAutoNum type="arabicParenBoth"/>
            </a:pPr>
            <a:r>
              <a:rPr lang="en-US" sz="3600" dirty="0">
                <a:solidFill>
                  <a:srgbClr val="1F2937"/>
                </a:solidFill>
                <a:latin typeface="Aptos" pitchFamily="34" charset="0"/>
                <a:ea typeface="Aptos" pitchFamily="34" charset="-122"/>
                <a:cs typeface="Aptos" pitchFamily="34" charset="-120"/>
              </a:rPr>
              <a:t> “Debugging bioinformatics” with chatbots</a:t>
            </a:r>
          </a:p>
          <a:p>
            <a:pPr marL="514350" indent="-514350">
              <a:buSzPct val="100000"/>
              <a:buAutoNum type="arabicParenBoth"/>
            </a:pPr>
            <a:endParaRPr lang="en-US" sz="3600" dirty="0">
              <a:solidFill>
                <a:srgbClr val="1F2937"/>
              </a:solidFill>
              <a:latin typeface="Aptos" pitchFamily="34" charset="0"/>
              <a:ea typeface="Aptos" pitchFamily="34" charset="-122"/>
              <a:cs typeface="Aptos" pitchFamily="34" charset="-120"/>
            </a:endParaRPr>
          </a:p>
          <a:p>
            <a:pPr marL="514350" indent="-514350">
              <a:buSzPct val="100000"/>
              <a:buAutoNum type="arabicParenBoth"/>
            </a:pPr>
            <a:r>
              <a:rPr lang="en-US" sz="3600" dirty="0">
                <a:solidFill>
                  <a:srgbClr val="1F2937"/>
                </a:solidFill>
                <a:latin typeface="Aptos" pitchFamily="34" charset="0"/>
                <a:ea typeface="Aptos" pitchFamily="34" charset="-122"/>
                <a:cs typeface="Aptos" pitchFamily="34" charset="-120"/>
              </a:rPr>
              <a:t> Interactive data analysis</a:t>
            </a:r>
          </a:p>
          <a:p>
            <a:pPr marL="514350" indent="-514350">
              <a:buSzPct val="100000"/>
              <a:buAutoNum type="arabicParenBoth"/>
            </a:pPr>
            <a:endParaRPr lang="en-US" sz="3600" dirty="0">
              <a:solidFill>
                <a:srgbClr val="1F2937"/>
              </a:solidFill>
              <a:latin typeface="Aptos" pitchFamily="34" charset="0"/>
              <a:ea typeface="Aptos" pitchFamily="34" charset="-122"/>
              <a:cs typeface="Aptos" pitchFamily="34" charset="-120"/>
            </a:endParaRPr>
          </a:p>
          <a:p>
            <a:pPr marL="514350" indent="-514350">
              <a:buSzPct val="100000"/>
              <a:buAutoNum type="arabicParenBoth"/>
            </a:pPr>
            <a:r>
              <a:rPr lang="en-US" sz="3600" dirty="0">
                <a:solidFill>
                  <a:srgbClr val="1F2937"/>
                </a:solidFill>
                <a:latin typeface="Aptos" pitchFamily="34" charset="0"/>
                <a:ea typeface="Aptos" pitchFamily="34" charset="-122"/>
                <a:cs typeface="Aptos" pitchFamily="34" charset="-120"/>
              </a:rPr>
              <a:t> Agentic coding for tool and workflow development</a:t>
            </a:r>
            <a:endParaRPr lang="en-US" sz="3600" dirty="0"/>
          </a:p>
        </p:txBody>
      </p:sp>
    </p:spTree>
    <p:extLst>
      <p:ext uri="{BB962C8B-B14F-4D97-AF65-F5344CB8AC3E}">
        <p14:creationId xmlns:p14="http://schemas.microsoft.com/office/powerpoint/2010/main" val="1918479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7BC87-E300-3EE2-4B2A-E10E44CFFF7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67EA3591-C97B-455F-0EF1-B154EE2F841E}"/>
              </a:ext>
            </a:extLst>
          </p:cNvPr>
          <p:cNvSpPr/>
          <p:nvPr/>
        </p:nvSpPr>
        <p:spPr>
          <a:xfrm>
            <a:off x="1083688" y="2007972"/>
            <a:ext cx="10309242" cy="3601995"/>
          </a:xfrm>
          <a:prstGeom prst="rect">
            <a:avLst/>
          </a:prstGeom>
          <a:noFill/>
          <a:ln/>
        </p:spPr>
        <p:txBody>
          <a:bodyPr wrap="square" lIns="254" tIns="254" rIns="254" bIns="254" rtlCol="0" anchor="t">
            <a:noAutofit/>
          </a:bodyPr>
          <a:lstStyle/>
          <a:p>
            <a:pPr marL="514350" indent="-514350">
              <a:buSzPct val="100000"/>
              <a:buAutoNum type="arabicParenBoth"/>
            </a:pPr>
            <a:r>
              <a:rPr lang="en-US" sz="3600" b="1" dirty="0">
                <a:solidFill>
                  <a:srgbClr val="1F2937"/>
                </a:solidFill>
                <a:latin typeface="Aptos" pitchFamily="34" charset="0"/>
                <a:ea typeface="Aptos" pitchFamily="34" charset="-122"/>
                <a:cs typeface="Aptos" pitchFamily="34" charset="-120"/>
              </a:rPr>
              <a:t> “Debugging bioinformatics” with chatbots</a:t>
            </a:r>
          </a:p>
          <a:p>
            <a:pPr marL="514350" indent="-514350">
              <a:buSzPct val="100000"/>
              <a:buAutoNum type="arabicParenBoth"/>
            </a:pPr>
            <a:endParaRPr lang="en-US" sz="3600" dirty="0">
              <a:solidFill>
                <a:srgbClr val="1F2937"/>
              </a:solidFill>
              <a:latin typeface="Aptos" pitchFamily="34" charset="0"/>
              <a:ea typeface="Aptos" pitchFamily="34" charset="-122"/>
              <a:cs typeface="Aptos" pitchFamily="34" charset="-120"/>
            </a:endParaRPr>
          </a:p>
          <a:p>
            <a:pPr marL="514350" indent="-514350">
              <a:buSzPct val="100000"/>
              <a:buAutoNum type="arabicParenBoth"/>
            </a:pPr>
            <a:r>
              <a:rPr lang="en-US" sz="3600" dirty="0">
                <a:solidFill>
                  <a:srgbClr val="1F2937"/>
                </a:solidFill>
                <a:latin typeface="Aptos" pitchFamily="34" charset="0"/>
                <a:ea typeface="Aptos" pitchFamily="34" charset="-122"/>
                <a:cs typeface="Aptos" pitchFamily="34" charset="-120"/>
              </a:rPr>
              <a:t> Interactive data analysis</a:t>
            </a:r>
          </a:p>
          <a:p>
            <a:pPr marL="514350" indent="-514350">
              <a:buSzPct val="100000"/>
              <a:buAutoNum type="arabicParenBoth"/>
            </a:pPr>
            <a:endParaRPr lang="en-US" sz="3600" dirty="0">
              <a:solidFill>
                <a:srgbClr val="1F2937"/>
              </a:solidFill>
              <a:latin typeface="Aptos" pitchFamily="34" charset="0"/>
              <a:ea typeface="Aptos" pitchFamily="34" charset="-122"/>
              <a:cs typeface="Aptos" pitchFamily="34" charset="-120"/>
            </a:endParaRPr>
          </a:p>
          <a:p>
            <a:pPr marL="514350" indent="-514350">
              <a:buSzPct val="100000"/>
              <a:buAutoNum type="arabicParenBoth"/>
            </a:pPr>
            <a:r>
              <a:rPr lang="en-US" sz="3600" dirty="0">
                <a:solidFill>
                  <a:srgbClr val="1F2937"/>
                </a:solidFill>
                <a:latin typeface="Aptos" pitchFamily="34" charset="0"/>
                <a:ea typeface="Aptos" pitchFamily="34" charset="-122"/>
                <a:cs typeface="Aptos" pitchFamily="34" charset="-120"/>
              </a:rPr>
              <a:t> Agentic coding for tool and workflow development</a:t>
            </a:r>
            <a:endParaRPr lang="en-US" sz="3600" dirty="0"/>
          </a:p>
        </p:txBody>
      </p:sp>
    </p:spTree>
    <p:extLst>
      <p:ext uri="{BB962C8B-B14F-4D97-AF65-F5344CB8AC3E}">
        <p14:creationId xmlns:p14="http://schemas.microsoft.com/office/powerpoint/2010/main" val="3992400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E6641-2E96-3944-FDF7-1E4E6ECDCBE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58A9576-C705-B086-87D5-FE277BD4EED0}"/>
              </a:ext>
            </a:extLst>
          </p:cNvPr>
          <p:cNvPicPr>
            <a:picLocks noChangeAspect="1"/>
          </p:cNvPicPr>
          <p:nvPr/>
        </p:nvPicPr>
        <p:blipFill>
          <a:blip r:embed="rId3"/>
          <a:stretch>
            <a:fillRect/>
          </a:stretch>
        </p:blipFill>
        <p:spPr>
          <a:xfrm>
            <a:off x="333411" y="1840523"/>
            <a:ext cx="11205099" cy="1910547"/>
          </a:xfrm>
          <a:prstGeom prst="rect">
            <a:avLst/>
          </a:prstGeom>
        </p:spPr>
      </p:pic>
      <p:sp>
        <p:nvSpPr>
          <p:cNvPr id="4" name="TextBox 3">
            <a:extLst>
              <a:ext uri="{FF2B5EF4-FFF2-40B4-BE49-F238E27FC236}">
                <a16:creationId xmlns:a16="http://schemas.microsoft.com/office/drawing/2014/main" id="{64B949DF-D325-5D71-DF5E-A2DD12099821}"/>
              </a:ext>
            </a:extLst>
          </p:cNvPr>
          <p:cNvSpPr txBox="1"/>
          <p:nvPr/>
        </p:nvSpPr>
        <p:spPr>
          <a:xfrm>
            <a:off x="8909539" y="6353908"/>
            <a:ext cx="3154197" cy="369332"/>
          </a:xfrm>
          <a:prstGeom prst="rect">
            <a:avLst/>
          </a:prstGeom>
          <a:noFill/>
        </p:spPr>
        <p:txBody>
          <a:bodyPr wrap="none" rtlCol="0">
            <a:spAutoFit/>
          </a:bodyPr>
          <a:lstStyle/>
          <a:p>
            <a:r>
              <a:rPr lang="en-US" b="1" dirty="0"/>
              <a:t>Harvard AI Sandbox. GPT-5.2</a:t>
            </a:r>
          </a:p>
        </p:txBody>
      </p:sp>
      <p:sp>
        <p:nvSpPr>
          <p:cNvPr id="5" name="Text 1">
            <a:extLst>
              <a:ext uri="{FF2B5EF4-FFF2-40B4-BE49-F238E27FC236}">
                <a16:creationId xmlns:a16="http://schemas.microsoft.com/office/drawing/2014/main" id="{8016BE29-C90D-F86C-0ADD-B24C306992AC}"/>
              </a:ext>
            </a:extLst>
          </p:cNvPr>
          <p:cNvSpPr/>
          <p:nvPr/>
        </p:nvSpPr>
        <p:spPr>
          <a:xfrm>
            <a:off x="274795" y="589480"/>
            <a:ext cx="10205635" cy="758674"/>
          </a:xfrm>
          <a:prstGeom prst="rect">
            <a:avLst/>
          </a:prstGeom>
          <a:noFill/>
          <a:ln/>
        </p:spPr>
        <p:txBody>
          <a:bodyPr wrap="square" lIns="254" tIns="254" rIns="254" bIns="254" rtlCol="0" anchor="t">
            <a:noAutofit/>
          </a:bodyPr>
          <a:lstStyle/>
          <a:p>
            <a:pPr>
              <a:buSzPct val="100000"/>
            </a:pPr>
            <a:r>
              <a:rPr lang="en-US" sz="3600" dirty="0">
                <a:solidFill>
                  <a:srgbClr val="1F2937"/>
                </a:solidFill>
                <a:latin typeface="Aptos" pitchFamily="34" charset="0"/>
                <a:ea typeface="Aptos" pitchFamily="34" charset="-122"/>
                <a:cs typeface="Aptos" pitchFamily="34" charset="-120"/>
              </a:rPr>
              <a:t>Scenario 1: How do I do X?</a:t>
            </a:r>
          </a:p>
        </p:txBody>
      </p:sp>
    </p:spTree>
    <p:extLst>
      <p:ext uri="{BB962C8B-B14F-4D97-AF65-F5344CB8AC3E}">
        <p14:creationId xmlns:p14="http://schemas.microsoft.com/office/powerpoint/2010/main" val="850153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27429-B9C0-A0D7-B97E-FE016C8CC5F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61AA533-2491-ED71-BC73-5D9AD00060FD}"/>
              </a:ext>
            </a:extLst>
          </p:cNvPr>
          <p:cNvSpPr txBox="1"/>
          <p:nvPr/>
        </p:nvSpPr>
        <p:spPr>
          <a:xfrm>
            <a:off x="8909539" y="6353908"/>
            <a:ext cx="3154197" cy="369332"/>
          </a:xfrm>
          <a:prstGeom prst="rect">
            <a:avLst/>
          </a:prstGeom>
          <a:noFill/>
        </p:spPr>
        <p:txBody>
          <a:bodyPr wrap="none" rtlCol="0">
            <a:spAutoFit/>
          </a:bodyPr>
          <a:lstStyle/>
          <a:p>
            <a:r>
              <a:rPr lang="en-US" b="1" dirty="0"/>
              <a:t>Harvard AI Sandbox. GPT-5.2</a:t>
            </a:r>
          </a:p>
        </p:txBody>
      </p:sp>
      <p:pic>
        <p:nvPicPr>
          <p:cNvPr id="5" name="Picture 4">
            <a:extLst>
              <a:ext uri="{FF2B5EF4-FFF2-40B4-BE49-F238E27FC236}">
                <a16:creationId xmlns:a16="http://schemas.microsoft.com/office/drawing/2014/main" id="{1B9ABEC3-9E51-0626-C3A3-919EF9228DD3}"/>
              </a:ext>
            </a:extLst>
          </p:cNvPr>
          <p:cNvPicPr>
            <a:picLocks noChangeAspect="1"/>
          </p:cNvPicPr>
          <p:nvPr/>
        </p:nvPicPr>
        <p:blipFill>
          <a:blip r:embed="rId3"/>
          <a:stretch>
            <a:fillRect/>
          </a:stretch>
        </p:blipFill>
        <p:spPr>
          <a:xfrm>
            <a:off x="367812" y="1413608"/>
            <a:ext cx="5829300" cy="4940300"/>
          </a:xfrm>
          <a:prstGeom prst="rect">
            <a:avLst/>
          </a:prstGeom>
        </p:spPr>
      </p:pic>
      <p:sp>
        <p:nvSpPr>
          <p:cNvPr id="6" name="TextBox 5">
            <a:extLst>
              <a:ext uri="{FF2B5EF4-FFF2-40B4-BE49-F238E27FC236}">
                <a16:creationId xmlns:a16="http://schemas.microsoft.com/office/drawing/2014/main" id="{758E4060-C73D-20C4-CCFE-B5CE207E4F3E}"/>
              </a:ext>
            </a:extLst>
          </p:cNvPr>
          <p:cNvSpPr txBox="1"/>
          <p:nvPr/>
        </p:nvSpPr>
        <p:spPr>
          <a:xfrm>
            <a:off x="7010400" y="1934308"/>
            <a:ext cx="4738348" cy="1200329"/>
          </a:xfrm>
          <a:prstGeom prst="rect">
            <a:avLst/>
          </a:prstGeom>
          <a:noFill/>
        </p:spPr>
        <p:txBody>
          <a:bodyPr wrap="none" rtlCol="0">
            <a:spAutoFit/>
          </a:bodyPr>
          <a:lstStyle/>
          <a:p>
            <a:r>
              <a:rPr lang="en-US" sz="2400" dirty="0"/>
              <a:t>Gives some text, explaining things.</a:t>
            </a:r>
          </a:p>
          <a:p>
            <a:endParaRPr lang="en-US" sz="2400" dirty="0"/>
          </a:p>
          <a:p>
            <a:r>
              <a:rPr lang="en-US" sz="2400" dirty="0"/>
              <a:t>Tells me what to look for.</a:t>
            </a:r>
          </a:p>
        </p:txBody>
      </p:sp>
      <p:sp>
        <p:nvSpPr>
          <p:cNvPr id="8" name="Rectangle 7">
            <a:extLst>
              <a:ext uri="{FF2B5EF4-FFF2-40B4-BE49-F238E27FC236}">
                <a16:creationId xmlns:a16="http://schemas.microsoft.com/office/drawing/2014/main" id="{DC40A230-DD58-F847-E92E-FA732F541AC7}"/>
              </a:ext>
            </a:extLst>
          </p:cNvPr>
          <p:cNvSpPr/>
          <p:nvPr/>
        </p:nvSpPr>
        <p:spPr>
          <a:xfrm>
            <a:off x="518014" y="5352562"/>
            <a:ext cx="5528896" cy="100134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1">
            <a:extLst>
              <a:ext uri="{FF2B5EF4-FFF2-40B4-BE49-F238E27FC236}">
                <a16:creationId xmlns:a16="http://schemas.microsoft.com/office/drawing/2014/main" id="{2BC52743-4143-318C-13A5-CD10E54E0A5F}"/>
              </a:ext>
            </a:extLst>
          </p:cNvPr>
          <p:cNvSpPr/>
          <p:nvPr/>
        </p:nvSpPr>
        <p:spPr>
          <a:xfrm>
            <a:off x="274795" y="589480"/>
            <a:ext cx="10205635" cy="758674"/>
          </a:xfrm>
          <a:prstGeom prst="rect">
            <a:avLst/>
          </a:prstGeom>
          <a:noFill/>
          <a:ln/>
        </p:spPr>
        <p:txBody>
          <a:bodyPr wrap="square" lIns="254" tIns="254" rIns="254" bIns="254" rtlCol="0" anchor="t">
            <a:noAutofit/>
          </a:bodyPr>
          <a:lstStyle/>
          <a:p>
            <a:pPr>
              <a:buSzPct val="100000"/>
            </a:pPr>
            <a:r>
              <a:rPr lang="en-US" sz="3600" dirty="0">
                <a:solidFill>
                  <a:srgbClr val="1F2937"/>
                </a:solidFill>
                <a:latin typeface="Aptos" pitchFamily="34" charset="0"/>
                <a:ea typeface="Aptos" pitchFamily="34" charset="-122"/>
                <a:cs typeface="Aptos" pitchFamily="34" charset="-120"/>
              </a:rPr>
              <a:t>Scenario 1: How do I do X?</a:t>
            </a:r>
          </a:p>
        </p:txBody>
      </p:sp>
    </p:spTree>
    <p:extLst>
      <p:ext uri="{BB962C8B-B14F-4D97-AF65-F5344CB8AC3E}">
        <p14:creationId xmlns:p14="http://schemas.microsoft.com/office/powerpoint/2010/main" val="26209816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E6F70-5D97-15B9-D7F3-830135D3A05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2B1E2FE-929A-533B-259B-A48A48D7B3CF}"/>
              </a:ext>
            </a:extLst>
          </p:cNvPr>
          <p:cNvSpPr txBox="1"/>
          <p:nvPr/>
        </p:nvSpPr>
        <p:spPr>
          <a:xfrm>
            <a:off x="8909539" y="6353908"/>
            <a:ext cx="3154197" cy="369332"/>
          </a:xfrm>
          <a:prstGeom prst="rect">
            <a:avLst/>
          </a:prstGeom>
          <a:noFill/>
        </p:spPr>
        <p:txBody>
          <a:bodyPr wrap="none" rtlCol="0">
            <a:spAutoFit/>
          </a:bodyPr>
          <a:lstStyle/>
          <a:p>
            <a:r>
              <a:rPr lang="en-US" b="1" dirty="0"/>
              <a:t>Harvard AI Sandbox. GPT-5.2</a:t>
            </a:r>
          </a:p>
        </p:txBody>
      </p:sp>
      <p:pic>
        <p:nvPicPr>
          <p:cNvPr id="2" name="Picture 1">
            <a:extLst>
              <a:ext uri="{FF2B5EF4-FFF2-40B4-BE49-F238E27FC236}">
                <a16:creationId xmlns:a16="http://schemas.microsoft.com/office/drawing/2014/main" id="{ACB43118-51C1-97B5-AAC8-E4474C6B7EBB}"/>
              </a:ext>
            </a:extLst>
          </p:cNvPr>
          <p:cNvPicPr>
            <a:picLocks noChangeAspect="1"/>
          </p:cNvPicPr>
          <p:nvPr/>
        </p:nvPicPr>
        <p:blipFill>
          <a:blip r:embed="rId3"/>
          <a:stretch>
            <a:fillRect/>
          </a:stretch>
        </p:blipFill>
        <p:spPr>
          <a:xfrm>
            <a:off x="401515" y="1611922"/>
            <a:ext cx="7868915" cy="4355123"/>
          </a:xfrm>
          <a:prstGeom prst="rect">
            <a:avLst/>
          </a:prstGeom>
        </p:spPr>
      </p:pic>
      <p:sp>
        <p:nvSpPr>
          <p:cNvPr id="7" name="TextBox 6">
            <a:extLst>
              <a:ext uri="{FF2B5EF4-FFF2-40B4-BE49-F238E27FC236}">
                <a16:creationId xmlns:a16="http://schemas.microsoft.com/office/drawing/2014/main" id="{6031F7F0-D457-D53B-C526-47D2B34B779E}"/>
              </a:ext>
            </a:extLst>
          </p:cNvPr>
          <p:cNvSpPr txBox="1"/>
          <p:nvPr/>
        </p:nvSpPr>
        <p:spPr>
          <a:xfrm>
            <a:off x="8636289" y="2426677"/>
            <a:ext cx="3154196" cy="2308324"/>
          </a:xfrm>
          <a:prstGeom prst="rect">
            <a:avLst/>
          </a:prstGeom>
          <a:noFill/>
        </p:spPr>
        <p:txBody>
          <a:bodyPr wrap="square" rtlCol="0">
            <a:spAutoFit/>
          </a:bodyPr>
          <a:lstStyle/>
          <a:p>
            <a:r>
              <a:rPr lang="en-US" sz="2400" dirty="0"/>
              <a:t>Outputs code to run.</a:t>
            </a:r>
          </a:p>
          <a:p>
            <a:endParaRPr lang="en-US" sz="2400" dirty="0"/>
          </a:p>
          <a:p>
            <a:r>
              <a:rPr lang="en-US" sz="2400" dirty="0"/>
              <a:t>If you don’t understand code, ask AI to explain before you cut and paste!</a:t>
            </a:r>
          </a:p>
        </p:txBody>
      </p:sp>
      <p:sp>
        <p:nvSpPr>
          <p:cNvPr id="5" name="Text 1">
            <a:extLst>
              <a:ext uri="{FF2B5EF4-FFF2-40B4-BE49-F238E27FC236}">
                <a16:creationId xmlns:a16="http://schemas.microsoft.com/office/drawing/2014/main" id="{6699C44A-5C9C-1144-7483-4CD7FB10BED2}"/>
              </a:ext>
            </a:extLst>
          </p:cNvPr>
          <p:cNvSpPr/>
          <p:nvPr/>
        </p:nvSpPr>
        <p:spPr>
          <a:xfrm>
            <a:off x="274795" y="589480"/>
            <a:ext cx="10205635" cy="758674"/>
          </a:xfrm>
          <a:prstGeom prst="rect">
            <a:avLst/>
          </a:prstGeom>
          <a:noFill/>
          <a:ln/>
        </p:spPr>
        <p:txBody>
          <a:bodyPr wrap="square" lIns="254" tIns="254" rIns="254" bIns="254" rtlCol="0" anchor="t">
            <a:noAutofit/>
          </a:bodyPr>
          <a:lstStyle/>
          <a:p>
            <a:pPr>
              <a:buSzPct val="100000"/>
            </a:pPr>
            <a:r>
              <a:rPr lang="en-US" sz="3600" dirty="0">
                <a:solidFill>
                  <a:srgbClr val="1F2937"/>
                </a:solidFill>
                <a:latin typeface="Aptos" pitchFamily="34" charset="0"/>
                <a:ea typeface="Aptos" pitchFamily="34" charset="-122"/>
                <a:cs typeface="Aptos" pitchFamily="34" charset="-120"/>
              </a:rPr>
              <a:t>Scenario 1: How do I do X?</a:t>
            </a:r>
          </a:p>
        </p:txBody>
      </p:sp>
    </p:spTree>
    <p:extLst>
      <p:ext uri="{BB962C8B-B14F-4D97-AF65-F5344CB8AC3E}">
        <p14:creationId xmlns:p14="http://schemas.microsoft.com/office/powerpoint/2010/main" val="1152655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F384F-F988-2093-45FD-1CBE4F08F4B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A7CEF0D-F772-E47C-7BD0-AD2675D56AEF}"/>
              </a:ext>
            </a:extLst>
          </p:cNvPr>
          <p:cNvSpPr txBox="1"/>
          <p:nvPr/>
        </p:nvSpPr>
        <p:spPr>
          <a:xfrm>
            <a:off x="8909539" y="6353908"/>
            <a:ext cx="3154197" cy="369332"/>
          </a:xfrm>
          <a:prstGeom prst="rect">
            <a:avLst/>
          </a:prstGeom>
          <a:noFill/>
        </p:spPr>
        <p:txBody>
          <a:bodyPr wrap="none" rtlCol="0">
            <a:spAutoFit/>
          </a:bodyPr>
          <a:lstStyle/>
          <a:p>
            <a:r>
              <a:rPr lang="en-US" b="1" dirty="0"/>
              <a:t>Harvard AI Sandbox. GPT-5.2</a:t>
            </a:r>
          </a:p>
        </p:txBody>
      </p:sp>
      <p:sp>
        <p:nvSpPr>
          <p:cNvPr id="7" name="TextBox 6">
            <a:extLst>
              <a:ext uri="{FF2B5EF4-FFF2-40B4-BE49-F238E27FC236}">
                <a16:creationId xmlns:a16="http://schemas.microsoft.com/office/drawing/2014/main" id="{C8998DC8-6D9F-914E-B909-D400D7199EB3}"/>
              </a:ext>
            </a:extLst>
          </p:cNvPr>
          <p:cNvSpPr txBox="1"/>
          <p:nvPr/>
        </p:nvSpPr>
        <p:spPr>
          <a:xfrm>
            <a:off x="7936524" y="1840523"/>
            <a:ext cx="3657600" cy="2677656"/>
          </a:xfrm>
          <a:prstGeom prst="rect">
            <a:avLst/>
          </a:prstGeom>
          <a:noFill/>
        </p:spPr>
        <p:txBody>
          <a:bodyPr wrap="square" rtlCol="0">
            <a:spAutoFit/>
          </a:bodyPr>
          <a:lstStyle/>
          <a:p>
            <a:r>
              <a:rPr lang="en-US" sz="2400" dirty="0"/>
              <a:t>You can ask more if you don’t understand the explanation.</a:t>
            </a:r>
          </a:p>
          <a:p>
            <a:endParaRPr lang="en-US" sz="2400" dirty="0"/>
          </a:p>
          <a:p>
            <a:r>
              <a:rPr lang="en-US" sz="2400" dirty="0"/>
              <a:t>AI can make mistakes but it often corrects itself if you ask it to explain.</a:t>
            </a:r>
          </a:p>
        </p:txBody>
      </p:sp>
      <p:pic>
        <p:nvPicPr>
          <p:cNvPr id="5" name="Picture 4">
            <a:extLst>
              <a:ext uri="{FF2B5EF4-FFF2-40B4-BE49-F238E27FC236}">
                <a16:creationId xmlns:a16="http://schemas.microsoft.com/office/drawing/2014/main" id="{4E558E77-113E-AC18-EF1F-657C4C873172}"/>
              </a:ext>
            </a:extLst>
          </p:cNvPr>
          <p:cNvPicPr>
            <a:picLocks noChangeAspect="1"/>
          </p:cNvPicPr>
          <p:nvPr/>
        </p:nvPicPr>
        <p:blipFill>
          <a:blip r:embed="rId3"/>
          <a:stretch>
            <a:fillRect/>
          </a:stretch>
        </p:blipFill>
        <p:spPr>
          <a:xfrm>
            <a:off x="472683" y="1254368"/>
            <a:ext cx="6383911" cy="5345649"/>
          </a:xfrm>
          <a:prstGeom prst="rect">
            <a:avLst/>
          </a:prstGeom>
        </p:spPr>
      </p:pic>
      <p:sp>
        <p:nvSpPr>
          <p:cNvPr id="2" name="Text 1">
            <a:extLst>
              <a:ext uri="{FF2B5EF4-FFF2-40B4-BE49-F238E27FC236}">
                <a16:creationId xmlns:a16="http://schemas.microsoft.com/office/drawing/2014/main" id="{F298458E-10F9-25B8-7296-C61F82926415}"/>
              </a:ext>
            </a:extLst>
          </p:cNvPr>
          <p:cNvSpPr/>
          <p:nvPr/>
        </p:nvSpPr>
        <p:spPr>
          <a:xfrm>
            <a:off x="274795" y="589480"/>
            <a:ext cx="10205635" cy="758674"/>
          </a:xfrm>
          <a:prstGeom prst="rect">
            <a:avLst/>
          </a:prstGeom>
          <a:noFill/>
          <a:ln/>
        </p:spPr>
        <p:txBody>
          <a:bodyPr wrap="square" lIns="254" tIns="254" rIns="254" bIns="254" rtlCol="0" anchor="t">
            <a:noAutofit/>
          </a:bodyPr>
          <a:lstStyle/>
          <a:p>
            <a:pPr>
              <a:buSzPct val="100000"/>
            </a:pPr>
            <a:r>
              <a:rPr lang="en-US" sz="3600" dirty="0">
                <a:solidFill>
                  <a:srgbClr val="1F2937"/>
                </a:solidFill>
                <a:latin typeface="Aptos" pitchFamily="34" charset="0"/>
                <a:ea typeface="Aptos" pitchFamily="34" charset="-122"/>
                <a:cs typeface="Aptos" pitchFamily="34" charset="-120"/>
              </a:rPr>
              <a:t>Scenario 1: How do I do X?</a:t>
            </a:r>
          </a:p>
        </p:txBody>
      </p:sp>
    </p:spTree>
    <p:extLst>
      <p:ext uri="{BB962C8B-B14F-4D97-AF65-F5344CB8AC3E}">
        <p14:creationId xmlns:p14="http://schemas.microsoft.com/office/powerpoint/2010/main" val="2820973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E2A00-6594-4D6B-03CD-49E8BCD14B7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A578C8B-B42D-DA7F-86C4-63E61D5BBF86}"/>
              </a:ext>
            </a:extLst>
          </p:cNvPr>
          <p:cNvSpPr txBox="1"/>
          <p:nvPr/>
        </p:nvSpPr>
        <p:spPr>
          <a:xfrm>
            <a:off x="8909539" y="6353908"/>
            <a:ext cx="3154197" cy="369332"/>
          </a:xfrm>
          <a:prstGeom prst="rect">
            <a:avLst/>
          </a:prstGeom>
          <a:noFill/>
        </p:spPr>
        <p:txBody>
          <a:bodyPr wrap="none" rtlCol="0">
            <a:spAutoFit/>
          </a:bodyPr>
          <a:lstStyle/>
          <a:p>
            <a:r>
              <a:rPr lang="en-US" b="1" dirty="0"/>
              <a:t>Harvard AI Sandbox. GPT-5.2</a:t>
            </a:r>
          </a:p>
        </p:txBody>
      </p:sp>
      <p:sp>
        <p:nvSpPr>
          <p:cNvPr id="7" name="TextBox 6">
            <a:extLst>
              <a:ext uri="{FF2B5EF4-FFF2-40B4-BE49-F238E27FC236}">
                <a16:creationId xmlns:a16="http://schemas.microsoft.com/office/drawing/2014/main" id="{B53C8D7E-13BF-DDB5-5189-736D28BE4663}"/>
              </a:ext>
            </a:extLst>
          </p:cNvPr>
          <p:cNvSpPr txBox="1"/>
          <p:nvPr/>
        </p:nvSpPr>
        <p:spPr>
          <a:xfrm>
            <a:off x="9484530" y="1840523"/>
            <a:ext cx="2109593" cy="3046988"/>
          </a:xfrm>
          <a:prstGeom prst="rect">
            <a:avLst/>
          </a:prstGeom>
          <a:noFill/>
        </p:spPr>
        <p:txBody>
          <a:bodyPr wrap="square" rtlCol="0">
            <a:spAutoFit/>
          </a:bodyPr>
          <a:lstStyle/>
          <a:p>
            <a:r>
              <a:rPr lang="en-US" sz="2400" dirty="0"/>
              <a:t>Now it is giving some explanation with its code. </a:t>
            </a:r>
          </a:p>
          <a:p>
            <a:endParaRPr lang="en-US" sz="2400" dirty="0"/>
          </a:p>
          <a:p>
            <a:r>
              <a:rPr lang="en-US" sz="2400" dirty="0"/>
              <a:t>You can still ask it to explain more.</a:t>
            </a:r>
          </a:p>
        </p:txBody>
      </p:sp>
      <p:pic>
        <p:nvPicPr>
          <p:cNvPr id="2" name="Picture 1">
            <a:extLst>
              <a:ext uri="{FF2B5EF4-FFF2-40B4-BE49-F238E27FC236}">
                <a16:creationId xmlns:a16="http://schemas.microsoft.com/office/drawing/2014/main" id="{ED06E149-A54C-F251-1ADC-292EBF8F49E3}"/>
              </a:ext>
            </a:extLst>
          </p:cNvPr>
          <p:cNvPicPr>
            <a:picLocks noChangeAspect="1"/>
          </p:cNvPicPr>
          <p:nvPr/>
        </p:nvPicPr>
        <p:blipFill>
          <a:blip r:embed="rId3"/>
          <a:stretch>
            <a:fillRect/>
          </a:stretch>
        </p:blipFill>
        <p:spPr>
          <a:xfrm>
            <a:off x="494951" y="1348154"/>
            <a:ext cx="8769425" cy="4665784"/>
          </a:xfrm>
          <a:prstGeom prst="rect">
            <a:avLst/>
          </a:prstGeom>
        </p:spPr>
      </p:pic>
      <p:sp>
        <p:nvSpPr>
          <p:cNvPr id="5" name="Text 1">
            <a:extLst>
              <a:ext uri="{FF2B5EF4-FFF2-40B4-BE49-F238E27FC236}">
                <a16:creationId xmlns:a16="http://schemas.microsoft.com/office/drawing/2014/main" id="{8BCEC168-9ACC-AA66-971F-720C2C87ED5F}"/>
              </a:ext>
            </a:extLst>
          </p:cNvPr>
          <p:cNvSpPr/>
          <p:nvPr/>
        </p:nvSpPr>
        <p:spPr>
          <a:xfrm>
            <a:off x="274795" y="589480"/>
            <a:ext cx="10205635" cy="758674"/>
          </a:xfrm>
          <a:prstGeom prst="rect">
            <a:avLst/>
          </a:prstGeom>
          <a:noFill/>
          <a:ln/>
        </p:spPr>
        <p:txBody>
          <a:bodyPr wrap="square" lIns="254" tIns="254" rIns="254" bIns="254" rtlCol="0" anchor="t">
            <a:noAutofit/>
          </a:bodyPr>
          <a:lstStyle/>
          <a:p>
            <a:pPr>
              <a:buSzPct val="100000"/>
            </a:pPr>
            <a:r>
              <a:rPr lang="en-US" sz="3600" dirty="0">
                <a:solidFill>
                  <a:srgbClr val="1F2937"/>
                </a:solidFill>
                <a:latin typeface="Aptos" pitchFamily="34" charset="0"/>
                <a:ea typeface="Aptos" pitchFamily="34" charset="-122"/>
                <a:cs typeface="Aptos" pitchFamily="34" charset="-120"/>
              </a:rPr>
              <a:t>Scenario 1: How do I do X?</a:t>
            </a:r>
          </a:p>
        </p:txBody>
      </p:sp>
    </p:spTree>
    <p:extLst>
      <p:ext uri="{BB962C8B-B14F-4D97-AF65-F5344CB8AC3E}">
        <p14:creationId xmlns:p14="http://schemas.microsoft.com/office/powerpoint/2010/main" val="2803218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EDFCF-84EE-044B-4B95-138595135C4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028DEFC-332F-5510-64E6-72547AB985C0}"/>
              </a:ext>
            </a:extLst>
          </p:cNvPr>
          <p:cNvSpPr txBox="1"/>
          <p:nvPr/>
        </p:nvSpPr>
        <p:spPr>
          <a:xfrm>
            <a:off x="532703" y="1566263"/>
            <a:ext cx="9045051" cy="3416320"/>
          </a:xfrm>
          <a:prstGeom prst="rect">
            <a:avLst/>
          </a:prstGeom>
          <a:noFill/>
        </p:spPr>
        <p:txBody>
          <a:bodyPr wrap="square" rtlCol="0">
            <a:spAutoFit/>
          </a:bodyPr>
          <a:lstStyle/>
          <a:p>
            <a:r>
              <a:rPr lang="en-US" sz="2400" dirty="0"/>
              <a:t>On a problem like this, most frontier AI models are pretty consistent.</a:t>
            </a:r>
          </a:p>
          <a:p>
            <a:endParaRPr lang="en-US" sz="2400" dirty="0"/>
          </a:p>
          <a:p>
            <a:r>
              <a:rPr lang="en-US" sz="2400" dirty="0"/>
              <a:t>But if you are not sure about the command it provides, you should still ask it to verify. </a:t>
            </a:r>
          </a:p>
          <a:p>
            <a:endParaRPr lang="en-US" sz="2400" dirty="0"/>
          </a:p>
          <a:p>
            <a:r>
              <a:rPr lang="en-US" sz="2400" dirty="0"/>
              <a:t>I asked this question about 10 times to different models. Nine out of ten times I got correct code. One time I got this.</a:t>
            </a:r>
          </a:p>
          <a:p>
            <a:endParaRPr lang="en-US" sz="2400" dirty="0"/>
          </a:p>
        </p:txBody>
      </p:sp>
      <p:sp>
        <p:nvSpPr>
          <p:cNvPr id="8" name="TextBox 7">
            <a:extLst>
              <a:ext uri="{FF2B5EF4-FFF2-40B4-BE49-F238E27FC236}">
                <a16:creationId xmlns:a16="http://schemas.microsoft.com/office/drawing/2014/main" id="{5FC45E35-1655-CCE0-AA7E-D32B7A900537}"/>
              </a:ext>
            </a:extLst>
          </p:cNvPr>
          <p:cNvSpPr txBox="1"/>
          <p:nvPr/>
        </p:nvSpPr>
        <p:spPr>
          <a:xfrm>
            <a:off x="535982" y="5107071"/>
            <a:ext cx="11120035" cy="369332"/>
          </a:xfrm>
          <a:prstGeom prst="rect">
            <a:avLst/>
          </a:prstGeom>
          <a:noFill/>
        </p:spPr>
        <p:txBody>
          <a:bodyPr wrap="square">
            <a:spAutoFit/>
          </a:bodyPr>
          <a:lstStyle/>
          <a:p>
            <a:pPr marL="0" marR="0">
              <a:spcBef>
                <a:spcPts val="600"/>
              </a:spcBef>
              <a:spcAft>
                <a:spcPts val="600"/>
              </a:spcAft>
              <a:buNone/>
            </a:pPr>
            <a:r>
              <a:rPr lang="en-US" b="1" dirty="0">
                <a:effectLst/>
                <a:latin typeface="Monaco" pitchFamily="2" charset="77"/>
              </a:rPr>
              <a:t>awk '/^&gt;/ {print; next} {print </a:t>
            </a:r>
            <a:r>
              <a:rPr lang="en-US" b="1" dirty="0" err="1">
                <a:effectLst/>
                <a:latin typeface="Monaco" pitchFamily="2" charset="77"/>
              </a:rPr>
              <a:t>toupper</a:t>
            </a:r>
            <a:r>
              <a:rPr lang="en-US" b="1" dirty="0">
                <a:effectLst/>
                <a:latin typeface="Monaco" pitchFamily="2" charset="77"/>
              </a:rPr>
              <a:t>($0) | "sed s/[ACGT]/N/g"}' </a:t>
            </a:r>
            <a:r>
              <a:rPr lang="en-US" b="1" dirty="0" err="1">
                <a:effectLst/>
                <a:latin typeface="Monaco" pitchFamily="2" charset="77"/>
              </a:rPr>
              <a:t>input.fa</a:t>
            </a:r>
            <a:endParaRPr lang="en-US" b="1" dirty="0">
              <a:effectLst/>
              <a:latin typeface="Monaco" pitchFamily="2" charset="77"/>
            </a:endParaRPr>
          </a:p>
        </p:txBody>
      </p:sp>
      <p:sp>
        <p:nvSpPr>
          <p:cNvPr id="2" name="Text 1">
            <a:extLst>
              <a:ext uri="{FF2B5EF4-FFF2-40B4-BE49-F238E27FC236}">
                <a16:creationId xmlns:a16="http://schemas.microsoft.com/office/drawing/2014/main" id="{DF5CDC62-4A55-2A87-CEBE-C2B0B38A690E}"/>
              </a:ext>
            </a:extLst>
          </p:cNvPr>
          <p:cNvSpPr/>
          <p:nvPr/>
        </p:nvSpPr>
        <p:spPr>
          <a:xfrm>
            <a:off x="274795" y="589480"/>
            <a:ext cx="10205635" cy="758674"/>
          </a:xfrm>
          <a:prstGeom prst="rect">
            <a:avLst/>
          </a:prstGeom>
          <a:noFill/>
          <a:ln/>
        </p:spPr>
        <p:txBody>
          <a:bodyPr wrap="square" lIns="254" tIns="254" rIns="254" bIns="254" rtlCol="0" anchor="t">
            <a:noAutofit/>
          </a:bodyPr>
          <a:lstStyle/>
          <a:p>
            <a:pPr>
              <a:buSzPct val="100000"/>
            </a:pPr>
            <a:r>
              <a:rPr lang="en-US" sz="3600" dirty="0">
                <a:solidFill>
                  <a:srgbClr val="1F2937"/>
                </a:solidFill>
                <a:latin typeface="Aptos" pitchFamily="34" charset="0"/>
                <a:ea typeface="Aptos" pitchFamily="34" charset="-122"/>
                <a:cs typeface="Aptos" pitchFamily="34" charset="-120"/>
              </a:rPr>
              <a:t>Scenario 1: How do I do X?</a:t>
            </a:r>
          </a:p>
        </p:txBody>
      </p:sp>
    </p:spTree>
    <p:extLst>
      <p:ext uri="{BB962C8B-B14F-4D97-AF65-F5344CB8AC3E}">
        <p14:creationId xmlns:p14="http://schemas.microsoft.com/office/powerpoint/2010/main" val="3892700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DE9A2-6626-80C9-EADA-EFDDAD736A2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28ED1E9-3128-A55D-E193-4F6EBC772C9F}"/>
              </a:ext>
            </a:extLst>
          </p:cNvPr>
          <p:cNvPicPr>
            <a:picLocks noChangeAspect="1"/>
          </p:cNvPicPr>
          <p:nvPr/>
        </p:nvPicPr>
        <p:blipFill>
          <a:blip r:embed="rId3"/>
          <a:stretch>
            <a:fillRect/>
          </a:stretch>
        </p:blipFill>
        <p:spPr>
          <a:xfrm>
            <a:off x="674775" y="1516673"/>
            <a:ext cx="10842449" cy="1038957"/>
          </a:xfrm>
          <a:prstGeom prst="rect">
            <a:avLst/>
          </a:prstGeom>
        </p:spPr>
      </p:pic>
      <p:pic>
        <p:nvPicPr>
          <p:cNvPr id="7" name="Picture 6">
            <a:extLst>
              <a:ext uri="{FF2B5EF4-FFF2-40B4-BE49-F238E27FC236}">
                <a16:creationId xmlns:a16="http://schemas.microsoft.com/office/drawing/2014/main" id="{BF152FEB-1BD6-3B21-667D-D0C3EE4EE0B7}"/>
              </a:ext>
            </a:extLst>
          </p:cNvPr>
          <p:cNvPicPr>
            <a:picLocks noChangeAspect="1"/>
          </p:cNvPicPr>
          <p:nvPr/>
        </p:nvPicPr>
        <p:blipFill>
          <a:blip r:embed="rId4"/>
          <a:stretch>
            <a:fillRect/>
          </a:stretch>
        </p:blipFill>
        <p:spPr>
          <a:xfrm>
            <a:off x="1108529" y="2724149"/>
            <a:ext cx="9160887" cy="3756623"/>
          </a:xfrm>
          <a:prstGeom prst="rect">
            <a:avLst/>
          </a:prstGeom>
        </p:spPr>
      </p:pic>
      <p:sp>
        <p:nvSpPr>
          <p:cNvPr id="8" name="TextBox 7">
            <a:extLst>
              <a:ext uri="{FF2B5EF4-FFF2-40B4-BE49-F238E27FC236}">
                <a16:creationId xmlns:a16="http://schemas.microsoft.com/office/drawing/2014/main" id="{A5A69FDA-856B-E6F8-E564-FEF26FFA9FD6}"/>
              </a:ext>
            </a:extLst>
          </p:cNvPr>
          <p:cNvSpPr txBox="1"/>
          <p:nvPr/>
        </p:nvSpPr>
        <p:spPr>
          <a:xfrm>
            <a:off x="7672058" y="2978844"/>
            <a:ext cx="1930978" cy="369332"/>
          </a:xfrm>
          <a:prstGeom prst="rect">
            <a:avLst/>
          </a:prstGeom>
          <a:noFill/>
        </p:spPr>
        <p:txBody>
          <a:bodyPr wrap="none" rtlCol="0">
            <a:spAutoFit/>
          </a:bodyPr>
          <a:lstStyle/>
          <a:p>
            <a:r>
              <a:rPr lang="en-US" b="1" u="sng" dirty="0"/>
              <a:t>Model response</a:t>
            </a:r>
          </a:p>
        </p:txBody>
      </p:sp>
      <p:sp>
        <p:nvSpPr>
          <p:cNvPr id="2" name="Text 1">
            <a:extLst>
              <a:ext uri="{FF2B5EF4-FFF2-40B4-BE49-F238E27FC236}">
                <a16:creationId xmlns:a16="http://schemas.microsoft.com/office/drawing/2014/main" id="{552F0F94-860D-481B-5BF9-76F0643022F1}"/>
              </a:ext>
            </a:extLst>
          </p:cNvPr>
          <p:cNvSpPr/>
          <p:nvPr/>
        </p:nvSpPr>
        <p:spPr>
          <a:xfrm>
            <a:off x="274795" y="589480"/>
            <a:ext cx="10205635" cy="758674"/>
          </a:xfrm>
          <a:prstGeom prst="rect">
            <a:avLst/>
          </a:prstGeom>
          <a:noFill/>
          <a:ln/>
        </p:spPr>
        <p:txBody>
          <a:bodyPr wrap="square" lIns="254" tIns="254" rIns="254" bIns="254" rtlCol="0" anchor="t">
            <a:noAutofit/>
          </a:bodyPr>
          <a:lstStyle/>
          <a:p>
            <a:pPr>
              <a:buSzPct val="100000"/>
            </a:pPr>
            <a:r>
              <a:rPr lang="en-US" sz="3600" dirty="0">
                <a:solidFill>
                  <a:srgbClr val="1F2937"/>
                </a:solidFill>
                <a:latin typeface="Aptos" pitchFamily="34" charset="0"/>
                <a:ea typeface="Aptos" pitchFamily="34" charset="-122"/>
                <a:cs typeface="Aptos" pitchFamily="34" charset="-120"/>
              </a:rPr>
              <a:t>Scenario 1: How do I do X?</a:t>
            </a:r>
          </a:p>
        </p:txBody>
      </p:sp>
    </p:spTree>
    <p:extLst>
      <p:ext uri="{BB962C8B-B14F-4D97-AF65-F5344CB8AC3E}">
        <p14:creationId xmlns:p14="http://schemas.microsoft.com/office/powerpoint/2010/main" val="19869971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70A9E-0177-F8B0-0468-FF738A0CA8EA}"/>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9EF5C9D2-6E45-69F8-AF91-6868E0881610}"/>
              </a:ext>
            </a:extLst>
          </p:cNvPr>
          <p:cNvSpPr/>
          <p:nvPr/>
        </p:nvSpPr>
        <p:spPr>
          <a:xfrm>
            <a:off x="274795" y="589480"/>
            <a:ext cx="10205635" cy="758674"/>
          </a:xfrm>
          <a:prstGeom prst="rect">
            <a:avLst/>
          </a:prstGeom>
          <a:noFill/>
          <a:ln/>
        </p:spPr>
        <p:txBody>
          <a:bodyPr wrap="square" lIns="254" tIns="254" rIns="254" bIns="254" rtlCol="0" anchor="t">
            <a:noAutofit/>
          </a:bodyPr>
          <a:lstStyle/>
          <a:p>
            <a:pPr>
              <a:buSzPct val="100000"/>
            </a:pPr>
            <a:r>
              <a:rPr lang="en-US" sz="3600" dirty="0">
                <a:solidFill>
                  <a:srgbClr val="1F2937"/>
                </a:solidFill>
                <a:latin typeface="Aptos" pitchFamily="34" charset="0"/>
                <a:ea typeface="Aptos" pitchFamily="34" charset="-122"/>
                <a:cs typeface="Aptos" pitchFamily="34" charset="-120"/>
              </a:rPr>
              <a:t>Scenario 1: How do I do X?</a:t>
            </a:r>
          </a:p>
        </p:txBody>
      </p:sp>
      <p:sp>
        <p:nvSpPr>
          <p:cNvPr id="2" name="TextBox 1">
            <a:extLst>
              <a:ext uri="{FF2B5EF4-FFF2-40B4-BE49-F238E27FC236}">
                <a16:creationId xmlns:a16="http://schemas.microsoft.com/office/drawing/2014/main" id="{265AAE85-D70C-C460-0BD7-79D88B60EEBD}"/>
              </a:ext>
            </a:extLst>
          </p:cNvPr>
          <p:cNvSpPr txBox="1"/>
          <p:nvPr/>
        </p:nvSpPr>
        <p:spPr>
          <a:xfrm>
            <a:off x="1097280" y="1330960"/>
            <a:ext cx="10535920" cy="830997"/>
          </a:xfrm>
          <a:prstGeom prst="rect">
            <a:avLst/>
          </a:prstGeom>
          <a:noFill/>
        </p:spPr>
        <p:txBody>
          <a:bodyPr wrap="square" rtlCol="0">
            <a:spAutoFit/>
          </a:bodyPr>
          <a:lstStyle/>
          <a:p>
            <a:r>
              <a:rPr lang="en-US" sz="2400" b="1" dirty="0"/>
              <a:t>I want to change all the sequencing files in my raw data directory to be read only, but not the other files. This is on my university HPC cluster</a:t>
            </a:r>
          </a:p>
        </p:txBody>
      </p:sp>
      <p:sp>
        <p:nvSpPr>
          <p:cNvPr id="4" name="TextBox 3">
            <a:extLst>
              <a:ext uri="{FF2B5EF4-FFF2-40B4-BE49-F238E27FC236}">
                <a16:creationId xmlns:a16="http://schemas.microsoft.com/office/drawing/2014/main" id="{194A18F4-95E9-E99F-1496-EAA8D2E17D9D}"/>
              </a:ext>
            </a:extLst>
          </p:cNvPr>
          <p:cNvSpPr txBox="1"/>
          <p:nvPr/>
        </p:nvSpPr>
        <p:spPr>
          <a:xfrm>
            <a:off x="1087120" y="2397760"/>
            <a:ext cx="10444480" cy="830997"/>
          </a:xfrm>
          <a:prstGeom prst="rect">
            <a:avLst/>
          </a:prstGeom>
          <a:noFill/>
        </p:spPr>
        <p:txBody>
          <a:bodyPr wrap="square" rtlCol="0">
            <a:spAutoFit/>
          </a:bodyPr>
          <a:lstStyle/>
          <a:p>
            <a:r>
              <a:rPr lang="en-US" sz="2400" b="1" dirty="0"/>
              <a:t>How can I combine a bunch of phylogenetic models (*.mod files) produced by </a:t>
            </a:r>
            <a:r>
              <a:rPr lang="en-US" sz="2400" b="1" dirty="0" err="1"/>
              <a:t>phyloFit</a:t>
            </a:r>
            <a:r>
              <a:rPr lang="en-US" sz="2400" b="1" dirty="0"/>
              <a:t> in the PHAST package into a single average mod file?</a:t>
            </a:r>
          </a:p>
        </p:txBody>
      </p:sp>
      <p:sp>
        <p:nvSpPr>
          <p:cNvPr id="5" name="TextBox 4">
            <a:extLst>
              <a:ext uri="{FF2B5EF4-FFF2-40B4-BE49-F238E27FC236}">
                <a16:creationId xmlns:a16="http://schemas.microsoft.com/office/drawing/2014/main" id="{B1ECF30D-103B-1EF4-8D69-4CE7E7760FF7}"/>
              </a:ext>
            </a:extLst>
          </p:cNvPr>
          <p:cNvSpPr txBox="1"/>
          <p:nvPr/>
        </p:nvSpPr>
        <p:spPr>
          <a:xfrm>
            <a:off x="1097280" y="3464560"/>
            <a:ext cx="10607040" cy="1200329"/>
          </a:xfrm>
          <a:prstGeom prst="rect">
            <a:avLst/>
          </a:prstGeom>
          <a:noFill/>
        </p:spPr>
        <p:txBody>
          <a:bodyPr wrap="square" rtlCol="0">
            <a:spAutoFit/>
          </a:bodyPr>
          <a:lstStyle/>
          <a:p>
            <a:r>
              <a:rPr lang="en-US" sz="2400" b="1" dirty="0"/>
              <a:t>I need to remove UMIs from about 20 bam files I made by aligning RNA-seq data to my reference genome with STAR. This is on my university HPC </a:t>
            </a:r>
            <a:r>
              <a:rPr lang="en-US" sz="2400" b="1" dirty="0" err="1"/>
              <a:t>slurm</a:t>
            </a:r>
            <a:r>
              <a:rPr lang="en-US" sz="2400" b="1" dirty="0"/>
              <a:t> cluster.</a:t>
            </a:r>
          </a:p>
        </p:txBody>
      </p:sp>
      <p:sp>
        <p:nvSpPr>
          <p:cNvPr id="6" name="TextBox 5">
            <a:extLst>
              <a:ext uri="{FF2B5EF4-FFF2-40B4-BE49-F238E27FC236}">
                <a16:creationId xmlns:a16="http://schemas.microsoft.com/office/drawing/2014/main" id="{EC5A23DE-AFC6-87FD-6C22-0DF777DFF401}"/>
              </a:ext>
            </a:extLst>
          </p:cNvPr>
          <p:cNvSpPr txBox="1"/>
          <p:nvPr/>
        </p:nvSpPr>
        <p:spPr>
          <a:xfrm>
            <a:off x="1076960" y="4917440"/>
            <a:ext cx="10556240" cy="1569660"/>
          </a:xfrm>
          <a:prstGeom prst="rect">
            <a:avLst/>
          </a:prstGeom>
          <a:noFill/>
        </p:spPr>
        <p:txBody>
          <a:bodyPr wrap="square" rtlCol="0">
            <a:spAutoFit/>
          </a:bodyPr>
          <a:lstStyle/>
          <a:p>
            <a:r>
              <a:rPr lang="en-US" sz="2400" b="1" dirty="0"/>
              <a:t>I have 10000 </a:t>
            </a:r>
            <a:r>
              <a:rPr lang="en-US" sz="2400" b="1" dirty="0" err="1"/>
              <a:t>fasta</a:t>
            </a:r>
            <a:r>
              <a:rPr lang="en-US" sz="2400" b="1" dirty="0"/>
              <a:t> alignment files in a bunch of directories, called things like gene1/</a:t>
            </a:r>
            <a:r>
              <a:rPr lang="en-US" sz="2400" b="1" dirty="0" err="1"/>
              <a:t>alignment.fasta</a:t>
            </a:r>
            <a:r>
              <a:rPr lang="en-US" sz="2400" b="1" dirty="0"/>
              <a:t>, gene2/</a:t>
            </a:r>
            <a:r>
              <a:rPr lang="en-US" sz="2400" b="1" dirty="0" err="1"/>
              <a:t>alignment.fasta</a:t>
            </a:r>
            <a:r>
              <a:rPr lang="en-US" sz="2400" b="1" dirty="0"/>
              <a:t>, gene3/</a:t>
            </a:r>
            <a:r>
              <a:rPr lang="en-US" sz="2400" b="1" dirty="0" err="1"/>
              <a:t>alignment.fasta</a:t>
            </a:r>
            <a:r>
              <a:rPr lang="en-US" sz="2400" b="1" dirty="0"/>
              <a:t>. I need to copy them all to the alignments directory with names like gene1.fasta, gene2.fasta, gene3.fasta.</a:t>
            </a:r>
          </a:p>
        </p:txBody>
      </p:sp>
    </p:spTree>
    <p:extLst>
      <p:ext uri="{BB962C8B-B14F-4D97-AF65-F5344CB8AC3E}">
        <p14:creationId xmlns:p14="http://schemas.microsoft.com/office/powerpoint/2010/main" val="22919172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D0600-528D-6DB8-09C5-A9DB58F641FC}"/>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CA2733A9-145C-4966-98A4-C4F01CF91EF5}"/>
              </a:ext>
            </a:extLst>
          </p:cNvPr>
          <p:cNvSpPr/>
          <p:nvPr/>
        </p:nvSpPr>
        <p:spPr>
          <a:xfrm>
            <a:off x="274795" y="589480"/>
            <a:ext cx="10205635" cy="758674"/>
          </a:xfrm>
          <a:prstGeom prst="rect">
            <a:avLst/>
          </a:prstGeom>
          <a:noFill/>
          <a:ln/>
        </p:spPr>
        <p:txBody>
          <a:bodyPr wrap="square" lIns="254" tIns="254" rIns="254" bIns="254" rtlCol="0" anchor="t">
            <a:noAutofit/>
          </a:bodyPr>
          <a:lstStyle/>
          <a:p>
            <a:pPr>
              <a:buSzPct val="100000"/>
            </a:pPr>
            <a:r>
              <a:rPr lang="en-US" sz="3600" dirty="0">
                <a:solidFill>
                  <a:srgbClr val="1F2937"/>
                </a:solidFill>
                <a:latin typeface="Aptos" pitchFamily="34" charset="0"/>
                <a:ea typeface="Aptos" pitchFamily="34" charset="-122"/>
                <a:cs typeface="Aptos" pitchFamily="34" charset="-120"/>
              </a:rPr>
              <a:t>Scenario 2: What does this error message mean?</a:t>
            </a:r>
          </a:p>
        </p:txBody>
      </p:sp>
      <p:pic>
        <p:nvPicPr>
          <p:cNvPr id="5" name="Picture 4" descr="A screenshot of a computer program&#10;&#10;AI-generated content may be incorrect.">
            <a:extLst>
              <a:ext uri="{FF2B5EF4-FFF2-40B4-BE49-F238E27FC236}">
                <a16:creationId xmlns:a16="http://schemas.microsoft.com/office/drawing/2014/main" id="{D71F2FEF-0BC8-C895-892E-46301C761831}"/>
              </a:ext>
            </a:extLst>
          </p:cNvPr>
          <p:cNvPicPr>
            <a:picLocks noChangeAspect="1"/>
          </p:cNvPicPr>
          <p:nvPr/>
        </p:nvPicPr>
        <p:blipFill>
          <a:blip r:embed="rId3"/>
          <a:stretch>
            <a:fillRect/>
          </a:stretch>
        </p:blipFill>
        <p:spPr>
          <a:xfrm>
            <a:off x="1483360" y="1285240"/>
            <a:ext cx="9080502" cy="4953000"/>
          </a:xfrm>
          <a:prstGeom prst="rect">
            <a:avLst/>
          </a:prstGeom>
        </p:spPr>
      </p:pic>
      <p:sp>
        <p:nvSpPr>
          <p:cNvPr id="6" name="TextBox 5">
            <a:extLst>
              <a:ext uri="{FF2B5EF4-FFF2-40B4-BE49-F238E27FC236}">
                <a16:creationId xmlns:a16="http://schemas.microsoft.com/office/drawing/2014/main" id="{66937002-704B-BED7-DE7C-9CF8CDC96D45}"/>
              </a:ext>
            </a:extLst>
          </p:cNvPr>
          <p:cNvSpPr txBox="1"/>
          <p:nvPr/>
        </p:nvSpPr>
        <p:spPr>
          <a:xfrm>
            <a:off x="8072093" y="6437871"/>
            <a:ext cx="4115101" cy="369332"/>
          </a:xfrm>
          <a:prstGeom prst="rect">
            <a:avLst/>
          </a:prstGeom>
          <a:noFill/>
        </p:spPr>
        <p:txBody>
          <a:bodyPr wrap="none" rtlCol="0">
            <a:spAutoFit/>
          </a:bodyPr>
          <a:lstStyle/>
          <a:p>
            <a:r>
              <a:rPr lang="en-US" dirty="0"/>
              <a:t>Image: Nano Banana 2 (Gemini/Google)</a:t>
            </a:r>
          </a:p>
        </p:txBody>
      </p:sp>
    </p:spTree>
    <p:extLst>
      <p:ext uri="{BB962C8B-B14F-4D97-AF65-F5344CB8AC3E}">
        <p14:creationId xmlns:p14="http://schemas.microsoft.com/office/powerpoint/2010/main" val="2935104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4B952-2BFB-CCCF-3AE8-32B326C10E2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1772A45A-B473-8B57-1066-9787EEBC1657}"/>
              </a:ext>
            </a:extLst>
          </p:cNvPr>
          <p:cNvSpPr/>
          <p:nvPr/>
        </p:nvSpPr>
        <p:spPr>
          <a:xfrm>
            <a:off x="274795" y="589480"/>
            <a:ext cx="10205635" cy="758674"/>
          </a:xfrm>
          <a:prstGeom prst="rect">
            <a:avLst/>
          </a:prstGeom>
          <a:noFill/>
          <a:ln/>
        </p:spPr>
        <p:txBody>
          <a:bodyPr wrap="square" lIns="254" tIns="254" rIns="254" bIns="254" rtlCol="0" anchor="t">
            <a:noAutofit/>
          </a:bodyPr>
          <a:lstStyle/>
          <a:p>
            <a:pPr>
              <a:buSzPct val="100000"/>
            </a:pPr>
            <a:r>
              <a:rPr lang="en-US" sz="3600" dirty="0">
                <a:solidFill>
                  <a:srgbClr val="1F2937"/>
                </a:solidFill>
                <a:latin typeface="Aptos" pitchFamily="34" charset="0"/>
                <a:ea typeface="Aptos" pitchFamily="34" charset="-122"/>
                <a:cs typeface="Aptos" pitchFamily="34" charset="-120"/>
              </a:rPr>
              <a:t>Scenario 2: What does this error message mean?</a:t>
            </a:r>
          </a:p>
        </p:txBody>
      </p:sp>
      <p:sp>
        <p:nvSpPr>
          <p:cNvPr id="4" name="TextBox 3">
            <a:extLst>
              <a:ext uri="{FF2B5EF4-FFF2-40B4-BE49-F238E27FC236}">
                <a16:creationId xmlns:a16="http://schemas.microsoft.com/office/drawing/2014/main" id="{921B4F93-F2A2-AB46-16B9-0930572C2880}"/>
              </a:ext>
            </a:extLst>
          </p:cNvPr>
          <p:cNvSpPr txBox="1"/>
          <p:nvPr/>
        </p:nvSpPr>
        <p:spPr>
          <a:xfrm>
            <a:off x="975360" y="2397760"/>
            <a:ext cx="10027920" cy="1754326"/>
          </a:xfrm>
          <a:prstGeom prst="rect">
            <a:avLst/>
          </a:prstGeom>
          <a:noFill/>
        </p:spPr>
        <p:txBody>
          <a:bodyPr wrap="square" rtlCol="0">
            <a:spAutoFit/>
          </a:bodyPr>
          <a:lstStyle/>
          <a:p>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bioinf</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tsackton@holybioinf</a:t>
            </a:r>
            <a:r>
              <a:rPr lang="en-US" b="1" dirty="0">
                <a:latin typeface="Courier New" panose="02070309020205020404" pitchFamily="49" charset="0"/>
                <a:cs typeface="Courier New" panose="02070309020205020404" pitchFamily="49" charset="0"/>
              </a:rPr>
              <a:t> testing % </a:t>
            </a:r>
            <a:r>
              <a:rPr lang="en-US" b="1" dirty="0" err="1">
                <a:latin typeface="Courier New" panose="02070309020205020404" pitchFamily="49" charset="0"/>
                <a:cs typeface="Courier New" panose="02070309020205020404" pitchFamily="49" charset="0"/>
              </a:rPr>
              <a:t>bedtools</a:t>
            </a:r>
            <a:r>
              <a:rPr lang="en-US" b="1" dirty="0">
                <a:latin typeface="Courier New" panose="02070309020205020404" pitchFamily="49" charset="0"/>
                <a:cs typeface="Courier New" panose="02070309020205020404" pitchFamily="49" charset="0"/>
              </a:rPr>
              <a:t> merge -</a:t>
            </a:r>
            <a:r>
              <a:rPr lang="en-US" b="1" dirty="0" err="1">
                <a:latin typeface="Courier New" panose="02070309020205020404" pitchFamily="49" charset="0"/>
                <a:cs typeface="Courier New" panose="02070309020205020404" pitchFamily="49" charset="0"/>
              </a:rPr>
              <a:t>i</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bedtest.bed</a:t>
            </a:r>
            <a:br>
              <a:rPr lang="en-US" b="1" dirty="0">
                <a:latin typeface="Courier New" panose="02070309020205020404" pitchFamily="49" charset="0"/>
                <a:cs typeface="Courier New" panose="02070309020205020404" pitchFamily="49" charset="0"/>
              </a:rPr>
            </a:b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ERROR: file </a:t>
            </a:r>
            <a:r>
              <a:rPr lang="en-US" b="1" dirty="0" err="1">
                <a:latin typeface="Courier New" panose="02070309020205020404" pitchFamily="49" charset="0"/>
                <a:cs typeface="Courier New" panose="02070309020205020404" pitchFamily="49" charset="0"/>
              </a:rPr>
              <a:t>bedtest.bed</a:t>
            </a:r>
            <a:r>
              <a:rPr lang="en-US" b="1" dirty="0">
                <a:latin typeface="Courier New" panose="02070309020205020404" pitchFamily="49" charset="0"/>
                <a:cs typeface="Courier New" panose="02070309020205020404" pitchFamily="49" charset="0"/>
              </a:rPr>
              <a:t> has non positional records, which are only valid for the </a:t>
            </a:r>
            <a:r>
              <a:rPr lang="en-US" b="1" dirty="0" err="1">
                <a:latin typeface="Courier New" panose="02070309020205020404" pitchFamily="49" charset="0"/>
                <a:cs typeface="Courier New" panose="02070309020205020404" pitchFamily="49" charset="0"/>
              </a:rPr>
              <a:t>groupBy</a:t>
            </a:r>
            <a:r>
              <a:rPr lang="en-US" b="1" dirty="0">
                <a:latin typeface="Courier New" panose="02070309020205020404" pitchFamily="49" charset="0"/>
                <a:cs typeface="Courier New" panose="02070309020205020404" pitchFamily="49" charset="0"/>
              </a:rPr>
              <a:t> tool.</a:t>
            </a:r>
          </a:p>
          <a:p>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291275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2ECA6-C57F-9D9E-44D5-35DCF4F31789}"/>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615F42DA-0E17-035C-7783-55D518A51BE8}"/>
              </a:ext>
            </a:extLst>
          </p:cNvPr>
          <p:cNvSpPr/>
          <p:nvPr/>
        </p:nvSpPr>
        <p:spPr>
          <a:xfrm>
            <a:off x="274795" y="589480"/>
            <a:ext cx="10205635" cy="758674"/>
          </a:xfrm>
          <a:prstGeom prst="rect">
            <a:avLst/>
          </a:prstGeom>
          <a:noFill/>
          <a:ln/>
        </p:spPr>
        <p:txBody>
          <a:bodyPr wrap="square" lIns="254" tIns="254" rIns="254" bIns="254" rtlCol="0" anchor="t">
            <a:noAutofit/>
          </a:bodyPr>
          <a:lstStyle/>
          <a:p>
            <a:pPr>
              <a:buSzPct val="100000"/>
            </a:pPr>
            <a:r>
              <a:rPr lang="en-US" sz="3600" dirty="0">
                <a:solidFill>
                  <a:srgbClr val="1F2937"/>
                </a:solidFill>
                <a:latin typeface="Aptos" pitchFamily="34" charset="0"/>
                <a:ea typeface="Aptos" pitchFamily="34" charset="-122"/>
                <a:cs typeface="Aptos" pitchFamily="34" charset="-120"/>
              </a:rPr>
              <a:t>Scenario 2: What does this error message mean?</a:t>
            </a:r>
          </a:p>
        </p:txBody>
      </p:sp>
      <p:sp>
        <p:nvSpPr>
          <p:cNvPr id="2" name="TextBox 1">
            <a:extLst>
              <a:ext uri="{FF2B5EF4-FFF2-40B4-BE49-F238E27FC236}">
                <a16:creationId xmlns:a16="http://schemas.microsoft.com/office/drawing/2014/main" id="{6F52FDBD-ADBF-041D-BE72-D126B2C2BC0F}"/>
              </a:ext>
            </a:extLst>
          </p:cNvPr>
          <p:cNvSpPr txBox="1"/>
          <p:nvPr/>
        </p:nvSpPr>
        <p:spPr>
          <a:xfrm>
            <a:off x="873760" y="2021840"/>
            <a:ext cx="10112127" cy="1200329"/>
          </a:xfrm>
          <a:prstGeom prst="rect">
            <a:avLst/>
          </a:prstGeom>
          <a:noFill/>
        </p:spPr>
        <p:txBody>
          <a:bodyPr wrap="none" rtlCol="0">
            <a:spAutoFit/>
          </a:bodyPr>
          <a:lstStyle/>
          <a:p>
            <a:r>
              <a:rPr lang="en-US" sz="2400" dirty="0"/>
              <a:t>I ran a long pipeline with many steps and it failed somewhere in the middle. </a:t>
            </a:r>
          </a:p>
          <a:p>
            <a:endParaRPr lang="en-US" sz="2400" dirty="0"/>
          </a:p>
          <a:p>
            <a:r>
              <a:rPr lang="en-US" sz="2400" dirty="0"/>
              <a:t>The error log is long and I don’t know where to start…</a:t>
            </a:r>
          </a:p>
        </p:txBody>
      </p:sp>
    </p:spTree>
    <p:extLst>
      <p:ext uri="{BB962C8B-B14F-4D97-AF65-F5344CB8AC3E}">
        <p14:creationId xmlns:p14="http://schemas.microsoft.com/office/powerpoint/2010/main" val="28068155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FA11-1F9E-EE25-697C-59D8318B5330}"/>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8A59029A-BABD-99C8-4096-F57F7C7D3197}"/>
              </a:ext>
            </a:extLst>
          </p:cNvPr>
          <p:cNvSpPr/>
          <p:nvPr/>
        </p:nvSpPr>
        <p:spPr>
          <a:xfrm>
            <a:off x="274795" y="589480"/>
            <a:ext cx="10205635" cy="758674"/>
          </a:xfrm>
          <a:prstGeom prst="rect">
            <a:avLst/>
          </a:prstGeom>
          <a:noFill/>
          <a:ln/>
        </p:spPr>
        <p:txBody>
          <a:bodyPr wrap="square" lIns="254" tIns="254" rIns="254" bIns="254" rtlCol="0" anchor="t">
            <a:noAutofit/>
          </a:bodyPr>
          <a:lstStyle/>
          <a:p>
            <a:pPr>
              <a:buSzPct val="100000"/>
            </a:pPr>
            <a:r>
              <a:rPr lang="en-US" sz="3600" dirty="0">
                <a:solidFill>
                  <a:srgbClr val="1F2937"/>
                </a:solidFill>
                <a:latin typeface="Aptos" pitchFamily="34" charset="0"/>
                <a:ea typeface="Aptos" pitchFamily="34" charset="-122"/>
                <a:cs typeface="Aptos" pitchFamily="34" charset="-120"/>
              </a:rPr>
              <a:t>Other Chatbot Comments</a:t>
            </a:r>
          </a:p>
        </p:txBody>
      </p:sp>
      <p:sp>
        <p:nvSpPr>
          <p:cNvPr id="2" name="TextBox 1">
            <a:extLst>
              <a:ext uri="{FF2B5EF4-FFF2-40B4-BE49-F238E27FC236}">
                <a16:creationId xmlns:a16="http://schemas.microsoft.com/office/drawing/2014/main" id="{01C3B1EF-B54C-C412-16A6-E249A132257F}"/>
              </a:ext>
            </a:extLst>
          </p:cNvPr>
          <p:cNvSpPr txBox="1"/>
          <p:nvPr/>
        </p:nvSpPr>
        <p:spPr>
          <a:xfrm>
            <a:off x="768626" y="1563757"/>
            <a:ext cx="10270435" cy="3693319"/>
          </a:xfrm>
          <a:prstGeom prst="rect">
            <a:avLst/>
          </a:prstGeom>
          <a:noFill/>
        </p:spPr>
        <p:txBody>
          <a:bodyPr wrap="square" rtlCol="0">
            <a:spAutoFit/>
          </a:bodyPr>
          <a:lstStyle/>
          <a:p>
            <a:r>
              <a:rPr lang="en-US" dirty="0"/>
              <a:t>Good for helping generate a one-liner, explaining code snippets, Bash scripting, finding the right tool for a task. </a:t>
            </a:r>
          </a:p>
          <a:p>
            <a:endParaRPr lang="en-US" dirty="0"/>
          </a:p>
          <a:p>
            <a:r>
              <a:rPr lang="en-US" dirty="0"/>
              <a:t>Accuracy is not 100%, though at least the frontier models with reasoning effort hallucinate much less than they did even a few months ago. You need to develop an intuition for when the AI is on the wrong track. </a:t>
            </a:r>
          </a:p>
          <a:p>
            <a:endParaRPr lang="en-US" dirty="0"/>
          </a:p>
          <a:p>
            <a:r>
              <a:rPr lang="en-US" dirty="0"/>
              <a:t>LLMs can be weirdly “human-like” in their responses, and weirdly “not-computer-like”. For example, sometimes things like “can you double-check that”, or “please show me your sources for that” will fix mistakes. We are not used to having to tell computers to double-check their work.</a:t>
            </a:r>
          </a:p>
          <a:p>
            <a:endParaRPr lang="en-US" dirty="0"/>
          </a:p>
          <a:p>
            <a:r>
              <a:rPr lang="en-US" dirty="0"/>
              <a:t>For complex data analysis or coding tasks, it is it better to use tools that can run code, either in a sandbox or on your computer.  </a:t>
            </a:r>
          </a:p>
        </p:txBody>
      </p:sp>
    </p:spTree>
    <p:extLst>
      <p:ext uri="{BB962C8B-B14F-4D97-AF65-F5344CB8AC3E}">
        <p14:creationId xmlns:p14="http://schemas.microsoft.com/office/powerpoint/2010/main" val="41940551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F043D-B505-4768-BD4E-270BA7C48C7B}"/>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438D4A4-A90F-AD37-D3DC-0FC17C514832}"/>
              </a:ext>
            </a:extLst>
          </p:cNvPr>
          <p:cNvSpPr/>
          <p:nvPr/>
        </p:nvSpPr>
        <p:spPr>
          <a:xfrm>
            <a:off x="1083688" y="2007972"/>
            <a:ext cx="10309242" cy="3601995"/>
          </a:xfrm>
          <a:prstGeom prst="rect">
            <a:avLst/>
          </a:prstGeom>
          <a:noFill/>
          <a:ln/>
        </p:spPr>
        <p:txBody>
          <a:bodyPr wrap="square" lIns="254" tIns="254" rIns="254" bIns="254" rtlCol="0" anchor="t">
            <a:noAutofit/>
          </a:bodyPr>
          <a:lstStyle/>
          <a:p>
            <a:pPr marL="514350" indent="-514350">
              <a:buSzPct val="100000"/>
              <a:buAutoNum type="arabicParenBoth"/>
            </a:pPr>
            <a:r>
              <a:rPr lang="en-US" sz="3600" dirty="0">
                <a:solidFill>
                  <a:srgbClr val="1F2937"/>
                </a:solidFill>
                <a:latin typeface="Aptos" pitchFamily="34" charset="0"/>
                <a:ea typeface="Aptos" pitchFamily="34" charset="-122"/>
                <a:cs typeface="Aptos" pitchFamily="34" charset="-120"/>
              </a:rPr>
              <a:t> “Debugging bioinformatics” with chatbots</a:t>
            </a:r>
          </a:p>
          <a:p>
            <a:pPr marL="514350" indent="-514350">
              <a:buSzPct val="100000"/>
              <a:buAutoNum type="arabicParenBoth"/>
            </a:pPr>
            <a:endParaRPr lang="en-US" sz="3600" dirty="0">
              <a:solidFill>
                <a:srgbClr val="1F2937"/>
              </a:solidFill>
              <a:latin typeface="Aptos" pitchFamily="34" charset="0"/>
              <a:ea typeface="Aptos" pitchFamily="34" charset="-122"/>
              <a:cs typeface="Aptos" pitchFamily="34" charset="-120"/>
            </a:endParaRPr>
          </a:p>
          <a:p>
            <a:pPr marL="514350" indent="-514350">
              <a:buSzPct val="100000"/>
              <a:buAutoNum type="arabicParenBoth"/>
            </a:pPr>
            <a:r>
              <a:rPr lang="en-US" sz="3600" b="1" dirty="0">
                <a:solidFill>
                  <a:srgbClr val="1F2937"/>
                </a:solidFill>
                <a:latin typeface="Aptos" pitchFamily="34" charset="0"/>
                <a:ea typeface="Aptos" pitchFamily="34" charset="-122"/>
                <a:cs typeface="Aptos" pitchFamily="34" charset="-120"/>
              </a:rPr>
              <a:t> Interactive data analysis</a:t>
            </a:r>
          </a:p>
          <a:p>
            <a:pPr marL="514350" indent="-514350">
              <a:buSzPct val="100000"/>
              <a:buAutoNum type="arabicParenBoth"/>
            </a:pPr>
            <a:endParaRPr lang="en-US" sz="3600" dirty="0">
              <a:solidFill>
                <a:srgbClr val="1F2937"/>
              </a:solidFill>
              <a:latin typeface="Aptos" pitchFamily="34" charset="0"/>
              <a:ea typeface="Aptos" pitchFamily="34" charset="-122"/>
              <a:cs typeface="Aptos" pitchFamily="34" charset="-120"/>
            </a:endParaRPr>
          </a:p>
          <a:p>
            <a:pPr marL="514350" indent="-514350">
              <a:buSzPct val="100000"/>
              <a:buAutoNum type="arabicParenBoth"/>
            </a:pPr>
            <a:r>
              <a:rPr lang="en-US" sz="3600" dirty="0">
                <a:solidFill>
                  <a:srgbClr val="1F2937"/>
                </a:solidFill>
                <a:latin typeface="Aptos" pitchFamily="34" charset="0"/>
                <a:ea typeface="Aptos" pitchFamily="34" charset="-122"/>
                <a:cs typeface="Aptos" pitchFamily="34" charset="-120"/>
              </a:rPr>
              <a:t> Agentic coding for tool and workflow development</a:t>
            </a:r>
            <a:endParaRPr lang="en-US" sz="3600" dirty="0"/>
          </a:p>
        </p:txBody>
      </p:sp>
    </p:spTree>
    <p:extLst>
      <p:ext uri="{BB962C8B-B14F-4D97-AF65-F5344CB8AC3E}">
        <p14:creationId xmlns:p14="http://schemas.microsoft.com/office/powerpoint/2010/main" val="2403274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AC1EA-40F1-F02F-2394-8606B70CEF48}"/>
            </a:ext>
          </a:extLst>
        </p:cNvPr>
        <p:cNvGrpSpPr/>
        <p:nvPr/>
      </p:nvGrpSpPr>
      <p:grpSpPr>
        <a:xfrm>
          <a:off x="0" y="0"/>
          <a:ext cx="0" cy="0"/>
          <a:chOff x="0" y="0"/>
          <a:chExt cx="0" cy="0"/>
        </a:xfrm>
      </p:grpSpPr>
      <p:pic>
        <p:nvPicPr>
          <p:cNvPr id="4" name="Picture 3" descr="A cover of a book&#10;&#10;AI-generated content may be incorrect.">
            <a:extLst>
              <a:ext uri="{FF2B5EF4-FFF2-40B4-BE49-F238E27FC236}">
                <a16:creationId xmlns:a16="http://schemas.microsoft.com/office/drawing/2014/main" id="{7C03B870-6CF1-0ADE-0C7E-1B72B5E52690}"/>
              </a:ext>
            </a:extLst>
          </p:cNvPr>
          <p:cNvPicPr>
            <a:picLocks noChangeAspect="1"/>
          </p:cNvPicPr>
          <p:nvPr/>
        </p:nvPicPr>
        <p:blipFill>
          <a:blip r:embed="rId3"/>
          <a:stretch>
            <a:fillRect/>
          </a:stretch>
        </p:blipFill>
        <p:spPr>
          <a:xfrm>
            <a:off x="360218" y="0"/>
            <a:ext cx="4572000" cy="6858000"/>
          </a:xfrm>
          <a:prstGeom prst="rect">
            <a:avLst/>
          </a:prstGeom>
        </p:spPr>
      </p:pic>
      <p:sp>
        <p:nvSpPr>
          <p:cNvPr id="5" name="TextBox 4">
            <a:extLst>
              <a:ext uri="{FF2B5EF4-FFF2-40B4-BE49-F238E27FC236}">
                <a16:creationId xmlns:a16="http://schemas.microsoft.com/office/drawing/2014/main" id="{9990DE1F-59D9-35DF-876A-D4F13D6564A2}"/>
              </a:ext>
            </a:extLst>
          </p:cNvPr>
          <p:cNvSpPr txBox="1"/>
          <p:nvPr/>
        </p:nvSpPr>
        <p:spPr>
          <a:xfrm>
            <a:off x="5721927" y="1136073"/>
            <a:ext cx="5514109" cy="2062103"/>
          </a:xfrm>
          <a:prstGeom prst="rect">
            <a:avLst/>
          </a:prstGeom>
          <a:noFill/>
        </p:spPr>
        <p:txBody>
          <a:bodyPr wrap="square" rtlCol="0">
            <a:spAutoFit/>
          </a:bodyPr>
          <a:lstStyle/>
          <a:p>
            <a:r>
              <a:rPr lang="en-US" sz="3200" dirty="0"/>
              <a:t>Location, color, and many other observations on squirrel sightings in Central Park in 2018</a:t>
            </a:r>
          </a:p>
        </p:txBody>
      </p:sp>
    </p:spTree>
    <p:extLst>
      <p:ext uri="{BB962C8B-B14F-4D97-AF65-F5344CB8AC3E}">
        <p14:creationId xmlns:p14="http://schemas.microsoft.com/office/powerpoint/2010/main" val="1656037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51B23-B370-4F7A-9AF9-8259C8AEF4FC}"/>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9122076E-52AC-B9F6-B71F-73DBA61F20AF}"/>
              </a:ext>
            </a:extLst>
          </p:cNvPr>
          <p:cNvSpPr/>
          <p:nvPr/>
        </p:nvSpPr>
        <p:spPr>
          <a:xfrm>
            <a:off x="1083688" y="2007972"/>
            <a:ext cx="10309242" cy="3601995"/>
          </a:xfrm>
          <a:prstGeom prst="rect">
            <a:avLst/>
          </a:prstGeom>
          <a:noFill/>
          <a:ln/>
        </p:spPr>
        <p:txBody>
          <a:bodyPr wrap="square" lIns="254" tIns="254" rIns="254" bIns="254" rtlCol="0" anchor="t">
            <a:noAutofit/>
          </a:bodyPr>
          <a:lstStyle/>
          <a:p>
            <a:pPr marL="514350" indent="-514350">
              <a:buSzPct val="100000"/>
              <a:buAutoNum type="arabicParenBoth"/>
            </a:pPr>
            <a:r>
              <a:rPr lang="en-US" sz="3600" dirty="0">
                <a:solidFill>
                  <a:srgbClr val="1F2937"/>
                </a:solidFill>
                <a:latin typeface="Aptos" pitchFamily="34" charset="0"/>
                <a:ea typeface="Aptos" pitchFamily="34" charset="-122"/>
                <a:cs typeface="Aptos" pitchFamily="34" charset="-120"/>
              </a:rPr>
              <a:t> “Debugging bioinformatics” with chatbots</a:t>
            </a:r>
          </a:p>
          <a:p>
            <a:pPr marL="514350" indent="-514350">
              <a:buSzPct val="100000"/>
              <a:buAutoNum type="arabicParenBoth"/>
            </a:pPr>
            <a:endParaRPr lang="en-US" sz="3600" dirty="0">
              <a:solidFill>
                <a:srgbClr val="1F2937"/>
              </a:solidFill>
              <a:latin typeface="Aptos" pitchFamily="34" charset="0"/>
              <a:ea typeface="Aptos" pitchFamily="34" charset="-122"/>
              <a:cs typeface="Aptos" pitchFamily="34" charset="-120"/>
            </a:endParaRPr>
          </a:p>
          <a:p>
            <a:pPr marL="514350" indent="-514350">
              <a:buSzPct val="100000"/>
              <a:buAutoNum type="arabicParenBoth"/>
            </a:pPr>
            <a:r>
              <a:rPr lang="en-US" sz="3600" dirty="0">
                <a:solidFill>
                  <a:srgbClr val="1F2937"/>
                </a:solidFill>
                <a:latin typeface="Aptos" pitchFamily="34" charset="0"/>
                <a:ea typeface="Aptos" pitchFamily="34" charset="-122"/>
                <a:cs typeface="Aptos" pitchFamily="34" charset="-120"/>
              </a:rPr>
              <a:t> Interactive data analysis</a:t>
            </a:r>
          </a:p>
          <a:p>
            <a:pPr marL="514350" indent="-514350">
              <a:buSzPct val="100000"/>
              <a:buAutoNum type="arabicParenBoth"/>
            </a:pPr>
            <a:endParaRPr lang="en-US" sz="3600" dirty="0">
              <a:solidFill>
                <a:srgbClr val="1F2937"/>
              </a:solidFill>
              <a:latin typeface="Aptos" pitchFamily="34" charset="0"/>
              <a:ea typeface="Aptos" pitchFamily="34" charset="-122"/>
              <a:cs typeface="Aptos" pitchFamily="34" charset="-120"/>
            </a:endParaRPr>
          </a:p>
          <a:p>
            <a:pPr marL="514350" indent="-514350">
              <a:buSzPct val="100000"/>
              <a:buAutoNum type="arabicParenBoth"/>
            </a:pPr>
            <a:r>
              <a:rPr lang="en-US" sz="3600" b="1" dirty="0">
                <a:solidFill>
                  <a:srgbClr val="1F2937"/>
                </a:solidFill>
                <a:latin typeface="Aptos" pitchFamily="34" charset="0"/>
                <a:ea typeface="Aptos" pitchFamily="34" charset="-122"/>
                <a:cs typeface="Aptos" pitchFamily="34" charset="-120"/>
              </a:rPr>
              <a:t> Agentic coding for tool and workflow development</a:t>
            </a:r>
            <a:endParaRPr lang="en-US" sz="3600" b="1" dirty="0"/>
          </a:p>
        </p:txBody>
      </p:sp>
    </p:spTree>
    <p:extLst>
      <p:ext uri="{BB962C8B-B14F-4D97-AF65-F5344CB8AC3E}">
        <p14:creationId xmlns:p14="http://schemas.microsoft.com/office/powerpoint/2010/main" val="25056082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44163-C923-CD40-37A8-62FEC68964D2}"/>
            </a:ext>
          </a:extLst>
        </p:cNvPr>
        <p:cNvGrpSpPr/>
        <p:nvPr/>
      </p:nvGrpSpPr>
      <p:grpSpPr>
        <a:xfrm>
          <a:off x="0" y="0"/>
          <a:ext cx="0" cy="0"/>
          <a:chOff x="0" y="0"/>
          <a:chExt cx="0" cy="0"/>
        </a:xfrm>
      </p:grpSpPr>
      <p:pic>
        <p:nvPicPr>
          <p:cNvPr id="4" name="Picture 3" descr="A rocket launching from a factory&#10;&#10;AI-generated content may be incorrect.">
            <a:extLst>
              <a:ext uri="{FF2B5EF4-FFF2-40B4-BE49-F238E27FC236}">
                <a16:creationId xmlns:a16="http://schemas.microsoft.com/office/drawing/2014/main" id="{0D624F48-2AD4-6014-800D-8EE7207CFA5E}"/>
              </a:ext>
            </a:extLst>
          </p:cNvPr>
          <p:cNvPicPr>
            <a:picLocks noChangeAspect="1"/>
          </p:cNvPicPr>
          <p:nvPr/>
        </p:nvPicPr>
        <p:blipFill>
          <a:blip r:embed="rId3"/>
          <a:stretch>
            <a:fillRect/>
          </a:stretch>
        </p:blipFill>
        <p:spPr>
          <a:xfrm>
            <a:off x="487680" y="243840"/>
            <a:ext cx="4260427" cy="6390640"/>
          </a:xfrm>
          <a:prstGeom prst="rect">
            <a:avLst/>
          </a:prstGeom>
        </p:spPr>
      </p:pic>
      <p:sp>
        <p:nvSpPr>
          <p:cNvPr id="5" name="TextBox 4">
            <a:extLst>
              <a:ext uri="{FF2B5EF4-FFF2-40B4-BE49-F238E27FC236}">
                <a16:creationId xmlns:a16="http://schemas.microsoft.com/office/drawing/2014/main" id="{092A5D94-7780-4762-9C42-8A072D3B9C9C}"/>
              </a:ext>
            </a:extLst>
          </p:cNvPr>
          <p:cNvSpPr txBox="1"/>
          <p:nvPr/>
        </p:nvSpPr>
        <p:spPr>
          <a:xfrm>
            <a:off x="5588000" y="711200"/>
            <a:ext cx="5963920" cy="3970318"/>
          </a:xfrm>
          <a:prstGeom prst="rect">
            <a:avLst/>
          </a:prstGeom>
          <a:noFill/>
        </p:spPr>
        <p:txBody>
          <a:bodyPr wrap="square" rtlCol="0">
            <a:spAutoFit/>
          </a:bodyPr>
          <a:lstStyle/>
          <a:p>
            <a:r>
              <a:rPr lang="en-US" sz="2800" dirty="0"/>
              <a:t>If you spend much time in certain corners of the internet, or know any software developers, the current AI moment can feel like a rocket taking off.</a:t>
            </a:r>
          </a:p>
          <a:p>
            <a:endParaRPr lang="en-US" sz="2800" dirty="0"/>
          </a:p>
          <a:p>
            <a:r>
              <a:rPr lang="en-US" sz="2800" dirty="0"/>
              <a:t>Perhaps we are blasting off for the Moon and beyond, but it it also feels like the rocket is still half-finished.</a:t>
            </a:r>
          </a:p>
        </p:txBody>
      </p:sp>
      <p:sp>
        <p:nvSpPr>
          <p:cNvPr id="6" name="TextBox 5">
            <a:extLst>
              <a:ext uri="{FF2B5EF4-FFF2-40B4-BE49-F238E27FC236}">
                <a16:creationId xmlns:a16="http://schemas.microsoft.com/office/drawing/2014/main" id="{D45B7CED-471B-586C-764E-1ABEB9D54235}"/>
              </a:ext>
            </a:extLst>
          </p:cNvPr>
          <p:cNvSpPr txBox="1"/>
          <p:nvPr/>
        </p:nvSpPr>
        <p:spPr>
          <a:xfrm>
            <a:off x="9820081" y="6403716"/>
            <a:ext cx="2201693" cy="369332"/>
          </a:xfrm>
          <a:prstGeom prst="rect">
            <a:avLst/>
          </a:prstGeom>
          <a:noFill/>
        </p:spPr>
        <p:txBody>
          <a:bodyPr wrap="none" rtlCol="0">
            <a:spAutoFit/>
          </a:bodyPr>
          <a:lstStyle/>
          <a:p>
            <a:r>
              <a:rPr lang="en-US" dirty="0"/>
              <a:t>Image: ChatGPT 5.4</a:t>
            </a:r>
          </a:p>
        </p:txBody>
      </p:sp>
    </p:spTree>
    <p:extLst>
      <p:ext uri="{BB962C8B-B14F-4D97-AF65-F5344CB8AC3E}">
        <p14:creationId xmlns:p14="http://schemas.microsoft.com/office/powerpoint/2010/main" val="2589504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58907-6754-6A0D-1960-F81F72C9674A}"/>
            </a:ext>
          </a:extLst>
        </p:cNvPr>
        <p:cNvGrpSpPr/>
        <p:nvPr/>
      </p:nvGrpSpPr>
      <p:grpSpPr>
        <a:xfrm>
          <a:off x="0" y="0"/>
          <a:ext cx="0" cy="0"/>
          <a:chOff x="0" y="0"/>
          <a:chExt cx="0" cy="0"/>
        </a:xfrm>
      </p:grpSpPr>
      <p:sp>
        <p:nvSpPr>
          <p:cNvPr id="7" name="Text 1">
            <a:extLst>
              <a:ext uri="{FF2B5EF4-FFF2-40B4-BE49-F238E27FC236}">
                <a16:creationId xmlns:a16="http://schemas.microsoft.com/office/drawing/2014/main" id="{5315111B-2FBD-162D-1CC4-92B46B6D45A5}"/>
              </a:ext>
            </a:extLst>
          </p:cNvPr>
          <p:cNvSpPr/>
          <p:nvPr/>
        </p:nvSpPr>
        <p:spPr>
          <a:xfrm>
            <a:off x="274795" y="589480"/>
            <a:ext cx="10205635" cy="758674"/>
          </a:xfrm>
          <a:prstGeom prst="rect">
            <a:avLst/>
          </a:prstGeom>
          <a:noFill/>
          <a:ln/>
        </p:spPr>
        <p:txBody>
          <a:bodyPr wrap="square" lIns="254" tIns="254" rIns="254" bIns="254" rtlCol="0" anchor="t">
            <a:noAutofit/>
          </a:bodyPr>
          <a:lstStyle/>
          <a:p>
            <a:pPr>
              <a:buSzPct val="100000"/>
            </a:pPr>
            <a:r>
              <a:rPr lang="en-US" sz="3600" dirty="0">
                <a:solidFill>
                  <a:srgbClr val="1F2937"/>
                </a:solidFill>
                <a:latin typeface="Aptos" pitchFamily="34" charset="0"/>
                <a:ea typeface="Aptos" pitchFamily="34" charset="-122"/>
                <a:cs typeface="Aptos" pitchFamily="34" charset="-120"/>
              </a:rPr>
              <a:t>Point #1: Test-Driven Development</a:t>
            </a:r>
          </a:p>
        </p:txBody>
      </p:sp>
      <p:pic>
        <p:nvPicPr>
          <p:cNvPr id="9" name="Picture 8" descr="A cartoon of a white car and a white car on a road&#10;&#10;AI-generated content may be incorrect.">
            <a:extLst>
              <a:ext uri="{FF2B5EF4-FFF2-40B4-BE49-F238E27FC236}">
                <a16:creationId xmlns:a16="http://schemas.microsoft.com/office/drawing/2014/main" id="{F0A1C581-1E73-B91D-B204-1E11CCE1CF23}"/>
              </a:ext>
            </a:extLst>
          </p:cNvPr>
          <p:cNvPicPr>
            <a:picLocks noChangeAspect="1"/>
          </p:cNvPicPr>
          <p:nvPr/>
        </p:nvPicPr>
        <p:blipFill>
          <a:blip r:embed="rId3"/>
          <a:stretch>
            <a:fillRect/>
          </a:stretch>
        </p:blipFill>
        <p:spPr>
          <a:xfrm>
            <a:off x="1036320" y="1244600"/>
            <a:ext cx="7772400" cy="5181600"/>
          </a:xfrm>
          <a:prstGeom prst="rect">
            <a:avLst/>
          </a:prstGeom>
        </p:spPr>
      </p:pic>
      <p:sp>
        <p:nvSpPr>
          <p:cNvPr id="10" name="TextBox 9">
            <a:extLst>
              <a:ext uri="{FF2B5EF4-FFF2-40B4-BE49-F238E27FC236}">
                <a16:creationId xmlns:a16="http://schemas.microsoft.com/office/drawing/2014/main" id="{DA3F1B81-1820-609D-8BCD-182E12511242}"/>
              </a:ext>
            </a:extLst>
          </p:cNvPr>
          <p:cNvSpPr txBox="1"/>
          <p:nvPr/>
        </p:nvSpPr>
        <p:spPr>
          <a:xfrm>
            <a:off x="9820081" y="6403716"/>
            <a:ext cx="2201693" cy="369332"/>
          </a:xfrm>
          <a:prstGeom prst="rect">
            <a:avLst/>
          </a:prstGeom>
          <a:noFill/>
        </p:spPr>
        <p:txBody>
          <a:bodyPr wrap="none" rtlCol="0">
            <a:spAutoFit/>
          </a:bodyPr>
          <a:lstStyle/>
          <a:p>
            <a:r>
              <a:rPr lang="en-US" dirty="0"/>
              <a:t>Image: ChatGPT 5.4</a:t>
            </a:r>
          </a:p>
        </p:txBody>
      </p:sp>
      <p:sp>
        <p:nvSpPr>
          <p:cNvPr id="11" name="TextBox 10">
            <a:extLst>
              <a:ext uri="{FF2B5EF4-FFF2-40B4-BE49-F238E27FC236}">
                <a16:creationId xmlns:a16="http://schemas.microsoft.com/office/drawing/2014/main" id="{3D94E645-2021-64B1-899D-BF045DE38A74}"/>
              </a:ext>
            </a:extLst>
          </p:cNvPr>
          <p:cNvSpPr txBox="1"/>
          <p:nvPr/>
        </p:nvSpPr>
        <p:spPr>
          <a:xfrm>
            <a:off x="9235440" y="1666240"/>
            <a:ext cx="2387600" cy="1569660"/>
          </a:xfrm>
          <a:prstGeom prst="rect">
            <a:avLst/>
          </a:prstGeom>
          <a:noFill/>
        </p:spPr>
        <p:txBody>
          <a:bodyPr wrap="square" rtlCol="0">
            <a:spAutoFit/>
          </a:bodyPr>
          <a:lstStyle/>
          <a:p>
            <a:r>
              <a:rPr lang="en-US" sz="2400" dirty="0"/>
              <a:t>Agentic tools do better when they can verify their outputs.</a:t>
            </a:r>
          </a:p>
        </p:txBody>
      </p:sp>
    </p:spTree>
    <p:extLst>
      <p:ext uri="{BB962C8B-B14F-4D97-AF65-F5344CB8AC3E}">
        <p14:creationId xmlns:p14="http://schemas.microsoft.com/office/powerpoint/2010/main" val="36229070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81583-E6E3-2975-5AEE-DDDD7AC5111F}"/>
            </a:ext>
          </a:extLst>
        </p:cNvPr>
        <p:cNvGrpSpPr/>
        <p:nvPr/>
      </p:nvGrpSpPr>
      <p:grpSpPr>
        <a:xfrm>
          <a:off x="0" y="0"/>
          <a:ext cx="0" cy="0"/>
          <a:chOff x="0" y="0"/>
          <a:chExt cx="0" cy="0"/>
        </a:xfrm>
      </p:grpSpPr>
      <p:sp>
        <p:nvSpPr>
          <p:cNvPr id="7" name="Text 1">
            <a:extLst>
              <a:ext uri="{FF2B5EF4-FFF2-40B4-BE49-F238E27FC236}">
                <a16:creationId xmlns:a16="http://schemas.microsoft.com/office/drawing/2014/main" id="{393B1E05-BE04-18C0-4E8C-AB5ED8B976A6}"/>
              </a:ext>
            </a:extLst>
          </p:cNvPr>
          <p:cNvSpPr/>
          <p:nvPr/>
        </p:nvSpPr>
        <p:spPr>
          <a:xfrm>
            <a:off x="274795" y="589480"/>
            <a:ext cx="10205635" cy="758674"/>
          </a:xfrm>
          <a:prstGeom prst="rect">
            <a:avLst/>
          </a:prstGeom>
          <a:noFill/>
          <a:ln/>
        </p:spPr>
        <p:txBody>
          <a:bodyPr wrap="square" lIns="254" tIns="254" rIns="254" bIns="254" rtlCol="0" anchor="t">
            <a:noAutofit/>
          </a:bodyPr>
          <a:lstStyle/>
          <a:p>
            <a:pPr>
              <a:buSzPct val="100000"/>
            </a:pPr>
            <a:r>
              <a:rPr lang="en-US" sz="3600" dirty="0">
                <a:solidFill>
                  <a:srgbClr val="1F2937"/>
                </a:solidFill>
                <a:latin typeface="Aptos" pitchFamily="34" charset="0"/>
                <a:ea typeface="Aptos" pitchFamily="34" charset="-122"/>
                <a:cs typeface="Aptos" pitchFamily="34" charset="-120"/>
              </a:rPr>
              <a:t>Point #1: Test-Driven Development</a:t>
            </a:r>
          </a:p>
        </p:txBody>
      </p:sp>
      <p:sp>
        <p:nvSpPr>
          <p:cNvPr id="2" name="TextBox 1">
            <a:extLst>
              <a:ext uri="{FF2B5EF4-FFF2-40B4-BE49-F238E27FC236}">
                <a16:creationId xmlns:a16="http://schemas.microsoft.com/office/drawing/2014/main" id="{7207E3FD-13B1-8A8E-A192-E1898B12A873}"/>
              </a:ext>
            </a:extLst>
          </p:cNvPr>
          <p:cNvSpPr txBox="1"/>
          <p:nvPr/>
        </p:nvSpPr>
        <p:spPr>
          <a:xfrm>
            <a:off x="741680" y="1554480"/>
            <a:ext cx="10373360" cy="4832092"/>
          </a:xfrm>
          <a:prstGeom prst="rect">
            <a:avLst/>
          </a:prstGeom>
          <a:noFill/>
        </p:spPr>
        <p:txBody>
          <a:bodyPr wrap="square" rtlCol="0">
            <a:spAutoFit/>
          </a:bodyPr>
          <a:lstStyle/>
          <a:p>
            <a:r>
              <a:rPr lang="en-US" sz="2800" dirty="0"/>
              <a:t>A simple test: an input file and an output file that you know are correct.</a:t>
            </a:r>
          </a:p>
          <a:p>
            <a:endParaRPr lang="en-US" sz="2800" dirty="0"/>
          </a:p>
          <a:p>
            <a:r>
              <a:rPr lang="en-US" sz="2800" dirty="0"/>
              <a:t>More complicated: specific validated input/output pairs for specific functions.</a:t>
            </a:r>
          </a:p>
          <a:p>
            <a:endParaRPr lang="en-US" sz="2800" dirty="0"/>
          </a:p>
          <a:p>
            <a:r>
              <a:rPr lang="en-US" sz="2800" dirty="0"/>
              <a:t>Agents can bootstrap tests!</a:t>
            </a:r>
          </a:p>
          <a:p>
            <a:endParaRPr lang="en-US" sz="2800" dirty="0"/>
          </a:p>
          <a:p>
            <a:r>
              <a:rPr lang="en-US" sz="2800" dirty="0"/>
              <a:t>If you are fixing a bug: make a reproducible example first!</a:t>
            </a:r>
          </a:p>
          <a:p>
            <a:endParaRPr lang="en-US" sz="2800" dirty="0"/>
          </a:p>
          <a:p>
            <a:r>
              <a:rPr lang="en-US" sz="2800" dirty="0"/>
              <a:t>Verify outputs! Code that runs can still be wrong.</a:t>
            </a:r>
          </a:p>
        </p:txBody>
      </p:sp>
    </p:spTree>
    <p:extLst>
      <p:ext uri="{BB962C8B-B14F-4D97-AF65-F5344CB8AC3E}">
        <p14:creationId xmlns:p14="http://schemas.microsoft.com/office/powerpoint/2010/main" val="3823522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640080" y="640080"/>
            <a:ext cx="10789920" cy="457200"/>
          </a:xfrm>
          <a:prstGeom prst="rect">
            <a:avLst/>
          </a:prstGeom>
          <a:noFill/>
          <a:ln/>
        </p:spPr>
        <p:txBody>
          <a:bodyPr wrap="square" lIns="0" tIns="0" rIns="0" bIns="0" rtlCol="0" anchor="ctr"/>
          <a:lstStyle/>
          <a:p>
            <a:pPr marL="0" indent="0">
              <a:buNone/>
            </a:pPr>
            <a:r>
              <a:rPr lang="en-US" sz="3200" b="1" dirty="0">
                <a:solidFill>
                  <a:srgbClr val="1F2937"/>
                </a:solidFill>
                <a:latin typeface="Aptos Display" pitchFamily="34" charset="0"/>
                <a:ea typeface="Aptos Display" pitchFamily="34" charset="-122"/>
                <a:cs typeface="Aptos Display" pitchFamily="34" charset="-120"/>
              </a:rPr>
              <a:t>Example: Refactor a </a:t>
            </a:r>
            <a:r>
              <a:rPr lang="en-US" sz="3200" b="1" dirty="0" err="1">
                <a:solidFill>
                  <a:srgbClr val="1F2937"/>
                </a:solidFill>
                <a:latin typeface="Aptos Display" pitchFamily="34" charset="0"/>
                <a:ea typeface="Aptos Display" pitchFamily="34" charset="-122"/>
                <a:cs typeface="Aptos Display" pitchFamily="34" charset="-120"/>
              </a:rPr>
              <a:t>Jupyter</a:t>
            </a:r>
            <a:r>
              <a:rPr lang="en-US" sz="3200" b="1" dirty="0">
                <a:solidFill>
                  <a:srgbClr val="1F2937"/>
                </a:solidFill>
                <a:latin typeface="Aptos Display" pitchFamily="34" charset="0"/>
                <a:ea typeface="Aptos Display" pitchFamily="34" charset="-122"/>
                <a:cs typeface="Aptos Display" pitchFamily="34" charset="-120"/>
              </a:rPr>
              <a:t> Notebook into a script </a:t>
            </a:r>
            <a:endParaRPr lang="en-US" sz="3200" dirty="0"/>
          </a:p>
        </p:txBody>
      </p:sp>
      <p:pic>
        <p:nvPicPr>
          <p:cNvPr id="7" name="Picture 6" descr="A screenshot of a computer&#10;&#10;AI-generated content may be incorrect.">
            <a:extLst>
              <a:ext uri="{FF2B5EF4-FFF2-40B4-BE49-F238E27FC236}">
                <a16:creationId xmlns:a16="http://schemas.microsoft.com/office/drawing/2014/main" id="{FC658FC6-9760-DAAA-EB36-4DD4916EF059}"/>
              </a:ext>
            </a:extLst>
          </p:cNvPr>
          <p:cNvPicPr>
            <a:picLocks noChangeAspect="1"/>
          </p:cNvPicPr>
          <p:nvPr/>
        </p:nvPicPr>
        <p:blipFill>
          <a:blip r:embed="rId3"/>
          <a:srcRect l="51634" r="-1176"/>
          <a:stretch>
            <a:fillRect/>
          </a:stretch>
        </p:blipFill>
        <p:spPr>
          <a:xfrm>
            <a:off x="1584960" y="1153160"/>
            <a:ext cx="3850640" cy="5181600"/>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41E4DBF0-ADA6-3205-57D7-036F935A14F2}"/>
              </a:ext>
            </a:extLst>
          </p:cNvPr>
          <p:cNvPicPr>
            <a:picLocks noChangeAspect="1"/>
          </p:cNvPicPr>
          <p:nvPr/>
        </p:nvPicPr>
        <p:blipFill>
          <a:blip r:embed="rId3"/>
          <a:srcRect l="2876" r="51634"/>
          <a:stretch>
            <a:fillRect/>
          </a:stretch>
        </p:blipFill>
        <p:spPr>
          <a:xfrm>
            <a:off x="6858000" y="1193800"/>
            <a:ext cx="3535680" cy="5181600"/>
          </a:xfrm>
          <a:prstGeom prst="rect">
            <a:avLst/>
          </a:prstGeom>
        </p:spPr>
      </p:pic>
      <p:sp>
        <p:nvSpPr>
          <p:cNvPr id="9" name="Right Arrow 8">
            <a:extLst>
              <a:ext uri="{FF2B5EF4-FFF2-40B4-BE49-F238E27FC236}">
                <a16:creationId xmlns:a16="http://schemas.microsoft.com/office/drawing/2014/main" id="{3D7D33E2-50E4-18C8-FCFC-A49D472A9507}"/>
              </a:ext>
            </a:extLst>
          </p:cNvPr>
          <p:cNvSpPr/>
          <p:nvPr/>
        </p:nvSpPr>
        <p:spPr>
          <a:xfrm>
            <a:off x="5252720" y="3525520"/>
            <a:ext cx="1574800" cy="406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3A54D-BC18-6CD3-78C4-24CA0884B3A6}"/>
            </a:ext>
          </a:extLst>
        </p:cNvPr>
        <p:cNvGrpSpPr/>
        <p:nvPr/>
      </p:nvGrpSpPr>
      <p:grpSpPr>
        <a:xfrm>
          <a:off x="0" y="0"/>
          <a:ext cx="0" cy="0"/>
          <a:chOff x="0" y="0"/>
          <a:chExt cx="0" cy="0"/>
        </a:xfrm>
      </p:grpSpPr>
      <p:sp>
        <p:nvSpPr>
          <p:cNvPr id="7" name="Text 1">
            <a:extLst>
              <a:ext uri="{FF2B5EF4-FFF2-40B4-BE49-F238E27FC236}">
                <a16:creationId xmlns:a16="http://schemas.microsoft.com/office/drawing/2014/main" id="{6266C933-02C7-C522-3FE6-7E94FA80B720}"/>
              </a:ext>
            </a:extLst>
          </p:cNvPr>
          <p:cNvSpPr/>
          <p:nvPr/>
        </p:nvSpPr>
        <p:spPr>
          <a:xfrm>
            <a:off x="274795" y="589480"/>
            <a:ext cx="10205635" cy="758674"/>
          </a:xfrm>
          <a:prstGeom prst="rect">
            <a:avLst/>
          </a:prstGeom>
          <a:noFill/>
          <a:ln/>
        </p:spPr>
        <p:txBody>
          <a:bodyPr wrap="square" lIns="254" tIns="254" rIns="254" bIns="254" rtlCol="0" anchor="t">
            <a:noAutofit/>
          </a:bodyPr>
          <a:lstStyle/>
          <a:p>
            <a:pPr>
              <a:buSzPct val="100000"/>
            </a:pPr>
            <a:r>
              <a:rPr lang="en-US" sz="3600" dirty="0">
                <a:solidFill>
                  <a:srgbClr val="1F2937"/>
                </a:solidFill>
                <a:latin typeface="Aptos" pitchFamily="34" charset="0"/>
                <a:ea typeface="Aptos" pitchFamily="34" charset="-122"/>
                <a:cs typeface="Aptos" pitchFamily="34" charset="-120"/>
              </a:rPr>
              <a:t>Point #2: Plan First, Then Implement</a:t>
            </a:r>
          </a:p>
        </p:txBody>
      </p:sp>
      <p:pic>
        <p:nvPicPr>
          <p:cNvPr id="3" name="Picture 2" descr="Cartoon of a building being built&#10;&#10;AI-generated content may be incorrect.">
            <a:extLst>
              <a:ext uri="{FF2B5EF4-FFF2-40B4-BE49-F238E27FC236}">
                <a16:creationId xmlns:a16="http://schemas.microsoft.com/office/drawing/2014/main" id="{426BA503-A60F-ECD1-E8CC-276D2F62BDEF}"/>
              </a:ext>
            </a:extLst>
          </p:cNvPr>
          <p:cNvPicPr>
            <a:picLocks noChangeAspect="1"/>
          </p:cNvPicPr>
          <p:nvPr/>
        </p:nvPicPr>
        <p:blipFill>
          <a:blip r:embed="rId3"/>
          <a:stretch>
            <a:fillRect/>
          </a:stretch>
        </p:blipFill>
        <p:spPr>
          <a:xfrm>
            <a:off x="563217" y="1303351"/>
            <a:ext cx="7772400" cy="5181600"/>
          </a:xfrm>
          <a:prstGeom prst="rect">
            <a:avLst/>
          </a:prstGeom>
        </p:spPr>
      </p:pic>
      <p:sp>
        <p:nvSpPr>
          <p:cNvPr id="2" name="TextBox 1">
            <a:extLst>
              <a:ext uri="{FF2B5EF4-FFF2-40B4-BE49-F238E27FC236}">
                <a16:creationId xmlns:a16="http://schemas.microsoft.com/office/drawing/2014/main" id="{0CD03D6D-1F88-C577-64EB-3D416795E8D0}"/>
              </a:ext>
            </a:extLst>
          </p:cNvPr>
          <p:cNvSpPr txBox="1"/>
          <p:nvPr/>
        </p:nvSpPr>
        <p:spPr>
          <a:xfrm>
            <a:off x="9820081" y="6403716"/>
            <a:ext cx="2201693" cy="369332"/>
          </a:xfrm>
          <a:prstGeom prst="rect">
            <a:avLst/>
          </a:prstGeom>
          <a:noFill/>
        </p:spPr>
        <p:txBody>
          <a:bodyPr wrap="none" rtlCol="0">
            <a:spAutoFit/>
          </a:bodyPr>
          <a:lstStyle/>
          <a:p>
            <a:r>
              <a:rPr lang="en-US" dirty="0"/>
              <a:t>Image: ChatGPT 5.4</a:t>
            </a:r>
          </a:p>
        </p:txBody>
      </p:sp>
      <p:sp>
        <p:nvSpPr>
          <p:cNvPr id="5" name="TextBox 4">
            <a:extLst>
              <a:ext uri="{FF2B5EF4-FFF2-40B4-BE49-F238E27FC236}">
                <a16:creationId xmlns:a16="http://schemas.microsoft.com/office/drawing/2014/main" id="{CB080299-B668-0173-C159-4B6E534F0E5C}"/>
              </a:ext>
            </a:extLst>
          </p:cNvPr>
          <p:cNvSpPr txBox="1"/>
          <p:nvPr/>
        </p:nvSpPr>
        <p:spPr>
          <a:xfrm>
            <a:off x="8574155" y="1691165"/>
            <a:ext cx="3472071" cy="3785652"/>
          </a:xfrm>
          <a:prstGeom prst="rect">
            <a:avLst/>
          </a:prstGeom>
          <a:noFill/>
        </p:spPr>
        <p:txBody>
          <a:bodyPr wrap="square">
            <a:spAutoFit/>
          </a:bodyPr>
          <a:lstStyle/>
          <a:p>
            <a:r>
              <a:rPr lang="en-US" sz="2400" dirty="0"/>
              <a:t>Ask an AI to explain what it is going to do before it does it. </a:t>
            </a:r>
          </a:p>
          <a:p>
            <a:endParaRPr lang="en-US" sz="2400" dirty="0"/>
          </a:p>
          <a:p>
            <a:r>
              <a:rPr lang="en-US" sz="2400" dirty="0"/>
              <a:t>Check the logic. </a:t>
            </a:r>
          </a:p>
          <a:p>
            <a:endParaRPr lang="en-US" sz="2400" dirty="0"/>
          </a:p>
          <a:p>
            <a:r>
              <a:rPr lang="en-US" sz="2400" dirty="0"/>
              <a:t>Ask it to check the logic. </a:t>
            </a:r>
          </a:p>
          <a:p>
            <a:endParaRPr lang="en-US" sz="2400" dirty="0"/>
          </a:p>
          <a:p>
            <a:r>
              <a:rPr lang="en-US" sz="2400" dirty="0"/>
              <a:t>Have a different model check the logic.</a:t>
            </a:r>
          </a:p>
        </p:txBody>
      </p:sp>
    </p:spTree>
    <p:extLst>
      <p:ext uri="{BB962C8B-B14F-4D97-AF65-F5344CB8AC3E}">
        <p14:creationId xmlns:p14="http://schemas.microsoft.com/office/powerpoint/2010/main" val="12343631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DC50B-8E65-9216-7C07-F8063054B91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EB244F5-D09B-C45D-534C-9C2D366D0BDE}"/>
              </a:ext>
            </a:extLst>
          </p:cNvPr>
          <p:cNvSpPr/>
          <p:nvPr/>
        </p:nvSpPr>
        <p:spPr>
          <a:xfrm>
            <a:off x="640080" y="640080"/>
            <a:ext cx="10789920" cy="457200"/>
          </a:xfrm>
          <a:prstGeom prst="rect">
            <a:avLst/>
          </a:prstGeom>
          <a:noFill/>
          <a:ln/>
        </p:spPr>
        <p:txBody>
          <a:bodyPr wrap="square" lIns="0" tIns="0" rIns="0" bIns="0" rtlCol="0" anchor="ctr"/>
          <a:lstStyle/>
          <a:p>
            <a:pPr marL="0" indent="0">
              <a:buNone/>
            </a:pPr>
            <a:r>
              <a:rPr lang="en-US" sz="3200" b="1" dirty="0">
                <a:solidFill>
                  <a:srgbClr val="1F2937"/>
                </a:solidFill>
                <a:latin typeface="Aptos Display" pitchFamily="34" charset="0"/>
                <a:ea typeface="Aptos Display" pitchFamily="34" charset="-122"/>
                <a:cs typeface="Aptos Display" pitchFamily="34" charset="-120"/>
              </a:rPr>
              <a:t>Example: Convert Loose Notes to a Series of Scripts</a:t>
            </a:r>
            <a:endParaRPr lang="en-US" sz="3200" dirty="0"/>
          </a:p>
        </p:txBody>
      </p:sp>
      <p:sp>
        <p:nvSpPr>
          <p:cNvPr id="3" name="TextBox 2">
            <a:extLst>
              <a:ext uri="{FF2B5EF4-FFF2-40B4-BE49-F238E27FC236}">
                <a16:creationId xmlns:a16="http://schemas.microsoft.com/office/drawing/2014/main" id="{ECF99B23-432F-E8F0-9C91-8E288978B41E}"/>
              </a:ext>
            </a:extLst>
          </p:cNvPr>
          <p:cNvSpPr txBox="1"/>
          <p:nvPr/>
        </p:nvSpPr>
        <p:spPr>
          <a:xfrm>
            <a:off x="702365" y="2266122"/>
            <a:ext cx="4784035" cy="2677656"/>
          </a:xfrm>
          <a:prstGeom prst="rect">
            <a:avLst/>
          </a:prstGeom>
          <a:noFill/>
        </p:spPr>
        <p:txBody>
          <a:bodyPr wrap="square" rtlCol="0">
            <a:spAutoFit/>
          </a:bodyPr>
          <a:lstStyle/>
          <a:p>
            <a:r>
              <a:rPr lang="en-US" sz="2400" b="1" dirty="0"/>
              <a:t>My RNA-seq analysis:</a:t>
            </a:r>
          </a:p>
          <a:p>
            <a:endParaRPr lang="en-US" sz="2400" b="1" dirty="0"/>
          </a:p>
          <a:p>
            <a:r>
              <a:rPr lang="en-US" sz="2400" b="1" dirty="0"/>
              <a:t>- Trim reads</a:t>
            </a:r>
          </a:p>
          <a:p>
            <a:r>
              <a:rPr lang="en-US" sz="2400" b="1" dirty="0"/>
              <a:t>- Map to transcriptome. Maybe with salmon or STAR?</a:t>
            </a:r>
          </a:p>
          <a:p>
            <a:r>
              <a:rPr lang="en-US" sz="2400" b="1" dirty="0"/>
              <a:t>- Compute count matrix</a:t>
            </a:r>
          </a:p>
          <a:p>
            <a:r>
              <a:rPr lang="en-US" sz="2400" b="1" dirty="0"/>
              <a:t>- Run DESeq2 in R</a:t>
            </a:r>
          </a:p>
        </p:txBody>
      </p:sp>
      <p:sp>
        <p:nvSpPr>
          <p:cNvPr id="4" name="Right Arrow 3">
            <a:extLst>
              <a:ext uri="{FF2B5EF4-FFF2-40B4-BE49-F238E27FC236}">
                <a16:creationId xmlns:a16="http://schemas.microsoft.com/office/drawing/2014/main" id="{019E9D97-FA27-A17F-10CB-7C44BF3F8842}"/>
              </a:ext>
            </a:extLst>
          </p:cNvPr>
          <p:cNvSpPr/>
          <p:nvPr/>
        </p:nvSpPr>
        <p:spPr>
          <a:xfrm>
            <a:off x="5261113" y="3286540"/>
            <a:ext cx="1855304" cy="6758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59ABE01-2F2C-F746-113B-83E09CF38BD1}"/>
              </a:ext>
            </a:extLst>
          </p:cNvPr>
          <p:cNvSpPr txBox="1"/>
          <p:nvPr/>
        </p:nvSpPr>
        <p:spPr>
          <a:xfrm>
            <a:off x="7169426" y="2392018"/>
            <a:ext cx="4784035" cy="2308324"/>
          </a:xfrm>
          <a:prstGeom prst="rect">
            <a:avLst/>
          </a:prstGeom>
          <a:noFill/>
        </p:spPr>
        <p:txBody>
          <a:bodyPr wrap="square" rtlCol="0">
            <a:spAutoFit/>
          </a:bodyPr>
          <a:lstStyle/>
          <a:p>
            <a:r>
              <a:rPr lang="en-US" sz="2400" b="1" dirty="0"/>
              <a:t>My RNA-seq analysis:</a:t>
            </a:r>
          </a:p>
          <a:p>
            <a:endParaRPr lang="en-US" sz="2400" b="1" dirty="0"/>
          </a:p>
          <a:p>
            <a:r>
              <a:rPr lang="en-US" sz="2400" b="1" dirty="0" err="1"/>
              <a:t>trim_reads.sh</a:t>
            </a:r>
            <a:endParaRPr lang="en-US" sz="2400" b="1" dirty="0"/>
          </a:p>
          <a:p>
            <a:r>
              <a:rPr lang="en-US" sz="2400" b="1" dirty="0" err="1"/>
              <a:t>map_reads.sh</a:t>
            </a:r>
            <a:endParaRPr lang="en-US" sz="2400" b="1" dirty="0"/>
          </a:p>
          <a:p>
            <a:r>
              <a:rPr lang="en-US" sz="2400" b="1" dirty="0" err="1"/>
              <a:t>compute_counts.sh</a:t>
            </a:r>
            <a:endParaRPr lang="en-US" sz="2400" b="1" dirty="0"/>
          </a:p>
          <a:p>
            <a:r>
              <a:rPr lang="en-US" sz="2400" b="1" dirty="0" err="1"/>
              <a:t>analyze_matrix.R</a:t>
            </a:r>
            <a:endParaRPr lang="en-US" sz="2400" b="1" dirty="0"/>
          </a:p>
        </p:txBody>
      </p:sp>
      <p:sp>
        <p:nvSpPr>
          <p:cNvPr id="6" name="TextBox 5">
            <a:extLst>
              <a:ext uri="{FF2B5EF4-FFF2-40B4-BE49-F238E27FC236}">
                <a16:creationId xmlns:a16="http://schemas.microsoft.com/office/drawing/2014/main" id="{90F78694-7F81-0F3F-6D90-5C355816D702}"/>
              </a:ext>
            </a:extLst>
          </p:cNvPr>
          <p:cNvSpPr txBox="1"/>
          <p:nvPr/>
        </p:nvSpPr>
        <p:spPr>
          <a:xfrm>
            <a:off x="5533318" y="6321287"/>
            <a:ext cx="6658682" cy="369332"/>
          </a:xfrm>
          <a:prstGeom prst="rect">
            <a:avLst/>
          </a:prstGeom>
          <a:noFill/>
        </p:spPr>
        <p:txBody>
          <a:bodyPr wrap="none" rtlCol="0">
            <a:spAutoFit/>
          </a:bodyPr>
          <a:lstStyle/>
          <a:p>
            <a:r>
              <a:rPr lang="en-US" b="1" dirty="0"/>
              <a:t>[Though for this specific use case, consider </a:t>
            </a:r>
            <a:r>
              <a:rPr lang="en-US" b="1" dirty="0" err="1"/>
              <a:t>nf</a:t>
            </a:r>
            <a:r>
              <a:rPr lang="en-US" b="1" dirty="0"/>
              <a:t>-core/RNA-seq!]</a:t>
            </a:r>
          </a:p>
        </p:txBody>
      </p:sp>
    </p:spTree>
    <p:extLst>
      <p:ext uri="{BB962C8B-B14F-4D97-AF65-F5344CB8AC3E}">
        <p14:creationId xmlns:p14="http://schemas.microsoft.com/office/powerpoint/2010/main" val="11618102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10758-7BE1-75E3-DD1B-F71F7033323C}"/>
            </a:ext>
          </a:extLst>
        </p:cNvPr>
        <p:cNvGrpSpPr/>
        <p:nvPr/>
      </p:nvGrpSpPr>
      <p:grpSpPr>
        <a:xfrm>
          <a:off x="0" y="0"/>
          <a:ext cx="0" cy="0"/>
          <a:chOff x="0" y="0"/>
          <a:chExt cx="0" cy="0"/>
        </a:xfrm>
      </p:grpSpPr>
      <p:sp>
        <p:nvSpPr>
          <p:cNvPr id="7" name="Text 1">
            <a:extLst>
              <a:ext uri="{FF2B5EF4-FFF2-40B4-BE49-F238E27FC236}">
                <a16:creationId xmlns:a16="http://schemas.microsoft.com/office/drawing/2014/main" id="{E610B445-E754-5C4F-F802-B52C210AD04E}"/>
              </a:ext>
            </a:extLst>
          </p:cNvPr>
          <p:cNvSpPr/>
          <p:nvPr/>
        </p:nvSpPr>
        <p:spPr>
          <a:xfrm>
            <a:off x="274795" y="589480"/>
            <a:ext cx="10205635" cy="758674"/>
          </a:xfrm>
          <a:prstGeom prst="rect">
            <a:avLst/>
          </a:prstGeom>
          <a:noFill/>
          <a:ln/>
        </p:spPr>
        <p:txBody>
          <a:bodyPr wrap="square" lIns="254" tIns="254" rIns="254" bIns="254" rtlCol="0" anchor="t">
            <a:noAutofit/>
          </a:bodyPr>
          <a:lstStyle/>
          <a:p>
            <a:pPr>
              <a:buSzPct val="100000"/>
            </a:pPr>
            <a:r>
              <a:rPr lang="en-US" sz="3600" dirty="0">
                <a:solidFill>
                  <a:srgbClr val="1F2937"/>
                </a:solidFill>
                <a:latin typeface="Aptos" pitchFamily="34" charset="0"/>
                <a:ea typeface="Aptos" pitchFamily="34" charset="-122"/>
                <a:cs typeface="Aptos" pitchFamily="34" charset="-120"/>
              </a:rPr>
              <a:t>Point #3: Experiment </a:t>
            </a:r>
          </a:p>
        </p:txBody>
      </p:sp>
      <p:pic>
        <p:nvPicPr>
          <p:cNvPr id="2" name="Picture 1">
            <a:extLst>
              <a:ext uri="{FF2B5EF4-FFF2-40B4-BE49-F238E27FC236}">
                <a16:creationId xmlns:a16="http://schemas.microsoft.com/office/drawing/2014/main" id="{B5DE10E7-6BD5-F374-0083-E11EFFE9B4EB}"/>
              </a:ext>
            </a:extLst>
          </p:cNvPr>
          <p:cNvPicPr>
            <a:picLocks noChangeAspect="1"/>
          </p:cNvPicPr>
          <p:nvPr/>
        </p:nvPicPr>
        <p:blipFill>
          <a:blip r:embed="rId3"/>
          <a:srcRect b="44300"/>
          <a:stretch>
            <a:fillRect/>
          </a:stretch>
        </p:blipFill>
        <p:spPr>
          <a:xfrm>
            <a:off x="966408" y="1653877"/>
            <a:ext cx="10314505" cy="2467550"/>
          </a:xfrm>
          <a:prstGeom prst="rect">
            <a:avLst/>
          </a:prstGeom>
        </p:spPr>
      </p:pic>
      <p:pic>
        <p:nvPicPr>
          <p:cNvPr id="4" name="Picture 3" descr="A close up of a text&#10;&#10;AI-generated content may be incorrect.">
            <a:extLst>
              <a:ext uri="{FF2B5EF4-FFF2-40B4-BE49-F238E27FC236}">
                <a16:creationId xmlns:a16="http://schemas.microsoft.com/office/drawing/2014/main" id="{D50DCAD7-3FF3-1688-0089-07E74CE68A09}"/>
              </a:ext>
            </a:extLst>
          </p:cNvPr>
          <p:cNvPicPr>
            <a:picLocks noChangeAspect="1"/>
          </p:cNvPicPr>
          <p:nvPr/>
        </p:nvPicPr>
        <p:blipFill>
          <a:blip r:embed="rId4"/>
          <a:stretch>
            <a:fillRect/>
          </a:stretch>
        </p:blipFill>
        <p:spPr>
          <a:xfrm>
            <a:off x="3787913" y="4616450"/>
            <a:ext cx="7493000" cy="1562100"/>
          </a:xfrm>
          <a:prstGeom prst="rect">
            <a:avLst/>
          </a:prstGeom>
        </p:spPr>
      </p:pic>
    </p:spTree>
    <p:extLst>
      <p:ext uri="{BB962C8B-B14F-4D97-AF65-F5344CB8AC3E}">
        <p14:creationId xmlns:p14="http://schemas.microsoft.com/office/powerpoint/2010/main" val="3017077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682AE-A6E8-DBB5-5169-991814EEACE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A3DC7EF-FC40-7983-3A14-64BA7AFBC0FC}"/>
              </a:ext>
            </a:extLst>
          </p:cNvPr>
          <p:cNvSpPr txBox="1"/>
          <p:nvPr/>
        </p:nvSpPr>
        <p:spPr>
          <a:xfrm>
            <a:off x="448962" y="3044279"/>
            <a:ext cx="11294075" cy="769441"/>
          </a:xfrm>
          <a:prstGeom prst="rect">
            <a:avLst/>
          </a:prstGeom>
          <a:noFill/>
        </p:spPr>
        <p:txBody>
          <a:bodyPr wrap="square" rtlCol="0">
            <a:spAutoFit/>
          </a:bodyPr>
          <a:lstStyle/>
          <a:p>
            <a:pPr algn="ctr"/>
            <a:r>
              <a:rPr lang="en-US" sz="4400" dirty="0"/>
              <a:t>General Limits, Caveat, Challenges</a:t>
            </a:r>
          </a:p>
        </p:txBody>
      </p:sp>
    </p:spTree>
    <p:extLst>
      <p:ext uri="{BB962C8B-B14F-4D97-AF65-F5344CB8AC3E}">
        <p14:creationId xmlns:p14="http://schemas.microsoft.com/office/powerpoint/2010/main" val="31510049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C92E0-8060-EFEC-A922-617C87A9DB1F}"/>
            </a:ext>
          </a:extLst>
        </p:cNvPr>
        <p:cNvGrpSpPr/>
        <p:nvPr/>
      </p:nvGrpSpPr>
      <p:grpSpPr>
        <a:xfrm>
          <a:off x="0" y="0"/>
          <a:ext cx="0" cy="0"/>
          <a:chOff x="0" y="0"/>
          <a:chExt cx="0" cy="0"/>
        </a:xfrm>
      </p:grpSpPr>
      <p:pic>
        <p:nvPicPr>
          <p:cNvPr id="4" name="Picture 3" descr="A diagram of a brain activity&#10;&#10;AI-generated content may be incorrect.">
            <a:extLst>
              <a:ext uri="{FF2B5EF4-FFF2-40B4-BE49-F238E27FC236}">
                <a16:creationId xmlns:a16="http://schemas.microsoft.com/office/drawing/2014/main" id="{42245F5F-5D11-90C1-2E70-E264E2350941}"/>
              </a:ext>
            </a:extLst>
          </p:cNvPr>
          <p:cNvPicPr>
            <a:picLocks noChangeAspect="1"/>
          </p:cNvPicPr>
          <p:nvPr/>
        </p:nvPicPr>
        <p:blipFill>
          <a:blip r:embed="rId3"/>
          <a:stretch>
            <a:fillRect/>
          </a:stretch>
        </p:blipFill>
        <p:spPr>
          <a:xfrm>
            <a:off x="325645" y="148169"/>
            <a:ext cx="11614852" cy="6488668"/>
          </a:xfrm>
          <a:prstGeom prst="rect">
            <a:avLst/>
          </a:prstGeom>
        </p:spPr>
      </p:pic>
      <p:sp>
        <p:nvSpPr>
          <p:cNvPr id="6" name="TextBox 5">
            <a:extLst>
              <a:ext uri="{FF2B5EF4-FFF2-40B4-BE49-F238E27FC236}">
                <a16:creationId xmlns:a16="http://schemas.microsoft.com/office/drawing/2014/main" id="{6BC4C13F-407D-F7B6-CB90-CBC497C11483}"/>
              </a:ext>
            </a:extLst>
          </p:cNvPr>
          <p:cNvSpPr txBox="1"/>
          <p:nvPr/>
        </p:nvSpPr>
        <p:spPr>
          <a:xfrm>
            <a:off x="0" y="6540554"/>
            <a:ext cx="6685005" cy="338554"/>
          </a:xfrm>
          <a:prstGeom prst="rect">
            <a:avLst/>
          </a:prstGeom>
          <a:noFill/>
        </p:spPr>
        <p:txBody>
          <a:bodyPr wrap="square">
            <a:spAutoFit/>
          </a:bodyPr>
          <a:lstStyle/>
          <a:p>
            <a:r>
              <a:rPr lang="en-US" sz="1600" dirty="0"/>
              <a:t>Ethan Mollick, “</a:t>
            </a:r>
            <a:r>
              <a:rPr lang="en-US" sz="1600" b="1" dirty="0"/>
              <a:t>The Shape of AI: Jaggedness, Bottlenecks and Salients”</a:t>
            </a:r>
          </a:p>
        </p:txBody>
      </p:sp>
    </p:spTree>
    <p:extLst>
      <p:ext uri="{BB962C8B-B14F-4D97-AF65-F5344CB8AC3E}">
        <p14:creationId xmlns:p14="http://schemas.microsoft.com/office/powerpoint/2010/main" val="21324407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90311-E841-27AB-9EEC-98A8B25776A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88436D3-A8B9-16F7-BA39-B5C621C94C1D}"/>
              </a:ext>
            </a:extLst>
          </p:cNvPr>
          <p:cNvSpPr txBox="1"/>
          <p:nvPr/>
        </p:nvSpPr>
        <p:spPr>
          <a:xfrm>
            <a:off x="0" y="6540554"/>
            <a:ext cx="7821827" cy="338554"/>
          </a:xfrm>
          <a:prstGeom prst="rect">
            <a:avLst/>
          </a:prstGeom>
          <a:noFill/>
        </p:spPr>
        <p:txBody>
          <a:bodyPr wrap="square">
            <a:spAutoFit/>
          </a:bodyPr>
          <a:lstStyle/>
          <a:p>
            <a:r>
              <a:rPr lang="en-US" sz="1600" dirty="0"/>
              <a:t>Chris Stubbs, “</a:t>
            </a:r>
            <a:r>
              <a:rPr lang="en-US" sz="1600" b="1" dirty="0"/>
              <a:t>Generative AI and the Scientific Method - an Impending Collision?”</a:t>
            </a:r>
          </a:p>
        </p:txBody>
      </p:sp>
      <p:pic>
        <p:nvPicPr>
          <p:cNvPr id="3" name="Picture 2" descr="A screen shot of a writing process&#10;&#10;AI-generated content may be incorrect.">
            <a:extLst>
              <a:ext uri="{FF2B5EF4-FFF2-40B4-BE49-F238E27FC236}">
                <a16:creationId xmlns:a16="http://schemas.microsoft.com/office/drawing/2014/main" id="{256A658D-0B58-A1C8-E238-3694E26D3632}"/>
              </a:ext>
            </a:extLst>
          </p:cNvPr>
          <p:cNvPicPr>
            <a:picLocks noChangeAspect="1"/>
          </p:cNvPicPr>
          <p:nvPr/>
        </p:nvPicPr>
        <p:blipFill>
          <a:blip r:embed="rId3"/>
          <a:stretch>
            <a:fillRect/>
          </a:stretch>
        </p:blipFill>
        <p:spPr>
          <a:xfrm>
            <a:off x="398162" y="77495"/>
            <a:ext cx="11395676" cy="6360376"/>
          </a:xfrm>
          <a:prstGeom prst="rect">
            <a:avLst/>
          </a:prstGeom>
        </p:spPr>
      </p:pic>
      <p:sp>
        <p:nvSpPr>
          <p:cNvPr id="5" name="TextBox 4">
            <a:extLst>
              <a:ext uri="{FF2B5EF4-FFF2-40B4-BE49-F238E27FC236}">
                <a16:creationId xmlns:a16="http://schemas.microsoft.com/office/drawing/2014/main" id="{5165A939-AD56-8894-BE77-98B2F1C5DED1}"/>
              </a:ext>
            </a:extLst>
          </p:cNvPr>
          <p:cNvSpPr txBox="1"/>
          <p:nvPr/>
        </p:nvSpPr>
        <p:spPr>
          <a:xfrm>
            <a:off x="8138684" y="6487298"/>
            <a:ext cx="4115101" cy="369332"/>
          </a:xfrm>
          <a:prstGeom prst="rect">
            <a:avLst/>
          </a:prstGeom>
          <a:noFill/>
        </p:spPr>
        <p:txBody>
          <a:bodyPr wrap="none" rtlCol="0">
            <a:spAutoFit/>
          </a:bodyPr>
          <a:lstStyle/>
          <a:p>
            <a:r>
              <a:rPr lang="en-US" dirty="0"/>
              <a:t>Image: Nano Banana 2 (Gemini/Google)</a:t>
            </a:r>
          </a:p>
        </p:txBody>
      </p:sp>
    </p:spTree>
    <p:extLst>
      <p:ext uri="{BB962C8B-B14F-4D97-AF65-F5344CB8AC3E}">
        <p14:creationId xmlns:p14="http://schemas.microsoft.com/office/powerpoint/2010/main" val="1599078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FD3108C-3833-8681-0B80-3779917FAC28}"/>
              </a:ext>
            </a:extLst>
          </p:cNvPr>
          <p:cNvSpPr txBox="1"/>
          <p:nvPr/>
        </p:nvSpPr>
        <p:spPr>
          <a:xfrm>
            <a:off x="210065" y="593125"/>
            <a:ext cx="11294075" cy="584775"/>
          </a:xfrm>
          <a:prstGeom prst="rect">
            <a:avLst/>
          </a:prstGeom>
          <a:noFill/>
        </p:spPr>
        <p:txBody>
          <a:bodyPr wrap="square" rtlCol="0">
            <a:spAutoFit/>
          </a:bodyPr>
          <a:lstStyle/>
          <a:p>
            <a:r>
              <a:rPr lang="en-US" sz="3200" dirty="0"/>
              <a:t>Bioinformatics-Specific Challenges: Heavy Compute</a:t>
            </a:r>
          </a:p>
        </p:txBody>
      </p:sp>
      <p:pic>
        <p:nvPicPr>
          <p:cNvPr id="8" name="Picture 7" descr="A diagram of a computer system&#10;&#10;AI-generated content may be incorrect.">
            <a:extLst>
              <a:ext uri="{FF2B5EF4-FFF2-40B4-BE49-F238E27FC236}">
                <a16:creationId xmlns:a16="http://schemas.microsoft.com/office/drawing/2014/main" id="{92BE0D17-7F95-D4D4-B327-36F51144C27F}"/>
              </a:ext>
            </a:extLst>
          </p:cNvPr>
          <p:cNvPicPr>
            <a:picLocks noChangeAspect="1"/>
          </p:cNvPicPr>
          <p:nvPr/>
        </p:nvPicPr>
        <p:blipFill>
          <a:blip r:embed="rId3"/>
          <a:srcRect l="9910" t="24232" r="4240" b="4703"/>
          <a:stretch>
            <a:fillRect/>
          </a:stretch>
        </p:blipFill>
        <p:spPr>
          <a:xfrm>
            <a:off x="1365421" y="1464276"/>
            <a:ext cx="8983362" cy="4957485"/>
          </a:xfrm>
          <a:prstGeom prst="rect">
            <a:avLst/>
          </a:prstGeom>
        </p:spPr>
      </p:pic>
      <p:sp>
        <p:nvSpPr>
          <p:cNvPr id="9" name="TextBox 8">
            <a:extLst>
              <a:ext uri="{FF2B5EF4-FFF2-40B4-BE49-F238E27FC236}">
                <a16:creationId xmlns:a16="http://schemas.microsoft.com/office/drawing/2014/main" id="{32F00C0B-7B7B-854B-F6B7-E80B2BB2B30E}"/>
              </a:ext>
            </a:extLst>
          </p:cNvPr>
          <p:cNvSpPr txBox="1"/>
          <p:nvPr/>
        </p:nvSpPr>
        <p:spPr>
          <a:xfrm>
            <a:off x="9902844" y="6421761"/>
            <a:ext cx="2201693" cy="369332"/>
          </a:xfrm>
          <a:prstGeom prst="rect">
            <a:avLst/>
          </a:prstGeom>
          <a:noFill/>
        </p:spPr>
        <p:txBody>
          <a:bodyPr wrap="none" rtlCol="0">
            <a:spAutoFit/>
          </a:bodyPr>
          <a:lstStyle/>
          <a:p>
            <a:r>
              <a:rPr lang="en-US" dirty="0"/>
              <a:t>Image: ChatGPT 5.4</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5C63B-E50A-B221-EB9C-0AFF0DB614A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6E32950-9323-F0AD-1985-DE7795F8B943}"/>
              </a:ext>
            </a:extLst>
          </p:cNvPr>
          <p:cNvSpPr txBox="1"/>
          <p:nvPr/>
        </p:nvSpPr>
        <p:spPr>
          <a:xfrm>
            <a:off x="210065" y="593125"/>
            <a:ext cx="11294075" cy="584775"/>
          </a:xfrm>
          <a:prstGeom prst="rect">
            <a:avLst/>
          </a:prstGeom>
          <a:noFill/>
        </p:spPr>
        <p:txBody>
          <a:bodyPr wrap="square" rtlCol="0">
            <a:spAutoFit/>
          </a:bodyPr>
          <a:lstStyle/>
          <a:p>
            <a:r>
              <a:rPr lang="en-US" sz="3200" dirty="0"/>
              <a:t>Bioinformatics-Specific Challenges: Big Files</a:t>
            </a:r>
          </a:p>
        </p:txBody>
      </p:sp>
      <p:pic>
        <p:nvPicPr>
          <p:cNvPr id="3" name="Picture 2" descr="A group of icons of a file format&#10;&#10;AI-generated content may be incorrect.">
            <a:extLst>
              <a:ext uri="{FF2B5EF4-FFF2-40B4-BE49-F238E27FC236}">
                <a16:creationId xmlns:a16="http://schemas.microsoft.com/office/drawing/2014/main" id="{F346B616-A79B-A5B9-F613-020C73CDD787}"/>
              </a:ext>
            </a:extLst>
          </p:cNvPr>
          <p:cNvPicPr>
            <a:picLocks noChangeAspect="1"/>
          </p:cNvPicPr>
          <p:nvPr/>
        </p:nvPicPr>
        <p:blipFill>
          <a:blip r:embed="rId3"/>
          <a:srcRect l="8296" t="28016" r="6486" b="26056"/>
          <a:stretch>
            <a:fillRect/>
          </a:stretch>
        </p:blipFill>
        <p:spPr>
          <a:xfrm>
            <a:off x="913915" y="1767363"/>
            <a:ext cx="9965100" cy="3580379"/>
          </a:xfrm>
          <a:prstGeom prst="rect">
            <a:avLst/>
          </a:prstGeom>
        </p:spPr>
      </p:pic>
      <p:sp>
        <p:nvSpPr>
          <p:cNvPr id="4" name="TextBox 3">
            <a:extLst>
              <a:ext uri="{FF2B5EF4-FFF2-40B4-BE49-F238E27FC236}">
                <a16:creationId xmlns:a16="http://schemas.microsoft.com/office/drawing/2014/main" id="{9BB5E0D2-16B3-C1FD-E623-DD0514C899DE}"/>
              </a:ext>
            </a:extLst>
          </p:cNvPr>
          <p:cNvSpPr txBox="1"/>
          <p:nvPr/>
        </p:nvSpPr>
        <p:spPr>
          <a:xfrm>
            <a:off x="9902844" y="6421761"/>
            <a:ext cx="2201693" cy="369332"/>
          </a:xfrm>
          <a:prstGeom prst="rect">
            <a:avLst/>
          </a:prstGeom>
          <a:noFill/>
        </p:spPr>
        <p:txBody>
          <a:bodyPr wrap="none" rtlCol="0">
            <a:spAutoFit/>
          </a:bodyPr>
          <a:lstStyle/>
          <a:p>
            <a:r>
              <a:rPr lang="en-US" dirty="0"/>
              <a:t>Image: ChatGPT 5.4</a:t>
            </a:r>
          </a:p>
        </p:txBody>
      </p:sp>
    </p:spTree>
    <p:extLst>
      <p:ext uri="{BB962C8B-B14F-4D97-AF65-F5344CB8AC3E}">
        <p14:creationId xmlns:p14="http://schemas.microsoft.com/office/powerpoint/2010/main" val="25739677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0CAB6-A623-EDAD-7CD3-C73960D3C90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2D9F021-803B-3243-517F-E9227BBAC2C8}"/>
              </a:ext>
            </a:extLst>
          </p:cNvPr>
          <p:cNvSpPr txBox="1"/>
          <p:nvPr/>
        </p:nvSpPr>
        <p:spPr>
          <a:xfrm>
            <a:off x="210065" y="593125"/>
            <a:ext cx="11294075" cy="584775"/>
          </a:xfrm>
          <a:prstGeom prst="rect">
            <a:avLst/>
          </a:prstGeom>
          <a:noFill/>
        </p:spPr>
        <p:txBody>
          <a:bodyPr wrap="square" rtlCol="0">
            <a:spAutoFit/>
          </a:bodyPr>
          <a:lstStyle/>
          <a:p>
            <a:r>
              <a:rPr lang="en-US" sz="3200" dirty="0"/>
              <a:t>Bioinformatics-Specific Challenges: Big Files</a:t>
            </a:r>
          </a:p>
        </p:txBody>
      </p:sp>
      <p:pic>
        <p:nvPicPr>
          <p:cNvPr id="2" name="Picture 1" descr="A qr code with black squares&#10;&#10;AI-generated content may be incorrect.">
            <a:extLst>
              <a:ext uri="{FF2B5EF4-FFF2-40B4-BE49-F238E27FC236}">
                <a16:creationId xmlns:a16="http://schemas.microsoft.com/office/drawing/2014/main" id="{783835A2-B9E8-1FCB-1A9F-0F9793A00214}"/>
              </a:ext>
            </a:extLst>
          </p:cNvPr>
          <p:cNvPicPr>
            <a:picLocks noChangeAspect="1"/>
          </p:cNvPicPr>
          <p:nvPr/>
        </p:nvPicPr>
        <p:blipFill>
          <a:blip r:embed="rId3"/>
          <a:stretch>
            <a:fillRect/>
          </a:stretch>
        </p:blipFill>
        <p:spPr>
          <a:xfrm>
            <a:off x="590878" y="1349987"/>
            <a:ext cx="5118518" cy="5118518"/>
          </a:xfrm>
          <a:prstGeom prst="rect">
            <a:avLst/>
          </a:prstGeom>
        </p:spPr>
      </p:pic>
      <p:sp>
        <p:nvSpPr>
          <p:cNvPr id="5" name="TextBox 4">
            <a:extLst>
              <a:ext uri="{FF2B5EF4-FFF2-40B4-BE49-F238E27FC236}">
                <a16:creationId xmlns:a16="http://schemas.microsoft.com/office/drawing/2014/main" id="{52CA3962-B84C-3494-6309-C56F8772FAC5}"/>
              </a:ext>
            </a:extLst>
          </p:cNvPr>
          <p:cNvSpPr txBox="1"/>
          <p:nvPr/>
        </p:nvSpPr>
        <p:spPr>
          <a:xfrm>
            <a:off x="6027050" y="2128444"/>
            <a:ext cx="5790877" cy="4031873"/>
          </a:xfrm>
          <a:prstGeom prst="rect">
            <a:avLst/>
          </a:prstGeom>
          <a:noFill/>
        </p:spPr>
        <p:txBody>
          <a:bodyPr wrap="square" rtlCol="0">
            <a:spAutoFit/>
          </a:bodyPr>
          <a:lstStyle/>
          <a:p>
            <a:r>
              <a:rPr lang="en-US" sz="3200" b="1" u="sng" dirty="0"/>
              <a:t>Workshop – In Person</a:t>
            </a:r>
          </a:p>
          <a:p>
            <a:endParaRPr lang="en-US" sz="3200" dirty="0"/>
          </a:p>
          <a:p>
            <a:r>
              <a:rPr lang="en-US" sz="3200" dirty="0"/>
              <a:t>Genomics on the command line</a:t>
            </a:r>
          </a:p>
          <a:p>
            <a:endParaRPr lang="en-US" sz="3200" dirty="0"/>
          </a:p>
          <a:p>
            <a:r>
              <a:rPr lang="en-US" sz="3200" dirty="0"/>
              <a:t>April 2, 9, 16, 23</a:t>
            </a:r>
          </a:p>
          <a:p>
            <a:r>
              <a:rPr lang="en-US" sz="3200" dirty="0"/>
              <a:t>9:30 AM - 12:30 PM</a:t>
            </a:r>
          </a:p>
          <a:p>
            <a:endParaRPr lang="en-US" sz="3200" dirty="0"/>
          </a:p>
          <a:p>
            <a:r>
              <a:rPr lang="en-US" sz="3200" dirty="0" err="1"/>
              <a:t>informatics.fas.harvard.edu</a:t>
            </a:r>
            <a:endParaRPr lang="en-US" sz="3200" dirty="0"/>
          </a:p>
        </p:txBody>
      </p:sp>
    </p:spTree>
    <p:extLst>
      <p:ext uri="{BB962C8B-B14F-4D97-AF65-F5344CB8AC3E}">
        <p14:creationId xmlns:p14="http://schemas.microsoft.com/office/powerpoint/2010/main" val="27511270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BA4C24D-6785-B420-9D79-F2A74F5A44B6}"/>
              </a:ext>
            </a:extLst>
          </p:cNvPr>
          <p:cNvSpPr>
            <a:spLocks noGrp="1"/>
          </p:cNvSpPr>
          <p:nvPr>
            <p:ph type="ftr" sz="quarter" idx="11"/>
          </p:nvPr>
        </p:nvSpPr>
        <p:spPr/>
        <p:txBody>
          <a:bodyPr/>
          <a:lstStyle/>
          <a:p>
            <a:r>
              <a:rPr lang="en-US" sz="2400" b="1" dirty="0" err="1"/>
              <a:t>informatics.fas.harvard.edu</a:t>
            </a:r>
            <a:endParaRPr lang="en-US" sz="2400" b="1" dirty="0"/>
          </a:p>
        </p:txBody>
      </p:sp>
      <p:pic>
        <p:nvPicPr>
          <p:cNvPr id="4" name="Picture 3" descr="A qr code with black squares&#10;&#10;AI-generated content may be incorrect.">
            <a:extLst>
              <a:ext uri="{FF2B5EF4-FFF2-40B4-BE49-F238E27FC236}">
                <a16:creationId xmlns:a16="http://schemas.microsoft.com/office/drawing/2014/main" id="{2FCEB0C7-2207-DF2A-5105-F62FE42B13CD}"/>
              </a:ext>
            </a:extLst>
          </p:cNvPr>
          <p:cNvPicPr>
            <a:picLocks noChangeAspect="1"/>
          </p:cNvPicPr>
          <p:nvPr/>
        </p:nvPicPr>
        <p:blipFill>
          <a:blip r:embed="rId2"/>
          <a:stretch>
            <a:fillRect/>
          </a:stretch>
        </p:blipFill>
        <p:spPr>
          <a:xfrm>
            <a:off x="6220838" y="2181459"/>
            <a:ext cx="4530289" cy="4530289"/>
          </a:xfrm>
          <a:prstGeom prst="rect">
            <a:avLst/>
          </a:prstGeom>
        </p:spPr>
      </p:pic>
      <p:pic>
        <p:nvPicPr>
          <p:cNvPr id="6" name="Picture 5" descr="A close up of a poster&#10;&#10;AI-generated content may be incorrect.">
            <a:extLst>
              <a:ext uri="{FF2B5EF4-FFF2-40B4-BE49-F238E27FC236}">
                <a16:creationId xmlns:a16="http://schemas.microsoft.com/office/drawing/2014/main" id="{F16FF0F3-E084-B69E-E61E-46C79B6FFAAE}"/>
              </a:ext>
            </a:extLst>
          </p:cNvPr>
          <p:cNvPicPr>
            <a:picLocks noChangeAspect="1"/>
          </p:cNvPicPr>
          <p:nvPr/>
        </p:nvPicPr>
        <p:blipFill>
          <a:blip r:embed="rId3"/>
          <a:srcRect b="22556"/>
          <a:stretch>
            <a:fillRect/>
          </a:stretch>
        </p:blipFill>
        <p:spPr>
          <a:xfrm>
            <a:off x="803071" y="208759"/>
            <a:ext cx="7953494" cy="1924842"/>
          </a:xfrm>
          <a:prstGeom prst="rect">
            <a:avLst/>
          </a:prstGeom>
        </p:spPr>
      </p:pic>
      <p:sp>
        <p:nvSpPr>
          <p:cNvPr id="5" name="TextBox 4">
            <a:extLst>
              <a:ext uri="{FF2B5EF4-FFF2-40B4-BE49-F238E27FC236}">
                <a16:creationId xmlns:a16="http://schemas.microsoft.com/office/drawing/2014/main" id="{A3639596-FD56-29B3-FAA8-4773274C6C9A}"/>
              </a:ext>
            </a:extLst>
          </p:cNvPr>
          <p:cNvSpPr txBox="1"/>
          <p:nvPr/>
        </p:nvSpPr>
        <p:spPr>
          <a:xfrm>
            <a:off x="665018" y="3036515"/>
            <a:ext cx="4821382" cy="1077218"/>
          </a:xfrm>
          <a:prstGeom prst="rect">
            <a:avLst/>
          </a:prstGeom>
          <a:noFill/>
        </p:spPr>
        <p:txBody>
          <a:bodyPr wrap="square">
            <a:spAutoFit/>
          </a:bodyPr>
          <a:lstStyle/>
          <a:p>
            <a:pPr lvl="1"/>
            <a:r>
              <a:rPr lang="en-US" sz="3200" b="1" dirty="0"/>
              <a:t>March 27 9 AM - 3 PM</a:t>
            </a:r>
          </a:p>
          <a:p>
            <a:pPr lvl="1"/>
            <a:r>
              <a:rPr lang="en-US" sz="3200" b="1" dirty="0"/>
              <a:t>Virtual</a:t>
            </a:r>
          </a:p>
        </p:txBody>
      </p:sp>
    </p:spTree>
    <p:extLst>
      <p:ext uri="{BB962C8B-B14F-4D97-AF65-F5344CB8AC3E}">
        <p14:creationId xmlns:p14="http://schemas.microsoft.com/office/powerpoint/2010/main" val="13083370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CE431CE-39AD-1B61-DB2D-947F4E26581A}"/>
              </a:ext>
            </a:extLst>
          </p:cNvPr>
          <p:cNvSpPr>
            <a:spLocks noGrp="1"/>
          </p:cNvSpPr>
          <p:nvPr>
            <p:ph type="ftr" sz="quarter" idx="11"/>
          </p:nvPr>
        </p:nvSpPr>
        <p:spPr/>
        <p:txBody>
          <a:bodyPr/>
          <a:lstStyle/>
          <a:p>
            <a:r>
              <a:rPr lang="en-US"/>
              <a:t>informatics.fas.harvard.edu</a:t>
            </a:r>
          </a:p>
        </p:txBody>
      </p:sp>
      <p:sp>
        <p:nvSpPr>
          <p:cNvPr id="10" name="TextBox 9">
            <a:extLst>
              <a:ext uri="{FF2B5EF4-FFF2-40B4-BE49-F238E27FC236}">
                <a16:creationId xmlns:a16="http://schemas.microsoft.com/office/drawing/2014/main" id="{72785A5A-F136-39D4-2EA5-56BCD4884DD4}"/>
              </a:ext>
            </a:extLst>
          </p:cNvPr>
          <p:cNvSpPr txBox="1"/>
          <p:nvPr/>
        </p:nvSpPr>
        <p:spPr>
          <a:xfrm>
            <a:off x="637953" y="5167423"/>
            <a:ext cx="3869842" cy="646331"/>
          </a:xfrm>
          <a:prstGeom prst="rect">
            <a:avLst/>
          </a:prstGeom>
          <a:noFill/>
        </p:spPr>
        <p:txBody>
          <a:bodyPr wrap="none" rtlCol="0">
            <a:spAutoFit/>
          </a:bodyPr>
          <a:lstStyle/>
          <a:p>
            <a:r>
              <a:rPr lang="en-US"/>
              <a:t>Intro to scRNA-seq part 1 zoom reg</a:t>
            </a:r>
          </a:p>
          <a:p>
            <a:r>
              <a:rPr lang="en-US"/>
              <a:t>March 19 11 AM - 12 PM</a:t>
            </a:r>
          </a:p>
        </p:txBody>
      </p:sp>
      <p:sp>
        <p:nvSpPr>
          <p:cNvPr id="11" name="TextBox 10">
            <a:extLst>
              <a:ext uri="{FF2B5EF4-FFF2-40B4-BE49-F238E27FC236}">
                <a16:creationId xmlns:a16="http://schemas.microsoft.com/office/drawing/2014/main" id="{D94C1F12-36B8-953B-4EA8-BB715EFD9D88}"/>
              </a:ext>
            </a:extLst>
          </p:cNvPr>
          <p:cNvSpPr txBox="1"/>
          <p:nvPr/>
        </p:nvSpPr>
        <p:spPr>
          <a:xfrm>
            <a:off x="7241066" y="5167423"/>
            <a:ext cx="3869842" cy="646331"/>
          </a:xfrm>
          <a:prstGeom prst="rect">
            <a:avLst/>
          </a:prstGeom>
          <a:noFill/>
        </p:spPr>
        <p:txBody>
          <a:bodyPr wrap="none" rtlCol="0">
            <a:spAutoFit/>
          </a:bodyPr>
          <a:lstStyle/>
          <a:p>
            <a:r>
              <a:rPr lang="en-US"/>
              <a:t>Intro to scRNA-seq part 2 zoom reg</a:t>
            </a:r>
          </a:p>
          <a:p>
            <a:r>
              <a:rPr lang="en-US"/>
              <a:t>March 26 11 AM - 12 PM</a:t>
            </a:r>
          </a:p>
        </p:txBody>
      </p:sp>
      <p:pic>
        <p:nvPicPr>
          <p:cNvPr id="13" name="Picture 12" descr="A qr code with black squares&#10;&#10;AI-generated content may be incorrect.">
            <a:extLst>
              <a:ext uri="{FF2B5EF4-FFF2-40B4-BE49-F238E27FC236}">
                <a16:creationId xmlns:a16="http://schemas.microsoft.com/office/drawing/2014/main" id="{18A4A5FE-4905-7641-DFC4-2C3CAD37C9B9}"/>
              </a:ext>
            </a:extLst>
          </p:cNvPr>
          <p:cNvPicPr>
            <a:picLocks noChangeAspect="1"/>
          </p:cNvPicPr>
          <p:nvPr/>
        </p:nvPicPr>
        <p:blipFill>
          <a:blip r:embed="rId2"/>
          <a:stretch>
            <a:fillRect/>
          </a:stretch>
        </p:blipFill>
        <p:spPr>
          <a:xfrm>
            <a:off x="637953" y="831406"/>
            <a:ext cx="3965649" cy="3965649"/>
          </a:xfrm>
          <a:prstGeom prst="rect">
            <a:avLst/>
          </a:prstGeom>
        </p:spPr>
      </p:pic>
      <p:pic>
        <p:nvPicPr>
          <p:cNvPr id="15" name="Picture 14" descr="A qr code on a white background&#10;&#10;AI-generated content may be incorrect.">
            <a:extLst>
              <a:ext uri="{FF2B5EF4-FFF2-40B4-BE49-F238E27FC236}">
                <a16:creationId xmlns:a16="http://schemas.microsoft.com/office/drawing/2014/main" id="{BD827185-B9FF-A7A1-ED96-B43542B11758}"/>
              </a:ext>
            </a:extLst>
          </p:cNvPr>
          <p:cNvPicPr>
            <a:picLocks noChangeAspect="1"/>
          </p:cNvPicPr>
          <p:nvPr/>
        </p:nvPicPr>
        <p:blipFill>
          <a:blip r:embed="rId3"/>
          <a:stretch>
            <a:fillRect/>
          </a:stretch>
        </p:blipFill>
        <p:spPr>
          <a:xfrm>
            <a:off x="7241066" y="749559"/>
            <a:ext cx="4152357" cy="4152357"/>
          </a:xfrm>
          <a:prstGeom prst="rect">
            <a:avLst/>
          </a:prstGeom>
        </p:spPr>
      </p:pic>
    </p:spTree>
    <p:extLst>
      <p:ext uri="{BB962C8B-B14F-4D97-AF65-F5344CB8AC3E}">
        <p14:creationId xmlns:p14="http://schemas.microsoft.com/office/powerpoint/2010/main" val="452607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74DE7-A918-3BB9-FD76-D05E88BEDE2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E8C482-8A36-852B-FC64-F32AAC944BB5}"/>
              </a:ext>
            </a:extLst>
          </p:cNvPr>
          <p:cNvSpPr txBox="1"/>
          <p:nvPr/>
        </p:nvSpPr>
        <p:spPr>
          <a:xfrm>
            <a:off x="448962" y="3044279"/>
            <a:ext cx="11294075" cy="769441"/>
          </a:xfrm>
          <a:prstGeom prst="rect">
            <a:avLst/>
          </a:prstGeom>
          <a:noFill/>
        </p:spPr>
        <p:txBody>
          <a:bodyPr wrap="square" rtlCol="0">
            <a:spAutoFit/>
          </a:bodyPr>
          <a:lstStyle/>
          <a:p>
            <a:pPr algn="ctr"/>
            <a:r>
              <a:rPr lang="en-US" sz="4400" dirty="0"/>
              <a:t>Conclusions and Looking Forward</a:t>
            </a:r>
          </a:p>
        </p:txBody>
      </p:sp>
    </p:spTree>
    <p:extLst>
      <p:ext uri="{BB962C8B-B14F-4D97-AF65-F5344CB8AC3E}">
        <p14:creationId xmlns:p14="http://schemas.microsoft.com/office/powerpoint/2010/main" val="10406851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1244</TotalTime>
  <Words>3608</Words>
  <Application>Microsoft Macintosh PowerPoint</Application>
  <PresentationFormat>Widescreen</PresentationFormat>
  <Paragraphs>410</Paragraphs>
  <Slides>45</Slides>
  <Notes>43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Aptos</vt:lpstr>
      <vt:lpstr>Aptos Display</vt:lpstr>
      <vt:lpstr>Arial</vt:lpstr>
      <vt:lpstr>Courier New</vt:lpstr>
      <vt:lpstr>Monaco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Use LLMs for Bioinformatics</dc:title>
  <dc:subject>Draft workshop outline</dc:subject>
  <dc:creator>OpenAI</dc:creator>
  <cp:lastModifiedBy>Tim Sackton</cp:lastModifiedBy>
  <cp:revision>14</cp:revision>
  <dcterms:created xsi:type="dcterms:W3CDTF">2026-03-09T14:12:39Z</dcterms:created>
  <dcterms:modified xsi:type="dcterms:W3CDTF">2026-03-12T16:07:58Z</dcterms:modified>
</cp:coreProperties>
</file>