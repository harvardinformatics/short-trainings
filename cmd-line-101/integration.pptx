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62" r:id="rId3"/>
    <p:sldId id="365" r:id="rId4"/>
    <p:sldId id="364" r:id="rId5"/>
    <p:sldId id="363" r:id="rId6"/>
    <p:sldId id="366" r:id="rId7"/>
    <p:sldId id="367" r:id="rId8"/>
    <p:sldId id="368" r:id="rId9"/>
    <p:sldId id="373" r:id="rId10"/>
    <p:sldId id="369" r:id="rId11"/>
    <p:sldId id="370" r:id="rId12"/>
    <p:sldId id="371" r:id="rId13"/>
    <p:sldId id="372" r:id="rId14"/>
    <p:sldId id="374" r:id="rId15"/>
    <p:sldId id="375" r:id="rId16"/>
    <p:sldId id="376" r:id="rId17"/>
    <p:sldId id="381" r:id="rId18"/>
    <p:sldId id="269" r:id="rId19"/>
    <p:sldId id="377" r:id="rId20"/>
    <p:sldId id="382" r:id="rId21"/>
    <p:sldId id="378" r:id="rId22"/>
    <p:sldId id="379" r:id="rId23"/>
    <p:sldId id="380" r:id="rId24"/>
    <p:sldId id="383" r:id="rId25"/>
    <p:sldId id="384" r:id="rId26"/>
    <p:sldId id="385" r:id="rId27"/>
    <p:sldId id="386" r:id="rId28"/>
    <p:sldId id="387" r:id="rId29"/>
    <p:sldId id="388" r:id="rId30"/>
    <p:sldId id="389" r:id="rId31"/>
    <p:sldId id="391" r:id="rId32"/>
    <p:sldId id="392" r:id="rId33"/>
    <p:sldId id="393" r:id="rId34"/>
    <p:sldId id="395" r:id="rId35"/>
    <p:sldId id="394" r:id="rId36"/>
    <p:sldId id="390" r:id="rId37"/>
    <p:sldId id="352" r:id="rId38"/>
    <p:sldId id="397" r:id="rId39"/>
    <p:sldId id="398" r:id="rId40"/>
    <p:sldId id="399" r:id="rId41"/>
    <p:sldId id="400" r:id="rId42"/>
    <p:sldId id="401" r:id="rId43"/>
    <p:sldId id="402" r:id="rId44"/>
    <p:sldId id="403" r:id="rId45"/>
    <p:sldId id="404" r:id="rId46"/>
    <p:sldId id="405" r:id="rId47"/>
    <p:sldId id="406" r:id="rId48"/>
    <p:sldId id="407" r:id="rId49"/>
    <p:sldId id="39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FF33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60665-F2D6-47BB-955B-EBDD4EFB024B}" v="59" dt="2026-01-12T17:30:55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5" autoAdjust="0"/>
    <p:restoredTop sz="96194" autoAdjust="0"/>
  </p:normalViewPr>
  <p:slideViewPr>
    <p:cSldViewPr snapToGrid="0">
      <p:cViewPr varScale="1">
        <p:scale>
          <a:sx n="159" d="100"/>
          <a:sy n="159" d="100"/>
        </p:scale>
        <p:origin x="24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5B53906A-5F1B-43C2-814B-DA37BB59EAFF}"/>
    <pc:docChg chg="undo custSel addSld modSld">
      <pc:chgData name="Thomas, Gregg" userId="dfa61f86-18d4-44e1-a72b-c953fd59092c" providerId="ADAL" clId="{5B53906A-5F1B-43C2-814B-DA37BB59EAFF}" dt="2026-01-12T19:10:55.244" v="225" actId="1076"/>
      <pc:docMkLst>
        <pc:docMk/>
      </pc:docMkLst>
      <pc:sldChg chg="addSp delSp modSp new mod">
        <pc:chgData name="Thomas, Gregg" userId="dfa61f86-18d4-44e1-a72b-c953fd59092c" providerId="ADAL" clId="{5B53906A-5F1B-43C2-814B-DA37BB59EAFF}" dt="2026-01-12T19:10:55.244" v="225" actId="1076"/>
        <pc:sldMkLst>
          <pc:docMk/>
          <pc:sldMk cId="2047572788" sldId="264"/>
        </pc:sldMkLst>
        <pc:spChg chg="mod">
          <ac:chgData name="Thomas, Gregg" userId="dfa61f86-18d4-44e1-a72b-c953fd59092c" providerId="ADAL" clId="{5B53906A-5F1B-43C2-814B-DA37BB59EAFF}" dt="2026-01-12T17:35:29.058" v="224" actId="1076"/>
          <ac:spMkLst>
            <pc:docMk/>
            <pc:sldMk cId="2047572788" sldId="264"/>
            <ac:spMk id="2" creationId="{DF741E71-7AE5-46DF-818C-18790936B086}"/>
          </ac:spMkLst>
        </pc:spChg>
        <pc:spChg chg="del">
          <ac:chgData name="Thomas, Gregg" userId="dfa61f86-18d4-44e1-a72b-c953fd59092c" providerId="ADAL" clId="{5B53906A-5F1B-43C2-814B-DA37BB59EAFF}" dt="2026-01-12T16:47:21.416" v="41" actId="478"/>
          <ac:spMkLst>
            <pc:docMk/>
            <pc:sldMk cId="2047572788" sldId="264"/>
            <ac:spMk id="3" creationId="{38DC1B9A-A37A-E1D4-B035-67949A62D3C8}"/>
          </ac:spMkLst>
        </pc:spChg>
        <pc:spChg chg="add mod ord">
          <ac:chgData name="Thomas, Gregg" userId="dfa61f86-18d4-44e1-a72b-c953fd59092c" providerId="ADAL" clId="{5B53906A-5F1B-43C2-814B-DA37BB59EAFF}" dt="2026-01-12T17:26:55.184" v="161" actId="167"/>
          <ac:spMkLst>
            <pc:docMk/>
            <pc:sldMk cId="2047572788" sldId="264"/>
            <ac:spMk id="31" creationId="{EDA08AC4-3306-B323-E664-176D998FFC77}"/>
          </ac:spMkLst>
        </pc:spChg>
        <pc:spChg chg="add mod ord">
          <ac:chgData name="Thomas, Gregg" userId="dfa61f86-18d4-44e1-a72b-c953fd59092c" providerId="ADAL" clId="{5B53906A-5F1B-43C2-814B-DA37BB59EAFF}" dt="2026-01-12T17:26:58.399" v="162" actId="167"/>
          <ac:spMkLst>
            <pc:docMk/>
            <pc:sldMk cId="2047572788" sldId="264"/>
            <ac:spMk id="32" creationId="{51B9FE04-4F55-82F6-7D3B-9D3FDAAEB69C}"/>
          </ac:spMkLst>
        </pc:spChg>
        <pc:spChg chg="add mod">
          <ac:chgData name="Thomas, Gregg" userId="dfa61f86-18d4-44e1-a72b-c953fd59092c" providerId="ADAL" clId="{5B53906A-5F1B-43C2-814B-DA37BB59EAFF}" dt="2026-01-12T19:10:55.244" v="225" actId="1076"/>
          <ac:spMkLst>
            <pc:docMk/>
            <pc:sldMk cId="2047572788" sldId="264"/>
            <ac:spMk id="33" creationId="{7E84D6F2-6EE2-B419-A676-B2BF98570B7E}"/>
          </ac:spMkLst>
        </pc:spChg>
        <pc:spChg chg="add mod">
          <ac:chgData name="Thomas, Gregg" userId="dfa61f86-18d4-44e1-a72b-c953fd59092c" providerId="ADAL" clId="{5B53906A-5F1B-43C2-814B-DA37BB59EAFF}" dt="2026-01-12T17:28:15.623" v="185" actId="14100"/>
          <ac:spMkLst>
            <pc:docMk/>
            <pc:sldMk cId="2047572788" sldId="264"/>
            <ac:spMk id="34" creationId="{F6310EDC-33E2-5316-50DF-6273866577E2}"/>
          </ac:spMkLst>
        </pc:spChg>
        <pc:spChg chg="add mod">
          <ac:chgData name="Thomas, Gregg" userId="dfa61f86-18d4-44e1-a72b-c953fd59092c" providerId="ADAL" clId="{5B53906A-5F1B-43C2-814B-DA37BB59EAFF}" dt="2026-01-12T17:30:39.485" v="205" actId="207"/>
          <ac:spMkLst>
            <pc:docMk/>
            <pc:sldMk cId="2047572788" sldId="264"/>
            <ac:spMk id="35" creationId="{39FBB656-5C75-CA4C-3DC7-1A646CE9BFD1}"/>
          </ac:spMkLst>
        </pc:spChg>
        <pc:spChg chg="add mod">
          <ac:chgData name="Thomas, Gregg" userId="dfa61f86-18d4-44e1-a72b-c953fd59092c" providerId="ADAL" clId="{5B53906A-5F1B-43C2-814B-DA37BB59EAFF}" dt="2026-01-12T17:30:53.995" v="215" actId="122"/>
          <ac:spMkLst>
            <pc:docMk/>
            <pc:sldMk cId="2047572788" sldId="264"/>
            <ac:spMk id="36" creationId="{516EED6D-D2E6-FF2E-AE3F-D584AD454EB0}"/>
          </ac:spMkLst>
        </pc:spChg>
        <pc:spChg chg="add mod">
          <ac:chgData name="Thomas, Gregg" userId="dfa61f86-18d4-44e1-a72b-c953fd59092c" providerId="ADAL" clId="{5B53906A-5F1B-43C2-814B-DA37BB59EAFF}" dt="2026-01-12T17:31:01.320" v="223" actId="20577"/>
          <ac:spMkLst>
            <pc:docMk/>
            <pc:sldMk cId="2047572788" sldId="264"/>
            <ac:spMk id="37" creationId="{FD58A2BE-3B76-B2CB-C7A4-4F5AFFAC1C53}"/>
          </ac:spMkLst>
        </pc:spChg>
        <pc:picChg chg="add mod ord">
          <ac:chgData name="Thomas, Gregg" userId="dfa61f86-18d4-44e1-a72b-c953fd59092c" providerId="ADAL" clId="{5B53906A-5F1B-43C2-814B-DA37BB59EAFF}" dt="2026-01-12T17:26:51.874" v="160" actId="167"/>
          <ac:picMkLst>
            <pc:docMk/>
            <pc:sldMk cId="2047572788" sldId="264"/>
            <ac:picMk id="5" creationId="{55CC7405-C3B0-EE6F-CD91-E0E70C4C3DF5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7" creationId="{38E0C665-C657-2B70-2660-4579A48574C6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9" creationId="{40089CA3-3024-FA4B-FC04-FBD800992578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1" creationId="{D0CFFDB9-76D0-E9E4-0FBF-CDF12BEC392A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3" creationId="{49A1967A-7754-67A8-E0A8-09A64FBC5DCC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5" creationId="{175CF639-8765-92BF-3C5A-3E406FF6297D}"/>
          </ac:picMkLst>
        </pc:picChg>
        <pc:picChg chg="add mod">
          <ac:chgData name="Thomas, Gregg" userId="dfa61f86-18d4-44e1-a72b-c953fd59092c" providerId="ADAL" clId="{5B53906A-5F1B-43C2-814B-DA37BB59EAFF}" dt="2026-01-12T16:57:33.316" v="115" actId="1076"/>
          <ac:picMkLst>
            <pc:docMk/>
            <pc:sldMk cId="2047572788" sldId="264"/>
            <ac:picMk id="17" creationId="{9BD05213-6F6D-F56F-E652-40FF085C79E4}"/>
          </ac:picMkLst>
        </pc:picChg>
        <pc:picChg chg="add mod">
          <ac:chgData name="Thomas, Gregg" userId="dfa61f86-18d4-44e1-a72b-c953fd59092c" providerId="ADAL" clId="{5B53906A-5F1B-43C2-814B-DA37BB59EAFF}" dt="2026-01-12T17:26:23.499" v="154" actId="1076"/>
          <ac:picMkLst>
            <pc:docMk/>
            <pc:sldMk cId="2047572788" sldId="264"/>
            <ac:picMk id="18" creationId="{4688334E-3270-164C-83A3-3BD69ECFA1F8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0" creationId="{48A11280-63F0-0F42-FB77-B86A9A92A3B5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2" creationId="{C1666496-3631-9CE8-8E96-0F69B56986CC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4" creationId="{1B0A5A39-D787-B18D-F216-9CCC4E9B70DD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6" creationId="{6CDD06F5-5798-4625-9BAB-C3EAA4B5E0E2}"/>
          </ac:picMkLst>
        </pc:picChg>
        <pc:picChg chg="add mod">
          <ac:chgData name="Thomas, Gregg" userId="dfa61f86-18d4-44e1-a72b-c953fd59092c" providerId="ADAL" clId="{5B53906A-5F1B-43C2-814B-DA37BB59EAFF}" dt="2026-01-12T17:26:30.748" v="155" actId="1076"/>
          <ac:picMkLst>
            <pc:docMk/>
            <pc:sldMk cId="2047572788" sldId="264"/>
            <ac:picMk id="28" creationId="{2B3E9378-FC77-024A-C990-8F64F8610B08}"/>
          </ac:picMkLst>
        </pc:picChg>
        <pc:picChg chg="add mod">
          <ac:chgData name="Thomas, Gregg" userId="dfa61f86-18d4-44e1-a72b-c953fd59092c" providerId="ADAL" clId="{5B53906A-5F1B-43C2-814B-DA37BB59EAFF}" dt="2026-01-12T17:25:37.265" v="148" actId="1076"/>
          <ac:picMkLst>
            <pc:docMk/>
            <pc:sldMk cId="2047572788" sldId="264"/>
            <ac:picMk id="1026" creationId="{209708CE-B8B5-13D4-7A35-5FE64F8EF603}"/>
          </ac:picMkLst>
        </pc:picChg>
        <pc:cxnChg chg="add del mod">
          <ac:chgData name="Thomas, Gregg" userId="dfa61f86-18d4-44e1-a72b-c953fd59092c" providerId="ADAL" clId="{5B53906A-5F1B-43C2-814B-DA37BB59EAFF}" dt="2026-01-12T17:25:20.636" v="145" actId="478"/>
          <ac:cxnSpMkLst>
            <pc:docMk/>
            <pc:sldMk cId="2047572788" sldId="264"/>
            <ac:cxnSpMk id="30" creationId="{23F3CE45-A1ED-DC9F-4718-E70B518E5C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C97FA-6859-4219-8E5C-CDE43325068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7EF8-35D8-4635-8F46-65E701D73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77E1-9574-F0F0-4973-5BD2127D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32D1F-BC62-0104-154F-66F31C636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6FDD2-7661-23B0-BFEB-542D80869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A9312-BC2D-1405-9BC3-47CBFB48D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67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EE2B-8D97-C42C-ABE2-B5AB29E1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0DB9C-3FB3-BE26-8413-187213023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7530-94B6-F8F9-D9F8-F40368C43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D91A2-C2DD-1DAF-DE35-D3B085F9E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45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3AE0-CC12-BAAA-035E-2D3968BE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6BDBF-AFDE-3160-B683-0512A9160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C1246-8D58-1ADF-372C-885BD850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21EF-1F5A-F45A-B161-94C529B1F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23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D0A90-CF19-0BF9-43D4-EF083AAC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830EA-A642-5CD2-4453-DC46343C8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3DBF1-A182-51CE-02EE-0C524CF57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3C4C-0342-90B9-4A41-3166CCEE3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69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A8D5-1816-D769-E674-A2F55AA7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DFAA9-B5A4-EC96-1D8A-45E2AA45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26FC7-3FBA-F0D3-2707-01A50CDC2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63F2-72D8-5E6F-1712-B7B91ED25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2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0DD8-5255-68D4-CCDB-35E74821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03259-0DD3-1016-EA4E-DBE5B0627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BC086-A5F7-549E-7C95-A26CE3447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24F7C-4F2F-3959-64AE-9A3B763B5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4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C42A-3694-A63E-DA70-6339A946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2D647-94E1-8896-CAC6-CAB1B97DB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4F5F-80F6-6EC3-C110-4F56522A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19FD-5C58-879C-0860-4BD81516E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2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EA3D-B2C1-41C9-CDD7-CB4420EB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C3D59-98BE-A293-56F7-55495EF9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B93E5-039C-3D5F-864B-7C4B24F5A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command prompt and not to use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C8153-6DC9-8543-B3F1-080D63314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7EF8-35D8-4635-8F46-65E701D732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47BB-328D-FF3A-FB21-C2AB4A1EE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CBC7B-F803-DA30-CA98-C6284C45A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B0C9-5C46-5743-7C97-CAD33CE2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9FB9-2CA0-2543-5417-D7421A6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344-6593-D270-E0AA-510F663D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6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8AA3-9D6F-9430-308A-99C78F69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74C4-A43B-4353-5502-EEC333B84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F9EB-D537-F4E6-2143-9E299646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9785-5C44-AAEE-9589-27B60D76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C731D-FFE4-E910-3729-5A5FA0A2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5753-30DA-0041-F9C7-4689ADD3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030D8-828D-362C-8C79-CE937C42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B502-A81D-31AE-785E-05521DB8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6DCB-53A6-A59F-7686-55E50DB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1C17-8C4B-F6F4-7048-EF360E4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2F24-0C5C-42F4-34EE-09B02305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0161-6115-3CF5-98B1-3ABA9AC56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E2086-6D7B-D3AE-2EB0-06B44B90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7C4DD-4F37-EB27-5F9B-59F1E4F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B38E-2674-E0C5-AB77-A3BE6F59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A4B83-8F8B-BD62-FD6E-30DC3398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0E5A-16B4-3B0E-FC93-CDB5C333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4433-462D-44DC-04E1-76FA8170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1FFCE-C634-D05C-7A08-11A57C24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EBF-5524-E0DF-51DF-49FF65577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88635-2421-1408-D696-042A7E989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723EA-C66B-D5DD-2C01-5248F98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E0B4A-65F4-469B-60A5-DEF4E298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7A78-99B2-3912-AAB8-81A7C6E1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1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9443-3A16-2BC7-241C-1596D519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5A24F-89D2-EA15-8B23-95206959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5A6D1-B48F-B4A0-C9E4-866CAA89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359F8-0A96-CFA6-E1F0-8BB0640A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1CFBE-F7FB-CF48-EBE3-0C57DDEC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7362B-5155-791F-73FA-797E26CD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D6765-BE8F-C44E-4F04-66EBB4FB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D917-261C-5BD0-2D6C-9FEA862F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869C-AE14-6F78-A445-A81793C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sz="28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 sz="20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A71C5-46D8-27B5-F9CD-05F12B3E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51826-B3F4-049E-7886-0C3EE980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6308-38BC-1C56-6E54-71B7754F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A414B-03C9-F1BC-FB04-2C3DBB56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3D03-2901-2129-A288-A07681BB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C4847-A851-5A29-55FB-D389E5581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C6C24-2F46-8EC1-F152-D75C248BD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3BB1-662F-456E-A8C5-E323F3C8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F2D2-E491-27EB-3EE4-CC74533F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AF1B6-F600-02CD-2712-46A5226E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3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FA01-476D-06E3-2625-529C89DE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E60B3-0289-23F1-AA3E-C329D0046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6CE0-748B-4DED-5C0A-584BECE2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75F-B147-EC17-45C6-A3F6AF99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D3A9-EA87-3F85-FA7C-929D3C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0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3E630-7CDD-A00C-0C1C-8489F7DDA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5212F-156E-2230-8A9C-F0F2DD89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1F81-02ED-EA91-3B81-75B01A09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10AEC-F8B8-12E0-8AD5-4B1B9D6E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CEE0A-818E-4525-8FF3-910A877A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BEBC2B-1543-4583-56C1-662CAA6F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8960-F417-898E-F329-5ADB01C8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3D27B-60B5-B8BE-0564-3B226551A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CB47E-54BC-47CE-8C53-06DEDDAC73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96DC-6CE0-1CDF-E069-385112DE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6372-0427-7AE6-B2FE-23F3E0648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EBA9F-D176-42AF-9867-D4CE8150D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remote/remote-overview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rc.fas.harvard.edu/kb/vscode-remote-development-via-ssh-or-tunnel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677DF-0627-BDC6-9C23-C3EBC33F69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D15E9-D3C5-4D56-EC73-260C90963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09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Integrating local and cluster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930FF-0D52-8019-4787-F80035CFA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4103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5,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140393-AEA2-A958-0E1D-DBF9A848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570941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6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E5CF-5764-7CDC-5D06-8547A575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C79117-434E-1BEC-0458-6E21BA09BA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5E478-51EF-8417-1416-C18AC9297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09"/>
            <a:ext cx="12192000" cy="120491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Command line 101:</a:t>
            </a:r>
            <a:b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33FF33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Integrating local and cluster </a:t>
            </a:r>
            <a:r>
              <a:rPr lang="en-US" sz="4000" u="sng" dirty="0">
                <a:solidFill>
                  <a:srgbClr val="33FF33"/>
                </a:solidFill>
                <a:latin typeface="Consolas" panose="020B0609020204030204" pitchFamily="49" charset="0"/>
              </a:rPr>
              <a:t>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837B4-6A30-3BFF-1648-C1347B135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4103"/>
            <a:ext cx="10668000" cy="2573337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Harvard FAS Informatics virtual training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33FF33"/>
                </a:solidFill>
                <a:latin typeface="Consolas" panose="020B0609020204030204" pitchFamily="49" charset="0"/>
              </a:rPr>
              <a:t> Thursday, February 5, 2026</a:t>
            </a:r>
          </a:p>
          <a:p>
            <a:pPr algn="l"/>
            <a:r>
              <a:rPr lang="en-US" sz="4000" dirty="0">
                <a:solidFill>
                  <a:srgbClr val="33FF33"/>
                </a:solidFill>
                <a:latin typeface="Consolas" panose="020B0609020204030204" pitchFamily="49" charset="0"/>
              </a:rPr>
              <a:t>$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BF6EFA-1364-C2B1-25A1-037322864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570941"/>
            <a:ext cx="5842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01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4740-BA9C-99C2-3ED3-F43BB1DA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7F1F-ADDC-89AA-5625-DDFBE29E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4B098F5-2DFE-EBCD-E47A-77F16171A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D7848C-4382-135A-CE81-6047D173E098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3E90353-1D67-3E24-503E-8F3FBFAF0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71946B0-9BD0-DD5E-17C6-255B73D4C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2EF2C5D-BA7E-B243-437F-140AC9D39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D94045-7343-A471-C368-C7392BC4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18BB2DB-805C-4E32-7110-C7BC5CBA1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42E29F-C180-DE78-C678-650C7E8D28C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80A96B-A05A-FB70-E71D-FB5C7DFCF3E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14B20C-902E-18B5-63AF-AE6FF28A3470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233F24-DE51-7294-49FB-5A63EF2B27A1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06E9ED-0FBD-5A36-981A-AD31BB262A43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3FA4952-D8E9-F553-9D24-E11D60E952BC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3A4BC-A2EE-C990-4E80-30F57B25389F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8C6450-0EEE-F21D-E2AC-3E6F9F3D59F0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9B4A9E-0D90-FB01-2CA1-8F05F9B23EC1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CAD00-CFCB-56FE-812B-D22C18D812C3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02C688-548D-807A-BF31-59D2A18609D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997C28-BD10-62FA-47AE-F67C31BC4DAE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D6FBA2F-B22A-8407-2CA2-5525E444AEA1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FF844-88EE-3775-70F9-7F6232F49E58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8BDFF6-1ABB-B299-260D-CAFE52F23D5F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0C6437-06A0-A61F-0B62-5523877A97D0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851D29-D9DD-B2D0-5024-68F2E7B53763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4C3104-51BD-4A3E-DECB-3D55BE489F03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229126-A973-3CAC-54D6-B1E1C1B2599A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F04D9C-2AFB-E1D6-1EEC-903E5118B6B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24F5419-188E-B360-DC4E-C638720D545F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1F1C1D0-FA3C-7505-28BC-E41222EBA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4235589-0A49-1DF5-FAF2-4A465E75DD28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EA17CE42-5C27-4954-9560-8DD5A987E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7CD29B4-B90A-F12D-5096-0910CDC2196B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EB61F6F-CE72-C8CD-1698-D6CF9312A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7AD9FC9-7028-2E74-F8AD-ECEE080B3091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F58C9D6-E6FB-9A38-7D74-CA6D65A9152F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73CC9B-BD1F-F739-1C75-69D6026E14E5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467EAF0-B90A-91CC-9FCD-54EF42F9B92C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8FEC01C-FA47-10D4-015A-AFA371C8B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AA67E68-021D-B094-C86B-EC039F930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37E9457-EEF4-08BC-FE81-9E635190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F1A70B-1E18-D021-5530-6F4054DA6334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C48D345-D83B-103D-B9E9-C2A37A1AC0C9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BF21D8A-FBEF-4D1C-AE5F-E855187BDE07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2986A6C-8543-B2BB-A268-915F3A7DB207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040B53-C5CE-B4E4-E097-3EB02B6CABA5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34F168-D3D3-C560-6694-F01BEF75BDF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FB03CF-DD59-816F-C66A-C18225B2968B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B0A0639-E8D1-826B-B4D4-FEDB8775B3F1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351B96-DA3A-59D9-465D-7585D59094BC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CBDD3C7-66C9-A04F-2A4D-A04F7A3B0953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A15CA27-E045-073A-8ECF-9080E47E67A0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F09899-8F84-9BCD-54EC-61688C79B70D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D7B683-BE1A-E7DC-04A8-636ED2041006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D2CA34D-6E67-4FCF-FCD9-53EF1D16922E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1B2C22-27B1-2443-4126-FAE8B211FA2F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0EA3F1-883B-FA31-DE95-5B51689BA36E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16642E4-E8A1-81F8-7C11-DBAB0B6D3B6E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F91E93-9E2C-A713-CA66-50EDF77DE34E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DF3589-2E76-4DF2-AB4E-138C6153A4B4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E0C7427-E4DC-8665-C090-249CACD67D0E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819EBB-36BA-13C7-9EB6-39A1F63D7E8A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F70308BE-72F2-608E-D356-70CCAB909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7B1BD45-F1DB-D384-DCD9-FB03B97A7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EA1DE08-AB01-E329-F23C-8CB0957B3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1475E39-6273-A211-47D1-B12E51EC9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05E130C-B653-16B5-53D0-438F11725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BEE58E6-78B8-3FCA-085C-22F43FEB05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011E3D2-7F1B-F1CF-B613-A5397B7BA7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3D91F1F-7794-6BF4-0157-57174779E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617AAC9-5681-FBDA-7CE9-507F63C6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B47F9EE1-8F79-F3A4-F51F-10F9F8BB8A1E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3F50882-141B-736B-EACC-94AF7FA13E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A4AFCC0-3B8D-4687-89BC-7284197662BD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3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592E-8DED-CF1F-194E-C45D90D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80B1-813E-5C8E-9916-19A991A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2B5ED03-462E-AC33-0C7B-99B300412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D34B2A-8712-D2B2-C334-F2A1622B5054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BC35B7A-A359-708A-0507-F62CE71B9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67455BC-B83C-FCA8-D9AC-6E970A919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06C040-0565-46F7-DB77-91233E32C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BAADC7-D553-F817-0E8F-9E25B179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EED1153-736A-4829-9555-EF7ED0051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A0C47-5AF1-4B14-F5A2-6E8BE143E44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CB989C-ED30-8DD8-BECB-36987B73111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6760AD-3C7F-6732-6EF2-BB91374C5462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5151DA-DBB0-0C44-FCDA-235A57004E5E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AD6A16-627C-C8E4-54C4-BFC576F91DF0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2CAA77-F952-8080-7FBF-20723124C2A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D8D55-3295-9D82-4A74-46BB3F3726D6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547B5-4B00-C3D2-CCDC-CB502B0904E2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2A560-38DD-E87C-AB32-679872B85E59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6D794A-6ABB-8ACB-01EE-1A9EF61A5D84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741BC6-7974-AE38-9B5F-21F908A06776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7EF746-8025-9946-9702-278CA7978516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1BA832-AA56-40D9-89AD-90EA8D20617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C6B9BA-FC62-505E-EC56-659FCE640297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C92885-6485-D654-1068-D78803D5C6D0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5BB5D6-A9F1-066B-AAE8-19797308CF19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0FD51E-8E4B-2BE5-C181-0A5FC647527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20B76F1-D037-DC3F-F7B5-5D49A9AD421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60CC2E-EF19-BE3C-376C-4C3EA8E72305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2311A3-1088-E713-C5AD-12A33373DAB8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0EAA00-B726-E914-3BBA-16F975B3B702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AFEBDC0-2CCF-81B6-FA6E-0D69AD24C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9B426E2-84EC-28F2-6E80-EBC6375C6D4C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4844A9BF-7FC6-B1E3-67A3-10A26CF6A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9ACD43-133E-3745-4C6E-3845A18E0C09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863A6E3-3940-D6E0-5087-0E828478A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4F75FD3-25FA-C837-91E4-B7A69522FDF8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629FC4-458D-6825-A379-FAE5CE9BE472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58A3796-D0AA-F97D-86A1-580530ECA7FC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EDAF35-8AD9-0A06-B9A7-B73EBA8F9443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C3ED1E4-829D-D6C7-C35C-A35758698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2D9DE0F-7C5A-4444-5D52-4D576BA1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BC46F95-D380-23C5-53E1-982769D01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4D6114-5473-5CFA-01E7-70A6676D344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095A50-3C96-2DB2-2934-822454DD804A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F10E0F-5576-26A9-A3A6-F6122E591B7E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635E72-61F1-425C-1EBD-11DB5414967E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BEE32A-B932-2E91-E308-11699A1A6CAD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1F02E8-65C0-7A89-A501-F690D8D5F153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6E5FA27-9FD2-EE17-9671-1BC35EF852E4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E2F66E6-2470-72F2-2ABA-56C089D5469F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D10FBE5-4AF8-9AEB-3085-7FA961361E06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6C5D8B-BCED-C403-1FDC-1FE4CF0799A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148A381-962C-65D6-26F9-6DCDF95ED5F8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09427B3-1B8E-6AAB-46B1-AA3FBDFF2DF9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D006918-DBDD-F34F-E2F9-43BC8DF09528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F2D622-E530-EAC1-7776-64D671205120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05BE1CA-64BC-5937-E585-48BF950EC29C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92A5E84-F18B-BD91-C85E-1B5676EB25FC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902229-ADB2-918F-DBE7-0A8E443300D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82214C1-81B5-E0F7-9C4F-36D5C166C91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3F075AE-FD89-013A-AD58-4D7573519A2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9F3B9C5-0CA6-102A-55DB-4D0C5BB922E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D0B413-6B03-0D83-41D0-0CD1334CE54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5004FDDF-1559-D3E6-4A24-7D9E7C62B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2DD0FB98-C973-DC7E-779E-2678F3928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6BEF6E5-C4B2-CA8F-6ED7-9C08532D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F476DD6-C738-C00F-2396-C250D203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7EA1EFE-C690-F284-1944-943191399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7DA61C30-BCE3-69C9-ECEF-069D5179F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6B1E372-9A4E-A600-47E0-19C3AB3414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42E4F52-82FA-0260-5097-FD039BC858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E56FF5C-8760-BCBB-8FA2-2658CE05E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69B0B007-1CE1-180E-81A7-3FEC25BC17A9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DEB1C4D-25AE-3533-1034-3CA8D659D5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2F7E8E1-C05C-9A00-8E29-5F395C0DD912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5C03C-4DF9-11DB-ADDD-D3CC48CA7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8DA42-B03E-DD32-086B-7573733F0B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3B57F584-D830-7DBE-2DB6-1EB7D5AF050D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790686-22B8-6861-491F-AC22C5CCCD16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DE40D83-5CEA-12AD-ACC3-1B8D8419064E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9E02B8-D38A-5A43-51DB-EB396A11EFCF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8B3EC0-8357-3BD0-200C-2C7F2CF009EB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5988CF-0573-8AF6-06D8-5B3EC9AFB1BB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13C13174-7C1A-771F-1FD3-DFC5F55AD3FB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7804122-FC3D-76F0-B804-CC6FEE8A7626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current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950812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57FD-EEA8-6045-70C5-C6D8EEEE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D75A-2EE5-9E5D-661C-DED1E6D0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/>
          <a:lstStyle/>
          <a:p>
            <a:r>
              <a:rPr lang="en-US" dirty="0"/>
              <a:t>What to we mean by “environment”?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C189B8E-D0A9-6CC5-88DB-9570EEDE4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6A586C-D96C-A008-9334-366441DA3C2A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2487FB3-D08B-E359-B5D3-99D6CCE22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8D6E114-DDE8-B935-137F-728B331A8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653E1134-0C0B-34AB-E933-7B474DF6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473E14-0E9B-84C8-706C-0428FF306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7C470D7-5557-2008-E2D2-0FB2B66FD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8A2214-53F3-7181-5072-B8241E5B9A4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F23506-7932-3C67-CFB8-09F893ABD33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8A78EC-1060-CA30-50B3-F841EAD56A1F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5DECDA-6EB9-D511-9F20-618A79E03A81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00737A-2454-C98A-1CFA-43BBE48D15EA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D4E40C-E531-DF65-E3CA-D01E4BF2292A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7BDB05-44CC-04F8-86A1-B8CA59D85781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DDE178-1AA2-6FC5-BB78-455D4493A331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5ACAF-62F5-216A-89CB-487B125B056F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62EB32-E670-4F1F-EC99-C2C5F6650A88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86F77F-1011-79D1-CA50-DE0EBF36779D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D71A69-5834-07E2-ED65-1204930D6527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C2E5EB-D482-89D3-B79B-EEA34947F4B3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259410-97A8-9707-95C8-8D7BD62217BF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FDCDD7-A4DE-7B56-7D59-CC8E0EB4CD98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15E94A-A45B-372D-DA65-2A84E142A19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172F01-29BA-A8A4-789B-C0856D4DFBC4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C4D82D-CE4B-0596-7597-DB423F133D71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FEAAA81-1DD3-136F-11A8-DCB1107AAD28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F0013C-0F38-9EE6-78E6-A9A55EC6DA54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F2BB7B-59AA-707C-7B6F-224DCFF91270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4B82B24-A48A-A729-E951-CCFCAE919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45C4E8F-2831-79C0-D577-0D6656E29A3D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BDD929-486E-1125-195E-67BBF2D01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3C6A6D-2F7B-3D0D-D351-C724D4965C3D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FDAD5AF5-D48B-27E4-4A1F-D72D40EB9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E7720D2-4263-F22D-CDBD-BA95C352661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5BAB98-BAC7-7733-D498-66A9C6E2F945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8DF501-2146-AA3C-634E-CB572BC1ACC4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9BF19C-A671-0D61-4A15-3FC92201E258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76396D-9C3C-A5A3-2B8C-8930805DD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0E2445F-27A7-45D2-6C54-28D1A787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3029CBA4-C841-FFA4-4798-20A2F105C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C4A402A-417D-48C3-5A01-23F1DDA77C79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685681-75CB-76AB-A640-DC9F259E0113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4EEF8EF-2054-9F28-6873-2F554A2174A4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535691B-E66A-B8E3-015D-35A5876F79B8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0593EF-F514-7DB8-ED2A-67088954B491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297996-6542-0E9A-0848-51B19B16AAF4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B32E75-5CCA-B584-3BB1-074480F5D876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A86930-DBF2-53B5-9523-B2D007C9A6DA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372DBE4-356F-92C0-5125-AB186AB03F22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1026842-54CD-9D66-2B8F-D66DBE139628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82E73B-395D-4A2F-D5B7-35339FC02C4C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BD0FB07-59B2-10D6-B2C3-1FA74418F30C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172117-CFF1-6194-F969-1FBECA1DF12A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72192F-2FCC-68CD-785C-FE357DEE4BF5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859F737-DB86-0F27-1280-E5D19CF4D70D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CF29FB0-06E0-6DF2-5A86-7EEF46A0187A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65EEE00-54ED-2496-CD70-1E5387953C31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A9FD929-B748-45A2-13FE-E08B0EC8A4DC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977ACC-0AFE-C2BF-D8A8-F55DD58CD33F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96C5D82-5701-3AEB-3B10-50A5529E0F6B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22243B6-814D-7501-4A70-27CC67F3EFC7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2CFB7BD-74BF-342E-0601-B8273CE37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DAF343D-DEF5-BD14-D2D8-DE6C9C6C6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276DDE04-3CDE-B5AA-35FD-F8866C21E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216D3A5-8D75-F528-9D28-E01E347A9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CBFDC78-EB69-208E-EC74-4C08D42B4F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C636E73-F815-EE00-C0D8-36539E6D60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91D6E21-17A7-4C8F-A5AD-225381242B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E2A4217-A49E-99CC-4073-294E47D27E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B467131B-4A73-4B70-2F1A-FCE2D7C9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F60DA216-85B3-B1DD-6B49-F457CDFEFBF3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88DE0280-D80C-C8B5-AD70-C7C79A446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965" y="1610077"/>
            <a:ext cx="5329277" cy="797966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6730424-E29F-27A9-95F6-B55BA3D08C77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CE344-E506-7C9F-B6B2-B88C69045A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3CEE3F-545C-BB37-0FA7-E39C118F02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E7F9A4-5415-C3B0-D702-62DAB8856F0C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CCF3B4-9141-49A9-0C3B-5A7BD6C1F74E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79D4E5-B002-0283-D3D3-3849A2BED4DA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2D06533-485C-CDAF-2A25-41DD38055B34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D21108-55AB-F0C6-90F4-18D0DAF414EC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ED2818-2B86-8CFF-DD50-8E4FE73FD203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D3E9A3E8-3D1B-5E4C-0100-0F3407AEAA2E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620EA6-2F81-EC62-5718-CDE242597B13}"/>
              </a:ext>
            </a:extLst>
          </p:cNvPr>
          <p:cNvSpPr txBox="1"/>
          <p:nvPr/>
        </p:nvSpPr>
        <p:spPr>
          <a:xfrm>
            <a:off x="7103571" y="5624641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computers where your user does not have full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permissions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you will have trouble installing software</a:t>
            </a:r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7" name="&quot;No&quot; Symbol 14">
            <a:extLst>
              <a:ext uri="{FF2B5EF4-FFF2-40B4-BE49-F238E27FC236}">
                <a16:creationId xmlns:a16="http://schemas.microsoft.com/office/drawing/2014/main" id="{9A4E9F3F-5266-2BBF-FF17-508EC655005E}"/>
              </a:ext>
            </a:extLst>
          </p:cNvPr>
          <p:cNvSpPr/>
          <p:nvPr/>
        </p:nvSpPr>
        <p:spPr>
          <a:xfrm>
            <a:off x="247324" y="303082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&quot;No&quot; Symbol 14">
            <a:extLst>
              <a:ext uri="{FF2B5EF4-FFF2-40B4-BE49-F238E27FC236}">
                <a16:creationId xmlns:a16="http://schemas.microsoft.com/office/drawing/2014/main" id="{845F1044-2009-3988-7A7F-AA344083755F}"/>
              </a:ext>
            </a:extLst>
          </p:cNvPr>
          <p:cNvSpPr/>
          <p:nvPr/>
        </p:nvSpPr>
        <p:spPr>
          <a:xfrm>
            <a:off x="988592" y="3030637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&quot;No&quot; Symbol 14">
            <a:extLst>
              <a:ext uri="{FF2B5EF4-FFF2-40B4-BE49-F238E27FC236}">
                <a16:creationId xmlns:a16="http://schemas.microsoft.com/office/drawing/2014/main" id="{00EC3BB3-E408-6393-EF94-5A54E1BA9578}"/>
              </a:ext>
            </a:extLst>
          </p:cNvPr>
          <p:cNvSpPr/>
          <p:nvPr/>
        </p:nvSpPr>
        <p:spPr>
          <a:xfrm>
            <a:off x="2896973" y="303009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&quot;No&quot; Symbol 14">
            <a:extLst>
              <a:ext uri="{FF2B5EF4-FFF2-40B4-BE49-F238E27FC236}">
                <a16:creationId xmlns:a16="http://schemas.microsoft.com/office/drawing/2014/main" id="{54F50466-4728-12EB-1B03-A0ACDD8CD2AB}"/>
              </a:ext>
            </a:extLst>
          </p:cNvPr>
          <p:cNvSpPr/>
          <p:nvPr/>
        </p:nvSpPr>
        <p:spPr>
          <a:xfrm>
            <a:off x="3634948" y="303884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&quot;No&quot; Symbol 14">
            <a:extLst>
              <a:ext uri="{FF2B5EF4-FFF2-40B4-BE49-F238E27FC236}">
                <a16:creationId xmlns:a16="http://schemas.microsoft.com/office/drawing/2014/main" id="{2B80CEB3-5BBB-7427-84F5-48A1EBBD7FAA}"/>
              </a:ext>
            </a:extLst>
          </p:cNvPr>
          <p:cNvSpPr/>
          <p:nvPr/>
        </p:nvSpPr>
        <p:spPr>
          <a:xfrm>
            <a:off x="2965288" y="4076454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&quot;No&quot; Symbol 14">
            <a:extLst>
              <a:ext uri="{FF2B5EF4-FFF2-40B4-BE49-F238E27FC236}">
                <a16:creationId xmlns:a16="http://schemas.microsoft.com/office/drawing/2014/main" id="{53847454-6704-051A-F4EF-1BFF21A5BDC4}"/>
              </a:ext>
            </a:extLst>
          </p:cNvPr>
          <p:cNvSpPr/>
          <p:nvPr/>
        </p:nvSpPr>
        <p:spPr>
          <a:xfrm>
            <a:off x="917931" y="4064623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3" name="&quot;No&quot; Symbol 14">
            <a:extLst>
              <a:ext uri="{FF2B5EF4-FFF2-40B4-BE49-F238E27FC236}">
                <a16:creationId xmlns:a16="http://schemas.microsoft.com/office/drawing/2014/main" id="{4EFB378B-091E-411B-07C9-9197C068BF48}"/>
              </a:ext>
            </a:extLst>
          </p:cNvPr>
          <p:cNvSpPr/>
          <p:nvPr/>
        </p:nvSpPr>
        <p:spPr>
          <a:xfrm>
            <a:off x="8559501" y="3379878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&quot;No&quot; Symbol 14">
            <a:extLst>
              <a:ext uri="{FF2B5EF4-FFF2-40B4-BE49-F238E27FC236}">
                <a16:creationId xmlns:a16="http://schemas.microsoft.com/office/drawing/2014/main" id="{BBF6D5D9-DE5C-48C1-39C3-2375D33F7E92}"/>
              </a:ext>
            </a:extLst>
          </p:cNvPr>
          <p:cNvSpPr/>
          <p:nvPr/>
        </p:nvSpPr>
        <p:spPr>
          <a:xfrm>
            <a:off x="10040622" y="3432825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&quot;No&quot; Symbol 14">
            <a:extLst>
              <a:ext uri="{FF2B5EF4-FFF2-40B4-BE49-F238E27FC236}">
                <a16:creationId xmlns:a16="http://schemas.microsoft.com/office/drawing/2014/main" id="{1AAA9987-ED2C-F828-1D81-1BFB005F856E}"/>
              </a:ext>
            </a:extLst>
          </p:cNvPr>
          <p:cNvSpPr/>
          <p:nvPr/>
        </p:nvSpPr>
        <p:spPr>
          <a:xfrm>
            <a:off x="9530523" y="4391377"/>
            <a:ext cx="561988" cy="498934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67EEA1-D367-E175-EA2F-5E995DF57715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current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</p:spTree>
    <p:extLst>
      <p:ext uri="{BB962C8B-B14F-4D97-AF65-F5344CB8AC3E}">
        <p14:creationId xmlns:p14="http://schemas.microsoft.com/office/powerpoint/2010/main" val="18739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FD08-1AEE-79CD-4344-9D1C6DCC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D72F-2077-A648-6DE9-DFF7B54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" y="-215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Software environments edit aspects of your default environment</a:t>
            </a:r>
          </a:p>
        </p:txBody>
      </p:sp>
      <p:pic>
        <p:nvPicPr>
          <p:cNvPr id="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1B62221-7A9E-2C37-AA0F-8426BFDC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169732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7C90EB-81C4-750F-533F-B611676BC307}"/>
              </a:ext>
            </a:extLst>
          </p:cNvPr>
          <p:cNvSpPr txBox="1"/>
          <p:nvPr/>
        </p:nvSpPr>
        <p:spPr>
          <a:xfrm>
            <a:off x="1739486" y="1956767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589EC80-93F3-5572-C5CE-6CC557295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57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85D454B-E8CE-9D8E-7D2E-796D8DF17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A040851A-9DCC-8AC3-4CF2-2B4065B36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59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BB6ED4C-A8A4-AFA5-DC22-8E82DFF2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2837343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DA41926-23C6-23DF-4E1C-04CEA828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1" y="3068366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3FDB87-AC43-8E3F-B257-3A34ADDC7EC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23934" y="2392210"/>
            <a:ext cx="1218727" cy="676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A389BC-CCCA-E738-9E82-FBCC11F91A2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63236" y="2591110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C9DDCD-22B7-0546-C407-39F4D7E57AE1}"/>
              </a:ext>
            </a:extLst>
          </p:cNvPr>
          <p:cNvCxnSpPr>
            <a:cxnSpLocks/>
          </p:cNvCxnSpPr>
          <p:nvPr/>
        </p:nvCxnSpPr>
        <p:spPr>
          <a:xfrm flipV="1">
            <a:off x="2216876" y="2585543"/>
            <a:ext cx="0" cy="335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1D0FFC-0882-6D9D-338C-47BC29246B78}"/>
              </a:ext>
            </a:extLst>
          </p:cNvPr>
          <p:cNvCxnSpPr>
            <a:cxnSpLocks/>
          </p:cNvCxnSpPr>
          <p:nvPr/>
        </p:nvCxnSpPr>
        <p:spPr>
          <a:xfrm>
            <a:off x="2536411" y="2569515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0588CB-F9AF-FFE9-D68A-34688AC2704F}"/>
              </a:ext>
            </a:extLst>
          </p:cNvPr>
          <p:cNvCxnSpPr>
            <a:cxnSpLocks/>
          </p:cNvCxnSpPr>
          <p:nvPr/>
        </p:nvCxnSpPr>
        <p:spPr>
          <a:xfrm>
            <a:off x="2691986" y="2404541"/>
            <a:ext cx="1215552" cy="629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53DCF1-67DF-9915-D653-CAAF45AF42F0}"/>
              </a:ext>
            </a:extLst>
          </p:cNvPr>
          <p:cNvSpPr txBox="1"/>
          <p:nvPr/>
        </p:nvSpPr>
        <p:spPr>
          <a:xfrm>
            <a:off x="786986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CDE1F6-3C75-E537-5DB4-C6F8B5698017}"/>
              </a:ext>
            </a:extLst>
          </p:cNvPr>
          <p:cNvSpPr txBox="1"/>
          <p:nvPr/>
        </p:nvSpPr>
        <p:spPr>
          <a:xfrm>
            <a:off x="2695161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etc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7806AE-ACBC-DD93-A8FF-C4F91C6D8A89}"/>
              </a:ext>
            </a:extLst>
          </p:cNvPr>
          <p:cNvSpPr txBox="1"/>
          <p:nvPr/>
        </p:nvSpPr>
        <p:spPr>
          <a:xfrm>
            <a:off x="3431288" y="3169891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usr</a:t>
            </a:r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AE2CB-AA86-F152-3009-3B21C82E235B}"/>
              </a:ext>
            </a:extLst>
          </p:cNvPr>
          <p:cNvSpPr txBox="1"/>
          <p:nvPr/>
        </p:nvSpPr>
        <p:spPr>
          <a:xfrm>
            <a:off x="1742661" y="3111537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home/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C26B40-66BB-6957-9AC5-F5172A98EF87}"/>
              </a:ext>
            </a:extLst>
          </p:cNvPr>
          <p:cNvCxnSpPr>
            <a:cxnSpLocks/>
          </p:cNvCxnSpPr>
          <p:nvPr/>
        </p:nvCxnSpPr>
        <p:spPr>
          <a:xfrm flipV="1">
            <a:off x="530560" y="3435720"/>
            <a:ext cx="0" cy="1214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80C5C8-0D80-BA23-209C-7B53984EAAEF}"/>
              </a:ext>
            </a:extLst>
          </p:cNvPr>
          <p:cNvCxnSpPr>
            <a:cxnSpLocks/>
          </p:cNvCxnSpPr>
          <p:nvPr/>
        </p:nvCxnSpPr>
        <p:spPr>
          <a:xfrm>
            <a:off x="610320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3D494D-1433-18EE-588C-32CACF6502C3}"/>
              </a:ext>
            </a:extLst>
          </p:cNvPr>
          <p:cNvCxnSpPr>
            <a:cxnSpLocks/>
          </p:cNvCxnSpPr>
          <p:nvPr/>
        </p:nvCxnSpPr>
        <p:spPr>
          <a:xfrm flipV="1">
            <a:off x="327075" y="341644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9DA55D-ADA7-7600-F240-E7424023CBEF}"/>
              </a:ext>
            </a:extLst>
          </p:cNvPr>
          <p:cNvCxnSpPr>
            <a:cxnSpLocks/>
          </p:cNvCxnSpPr>
          <p:nvPr/>
        </p:nvCxnSpPr>
        <p:spPr>
          <a:xfrm flipV="1">
            <a:off x="1256043" y="3441742"/>
            <a:ext cx="0" cy="13980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70B3AD-BD49-4FF2-D58F-23CFEF4F9B04}"/>
              </a:ext>
            </a:extLst>
          </p:cNvPr>
          <p:cNvCxnSpPr>
            <a:cxnSpLocks/>
          </p:cNvCxnSpPr>
          <p:nvPr/>
        </p:nvCxnSpPr>
        <p:spPr>
          <a:xfrm>
            <a:off x="1335803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F558E8-2C90-C5DE-1063-196B5AED6E56}"/>
              </a:ext>
            </a:extLst>
          </p:cNvPr>
          <p:cNvCxnSpPr>
            <a:cxnSpLocks/>
          </p:cNvCxnSpPr>
          <p:nvPr/>
        </p:nvCxnSpPr>
        <p:spPr>
          <a:xfrm flipV="1">
            <a:off x="1052558" y="342246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E99500-9935-E122-2AD1-44C604FDB14A}"/>
              </a:ext>
            </a:extLst>
          </p:cNvPr>
          <p:cNvCxnSpPr>
            <a:cxnSpLocks/>
          </p:cNvCxnSpPr>
          <p:nvPr/>
        </p:nvCxnSpPr>
        <p:spPr>
          <a:xfrm flipV="1">
            <a:off x="3181694" y="3429522"/>
            <a:ext cx="0" cy="14753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6B4A0E-282B-395A-0451-969212A3C86B}"/>
              </a:ext>
            </a:extLst>
          </p:cNvPr>
          <p:cNvCxnSpPr>
            <a:cxnSpLocks/>
          </p:cNvCxnSpPr>
          <p:nvPr/>
        </p:nvCxnSpPr>
        <p:spPr>
          <a:xfrm>
            <a:off x="3261454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53C098-E14D-97D3-20A9-8670D058C5BA}"/>
              </a:ext>
            </a:extLst>
          </p:cNvPr>
          <p:cNvCxnSpPr>
            <a:cxnSpLocks/>
          </p:cNvCxnSpPr>
          <p:nvPr/>
        </p:nvCxnSpPr>
        <p:spPr>
          <a:xfrm flipV="1">
            <a:off x="2978209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2CBFE0-9451-E353-04F3-12B3BB41F6D4}"/>
              </a:ext>
            </a:extLst>
          </p:cNvPr>
          <p:cNvCxnSpPr>
            <a:cxnSpLocks/>
          </p:cNvCxnSpPr>
          <p:nvPr/>
        </p:nvCxnSpPr>
        <p:spPr>
          <a:xfrm flipV="1">
            <a:off x="3920996" y="3429522"/>
            <a:ext cx="0" cy="12760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3E020D-E978-F603-0D97-C99688D4217F}"/>
              </a:ext>
            </a:extLst>
          </p:cNvPr>
          <p:cNvCxnSpPr>
            <a:cxnSpLocks/>
          </p:cNvCxnSpPr>
          <p:nvPr/>
        </p:nvCxnSpPr>
        <p:spPr>
          <a:xfrm>
            <a:off x="4000756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AE7F51-8C02-B9CA-4D37-3D7072162BEA}"/>
              </a:ext>
            </a:extLst>
          </p:cNvPr>
          <p:cNvCxnSpPr>
            <a:cxnSpLocks/>
          </p:cNvCxnSpPr>
          <p:nvPr/>
        </p:nvCxnSpPr>
        <p:spPr>
          <a:xfrm flipV="1">
            <a:off x="3717511" y="3410245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1E400F47-F080-B5D7-1CA6-74BB088AB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6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A1582BC-E433-326F-473B-BD5FA2F9BF2A}"/>
              </a:ext>
            </a:extLst>
          </p:cNvPr>
          <p:cNvSpPr txBox="1"/>
          <p:nvPr/>
        </p:nvSpPr>
        <p:spPr>
          <a:xfrm>
            <a:off x="176461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gregg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5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370607F-0D71-D1BB-B8BB-EA06F06B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911" y="3905672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97B468-F393-FA12-AC5B-19A228674270}"/>
              </a:ext>
            </a:extLst>
          </p:cNvPr>
          <p:cNvSpPr txBox="1"/>
          <p:nvPr/>
        </p:nvSpPr>
        <p:spPr>
          <a:xfrm>
            <a:off x="2799660" y="4178263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tim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7" name="Picture 4" descr="Beige Folder Icon for Mac | Customizable and High-Quality">
            <a:extLst>
              <a:ext uri="{FF2B5EF4-FFF2-40B4-BE49-F238E27FC236}">
                <a16:creationId xmlns:a16="http://schemas.microsoft.com/office/drawing/2014/main" id="{D269D8AE-5BFB-638F-AD7E-DDD368DE8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9" y="389223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0FE7934-9904-39B9-39EA-EB016A48BBA9}"/>
              </a:ext>
            </a:extLst>
          </p:cNvPr>
          <p:cNvSpPr txBox="1"/>
          <p:nvPr/>
        </p:nvSpPr>
        <p:spPr>
          <a:xfrm>
            <a:off x="751788" y="4164828"/>
            <a:ext cx="95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lei/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D8B96D-8CE2-C58A-1631-E49E774D5526}"/>
              </a:ext>
            </a:extLst>
          </p:cNvPr>
          <p:cNvCxnSpPr>
            <a:cxnSpLocks/>
          </p:cNvCxnSpPr>
          <p:nvPr/>
        </p:nvCxnSpPr>
        <p:spPr>
          <a:xfrm flipH="1" flipV="1">
            <a:off x="2214013" y="3557127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FE68A9-8EA5-0EFD-C43D-A6704866C9EB}"/>
              </a:ext>
            </a:extLst>
          </p:cNvPr>
          <p:cNvCxnSpPr>
            <a:cxnSpLocks/>
          </p:cNvCxnSpPr>
          <p:nvPr/>
        </p:nvCxnSpPr>
        <p:spPr>
          <a:xfrm flipV="1">
            <a:off x="1205616" y="3544907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94B0B7-5025-05CC-8622-878790E7A4DB}"/>
              </a:ext>
            </a:extLst>
          </p:cNvPr>
          <p:cNvCxnSpPr>
            <a:cxnSpLocks/>
          </p:cNvCxnSpPr>
          <p:nvPr/>
        </p:nvCxnSpPr>
        <p:spPr>
          <a:xfrm>
            <a:off x="2574511" y="3509289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Picture 4" descr="Beige Folder Icon for Mac | Customizable and High-Quality">
            <a:extLst>
              <a:ext uri="{FF2B5EF4-FFF2-40B4-BE49-F238E27FC236}">
                <a16:creationId xmlns:a16="http://schemas.microsoft.com/office/drawing/2014/main" id="{C8EED74A-4507-7F93-EB69-337018FD9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66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Beige Folder Icon for Mac | Customizable and High-Quality">
            <a:extLst>
              <a:ext uri="{FF2B5EF4-FFF2-40B4-BE49-F238E27FC236}">
                <a16:creationId xmlns:a16="http://schemas.microsoft.com/office/drawing/2014/main" id="{8589FEC0-84C4-74DB-C640-22691F88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74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0D39E38C-ADEC-FF4B-7F40-2A0AEDB2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58" y="5021097"/>
            <a:ext cx="79375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DBB396-1494-F7BC-140B-31971DD06638}"/>
              </a:ext>
            </a:extLst>
          </p:cNvPr>
          <p:cNvCxnSpPr>
            <a:cxnSpLocks/>
          </p:cNvCxnSpPr>
          <p:nvPr/>
        </p:nvCxnSpPr>
        <p:spPr>
          <a:xfrm flipH="1" flipV="1">
            <a:off x="2229418" y="4647296"/>
            <a:ext cx="2863" cy="465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B196087-C95B-8D27-622A-5D039EA03C5E}"/>
              </a:ext>
            </a:extLst>
          </p:cNvPr>
          <p:cNvCxnSpPr>
            <a:cxnSpLocks/>
          </p:cNvCxnSpPr>
          <p:nvPr/>
        </p:nvCxnSpPr>
        <p:spPr>
          <a:xfrm flipV="1">
            <a:off x="1221021" y="4635076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CA3013-8905-08DD-F0E3-28444C8933CD}"/>
              </a:ext>
            </a:extLst>
          </p:cNvPr>
          <p:cNvCxnSpPr>
            <a:cxnSpLocks/>
          </p:cNvCxnSpPr>
          <p:nvPr/>
        </p:nvCxnSpPr>
        <p:spPr>
          <a:xfrm>
            <a:off x="2589916" y="4599458"/>
            <a:ext cx="628650" cy="477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0900E10-E65F-B08D-E758-AA91288816D2}"/>
              </a:ext>
            </a:extLst>
          </p:cNvPr>
          <p:cNvSpPr txBox="1"/>
          <p:nvPr/>
        </p:nvSpPr>
        <p:spPr>
          <a:xfrm>
            <a:off x="1753168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documents/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C9F9C9-E4DB-A24C-707F-AE7092C8B26B}"/>
              </a:ext>
            </a:extLst>
          </p:cNvPr>
          <p:cNvSpPr txBox="1"/>
          <p:nvPr/>
        </p:nvSpPr>
        <p:spPr>
          <a:xfrm>
            <a:off x="2837024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music/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1E397A-1437-B65E-0050-D89BC3362C92}"/>
              </a:ext>
            </a:extLst>
          </p:cNvPr>
          <p:cNvSpPr txBox="1"/>
          <p:nvPr/>
        </p:nvSpPr>
        <p:spPr>
          <a:xfrm>
            <a:off x="706451" y="5348173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Desktop/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DBF209-23E4-ED54-2EA8-1EB888240A15}"/>
              </a:ext>
            </a:extLst>
          </p:cNvPr>
          <p:cNvCxnSpPr>
            <a:cxnSpLocks/>
          </p:cNvCxnSpPr>
          <p:nvPr/>
        </p:nvCxnSpPr>
        <p:spPr>
          <a:xfrm flipV="1">
            <a:off x="1208998" y="4599458"/>
            <a:ext cx="0" cy="157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9A23B7-C1C6-2B39-4A74-CD6526EC9DB9}"/>
              </a:ext>
            </a:extLst>
          </p:cNvPr>
          <p:cNvCxnSpPr>
            <a:cxnSpLocks/>
          </p:cNvCxnSpPr>
          <p:nvPr/>
        </p:nvCxnSpPr>
        <p:spPr>
          <a:xfrm>
            <a:off x="1288758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C26C516-9637-0E90-78BF-E92DCBD346F5}"/>
              </a:ext>
            </a:extLst>
          </p:cNvPr>
          <p:cNvCxnSpPr>
            <a:cxnSpLocks/>
          </p:cNvCxnSpPr>
          <p:nvPr/>
        </p:nvCxnSpPr>
        <p:spPr>
          <a:xfrm flipV="1">
            <a:off x="1005513" y="458018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056743D-FBD9-DDBD-4729-5174242ED5D9}"/>
              </a:ext>
            </a:extLst>
          </p:cNvPr>
          <p:cNvCxnSpPr>
            <a:cxnSpLocks/>
          </p:cNvCxnSpPr>
          <p:nvPr/>
        </p:nvCxnSpPr>
        <p:spPr>
          <a:xfrm flipV="1">
            <a:off x="3243052" y="4641729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D4065C4-FB83-8AB3-AA88-E8E691236EC2}"/>
              </a:ext>
            </a:extLst>
          </p:cNvPr>
          <p:cNvCxnSpPr>
            <a:cxnSpLocks/>
          </p:cNvCxnSpPr>
          <p:nvPr/>
        </p:nvCxnSpPr>
        <p:spPr>
          <a:xfrm>
            <a:off x="3322812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7C47564-04D7-11CE-99B7-781ABA8BEBC4}"/>
              </a:ext>
            </a:extLst>
          </p:cNvPr>
          <p:cNvCxnSpPr>
            <a:cxnSpLocks/>
          </p:cNvCxnSpPr>
          <p:nvPr/>
        </p:nvCxnSpPr>
        <p:spPr>
          <a:xfrm flipV="1">
            <a:off x="3039567" y="4622452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203B42F-E713-6E85-4C8F-7418306D2FAF}"/>
              </a:ext>
            </a:extLst>
          </p:cNvPr>
          <p:cNvCxnSpPr>
            <a:cxnSpLocks/>
          </p:cNvCxnSpPr>
          <p:nvPr/>
        </p:nvCxnSpPr>
        <p:spPr>
          <a:xfrm flipV="1">
            <a:off x="3322812" y="5767010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F53390D-8332-DBBF-8465-A7BFD3328F78}"/>
              </a:ext>
            </a:extLst>
          </p:cNvPr>
          <p:cNvCxnSpPr>
            <a:cxnSpLocks/>
          </p:cNvCxnSpPr>
          <p:nvPr/>
        </p:nvCxnSpPr>
        <p:spPr>
          <a:xfrm>
            <a:off x="3402572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CC22663-21A1-ADA6-AF41-156608058B65}"/>
              </a:ext>
            </a:extLst>
          </p:cNvPr>
          <p:cNvCxnSpPr>
            <a:cxnSpLocks/>
          </p:cNvCxnSpPr>
          <p:nvPr/>
        </p:nvCxnSpPr>
        <p:spPr>
          <a:xfrm flipV="1">
            <a:off x="3119327" y="5747733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8318550-74B5-85F7-60C8-552B37383EAD}"/>
              </a:ext>
            </a:extLst>
          </p:cNvPr>
          <p:cNvCxnSpPr>
            <a:cxnSpLocks/>
          </p:cNvCxnSpPr>
          <p:nvPr/>
        </p:nvCxnSpPr>
        <p:spPr>
          <a:xfrm flipV="1">
            <a:off x="2229418" y="5780928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1EC1F3-50E6-52FE-945F-F8E38717FB29}"/>
              </a:ext>
            </a:extLst>
          </p:cNvPr>
          <p:cNvCxnSpPr>
            <a:cxnSpLocks/>
          </p:cNvCxnSpPr>
          <p:nvPr/>
        </p:nvCxnSpPr>
        <p:spPr>
          <a:xfrm>
            <a:off x="2309178" y="5761651"/>
            <a:ext cx="103641" cy="134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344D7E-A726-2761-9A1E-A129CBB5B533}"/>
              </a:ext>
            </a:extLst>
          </p:cNvPr>
          <p:cNvCxnSpPr>
            <a:cxnSpLocks/>
          </p:cNvCxnSpPr>
          <p:nvPr/>
        </p:nvCxnSpPr>
        <p:spPr>
          <a:xfrm flipV="1">
            <a:off x="2025933" y="5761651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B237FCC-A3A9-D8EB-7026-1E1E7F358409}"/>
              </a:ext>
            </a:extLst>
          </p:cNvPr>
          <p:cNvCxnSpPr>
            <a:cxnSpLocks/>
          </p:cNvCxnSpPr>
          <p:nvPr/>
        </p:nvCxnSpPr>
        <p:spPr>
          <a:xfrm flipV="1">
            <a:off x="1205616" y="5761651"/>
            <a:ext cx="0" cy="13907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CDCC46-216A-8C73-BB89-2E89D762032C}"/>
              </a:ext>
            </a:extLst>
          </p:cNvPr>
          <p:cNvCxnSpPr>
            <a:cxnSpLocks/>
          </p:cNvCxnSpPr>
          <p:nvPr/>
        </p:nvCxnSpPr>
        <p:spPr>
          <a:xfrm>
            <a:off x="1285376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096C3F7-8052-0E32-CE89-CB54AC94A91F}"/>
              </a:ext>
            </a:extLst>
          </p:cNvPr>
          <p:cNvCxnSpPr>
            <a:cxnSpLocks/>
          </p:cNvCxnSpPr>
          <p:nvPr/>
        </p:nvCxnSpPr>
        <p:spPr>
          <a:xfrm flipV="1">
            <a:off x="1002131" y="5742374"/>
            <a:ext cx="103641" cy="134662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EF693B8A-0253-8EDA-0F4E-28BBBE37F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88" y="5924942"/>
            <a:ext cx="270449" cy="27045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7B02C86-71DD-1BF4-ABCC-95C387798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161" y="5924942"/>
            <a:ext cx="270449" cy="270450"/>
          </a:xfrm>
          <a:prstGeom prst="rect">
            <a:avLst/>
          </a:prstGeom>
        </p:spPr>
      </p:pic>
      <p:pic>
        <p:nvPicPr>
          <p:cNvPr id="68" name="Picture 4" descr="Beige Folder Icon for Mac | Customizable and High-Quality">
            <a:extLst>
              <a:ext uri="{FF2B5EF4-FFF2-40B4-BE49-F238E27FC236}">
                <a16:creationId xmlns:a16="http://schemas.microsoft.com/office/drawing/2014/main" id="{5086C526-F407-33D2-BD89-60FA1B89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576" y="5874884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Beige Folder Icon for Mac | Customizable and High-Quality">
            <a:extLst>
              <a:ext uri="{FF2B5EF4-FFF2-40B4-BE49-F238E27FC236}">
                <a16:creationId xmlns:a16="http://schemas.microsoft.com/office/drawing/2014/main" id="{73865C7B-6495-731D-9313-8511E21A4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1" y="5894528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A1CC79A-6911-2355-6D03-FF3BB1BDE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02" y="5942980"/>
            <a:ext cx="270449" cy="2704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CC5295B-D695-6A61-71BD-D85D5A7132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621" y="5960300"/>
            <a:ext cx="253129" cy="2531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0CEC2A8-0611-5656-6078-D9A55BA1DF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3" y="5942980"/>
            <a:ext cx="270450" cy="27045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D60C259-2FD9-60EC-703B-90E8F2E08F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14" y="5951081"/>
            <a:ext cx="270450" cy="270450"/>
          </a:xfrm>
          <a:prstGeom prst="rect">
            <a:avLst/>
          </a:prstGeom>
        </p:spPr>
      </p:pic>
      <p:pic>
        <p:nvPicPr>
          <p:cNvPr id="74" name="Picture 4" descr="Beige Folder Icon for Mac | Customizable and High-Quality">
            <a:extLst>
              <a:ext uri="{FF2B5EF4-FFF2-40B4-BE49-F238E27FC236}">
                <a16:creationId xmlns:a16="http://schemas.microsoft.com/office/drawing/2014/main" id="{9730C1C1-8E44-0C96-4A60-9BC03A8F6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1" y="5888132"/>
            <a:ext cx="367354" cy="3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46A0E1BE-94E4-E69A-D733-26EC05C9F0E2}"/>
              </a:ext>
            </a:extLst>
          </p:cNvPr>
          <p:cNvSpPr/>
          <p:nvPr/>
        </p:nvSpPr>
        <p:spPr>
          <a:xfrm rot="19422002">
            <a:off x="3789893" y="3170865"/>
            <a:ext cx="299201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6B4861-32A0-40E4-17B3-4B0E36E10BFF}"/>
              </a:ext>
            </a:extLst>
          </p:cNvPr>
          <p:cNvSpPr txBox="1"/>
          <p:nvPr/>
        </p:nvSpPr>
        <p:spPr>
          <a:xfrm>
            <a:off x="54310" y="3170797"/>
            <a:ext cx="952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bin/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37D7D-AECE-A625-455E-7B92F70A37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33" y="3296240"/>
            <a:ext cx="618835" cy="61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9BFA56-7A1D-20E9-48AB-453346844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11" y="4118504"/>
            <a:ext cx="618835" cy="61883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0F6ECC15-84F4-A44A-95F1-2F0B79CC8A67}"/>
              </a:ext>
            </a:extLst>
          </p:cNvPr>
          <p:cNvSpPr txBox="1"/>
          <p:nvPr/>
        </p:nvSpPr>
        <p:spPr>
          <a:xfrm>
            <a:off x="8403386" y="3462506"/>
            <a:ext cx="87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$PATH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00B060-C468-4B07-30E9-5869D59EA76F}"/>
              </a:ext>
            </a:extLst>
          </p:cNvPr>
          <p:cNvSpPr txBox="1"/>
          <p:nvPr/>
        </p:nvSpPr>
        <p:spPr>
          <a:xfrm>
            <a:off x="8140819" y="3831838"/>
            <a:ext cx="139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aliases and functions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39E18C-A104-186C-BED9-EB09FC7C0087}"/>
              </a:ext>
            </a:extLst>
          </p:cNvPr>
          <p:cNvSpPr txBox="1"/>
          <p:nvPr/>
        </p:nvSpPr>
        <p:spPr>
          <a:xfrm>
            <a:off x="8760626" y="4466346"/>
            <a:ext cx="222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$LD_LIBRARY_PATH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9BCF14A-C331-64E8-1364-1AF951CE8C56}"/>
              </a:ext>
            </a:extLst>
          </p:cNvPr>
          <p:cNvSpPr txBox="1"/>
          <p:nvPr/>
        </p:nvSpPr>
        <p:spPr>
          <a:xfrm>
            <a:off x="9320010" y="3379878"/>
            <a:ext cx="2085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other environment variables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CB69E4-790C-FF19-7386-789A48D50263}"/>
              </a:ext>
            </a:extLst>
          </p:cNvPr>
          <p:cNvSpPr txBox="1"/>
          <p:nvPr/>
        </p:nvSpPr>
        <p:spPr>
          <a:xfrm>
            <a:off x="6762457" y="3884076"/>
            <a:ext cx="11369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bash_profile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C7D23C-E6E0-7319-71FF-01A259DD9E16}"/>
              </a:ext>
            </a:extLst>
          </p:cNvPr>
          <p:cNvSpPr txBox="1"/>
          <p:nvPr/>
        </p:nvSpPr>
        <p:spPr>
          <a:xfrm>
            <a:off x="7540195" y="4713116"/>
            <a:ext cx="7368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.</a:t>
            </a:r>
            <a:r>
              <a:rPr lang="en-US" sz="1050" dirty="0" err="1">
                <a:latin typeface="Consolas" panose="020B0609020204030204" pitchFamily="49" charset="0"/>
              </a:rPr>
              <a:t>bashrc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FB70129A-3073-5040-866F-B0A075DD95A9}"/>
              </a:ext>
            </a:extLst>
          </p:cNvPr>
          <p:cNvSpPr/>
          <p:nvPr/>
        </p:nvSpPr>
        <p:spPr>
          <a:xfrm>
            <a:off x="6226499" y="2939608"/>
            <a:ext cx="5911191" cy="2338859"/>
          </a:xfrm>
          <a:prstGeom prst="clou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EB7AE7-BC62-8867-DC02-85D03E9A768D}"/>
              </a:ext>
            </a:extLst>
          </p:cNvPr>
          <p:cNvSpPr txBox="1"/>
          <p:nvPr/>
        </p:nvSpPr>
        <p:spPr>
          <a:xfrm>
            <a:off x="7103571" y="5624641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Software environments change environment variables to locations where you have write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permission</a:t>
            </a:r>
          </a:p>
        </p:txBody>
      </p:sp>
      <p:sp>
        <p:nvSpPr>
          <p:cNvPr id="87" name="&quot;No&quot; Symbol 14">
            <a:extLst>
              <a:ext uri="{FF2B5EF4-FFF2-40B4-BE49-F238E27FC236}">
                <a16:creationId xmlns:a16="http://schemas.microsoft.com/office/drawing/2014/main" id="{37076F15-F7CA-6846-3D16-888860582531}"/>
              </a:ext>
            </a:extLst>
          </p:cNvPr>
          <p:cNvSpPr/>
          <p:nvPr/>
        </p:nvSpPr>
        <p:spPr>
          <a:xfrm>
            <a:off x="247324" y="3030821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&quot;No&quot; Symbol 14">
            <a:extLst>
              <a:ext uri="{FF2B5EF4-FFF2-40B4-BE49-F238E27FC236}">
                <a16:creationId xmlns:a16="http://schemas.microsoft.com/office/drawing/2014/main" id="{6A53521E-2432-34F3-8CD5-82832A731E56}"/>
              </a:ext>
            </a:extLst>
          </p:cNvPr>
          <p:cNvSpPr/>
          <p:nvPr/>
        </p:nvSpPr>
        <p:spPr>
          <a:xfrm>
            <a:off x="988592" y="3030637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&quot;No&quot; Symbol 14">
            <a:extLst>
              <a:ext uri="{FF2B5EF4-FFF2-40B4-BE49-F238E27FC236}">
                <a16:creationId xmlns:a16="http://schemas.microsoft.com/office/drawing/2014/main" id="{7E09721D-B1B8-1F11-0880-9E541A2D6F46}"/>
              </a:ext>
            </a:extLst>
          </p:cNvPr>
          <p:cNvSpPr/>
          <p:nvPr/>
        </p:nvSpPr>
        <p:spPr>
          <a:xfrm>
            <a:off x="2896973" y="3030092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&quot;No&quot; Symbol 14">
            <a:extLst>
              <a:ext uri="{FF2B5EF4-FFF2-40B4-BE49-F238E27FC236}">
                <a16:creationId xmlns:a16="http://schemas.microsoft.com/office/drawing/2014/main" id="{4F6E4C56-939B-36FB-58FA-BDC9695DB558}"/>
              </a:ext>
            </a:extLst>
          </p:cNvPr>
          <p:cNvSpPr/>
          <p:nvPr/>
        </p:nvSpPr>
        <p:spPr>
          <a:xfrm>
            <a:off x="3634948" y="3038840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&quot;No&quot; Symbol 14">
            <a:extLst>
              <a:ext uri="{FF2B5EF4-FFF2-40B4-BE49-F238E27FC236}">
                <a16:creationId xmlns:a16="http://schemas.microsoft.com/office/drawing/2014/main" id="{E84A7BC9-2B3D-6151-A929-DA2345048CFD}"/>
              </a:ext>
            </a:extLst>
          </p:cNvPr>
          <p:cNvSpPr/>
          <p:nvPr/>
        </p:nvSpPr>
        <p:spPr>
          <a:xfrm>
            <a:off x="2965288" y="4076454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&quot;No&quot; Symbol 14">
            <a:extLst>
              <a:ext uri="{FF2B5EF4-FFF2-40B4-BE49-F238E27FC236}">
                <a16:creationId xmlns:a16="http://schemas.microsoft.com/office/drawing/2014/main" id="{DB1ED135-F2B2-634B-CDCE-F1B1FB5D5A1D}"/>
              </a:ext>
            </a:extLst>
          </p:cNvPr>
          <p:cNvSpPr/>
          <p:nvPr/>
        </p:nvSpPr>
        <p:spPr>
          <a:xfrm>
            <a:off x="917931" y="4064623"/>
            <a:ext cx="561988" cy="492986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E75F747-F56B-DEDC-4FF8-8D0778D77167}"/>
              </a:ext>
            </a:extLst>
          </p:cNvPr>
          <p:cNvSpPr txBox="1"/>
          <p:nvPr/>
        </p:nvSpPr>
        <p:spPr>
          <a:xfrm>
            <a:off x="7206011" y="2643924"/>
            <a:ext cx="3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Your </a:t>
            </a:r>
            <a:r>
              <a:rPr lang="en-US" b="1" dirty="0" err="1">
                <a:solidFill>
                  <a:schemeClr val="accent2"/>
                </a:solidFill>
              </a:rPr>
              <a:t>conda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environment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C3A8AE3A-1379-2AE7-A048-FC6355CA7C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848" y="1425170"/>
            <a:ext cx="4957979" cy="1224739"/>
          </a:xfrm>
          <a:prstGeom prst="rect">
            <a:avLst/>
          </a:prstGeom>
        </p:spPr>
      </p:pic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548DD67B-1FE0-37D2-54D9-E5539C31AF18}"/>
              </a:ext>
            </a:extLst>
          </p:cNvPr>
          <p:cNvSpPr/>
          <p:nvPr/>
        </p:nvSpPr>
        <p:spPr>
          <a:xfrm>
            <a:off x="7789353" y="1778048"/>
            <a:ext cx="1488252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Green Check Mark Svg">
            <a:extLst>
              <a:ext uri="{FF2B5EF4-FFF2-40B4-BE49-F238E27FC236}">
                <a16:creationId xmlns:a16="http://schemas.microsoft.com/office/drawing/2014/main" id="{DFE5B6EB-A602-C99C-668C-5BB15565D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046" y="3350082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4" descr="Green Check Mark Svg">
            <a:extLst>
              <a:ext uri="{FF2B5EF4-FFF2-40B4-BE49-F238E27FC236}">
                <a16:creationId xmlns:a16="http://schemas.microsoft.com/office/drawing/2014/main" id="{E971F1B7-703C-B1EB-4150-1803041C4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441" y="3249599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4" descr="Green Check Mark Svg">
            <a:extLst>
              <a:ext uri="{FF2B5EF4-FFF2-40B4-BE49-F238E27FC236}">
                <a16:creationId xmlns:a16="http://schemas.microsoft.com/office/drawing/2014/main" id="{FA465ADF-D1CE-033B-1278-B70CFB9CE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124" y="4376874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4" descr="Green Check Mark Svg">
            <a:extLst>
              <a:ext uri="{FF2B5EF4-FFF2-40B4-BE49-F238E27FC236}">
                <a16:creationId xmlns:a16="http://schemas.microsoft.com/office/drawing/2014/main" id="{596AAFA1-EAAC-C9A3-2C88-88D302425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879" y="4104397"/>
            <a:ext cx="528740" cy="44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513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FD27-AA88-7F93-E597-9E500F5D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96D81-84A0-2C8C-F6B6-F83320A980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0FF75-3CC8-9187-0CAD-DCF9318FD91E}"/>
              </a:ext>
            </a:extLst>
          </p:cNvPr>
          <p:cNvSpPr txBox="1"/>
          <p:nvPr/>
        </p:nvSpPr>
        <p:spPr>
          <a:xfrm>
            <a:off x="0" y="1258957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Connecting to the cluster with </a:t>
            </a:r>
            <a:r>
              <a:rPr lang="en-US" sz="3600" dirty="0">
                <a:latin typeface="Consolas" panose="020B0609020204030204" pitchFamily="49" charset="0"/>
                <a:ea typeface="Source Sans Pro" panose="020B0503030403020204" pitchFamily="34" charset="0"/>
              </a:rPr>
              <a:t>ssh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AF39F-F0A1-17E8-7E79-568EF55B6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103" y="1905288"/>
            <a:ext cx="5393793" cy="431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7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8EDD-9D42-DC45-A302-CADA3AA8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856D-661B-3705-D151-0212ED91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D5142E-48CF-7C1F-A79B-CBC8616B1CFC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16D58E-B85E-6D89-7243-2E4B38AE5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6F9E81-B602-A95E-3F2C-5CDA7B665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A77FA8-27A6-7C38-9031-E2ED01C26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716D190-C6AD-4CA2-006A-A0EE1E81D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ssh &lt;username&gt;@&lt;server name&gt;</a:t>
            </a: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A61488-EC3D-3527-A316-997ACFF1481B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E80E7-7113-7851-724F-0AFB2EC6DF2F}"/>
              </a:ext>
            </a:extLst>
          </p:cNvPr>
          <p:cNvSpPr/>
          <p:nvPr/>
        </p:nvSpPr>
        <p:spPr>
          <a:xfrm>
            <a:off x="317500" y="3689131"/>
            <a:ext cx="5555155" cy="2585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0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EBCB-F327-2667-6A5A-D652E3EA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078C-BB19-128F-7883-71EE43A7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B5169E-9D95-A043-D3F3-E6BE20FF359E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AAC112-0999-900F-1D3B-8B88AE3BA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A21681-0F28-EEA1-BF87-1995B32C2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7202485-F05A-1CEF-D7DE-4886C7FEE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60DF920-6022-3816-B1B9-36A9E6630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ssh &lt;username&gt;@login.rc.fas.harvard.edu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035A13-1407-163C-E313-D386B4B98C3B}"/>
              </a:ext>
            </a:extLst>
          </p:cNvPr>
          <p:cNvSpPr/>
          <p:nvPr/>
        </p:nvSpPr>
        <p:spPr>
          <a:xfrm>
            <a:off x="6261342" y="358440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4EAAB-D141-AE71-EDEC-2BA733E567C7}"/>
              </a:ext>
            </a:extLst>
          </p:cNvPr>
          <p:cNvSpPr/>
          <p:nvPr/>
        </p:nvSpPr>
        <p:spPr>
          <a:xfrm>
            <a:off x="317500" y="3689131"/>
            <a:ext cx="5555155" cy="2585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849-5803-5748-1EBE-A1BECFD1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F3EE-B2CA-A443-942C-435A1E0D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CA5676-658D-544C-F61A-AB562F04E30A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5473F9-A218-96FF-69BC-D95D82E94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FF4009-3C4B-EE81-2EB7-1D0E7F24B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0B2669-7ECC-09AE-0EA4-6D3B99D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388D8A-7703-66E9-46BA-A4CF98F0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Source Sans Pro" panose="020B0503030403020204" pitchFamily="34" charset="0"/>
                <a:cs typeface="+mn-cs"/>
              </a:rPr>
              <a:t>ssh &lt;username&gt;@login.rc.fas.harvard.edu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Source Sans Pro" panose="020B0503030403020204" pitchFamily="34" charset="0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7F9BEB-5B21-DD09-4EDD-D23816003471}"/>
              </a:ext>
            </a:extLst>
          </p:cNvPr>
          <p:cNvSpPr/>
          <p:nvPr/>
        </p:nvSpPr>
        <p:spPr>
          <a:xfrm>
            <a:off x="6233951" y="484564"/>
            <a:ext cx="5850318" cy="745146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77A87-A101-D546-CDD4-32BD19FBEA0A}"/>
              </a:ext>
            </a:extLst>
          </p:cNvPr>
          <p:cNvSpPr/>
          <p:nvPr/>
        </p:nvSpPr>
        <p:spPr>
          <a:xfrm>
            <a:off x="317500" y="5155324"/>
            <a:ext cx="5342321" cy="1119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687F-82E1-C8BE-D3A9-4290383B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C2F4-1D12-7BAB-5D5F-28731A73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270401-4287-8135-37EC-12D01EF6ACB8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9A253C-ED1B-31A3-9D46-24709499B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4D88F8-4982-7EE4-E3C8-3E57B917D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5B6C31-823F-AE3E-8480-25BC567B3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2EDA57C-49AE-BBE2-CE9D-A5F310850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Source Sans Pro" panose="020B0503030403020204" pitchFamily="34" charset="0"/>
                <a:cs typeface="+mn-cs"/>
              </a:rPr>
              <a:t>ssh &lt;username&gt;@login.rc.fas.harvard.edu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Source Sans Pro" panose="020B0503030403020204" pitchFamily="34" charset="0"/>
              <a:cs typeface="+mn-cs"/>
            </a:endParaRPr>
          </a:p>
          <a:p>
            <a:endParaRPr lang="en-US" dirty="0"/>
          </a:p>
          <a:p>
            <a:r>
              <a:rPr lang="en-US" dirty="0"/>
              <a:t>The first time you connect (or if the server updates its keys), you will have to trust the server.</a:t>
            </a:r>
          </a:p>
          <a:p>
            <a:endParaRPr lang="en-US" dirty="0"/>
          </a:p>
          <a:p>
            <a:r>
              <a:rPr lang="en-US" dirty="0"/>
              <a:t>For Cannon, you will need your RC password and two-factor code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45D073-AA96-B70A-E7DE-6E2919D8957A}"/>
              </a:ext>
            </a:extLst>
          </p:cNvPr>
          <p:cNvSpPr/>
          <p:nvPr/>
        </p:nvSpPr>
        <p:spPr>
          <a:xfrm>
            <a:off x="6233952" y="1115185"/>
            <a:ext cx="3375131" cy="343125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50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99E-B2C8-3AFD-BD0A-929AA477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EDC1-43D6-BECA-F1CE-B5592568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BA56DA-F4DA-A535-745E-057CAD81A469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DD0528-66FA-AC4F-9A82-8066ED072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E6441A-0054-18DB-8CDD-2A3434A3B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D1C940D-DA90-F44B-5A04-2119182CC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9B46E9-8CC7-B71A-3919-032FFD4D8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0DE28F-609E-4B5F-1D1C-5C93A0B944B9}"/>
              </a:ext>
            </a:extLst>
          </p:cNvPr>
          <p:cNvSpPr/>
          <p:nvPr/>
        </p:nvSpPr>
        <p:spPr>
          <a:xfrm>
            <a:off x="6181004" y="1404031"/>
            <a:ext cx="4247886" cy="4988437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23F8-23AD-77CB-F86B-AA89036E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2E84-97B9-84B9-04CD-C86CBB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Connecting to a remote computer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869B80-6503-29F3-E3BD-66CA9C71104F}"/>
              </a:ext>
            </a:extLst>
          </p:cNvPr>
          <p:cNvGrpSpPr/>
          <p:nvPr/>
        </p:nvGrpSpPr>
        <p:grpSpPr>
          <a:xfrm>
            <a:off x="6181004" y="0"/>
            <a:ext cx="6010996" cy="6858000"/>
            <a:chOff x="3090502" y="0"/>
            <a:chExt cx="601099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964529-A256-DC68-9830-0E749BE82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0502" y="0"/>
              <a:ext cx="6010996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02CB478-57AB-BD1D-26D1-35DC3D2CE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6508" y="6392468"/>
              <a:ext cx="2327659" cy="46553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CDBC44-8206-91E8-0FFC-CD7B91B38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3893" y="6375408"/>
              <a:ext cx="1524213" cy="428685"/>
            </a:xfrm>
            <a:prstGeom prst="rect">
              <a:avLst/>
            </a:prstGeom>
          </p:spPr>
        </p:pic>
      </p:grp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A11DE9E-DC37-84FD-F2B4-959D8191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Cannon displays an informative welcome message.</a:t>
            </a:r>
          </a:p>
          <a:p>
            <a:endParaRPr lang="en-US" dirty="0"/>
          </a:p>
          <a:p>
            <a:r>
              <a:rPr lang="en-US" dirty="0"/>
              <a:t>But you will mostly know you are connected to a server by the changes to the prompt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0BCFCC-4B82-96D3-92D4-4C19BAECDE32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472892" y="528145"/>
            <a:ext cx="824118" cy="73932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E18ABC-CBD3-F58D-E9EE-AF1DE4F37F91}"/>
              </a:ext>
            </a:extLst>
          </p:cNvPr>
          <p:cNvSpPr txBox="1"/>
          <p:nvPr/>
        </p:nvSpPr>
        <p:spPr>
          <a:xfrm>
            <a:off x="4558942" y="1267468"/>
            <a:ext cx="18279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user name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BF947D-4D70-C964-C08A-A7C855E4A2C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813394" y="528145"/>
            <a:ext cx="428109" cy="129748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6D9C85-C60C-BD61-A81C-C04694ADCF38}"/>
              </a:ext>
            </a:extLst>
          </p:cNvPr>
          <p:cNvSpPr txBox="1"/>
          <p:nvPr/>
        </p:nvSpPr>
        <p:spPr>
          <a:xfrm>
            <a:off x="6327553" y="1825625"/>
            <a:ext cx="18279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computer (host) name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93A32F-96D3-DF30-1601-8482411840D6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027448" y="465083"/>
            <a:ext cx="1482094" cy="6488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3FA358B-CBD9-66DF-BFBE-3F4C66E630EE}"/>
              </a:ext>
            </a:extLst>
          </p:cNvPr>
          <p:cNvSpPr txBox="1"/>
          <p:nvPr/>
        </p:nvSpPr>
        <p:spPr>
          <a:xfrm>
            <a:off x="8509542" y="652264"/>
            <a:ext cx="1827900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3">
                <a:lumMod val="60000"/>
                <a:lumOff val="4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Local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531B96-F898-3201-ACBC-962C74D174F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369973" y="6375408"/>
            <a:ext cx="957580" cy="9070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041FB51-B1A8-53E6-AC2A-4C7D813AE4FB}"/>
              </a:ext>
            </a:extLst>
          </p:cNvPr>
          <p:cNvSpPr txBox="1"/>
          <p:nvPr/>
        </p:nvSpPr>
        <p:spPr>
          <a:xfrm>
            <a:off x="3318726" y="6190742"/>
            <a:ext cx="205124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user name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22991F-9042-B3E8-EC1D-3708F4D7973E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6473916" y="5789586"/>
            <a:ext cx="610172" cy="6028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881FED2-9ACC-34B4-F4AC-9574EBD87A57}"/>
              </a:ext>
            </a:extLst>
          </p:cNvPr>
          <p:cNvSpPr txBox="1"/>
          <p:nvPr/>
        </p:nvSpPr>
        <p:spPr>
          <a:xfrm>
            <a:off x="5490297" y="5143255"/>
            <a:ext cx="1967237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computer (host)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6D26356-7A6F-BA91-8F6A-34C8E0ADFD57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565108" y="5604920"/>
            <a:ext cx="664668" cy="81073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793C433-07CE-A876-613E-FB40B1BE421E}"/>
              </a:ext>
            </a:extLst>
          </p:cNvPr>
          <p:cNvSpPr txBox="1"/>
          <p:nvPr/>
        </p:nvSpPr>
        <p:spPr>
          <a:xfrm>
            <a:off x="8229776" y="5143255"/>
            <a:ext cx="18279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Remote working directory</a:t>
            </a:r>
          </a:p>
          <a:p>
            <a:pPr algn="ctr"/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(in many shells, </a:t>
            </a:r>
            <a:r>
              <a:rPr lang="en-US" sz="900" dirty="0">
                <a:latin typeface="Consolas" panose="020B0609020204030204" pitchFamily="49" charset="0"/>
                <a:ea typeface="Source Sans Pro" panose="020B0503030403020204" pitchFamily="34" charset="0"/>
              </a:rPr>
              <a:t>~</a:t>
            </a:r>
            <a:r>
              <a:rPr lang="en-US" sz="9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shortcut for the current user’s home directory)</a:t>
            </a:r>
          </a:p>
        </p:txBody>
      </p:sp>
    </p:spTree>
    <p:extLst>
      <p:ext uri="{BB962C8B-B14F-4D97-AF65-F5344CB8AC3E}">
        <p14:creationId xmlns:p14="http://schemas.microsoft.com/office/powerpoint/2010/main" val="7185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F39C-3CDE-D799-B316-11D1C030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CA697CB-DAFA-25C5-CD14-DD59129F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018" y="0"/>
            <a:ext cx="628198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7B049-5408-B5E7-2B8C-FF3F1FEB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50031"/>
            <a:ext cx="5172797" cy="1325563"/>
          </a:xfrm>
        </p:spPr>
        <p:txBody>
          <a:bodyPr/>
          <a:lstStyle/>
          <a:p>
            <a:r>
              <a:rPr lang="en-US" dirty="0"/>
              <a:t>How to connect to a particular login node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CBCAE4-AAD2-7993-8AFC-891B87F9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5778500" cy="4351338"/>
          </a:xfrm>
        </p:spPr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ssh</a:t>
            </a:r>
            <a:r>
              <a:rPr lang="en-US" dirty="0"/>
              <a:t> command to connect to a remote computer:</a:t>
            </a:r>
          </a:p>
          <a:p>
            <a:endParaRPr lang="en-US" dirty="0"/>
          </a:p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&lt;username&gt;@login.rc.fas.harvard.edu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ssh &lt;username&gt;@&lt;login node name&gt;.rc.fas.harvard.edu</a:t>
            </a:r>
            <a:endParaRPr lang="en-US" sz="1400" dirty="0">
              <a:solidFill>
                <a:schemeClr val="bg1">
                  <a:lumMod val="95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519009-705E-0D7A-85DE-FCFD961F2544}"/>
              </a:ext>
            </a:extLst>
          </p:cNvPr>
          <p:cNvSpPr/>
          <p:nvPr/>
        </p:nvSpPr>
        <p:spPr>
          <a:xfrm>
            <a:off x="6521646" y="325068"/>
            <a:ext cx="3221617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B5A368A-A594-A26A-7871-1D2F45E9EEA2}"/>
              </a:ext>
            </a:extLst>
          </p:cNvPr>
          <p:cNvSpPr/>
          <p:nvPr/>
        </p:nvSpPr>
        <p:spPr>
          <a:xfrm>
            <a:off x="3206750" y="3604164"/>
            <a:ext cx="166861" cy="7942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B53040-076A-0699-E4CC-6FCA9187CB13}"/>
              </a:ext>
            </a:extLst>
          </p:cNvPr>
          <p:cNvSpPr/>
          <p:nvPr/>
        </p:nvSpPr>
        <p:spPr>
          <a:xfrm>
            <a:off x="2135418" y="4588930"/>
            <a:ext cx="1715741" cy="232767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0A4E-5159-5212-7837-C0B685B2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A66FCA-18EA-C955-10DC-95D72774F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CD130-9E34-3318-E4AC-2BB492044585}"/>
              </a:ext>
            </a:extLst>
          </p:cNvPr>
          <p:cNvSpPr txBox="1"/>
          <p:nvPr/>
        </p:nvSpPr>
        <p:spPr>
          <a:xfrm>
            <a:off x="0" y="1674048"/>
            <a:ext cx="12192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Transferring files to and from the cluster</a:t>
            </a:r>
            <a:endParaRPr lang="en-US" sz="36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4A28F-1B98-8685-6E1B-A19B141F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314" y="2320379"/>
            <a:ext cx="4427372" cy="325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8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0E11-91A6-6D20-5E39-E0668C63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665F77-996D-540A-6AE6-C6E9F54F74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42FE1-1FEA-4F79-A5FF-04823279422C}"/>
              </a:ext>
            </a:extLst>
          </p:cNvPr>
          <p:cNvSpPr txBox="1"/>
          <p:nvPr/>
        </p:nvSpPr>
        <p:spPr>
          <a:xfrm>
            <a:off x="0" y="1674048"/>
            <a:ext cx="121920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Viewing and editing files on the cluster</a:t>
            </a:r>
            <a:endParaRPr lang="en-US" sz="36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5E656-88A6-5C60-A8CE-284CFD569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344" y="2320379"/>
            <a:ext cx="5155312" cy="31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72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B0BE-813C-6880-0BE9-3BB91320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6BA0-9FBA-592C-37FD-54C38720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B1962-43BC-8575-CFD4-07E052A0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93093-674E-597E-4EE6-F624D446C290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text-editor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nano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</p:spTree>
    <p:extLst>
      <p:ext uri="{BB962C8B-B14F-4D97-AF65-F5344CB8AC3E}">
        <p14:creationId xmlns:p14="http://schemas.microsoft.com/office/powerpoint/2010/main" val="1155827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1F4D-9097-5D72-94FD-D6AA1DB7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91C5-2968-26C3-7D19-EBE224EE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DEFB2-72A3-C37D-EFD4-98A08FD3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05E78A-F70D-3410-6DED-A12AB416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93" y="1244409"/>
            <a:ext cx="5771378" cy="561359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3B0C101-835E-A8E1-56C7-6BE71E4C1057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DA0B5-45CA-C1B6-C94E-069C8013EB89}"/>
              </a:ext>
            </a:extLst>
          </p:cNvPr>
          <p:cNvSpPr txBox="1"/>
          <p:nvPr/>
        </p:nvSpPr>
        <p:spPr>
          <a:xfrm>
            <a:off x="341748" y="4216828"/>
            <a:ext cx="4246281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text-editor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nano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Enter.</a:t>
            </a: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will change the entire terminal interface to the text editor.</a:t>
            </a:r>
          </a:p>
        </p:txBody>
      </p:sp>
    </p:spTree>
    <p:extLst>
      <p:ext uri="{BB962C8B-B14F-4D97-AF65-F5344CB8AC3E}">
        <p14:creationId xmlns:p14="http://schemas.microsoft.com/office/powerpoint/2010/main" val="182957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23F7-78B3-7AE9-B037-AB4A0B13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95C5A-48E8-392A-C568-2874ABAD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28FB8-FDBD-AA7B-66CD-F04F3A79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07F08-502D-972A-42C1-2BDEAD0F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A2F458C-522C-C002-F0C5-A5F165F8851D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A33FF-2837-6143-4F6A-2E9AD9453174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editor, you can enter any text. You could even manually enter formatted text or code!</a:t>
            </a:r>
          </a:p>
        </p:txBody>
      </p:sp>
    </p:spTree>
    <p:extLst>
      <p:ext uri="{BB962C8B-B14F-4D97-AF65-F5344CB8AC3E}">
        <p14:creationId xmlns:p14="http://schemas.microsoft.com/office/powerpoint/2010/main" val="228790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C954-DDAA-DDD8-D54C-31518C8F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BD0DF3-98E8-D478-48F3-62996D02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80C5CB-F63A-F104-52E0-FCB5E88B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3DBFFC-D3DC-D3FA-9A9C-356374477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A43B195-540A-2075-E8A6-02762D97A9EF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4C066-63DF-D306-618E-02FEBD279422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Within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editor, you can enter any text. You could even manually enter formatted text or code!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5A281-A2D0-DC5E-D382-68467017CA88}"/>
              </a:ext>
            </a:extLst>
          </p:cNvPr>
          <p:cNvSpPr txBox="1"/>
          <p:nvPr/>
        </p:nvSpPr>
        <p:spPr>
          <a:xfrm>
            <a:off x="341747" y="5410250"/>
            <a:ext cx="424628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Tedious to navigate lines and hard to view large files.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Best for quick and small edits.</a:t>
            </a:r>
          </a:p>
        </p:txBody>
      </p:sp>
    </p:spTree>
    <p:extLst>
      <p:ext uri="{BB962C8B-B14F-4D97-AF65-F5344CB8AC3E}">
        <p14:creationId xmlns:p14="http://schemas.microsoft.com/office/powerpoint/2010/main" val="4017398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02E2-E143-6682-9275-E3A35319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E56A3-38E6-5F47-2A85-C3C67671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67" y="1244409"/>
            <a:ext cx="5765804" cy="5613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E9467D-C5D2-73FD-2A12-B1B2C8A85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3B05C-CC60-69D0-A7E9-72DA9440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0D431C6-1AEA-086A-547F-C7403EF60FAE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84709B-F1AF-9B6D-6330-5810FAD9873B}"/>
              </a:ext>
            </a:extLst>
          </p:cNvPr>
          <p:cNvSpPr/>
          <p:nvPr/>
        </p:nvSpPr>
        <p:spPr>
          <a:xfrm>
            <a:off x="6240416" y="6455802"/>
            <a:ext cx="5234271" cy="402198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435CF-F505-CBD4-9D63-78F090FD75C3}"/>
              </a:ext>
            </a:extLst>
          </p:cNvPr>
          <p:cNvSpPr txBox="1"/>
          <p:nvPr/>
        </p:nvSpPr>
        <p:spPr>
          <a:xfrm>
            <a:off x="341748" y="4216828"/>
            <a:ext cx="424628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Keyboard commands to move around and perform file operations.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^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means ctrl key</a:t>
            </a:r>
          </a:p>
        </p:txBody>
      </p:sp>
    </p:spTree>
    <p:extLst>
      <p:ext uri="{BB962C8B-B14F-4D97-AF65-F5344CB8AC3E}">
        <p14:creationId xmlns:p14="http://schemas.microsoft.com/office/powerpoint/2010/main" val="2664004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445B-0E66-EF31-4E41-8FB9AEC4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256DAE-A32D-FF3B-0067-AA0153C57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92" y="1196669"/>
            <a:ext cx="5771379" cy="5661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FA35D2-77FE-3C37-AADC-C1E7F04C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C57CC-5226-2217-EAFF-01188F9C0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A97535D-0334-03F8-EC3F-B1F9B4B8E571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D867B3-2D3F-4000-B6F3-2A9234865D4B}"/>
              </a:ext>
            </a:extLst>
          </p:cNvPr>
          <p:cNvSpPr/>
          <p:nvPr/>
        </p:nvSpPr>
        <p:spPr>
          <a:xfrm>
            <a:off x="6240416" y="6318298"/>
            <a:ext cx="5681160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AD273-75F7-0B0F-6C57-4D35D53AF806}"/>
              </a:ext>
            </a:extLst>
          </p:cNvPr>
          <p:cNvSpPr txBox="1"/>
          <p:nvPr/>
        </p:nvSpPr>
        <p:spPr>
          <a:xfrm>
            <a:off x="341748" y="4151854"/>
            <a:ext cx="4246281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Common commands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save file (Write Out):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ctrl-W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which brings up dialog to name or re-name file. Hit Enter to keep filename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Exit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interface and return to terminal: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ctrl X</a:t>
            </a:r>
          </a:p>
        </p:txBody>
      </p:sp>
    </p:spTree>
    <p:extLst>
      <p:ext uri="{BB962C8B-B14F-4D97-AF65-F5344CB8AC3E}">
        <p14:creationId xmlns:p14="http://schemas.microsoft.com/office/powerpoint/2010/main" val="29417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3880-1955-7749-4935-4B33D882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9604D4-8B5B-199A-BB65-94E37F9D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15" y="1196669"/>
            <a:ext cx="5814507" cy="5661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885BE3-02F3-70CF-4D57-BD45F288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0AD3B-C405-6889-5E18-ADA37D79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6"/>
            <a:ext cx="4684612" cy="109668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5F56CB9-25A7-2494-DB1C-DE9B02EC943E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7762B3-ED90-8E2B-4D99-059DFA1A899C}"/>
              </a:ext>
            </a:extLst>
          </p:cNvPr>
          <p:cNvSpPr/>
          <p:nvPr/>
        </p:nvSpPr>
        <p:spPr>
          <a:xfrm>
            <a:off x="6240416" y="6318298"/>
            <a:ext cx="5681160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5B4CC-06A9-5870-BB04-84B121091211}"/>
              </a:ext>
            </a:extLst>
          </p:cNvPr>
          <p:cNvSpPr txBox="1"/>
          <p:nvPr/>
        </p:nvSpPr>
        <p:spPr>
          <a:xfrm>
            <a:off x="341748" y="4151854"/>
            <a:ext cx="4246281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Common commands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Save file (</a:t>
            </a: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Write Out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):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ctrl-W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which brings up dialog to name or re-name file. Hit Enter to keep filename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Exit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nano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interface and return to terminal: </a:t>
            </a:r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ctrl X</a:t>
            </a:r>
          </a:p>
        </p:txBody>
      </p:sp>
    </p:spTree>
    <p:extLst>
      <p:ext uri="{BB962C8B-B14F-4D97-AF65-F5344CB8AC3E}">
        <p14:creationId xmlns:p14="http://schemas.microsoft.com/office/powerpoint/2010/main" val="1479971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DBB2-C81D-19F7-2964-C1845880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45A994-0CAD-361A-AD9A-49CAB5A48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15" y="1205861"/>
            <a:ext cx="5784146" cy="56430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0BBE8E-58F3-C7C0-588A-5DEC3792F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2" y="2819830"/>
            <a:ext cx="4684612" cy="1244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B53BB1-66D9-4B2A-F6FC-5C6AA825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nano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3517CB-23D2-2516-BE2F-6DE0884ED4F1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3620E-B56E-A8B5-4AE3-3B10B40BC7C5}"/>
              </a:ext>
            </a:extLst>
          </p:cNvPr>
          <p:cNvSpPr txBox="1"/>
          <p:nvPr/>
        </p:nvSpPr>
        <p:spPr>
          <a:xfrm>
            <a:off x="347764" y="4639133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Open pre-existing files to view/edit their content by providing their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259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5850-E82B-893E-BCC7-83A8DA78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3F23C8-D76E-CE95-1F93-AF2D499B4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7"/>
            <a:ext cx="4684612" cy="1182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1A3D0-E9E9-BB50-A4F0-B5B34B3D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9621A-D0BD-472B-E0B0-351530308C16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</p:spTree>
    <p:extLst>
      <p:ext uri="{BB962C8B-B14F-4D97-AF65-F5344CB8AC3E}">
        <p14:creationId xmlns:p14="http://schemas.microsoft.com/office/powerpoint/2010/main" val="2234839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C5AC-D21D-3B92-DF4F-6183184E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4ECAA0-24EE-1F95-4EEE-16A2A496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80657"/>
            <a:ext cx="4684612" cy="1182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CDB70-CAAE-6474-68ED-74100F89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3" y="2880655"/>
            <a:ext cx="4684612" cy="1141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6C150-24BB-9D39-C351-D72C42A5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BB5B6-132E-8EDD-2532-A9AB83525627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43199-42A2-7369-FF81-629894F205DC}"/>
              </a:ext>
            </a:extLst>
          </p:cNvPr>
          <p:cNvSpPr txBox="1"/>
          <p:nvPr/>
        </p:nvSpPr>
        <p:spPr>
          <a:xfrm>
            <a:off x="341747" y="6180271"/>
            <a:ext cx="424628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cannot be used to create files!</a:t>
            </a:r>
          </a:p>
        </p:txBody>
      </p:sp>
      <p:sp>
        <p:nvSpPr>
          <p:cNvPr id="9" name="&quot;No&quot; Symbol 14">
            <a:extLst>
              <a:ext uri="{FF2B5EF4-FFF2-40B4-BE49-F238E27FC236}">
                <a16:creationId xmlns:a16="http://schemas.microsoft.com/office/drawing/2014/main" id="{6730E3CE-046F-E76F-E311-FC486CFD06E6}"/>
              </a:ext>
            </a:extLst>
          </p:cNvPr>
          <p:cNvSpPr/>
          <p:nvPr/>
        </p:nvSpPr>
        <p:spPr>
          <a:xfrm>
            <a:off x="3124197" y="3303453"/>
            <a:ext cx="561988" cy="49298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46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572F-5618-D7B0-E674-06FC2DB1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17DD07D-978E-8E68-48AF-2793DF450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33AE6E-23EF-4ABF-835C-DC685A11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9F81F-E504-6E3B-EACE-389BE7B0F6C1}"/>
              </a:ext>
            </a:extLst>
          </p:cNvPr>
          <p:cNvSpPr txBox="1"/>
          <p:nvPr/>
        </p:nvSpPr>
        <p:spPr>
          <a:xfrm>
            <a:off x="341748" y="4216828"/>
            <a:ext cx="4246281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command line text viewer invoked by typing:</a:t>
            </a:r>
          </a:p>
          <a:p>
            <a:pPr algn="ctr"/>
            <a:endParaRPr lang="en-US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b="1" dirty="0">
                <a:latin typeface="Consolas" panose="020B0609020204030204" pitchFamily="49" charset="0"/>
                <a:ea typeface="Source Sans Pro" panose="020B0503030403020204" pitchFamily="34" charset="0"/>
              </a:rPr>
              <a:t>less &lt;filename or path&gt;</a:t>
            </a:r>
          </a:p>
          <a:p>
            <a:pPr algn="ctr"/>
            <a:endParaRPr lang="en-US" b="1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then hitting 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03300-B368-DC6A-588B-3ED6C5BF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11C967C-B988-B6AE-F22D-9C5EFC6D9A6D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8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1D55-5073-7508-5A52-CB841AE2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9221D76-9867-01D7-58A5-D04C06A68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42B809-0231-49BE-4FA2-A5D607777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A00A6-66BC-6840-EBF8-5B54126DB750}"/>
              </a:ext>
            </a:extLst>
          </p:cNvPr>
          <p:cNvSpPr txBox="1"/>
          <p:nvPr/>
        </p:nvSpPr>
        <p:spPr>
          <a:xfrm>
            <a:off x="341748" y="4216828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does not load the entire file into memory, so it is good for previewing large files.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3F2BE-BDC2-193B-C666-4CA76BFC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2858A2D-25D5-A2B0-5360-CEF5BC2F3D66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20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75E7-8956-982B-F24B-B4DC68D0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B6A20EA-48CA-DFC7-B3F8-0FFCE627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172910-D7ED-B36F-088D-B6459635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01E95-653A-6906-5B86-EE730865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402E788-2AE4-9DF2-DD3E-E7BFDEA0496F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2BCE3-20F8-4067-F744-EE7BC7A97438}"/>
              </a:ext>
            </a:extLst>
          </p:cNvPr>
          <p:cNvSpPr txBox="1"/>
          <p:nvPr/>
        </p:nvSpPr>
        <p:spPr>
          <a:xfrm>
            <a:off x="341748" y="4153497"/>
            <a:ext cx="4246281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Navigation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endParaRPr lang="en-US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Up/down arrows: move up and down 1 line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&lt;space&gt;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down one page</a:t>
            </a: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&lt;b&gt;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up (back) one page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&lt;q&gt;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exit the viewer</a:t>
            </a:r>
          </a:p>
        </p:txBody>
      </p:sp>
    </p:spTree>
    <p:extLst>
      <p:ext uri="{BB962C8B-B14F-4D97-AF65-F5344CB8AC3E}">
        <p14:creationId xmlns:p14="http://schemas.microsoft.com/office/powerpoint/2010/main" val="2311012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749B-D2F2-5CA3-2796-4A30EAE9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0AD7245-8B89-0389-8D2F-57F1904B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16333"/>
            <a:ext cx="4684612" cy="1261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7FFF1-F397-95F3-4452-87954AF8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In-terminal text editors and viewers: </a:t>
            </a:r>
            <a:r>
              <a:rPr lang="en-US" dirty="0">
                <a:latin typeface="Consolas" panose="020B0609020204030204" pitchFamily="49" charset="0"/>
              </a:rPr>
              <a:t>less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9FF31-0970-9D49-C0DE-6D2BBA38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6" y="1278944"/>
            <a:ext cx="5687152" cy="55790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F09BFA2-A4CC-330F-E136-E33286EE6FDB}"/>
              </a:ext>
            </a:extLst>
          </p:cNvPr>
          <p:cNvSpPr/>
          <p:nvPr/>
        </p:nvSpPr>
        <p:spPr>
          <a:xfrm>
            <a:off x="5023400" y="3233529"/>
            <a:ext cx="981487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F4037-DFD0-F20D-1036-CC6A3DA0F776}"/>
              </a:ext>
            </a:extLst>
          </p:cNvPr>
          <p:cNvSpPr txBox="1"/>
          <p:nvPr/>
        </p:nvSpPr>
        <p:spPr>
          <a:xfrm>
            <a:off x="341748" y="4153497"/>
            <a:ext cx="4246281" cy="25853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Navigation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endParaRPr lang="en-US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Up/down arrows: move up and down 1 line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&lt;space&gt;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down one page</a:t>
            </a: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&lt;b&gt;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move up (back) one page</a:t>
            </a:r>
          </a:p>
          <a:p>
            <a:pPr algn="ctr"/>
            <a:endParaRPr lang="en-US" dirty="0"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&lt;q&gt;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exit the viewer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FE0C6-BD82-8A53-6816-8C845633A91D}"/>
              </a:ext>
            </a:extLst>
          </p:cNvPr>
          <p:cNvSpPr txBox="1"/>
          <p:nvPr/>
        </p:nvSpPr>
        <p:spPr>
          <a:xfrm>
            <a:off x="341748" y="1447748"/>
            <a:ext cx="4246281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Tip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use the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-S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option to disable line wrapping: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less -S &lt;file name or path&gt; </a:t>
            </a:r>
          </a:p>
        </p:txBody>
      </p:sp>
    </p:spTree>
    <p:extLst>
      <p:ext uri="{BB962C8B-B14F-4D97-AF65-F5344CB8AC3E}">
        <p14:creationId xmlns:p14="http://schemas.microsoft.com/office/powerpoint/2010/main" val="3564287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CB26-AF1F-F835-395F-EEB7939C6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124C-3557-BC24-2CB0-351DBBCC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DBDD5-1200-87D0-A034-CECBF1C47A2A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EB025-FEED-4BFF-12C5-D2D2FCC7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60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1420-3A07-F9C4-135E-F5082733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9097-B1FF-01AA-E7E3-BCE9A340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2D2CDD5-4C65-A7CE-F645-F275C14BC93F}"/>
              </a:ext>
            </a:extLst>
          </p:cNvPr>
          <p:cNvSpPr/>
          <p:nvPr/>
        </p:nvSpPr>
        <p:spPr>
          <a:xfrm>
            <a:off x="5023400" y="3233529"/>
            <a:ext cx="1612016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1DDE6-8FD8-1774-8604-B74622F3DBFB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74A71-B671-8F39-A3A3-282C74F40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5D1F15-CA9B-455D-6632-5BB7A9E1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36" y="2758286"/>
            <a:ext cx="4237532" cy="134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70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7F46-3349-8375-2D52-48D0BD65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964F-72F1-FE57-AE86-F82C2532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Printing a file to the terminal: </a:t>
            </a:r>
            <a:r>
              <a:rPr lang="en-US" dirty="0">
                <a:latin typeface="Consolas" panose="020B0609020204030204" pitchFamily="49" charset="0"/>
              </a:rPr>
              <a:t>cat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64C2367-7CDE-74B6-0E5D-E2D2EC3EEB9A}"/>
              </a:ext>
            </a:extLst>
          </p:cNvPr>
          <p:cNvSpPr/>
          <p:nvPr/>
        </p:nvSpPr>
        <p:spPr>
          <a:xfrm>
            <a:off x="5023400" y="3233529"/>
            <a:ext cx="1612016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C9553-26C5-EFF5-A3DF-C43C1F2E3F9C}"/>
              </a:ext>
            </a:extLst>
          </p:cNvPr>
          <p:cNvSpPr txBox="1"/>
          <p:nvPr/>
        </p:nvSpPr>
        <p:spPr>
          <a:xfrm>
            <a:off x="341748" y="4442255"/>
            <a:ext cx="424628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cat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(short for concatenate) displays file contents on the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1B7D4-ED9E-45A0-0A5C-7A5423CCD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2847725"/>
            <a:ext cx="4684612" cy="1220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1B7EE8-9676-876C-CCE1-78647193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36" y="2758286"/>
            <a:ext cx="4237532" cy="1341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46E5DF-1899-63E3-49B4-336A2A4B4A1D}"/>
              </a:ext>
            </a:extLst>
          </p:cNvPr>
          <p:cNvSpPr txBox="1"/>
          <p:nvPr/>
        </p:nvSpPr>
        <p:spPr>
          <a:xfrm>
            <a:off x="341747" y="5398218"/>
            <a:ext cx="424628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Best for small files!</a:t>
            </a:r>
          </a:p>
        </p:txBody>
      </p:sp>
    </p:spTree>
    <p:extLst>
      <p:ext uri="{BB962C8B-B14F-4D97-AF65-F5344CB8AC3E}">
        <p14:creationId xmlns:p14="http://schemas.microsoft.com/office/powerpoint/2010/main" val="3983985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EECD-E829-52F4-E0E1-3639465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370ED69-15BF-7FC7-1A54-CAE2FC2D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3DDF37-B3F9-C2A5-7CC7-8A1D2F62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0F307-5C49-ABD9-9D4A-670CEC601F77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</p:spTree>
    <p:extLst>
      <p:ext uri="{BB962C8B-B14F-4D97-AF65-F5344CB8AC3E}">
        <p14:creationId xmlns:p14="http://schemas.microsoft.com/office/powerpoint/2010/main" val="2916111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283E-9DBA-94CF-426F-EA0B4A0E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3CDE2C93-3007-0EA5-241C-B31AB91D9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CB677-5B24-8198-1528-EEC09F99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50031-3A75-2B5F-5C33-3CA052DB31A3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2388D0-19CE-9277-D30F-7E4B58C8903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55130" y="2642947"/>
            <a:ext cx="334740" cy="5905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BB5823-0232-6503-C0E6-76178103F85C}"/>
              </a:ext>
            </a:extLst>
          </p:cNvPr>
          <p:cNvSpPr txBox="1"/>
          <p:nvPr/>
        </p:nvSpPr>
        <p:spPr>
          <a:xfrm>
            <a:off x="255916" y="2335170"/>
            <a:ext cx="1398428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call to </a:t>
            </a:r>
            <a:r>
              <a:rPr lang="en-US" sz="1400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4AB95-30AC-1B42-C597-932264A44E2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720201" y="2236445"/>
            <a:ext cx="224281" cy="9970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C84C93-0F5B-394C-E2FD-EF9CE50B6614}"/>
              </a:ext>
            </a:extLst>
          </p:cNvPr>
          <p:cNvSpPr txBox="1"/>
          <p:nvPr/>
        </p:nvSpPr>
        <p:spPr>
          <a:xfrm>
            <a:off x="1245268" y="1497781"/>
            <a:ext cx="1398428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string or pattern to search for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C05EF8-05A9-F895-3C6A-2DB79CDE85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523428" y="2712608"/>
            <a:ext cx="885339" cy="52092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F912B6-4AC9-3B3D-66EC-02687A2315B1}"/>
              </a:ext>
            </a:extLst>
          </p:cNvPr>
          <p:cNvSpPr txBox="1"/>
          <p:nvPr/>
        </p:nvSpPr>
        <p:spPr>
          <a:xfrm>
            <a:off x="2709553" y="2189388"/>
            <a:ext cx="1398428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file to search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32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8E80-819F-1B05-9295-5533FB6D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293350C-8595-FA70-82A4-4BA65A8B5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4" y="2856511"/>
            <a:ext cx="4684612" cy="1344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9BBC69-99F7-9DC3-F308-74D7DE856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Finding text in a file: </a:t>
            </a:r>
            <a:r>
              <a:rPr lang="en-US" dirty="0">
                <a:latin typeface="Consolas" panose="020B0609020204030204" pitchFamily="49" charset="0"/>
              </a:rPr>
              <a:t>grep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34948C9-1D8C-4268-C47E-AF0664319438}"/>
              </a:ext>
            </a:extLst>
          </p:cNvPr>
          <p:cNvSpPr/>
          <p:nvPr/>
        </p:nvSpPr>
        <p:spPr>
          <a:xfrm>
            <a:off x="4993321" y="3360402"/>
            <a:ext cx="1437558" cy="39093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34B04-DCD1-1429-C129-6709ED96B5CF}"/>
              </a:ext>
            </a:extLst>
          </p:cNvPr>
          <p:cNvSpPr txBox="1"/>
          <p:nvPr/>
        </p:nvSpPr>
        <p:spPr>
          <a:xfrm>
            <a:off x="341748" y="4522829"/>
            <a:ext cx="4246281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5400"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reads a file line-by-line and searches for a provided pattern, displaying lines that contain matches to the pattern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31AE47-2E2C-4483-5C2E-8A48CF04ABB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55130" y="2642947"/>
            <a:ext cx="334740" cy="59058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065316-85D6-1DCF-BC79-E2D5675F6AF7}"/>
              </a:ext>
            </a:extLst>
          </p:cNvPr>
          <p:cNvSpPr txBox="1"/>
          <p:nvPr/>
        </p:nvSpPr>
        <p:spPr>
          <a:xfrm>
            <a:off x="255916" y="2335170"/>
            <a:ext cx="1398428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call to </a:t>
            </a:r>
            <a:r>
              <a:rPr lang="en-US" sz="1400" dirty="0">
                <a:latin typeface="Consolas" panose="020B0609020204030204" pitchFamily="49" charset="0"/>
                <a:ea typeface="Source Sans Pro" panose="020B0503030403020204" pitchFamily="34" charset="0"/>
              </a:rPr>
              <a:t>grep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025FFA-696F-D0E2-B771-CAC1F500618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1720201" y="2236445"/>
            <a:ext cx="224281" cy="99708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0054432-601A-676A-0A93-37EA0F0E2205}"/>
              </a:ext>
            </a:extLst>
          </p:cNvPr>
          <p:cNvSpPr txBox="1"/>
          <p:nvPr/>
        </p:nvSpPr>
        <p:spPr>
          <a:xfrm>
            <a:off x="1245268" y="1497781"/>
            <a:ext cx="1398428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string or pattern to search for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2DDF3D-DA1B-5DCE-82AD-1491D14D8A2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523428" y="2712608"/>
            <a:ext cx="885339" cy="52092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7FAAE8-FE7B-2551-2CA4-854612686020}"/>
              </a:ext>
            </a:extLst>
          </p:cNvPr>
          <p:cNvSpPr txBox="1"/>
          <p:nvPr/>
        </p:nvSpPr>
        <p:spPr>
          <a:xfrm>
            <a:off x="2709553" y="2189388"/>
            <a:ext cx="1398428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880005"/>
                      <a:gd name="csY0" fmla="*/ 0 h 369332"/>
                      <a:gd name="csX1" fmla="*/ 457603 w 880005"/>
                      <a:gd name="csY1" fmla="*/ 0 h 369332"/>
                      <a:gd name="csX2" fmla="*/ 880005 w 880005"/>
                      <a:gd name="csY2" fmla="*/ 0 h 369332"/>
                      <a:gd name="csX3" fmla="*/ 880005 w 880005"/>
                      <a:gd name="csY3" fmla="*/ 369332 h 369332"/>
                      <a:gd name="csX4" fmla="*/ 448803 w 880005"/>
                      <a:gd name="csY4" fmla="*/ 369332 h 369332"/>
                      <a:gd name="csX5" fmla="*/ 0 w 880005"/>
                      <a:gd name="csY5" fmla="*/ 369332 h 369332"/>
                      <a:gd name="csX6" fmla="*/ 0 w 880005"/>
                      <a:gd name="csY6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80005" h="369332" fill="none" extrusionOk="0">
                        <a:moveTo>
                          <a:pt x="0" y="0"/>
                        </a:moveTo>
                        <a:cubicBezTo>
                          <a:pt x="201900" y="-37713"/>
                          <a:pt x="351525" y="28891"/>
                          <a:pt x="457603" y="0"/>
                        </a:cubicBezTo>
                        <a:cubicBezTo>
                          <a:pt x="563681" y="-28891"/>
                          <a:pt x="722276" y="45370"/>
                          <a:pt x="880005" y="0"/>
                        </a:cubicBezTo>
                        <a:cubicBezTo>
                          <a:pt x="881535" y="150881"/>
                          <a:pt x="877252" y="222968"/>
                          <a:pt x="880005" y="369332"/>
                        </a:cubicBezTo>
                        <a:cubicBezTo>
                          <a:pt x="708206" y="372227"/>
                          <a:pt x="628419" y="331255"/>
                          <a:pt x="448803" y="369332"/>
                        </a:cubicBezTo>
                        <a:cubicBezTo>
                          <a:pt x="269187" y="407409"/>
                          <a:pt x="91315" y="362225"/>
                          <a:pt x="0" y="369332"/>
                        </a:cubicBezTo>
                        <a:cubicBezTo>
                          <a:pt x="-23840" y="235268"/>
                          <a:pt x="5511" y="129660"/>
                          <a:pt x="0" y="0"/>
                        </a:cubicBezTo>
                        <a:close/>
                      </a:path>
                      <a:path w="880005" h="369332" stroke="0" extrusionOk="0">
                        <a:moveTo>
                          <a:pt x="0" y="0"/>
                        </a:moveTo>
                        <a:cubicBezTo>
                          <a:pt x="142253" y="-32936"/>
                          <a:pt x="247997" y="27122"/>
                          <a:pt x="431202" y="0"/>
                        </a:cubicBezTo>
                        <a:cubicBezTo>
                          <a:pt x="614407" y="-27122"/>
                          <a:pt x="677258" y="29720"/>
                          <a:pt x="880005" y="0"/>
                        </a:cubicBezTo>
                        <a:cubicBezTo>
                          <a:pt x="907968" y="78977"/>
                          <a:pt x="849581" y="271296"/>
                          <a:pt x="880005" y="369332"/>
                        </a:cubicBezTo>
                        <a:cubicBezTo>
                          <a:pt x="724165" y="412455"/>
                          <a:pt x="639134" y="357050"/>
                          <a:pt x="440003" y="369332"/>
                        </a:cubicBezTo>
                        <a:cubicBezTo>
                          <a:pt x="240872" y="381614"/>
                          <a:pt x="202949" y="346116"/>
                          <a:pt x="0" y="369332"/>
                        </a:cubicBezTo>
                        <a:cubicBezTo>
                          <a:pt x="-6017" y="217080"/>
                          <a:pt x="5246" y="884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file to search</a:t>
            </a:r>
            <a:endParaRPr lang="en-US" sz="14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2C37012-92FC-994E-D6EF-76F2C6CD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15" y="2760668"/>
            <a:ext cx="4684612" cy="159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04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D25B-5B15-D283-D30F-A1CD670F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399-3D19-8A53-0363-73AD94A0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Table of terminal text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87B5-4F12-38B7-3116-08792149C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912868"/>
              </p:ext>
            </p:extLst>
          </p:nvPr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124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E395-AA8D-6083-45C4-C2876DC9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CDA0-73F6-AB04-371D-6D8603E3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3C02BCD-644C-5729-D066-24B92CD9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63" y="1528174"/>
            <a:ext cx="5223711" cy="391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6">
            <a:extLst>
              <a:ext uri="{FF2B5EF4-FFF2-40B4-BE49-F238E27FC236}">
                <a16:creationId xmlns:a16="http://schemas.microsoft.com/office/drawing/2014/main" id="{49F234A1-3131-9275-2EBD-E01071A9E0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4D8851-E7C8-2D86-95F7-36DB42B92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04" y="1704300"/>
            <a:ext cx="6228004" cy="3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99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DB33-02CD-BAB2-19AC-17E520F6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B009-CAD0-A0F9-C5D2-8BD3DF67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editors: </a:t>
            </a:r>
            <a:r>
              <a:rPr lang="en-US" dirty="0" err="1"/>
              <a:t>VSCode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0C818B77-A735-0A69-0F9E-0574EFFFF1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93B85-32A1-6317-D7DF-9B50A495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78632"/>
            <a:ext cx="9220200" cy="500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40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3D10-5A94-A5FF-2FB4-8777DC89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F5E7-249E-8553-9B94-DACB1F595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/>
              <a:t>Graphical text editors: </a:t>
            </a:r>
            <a:r>
              <a:rPr lang="en-US" dirty="0" err="1"/>
              <a:t>VSCode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41DC6DE-4576-324E-96F0-367E93FE8D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8DA03-A34A-DB48-63B7-D2B86008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378632"/>
            <a:ext cx="9220200" cy="5003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5A7575-1736-F1BF-4D1B-74B32E8467B1}"/>
              </a:ext>
            </a:extLst>
          </p:cNvPr>
          <p:cNvSpPr txBox="1"/>
          <p:nvPr/>
        </p:nvSpPr>
        <p:spPr>
          <a:xfrm>
            <a:off x="0" y="3880432"/>
            <a:ext cx="12192000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can this be integrated with files on the cluster?</a:t>
            </a:r>
          </a:p>
        </p:txBody>
      </p:sp>
    </p:spTree>
    <p:extLst>
      <p:ext uri="{BB962C8B-B14F-4D97-AF65-F5344CB8AC3E}">
        <p14:creationId xmlns:p14="http://schemas.microsoft.com/office/powerpoint/2010/main" val="37192142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D004-2863-CFA8-3CF4-688615C7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46FA-6A33-6316-6E2A-D7D002D0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79497FFB-468C-6BE9-2B56-C614270F1B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C9E50-E9A2-A21B-6783-176183056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2" y="1250283"/>
            <a:ext cx="5223955" cy="53971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9281D8-E63D-DD9F-55FF-54B8DD814E0C}"/>
              </a:ext>
            </a:extLst>
          </p:cNvPr>
          <p:cNvSpPr/>
          <p:nvPr/>
        </p:nvSpPr>
        <p:spPr>
          <a:xfrm>
            <a:off x="230643" y="3041698"/>
            <a:ext cx="497268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14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2127-B830-4D3B-7919-CDA9502D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6AB44F-631A-9D20-7B37-80364102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453"/>
            <a:ext cx="12192000" cy="39790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508008-246F-C556-AF29-3C40698C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318F0546-655A-2E11-A688-B04B3E0AD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39BE3B-4376-8184-CCB0-FBBB6561B460}"/>
              </a:ext>
            </a:extLst>
          </p:cNvPr>
          <p:cNvSpPr/>
          <p:nvPr/>
        </p:nvSpPr>
        <p:spPr>
          <a:xfrm>
            <a:off x="381038" y="1718224"/>
            <a:ext cx="2656936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02DBE-51C6-4A95-F2A3-00265AF7803E}"/>
              </a:ext>
            </a:extLst>
          </p:cNvPr>
          <p:cNvSpPr txBox="1"/>
          <p:nvPr/>
        </p:nvSpPr>
        <p:spPr>
          <a:xfrm>
            <a:off x="2085973" y="5614419"/>
            <a:ext cx="7316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https://code.visualstudio.com/docs/remote/remote-overview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6FF03-0B5F-A857-B465-74E3F4EE29D3}"/>
              </a:ext>
            </a:extLst>
          </p:cNvPr>
          <p:cNvSpPr txBox="1"/>
          <p:nvPr/>
        </p:nvSpPr>
        <p:spPr>
          <a:xfrm>
            <a:off x="1634789" y="6152454"/>
            <a:ext cx="9127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https://docs.rc.fas.harvard.edu/kb/vscode-remote-development-via-ssh-or-tunnel/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31463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0D7E-354C-AEED-06BD-97D8168A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CC19F5-C37D-229F-CDA1-CA9E6FEFA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09" y="1447748"/>
            <a:ext cx="6057593" cy="51397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0F0BE5-8CBD-604E-C83F-CCB95F88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D84F58F6-04AA-03F6-EAF3-94FC59988B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07780F-38C0-67CF-0F80-BECBB9530644}"/>
              </a:ext>
            </a:extLst>
          </p:cNvPr>
          <p:cNvSpPr/>
          <p:nvPr/>
        </p:nvSpPr>
        <p:spPr>
          <a:xfrm>
            <a:off x="271392" y="2947972"/>
            <a:ext cx="630976" cy="539702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9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9795-3E48-7C48-C31E-DF9E44B6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1B7F60-7C4D-7D4D-5112-605627C7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09" y="1447748"/>
            <a:ext cx="6057593" cy="51397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3128A4-062D-D6F4-CC34-27ABD54F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37410DB-5E53-70D0-C44A-A645911D57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08A479-13E8-1AF2-E37E-CE92A3A910BB}"/>
              </a:ext>
            </a:extLst>
          </p:cNvPr>
          <p:cNvSpPr/>
          <p:nvPr/>
        </p:nvSpPr>
        <p:spPr>
          <a:xfrm>
            <a:off x="3146939" y="2021540"/>
            <a:ext cx="264013" cy="288523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93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CCC9-0A31-7537-0683-E3BD4474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96A9A4-EBD7-7697-8BE4-F90F680CA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95" y="1229433"/>
            <a:ext cx="10238874" cy="4094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B44C27-F5BE-8108-5112-30408CCD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98DA6DD-68C6-A2BC-CACD-7EB423148F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774404-A2B8-2423-725C-C31EA0F6C244}"/>
              </a:ext>
            </a:extLst>
          </p:cNvPr>
          <p:cNvSpPr/>
          <p:nvPr/>
        </p:nvSpPr>
        <p:spPr>
          <a:xfrm>
            <a:off x="6896782" y="1334252"/>
            <a:ext cx="3865466" cy="559234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B901C-A9D2-FC00-8FE7-93F7BD551A18}"/>
              </a:ext>
            </a:extLst>
          </p:cNvPr>
          <p:cNvSpPr txBox="1"/>
          <p:nvPr/>
        </p:nvSpPr>
        <p:spPr>
          <a:xfrm>
            <a:off x="3284120" y="5628567"/>
            <a:ext cx="6157160" cy="342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ssh &lt;username&gt;@login.rc.fas.harvard.edu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3777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1D1D-BC99-F6C2-230B-89EEB983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396B1D-A255-77EC-7D9E-2935040E8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" y="1243023"/>
            <a:ext cx="11819021" cy="5061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A926B8-18F0-226B-FCC8-7E91BC57B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E402F18-BAE3-650E-2EBC-756EA854BD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DF5FDB-CAC1-24AF-5C15-B919AD16AFF5}"/>
              </a:ext>
            </a:extLst>
          </p:cNvPr>
          <p:cNvSpPr/>
          <p:nvPr/>
        </p:nvSpPr>
        <p:spPr>
          <a:xfrm>
            <a:off x="57518" y="1364332"/>
            <a:ext cx="385756" cy="434390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616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F6FC-14E2-BE9D-2126-45B5B965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E5F27A-1093-364B-F950-727DB8A1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21" y="1286829"/>
            <a:ext cx="11337758" cy="5245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961905-C269-2932-BBDC-663C3CE9F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F3D32146-FE1A-5F8D-58E8-4AD0E3CFD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6E29B8-FACE-22D7-EC72-7B42D7C7CA93}"/>
              </a:ext>
            </a:extLst>
          </p:cNvPr>
          <p:cNvSpPr/>
          <p:nvPr/>
        </p:nvSpPr>
        <p:spPr>
          <a:xfrm>
            <a:off x="767380" y="2236621"/>
            <a:ext cx="1747219" cy="434390"/>
          </a:xfrm>
          <a:prstGeom prst="roundRect">
            <a:avLst>
              <a:gd name="adj" fmla="val 2378"/>
            </a:avLst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AF38E04-AAF2-657F-2B4F-21CB2CCAC61D}"/>
              </a:ext>
            </a:extLst>
          </p:cNvPr>
          <p:cNvSpPr/>
          <p:nvPr/>
        </p:nvSpPr>
        <p:spPr>
          <a:xfrm>
            <a:off x="2758978" y="2258346"/>
            <a:ext cx="3429263" cy="39093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666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3650-D61E-4BD4-93FA-D3F47FDF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F898-0E89-ACC3-FC3E-2A7D07CA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83" y="122185"/>
            <a:ext cx="10515600" cy="1325563"/>
          </a:xfrm>
        </p:spPr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has many </a:t>
            </a:r>
            <a:r>
              <a:rPr lang="en-US" b="1" dirty="0"/>
              <a:t>extensions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C829FEA4-A6CF-5E0D-C7F3-F9CB26714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798A4-08D8-B08A-9B7E-D97DE0014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328" y="1389646"/>
            <a:ext cx="7458543" cy="52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21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9978-3258-656F-1D0C-B9D8F3B1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625B-FEFE-176B-6876-600DA85F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Useful shell shortcuts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FB547-9267-9D72-17E8-EF861C1AF848}"/>
              </a:ext>
            </a:extLst>
          </p:cNvPr>
          <p:cNvGraphicFramePr>
            <a:graphicFrameLocks noGrp="1"/>
          </p:cNvGraphicFramePr>
          <p:nvPr/>
        </p:nvGraphicFramePr>
        <p:xfrm>
          <a:off x="0" y="1106227"/>
          <a:ext cx="12191999" cy="5415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55492">
                  <a:extLst>
                    <a:ext uri="{9D8B030D-6E8A-4147-A177-3AD203B41FA5}">
                      <a16:colId xmlns:a16="http://schemas.microsoft.com/office/drawing/2014/main" val="3298165829"/>
                    </a:ext>
                  </a:extLst>
                </a:gridCol>
                <a:gridCol w="8336507">
                  <a:extLst>
                    <a:ext uri="{9D8B030D-6E8A-4147-A177-3AD203B41FA5}">
                      <a16:colId xmlns:a16="http://schemas.microsoft.com/office/drawing/2014/main" val="677998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..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Shortcut to use in paths meaning, “one directory above”. </a:t>
                      </a:r>
                    </a:p>
                    <a:p>
                      <a:endParaRPr lang="en-US" sz="1600" b="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one directory above the current working directory</a:t>
                      </a: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</a:rPr>
                        <a:t>../../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means two directories above the current working directory</a:t>
                      </a: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 </a:t>
                      </a:r>
                      <a:endParaRPr lang="en-US" sz="16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Many systems use this to mean, “the path to the current user’s home directory”.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1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cd ~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will change directory to your home directory no matter where you are in the filesystem.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670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cd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Change to the previous directory no matter where </a:t>
                      </a:r>
                      <a:r>
                        <a:rPr lang="en-US" sz="1600" b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it is.</a:t>
                      </a:r>
                      <a:endParaRPr lang="en-US" sz="16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[tab]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When typing paths for a command, hitting tab will autocomplete file names.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directory1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If more than one file matches the substring typed, they will all be displayed for you to keep typing:</a:t>
                      </a:r>
                    </a:p>
                    <a:p>
                      <a:endParaRPr lang="en-US" sz="1600" b="0" dirty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</a:t>
                      </a:r>
                      <a:r>
                        <a:rPr lang="en-US" sz="1600" b="1" dirty="0" err="1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dir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[tab] </a:t>
                      </a:r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-&gt; directory1 directory2 directory3 -&gt; </a:t>
                      </a:r>
                      <a:r>
                        <a:rPr lang="en-US" sz="1600" b="1" dirty="0">
                          <a:latin typeface="Consolas" panose="020B0609020204030204" pitchFamily="49" charset="0"/>
                          <a:ea typeface="Source Sans Pro" panose="020B0503030403020204" pitchFamily="34" charset="0"/>
                        </a:rPr>
                        <a:t>cd directory3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7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Consolas" panose="020B0609020204030204" pitchFamily="49" charset="0"/>
                        </a:rPr>
                        <a:t>[up arrow]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Scroll through previous commands.</a:t>
                      </a:r>
                      <a:endParaRPr lang="en-US" sz="1600" b="0" dirty="0">
                        <a:highlight>
                          <a:srgbClr val="FFFF00"/>
                        </a:highlight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0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latin typeface="Consolas" panose="020B0609020204030204" pitchFamily="49" charset="0"/>
                        </a:rPr>
                        <a:t>Ctrl+C</a:t>
                      </a:r>
                      <a:endParaRPr lang="en-US" sz="1600" b="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Cancel currently running process.</a:t>
                      </a:r>
                      <a:r>
                        <a:rPr lang="en-US" sz="1600" b="0" dirty="0"/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491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Consolas" panose="020B0609020204030204" pitchFamily="49" charset="0"/>
                        </a:rPr>
                        <a:t>Select text to copy, right click to paste.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10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3841</TotalTime>
  <Words>1848</Words>
  <Application>Microsoft Office PowerPoint</Application>
  <PresentationFormat>Widescreen</PresentationFormat>
  <Paragraphs>317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Aptos</vt:lpstr>
      <vt:lpstr>Aptos Display</vt:lpstr>
      <vt:lpstr>Arial</vt:lpstr>
      <vt:lpstr>Consolas</vt:lpstr>
      <vt:lpstr>Source Sans Pro</vt:lpstr>
      <vt:lpstr>Office Theme</vt:lpstr>
      <vt:lpstr>$ Command line 101: $ Integrating local and cluster environments</vt:lpstr>
      <vt:lpstr>$ Command line 101: $ Integrating local and cluster environments</vt:lpstr>
      <vt:lpstr>What to we mean by “environment”?</vt:lpstr>
      <vt:lpstr>What to we mean by “environment”?</vt:lpstr>
      <vt:lpstr>What to we mean by “environment”?</vt:lpstr>
      <vt:lpstr>Software environments edit aspects of your default environment</vt:lpstr>
      <vt:lpstr>PowerPoint Presentation</vt:lpstr>
      <vt:lpstr>Connecting to a remote computer</vt:lpstr>
      <vt:lpstr>Connecting to a remote computer</vt:lpstr>
      <vt:lpstr>Connecting to a remote computer</vt:lpstr>
      <vt:lpstr>Connecting to a remote computer</vt:lpstr>
      <vt:lpstr>Connecting to a remote computer</vt:lpstr>
      <vt:lpstr>Connecting to a remote computer</vt:lpstr>
      <vt:lpstr>How to connect to a particular login node</vt:lpstr>
      <vt:lpstr>PowerPoint Presentation</vt:lpstr>
      <vt:lpstr>PowerPoint Presentation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nano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In-terminal text editors and viewers: less</vt:lpstr>
      <vt:lpstr>Printing a file to the terminal: cat</vt:lpstr>
      <vt:lpstr>Printing a file to the terminal: cat</vt:lpstr>
      <vt:lpstr>Printing a file to the terminal: cat</vt:lpstr>
      <vt:lpstr>Finding text in a file: grep</vt:lpstr>
      <vt:lpstr>Finding text in a file: grep</vt:lpstr>
      <vt:lpstr>Finding text in a file: grep</vt:lpstr>
      <vt:lpstr>Table of terminal text review</vt:lpstr>
      <vt:lpstr>Graphical text editors</vt:lpstr>
      <vt:lpstr>Graphical text editors: VSCode</vt:lpstr>
      <vt:lpstr>Graphical text editors: VSCode</vt:lpstr>
      <vt:lpstr>VSCode has many extensions</vt:lpstr>
      <vt:lpstr>VSCode has many extensions</vt:lpstr>
      <vt:lpstr>VSCode has many extensions</vt:lpstr>
      <vt:lpstr>VSCode has many extensions</vt:lpstr>
      <vt:lpstr>VSCode has many extensions</vt:lpstr>
      <vt:lpstr>VSCode has many extensions</vt:lpstr>
      <vt:lpstr>VSCode has many extensions</vt:lpstr>
      <vt:lpstr>VSCode has many extensions</vt:lpstr>
      <vt:lpstr>Useful shell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69</cp:revision>
  <dcterms:created xsi:type="dcterms:W3CDTF">2026-01-12T15:34:42Z</dcterms:created>
  <dcterms:modified xsi:type="dcterms:W3CDTF">2026-02-17T21:03:12Z</dcterms:modified>
</cp:coreProperties>
</file>