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65" r:id="rId4"/>
    <p:sldId id="273" r:id="rId5"/>
    <p:sldId id="259" r:id="rId6"/>
    <p:sldId id="260" r:id="rId7"/>
    <p:sldId id="261" r:id="rId8"/>
    <p:sldId id="266" r:id="rId9"/>
    <p:sldId id="262" r:id="rId10"/>
    <p:sldId id="267" r:id="rId11"/>
    <p:sldId id="268" r:id="rId12"/>
    <p:sldId id="269" r:id="rId13"/>
    <p:sldId id="271" r:id="rId14"/>
    <p:sldId id="272" r:id="rId15"/>
    <p:sldId id="270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E7DE-09AC-AE44-825B-7DB1E0D9EE94}" type="datetimeFigureOut"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51DA7-F7B0-6F41-9300-BA9FC6DA23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0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Caveats:</a:t>
            </a:r>
            <a:br>
              <a:rPr lang="en-US"/>
            </a:br>
            <a:r>
              <a:rPr lang="en-US"/>
              <a:t>* We are not covering the structure of the cluster. For that see FAS RC’s getting started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We are not covering cold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Storage is changing but these general concepts will be the same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30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EA55-96AE-60FC-1C7B-9149560D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85166-69EC-B34A-CE22-C340F27D9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FE492-298B-3F2E-7CC5-741AA644E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Caveats:</a:t>
            </a:r>
            <a:br>
              <a:rPr lang="en-US"/>
            </a:br>
            <a:r>
              <a:rPr lang="en-US"/>
              <a:t>* We are not covering the structure of the cluster. For that see FAS RC’s getting started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We are not covering cold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Storage is changing but these general concepts will be the same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2AD8B-797F-FE15-6D13-2BC0373FC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43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all intents and purposes, the Home directory is useless for storing files, so we’re going to collapse that into lab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5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all intents and purposes, the Home directory is useless for storing files, so we’re going to collapse that into lab 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20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of rsync: won’t duplicate copy files if it already exists at the destination. Can make exact mirrors of a file system (--delete option). You can do a dry run with -n or --dry-run. You can use rsync to transfer between cluster and your local machine, but we won’t go over that because there are better ways.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8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2BB46-571B-312A-5AA2-F39C61AA4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2C2B6-5A58-699C-8341-103F03C4D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0EEAB-7009-B73D-E817-3349FD6A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84EDE-AB0D-6747-54FD-87FFD9AAD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25D1-D462-EC2A-7B5A-121F1CB1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1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FF52-9341-4962-0D2E-E12BE510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49E95-34AF-0799-B44C-800FC2E3A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8A68-BD0A-9061-EA18-35EE88F0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D9F1E-C88D-508E-A180-BD723262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4829-598C-4F53-7E02-3B3ACF97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6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1ED7-133B-A32E-7501-E91F5B89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9126A-EB2E-62D6-9015-152436085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70F9E-E84F-B521-A2B6-9FBF22E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704A-BE8D-47D0-49FC-DC2BECC1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671D5-4852-6A22-B84C-FA8BFE56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1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520-5C2F-CC2C-ED7F-E4508C5B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153E1-EDDA-4A95-BAB3-B35528A8B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F5B98-E077-B6B2-FE35-CE7B4485D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01C9-F1F2-219A-4F32-42C2BD2E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C55A6-3012-609A-19D3-9D74BED1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DDDDB-9B5C-29AF-5514-629B8D74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7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C42C-C1BF-57AE-A0C9-76843D31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E125-D952-14BB-99D9-1C4F40B95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A9826-BF17-3E9A-9F63-FA0C10E02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E3D9B-41DC-D213-9CFE-343D3B753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CA5B8-0A46-61B1-8FD7-49E702185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3E16B-82B8-E66C-EFDE-F42B53C5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9CDB4-1E34-8053-620F-B2DBA422F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EB824-17BC-0DDE-D505-A7A42F75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59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A78D-55FE-9261-1C1E-42E55052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C9B3E-263A-8B4E-5F90-4C61C065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43946-109C-5674-9C47-0BCE153C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986F1-5EB2-76F2-7957-F4009341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3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E85FF-FDC5-6F11-7803-1E030AEB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10D05-26AE-68CD-539B-18F1840A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53516-3746-983A-8431-554AC02F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9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1CEB-77AF-43A6-8633-200B5D89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F119-7B63-EA0B-016E-A9149E276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BEA20-5CAC-1E31-D605-3002B5FB2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89017-B388-EE4F-15FE-1364AD84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39CC3-95D0-57F1-EE85-EBB9F25F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4456B-8EEE-9A04-E2A5-F28A26A4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7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6F7F-C4DC-9BD2-0027-3F10FCC2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1F9D8-85D1-6E77-7737-E606C1C39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A4E3A-B715-D420-191C-8BAAFA8EC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7CCEB-EF86-879E-43FF-AC7FB3F5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60CA2-55C0-5BF2-0659-D21E84FD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7DBCA-40F4-D10F-6984-CF828CDC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3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E6C7-AAAB-D512-13E9-78875065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1A90D-0AFA-12D3-295D-E6577FCE0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8C2CC-5A26-3980-5D1B-B4FDEE8C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E9005-F377-7075-1738-B0DB5E87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9879D-04A6-E180-1FD4-64A000A0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4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6AC9F-DEEC-216B-6B45-77E6340CB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88B6B-39C3-6576-3FCB-8D3734EE8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99219-E315-DCEF-C6B5-4681875A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0E36-F782-7792-BDE0-0130633E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ED06D-4253-0F61-86AD-5C67274A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5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7F58D-11B9-B5A6-7ABF-5D1EE0EA4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132E8-9C37-ECEF-5D0B-ADF4F263B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94648-A0B5-3180-816E-FD5B138D6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F9BB0-F43A-8D45-95CA-C8ED1E6FE2D5}" type="datetimeFigureOut"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25496-6888-97C6-F358-51585E4CD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F580-CA3B-1D0C-9F0D-994E05128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41E48-7EF3-B14D-9E41-9DAFFA25E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7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8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8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svg"/><Relationship Id="rId7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11.svg"/><Relationship Id="rId2" Type="http://schemas.openxmlformats.org/officeDocument/2006/relationships/hyperlink" Target="https://docs.rc.fas.harvard.edu/kb/sftp-file-transf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hyperlink" Target="https://canvas.harvard.edu/courses/157915/pages/globus-overview-2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SOlgZpC9K4?feature=oembe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harvard.edu/courses/157915/pages/globus-how-to-share-with-collaborators?module_item_id=188374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hyperlink" Target="https://upload.wikimedia.org/wikipedia/commons/1/12/Google_Drive_icon_%282020%29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D85E-6D64-F3CB-9CF8-F09766652F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Transferring 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D5775-E1A8-E100-299B-BB3039404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2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3447-E87F-4FBC-A2BD-A2C4DC82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file system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A9CB-F6CB-D9B1-18D8-A0AF19BC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687" y="1264024"/>
            <a:ext cx="6609907" cy="48606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Home directory aka the login node</a:t>
            </a:r>
          </a:p>
          <a:p>
            <a:pPr lvl="1"/>
            <a:r>
              <a:rPr lang="en-US" dirty="0"/>
              <a:t>$HOME</a:t>
            </a:r>
          </a:p>
          <a:p>
            <a:pPr lvl="1"/>
            <a:r>
              <a:rPr lang="en-US" dirty="0"/>
              <a:t>100 GB limit</a:t>
            </a:r>
          </a:p>
          <a:p>
            <a:pPr lvl="1"/>
            <a:r>
              <a:rPr lang="en-US" dirty="0"/>
              <a:t>basically useless for compute</a:t>
            </a:r>
          </a:p>
          <a:p>
            <a:r>
              <a:rPr lang="en-US" dirty="0"/>
              <a:t>Scratch</a:t>
            </a:r>
          </a:p>
          <a:p>
            <a:pPr lvl="1"/>
            <a:r>
              <a:rPr lang="en-US" dirty="0"/>
              <a:t>/n/netscratch/pi_lab</a:t>
            </a:r>
          </a:p>
          <a:p>
            <a:pPr lvl="1"/>
            <a:r>
              <a:rPr lang="en-US" dirty="0"/>
              <a:t>no size limit</a:t>
            </a:r>
          </a:p>
          <a:p>
            <a:pPr lvl="1"/>
            <a:r>
              <a:rPr lang="en-US" dirty="0"/>
              <a:t>90 day retention</a:t>
            </a:r>
          </a:p>
          <a:p>
            <a:pPr lvl="1"/>
            <a:r>
              <a:rPr lang="en-US" dirty="0"/>
              <a:t>used for compute</a:t>
            </a:r>
          </a:p>
          <a:p>
            <a:r>
              <a:rPr lang="en-US" dirty="0"/>
              <a:t>Lab directory</a:t>
            </a:r>
          </a:p>
          <a:p>
            <a:pPr lvl="1"/>
            <a:r>
              <a:rPr lang="en-US" dirty="0"/>
              <a:t>path varies</a:t>
            </a:r>
          </a:p>
          <a:p>
            <a:pPr lvl="1"/>
            <a:r>
              <a:rPr lang="en-US" dirty="0"/>
              <a:t>size limit based on what’s purchased</a:t>
            </a:r>
          </a:p>
          <a:p>
            <a:pPr lvl="1"/>
            <a:r>
              <a:rPr lang="en-US" dirty="0"/>
              <a:t>general storage</a:t>
            </a:r>
          </a:p>
          <a:p>
            <a:endParaRPr lang="en-US" dirty="0"/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5584152-F83C-CBE0-E916-D30CAD5EC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78037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A700282-0D53-CD97-178F-A4ABB254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74693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085ECC-D18C-2A8A-51B5-E3AF7771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06" y="4671349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3A3E544-F24F-7658-DEDF-A5061971F067}"/>
              </a:ext>
            </a:extLst>
          </p:cNvPr>
          <p:cNvSpPr txBox="1"/>
          <p:nvPr/>
        </p:nvSpPr>
        <p:spPr>
          <a:xfrm>
            <a:off x="1160278" y="221341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$HOME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300B88-1108-93B1-B0ED-F6F20D69EC07}"/>
              </a:ext>
            </a:extLst>
          </p:cNvPr>
          <p:cNvSpPr txBox="1"/>
          <p:nvPr/>
        </p:nvSpPr>
        <p:spPr>
          <a:xfrm>
            <a:off x="1089616" y="3779764"/>
            <a:ext cx="1093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$SCRATCH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8AA8CE-394F-1ACA-9F5C-B338C13A9277}"/>
              </a:ext>
            </a:extLst>
          </p:cNvPr>
          <p:cNvSpPr txBox="1"/>
          <p:nvPr/>
        </p:nvSpPr>
        <p:spPr>
          <a:xfrm>
            <a:off x="1086515" y="5372876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pi_lab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0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7ED0-63B1-4E6C-A1F1-A4CED147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EB94-7AE4-8531-FAD5-F6DAFD79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file system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8976-7490-0018-67CC-DEDFAB79B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687" y="1344706"/>
            <a:ext cx="6609907" cy="53115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Home directory aka the login node</a:t>
            </a:r>
          </a:p>
          <a:p>
            <a:pPr lvl="1"/>
            <a:r>
              <a:rPr lang="en-US" dirty="0"/>
              <a:t>$HOME</a:t>
            </a:r>
          </a:p>
          <a:p>
            <a:pPr lvl="1"/>
            <a:r>
              <a:rPr lang="en-US" dirty="0"/>
              <a:t>100 GB limit</a:t>
            </a:r>
          </a:p>
          <a:p>
            <a:pPr lvl="1"/>
            <a:r>
              <a:rPr lang="en-US" dirty="0"/>
              <a:t>basically useless for compute</a:t>
            </a:r>
          </a:p>
          <a:p>
            <a:r>
              <a:rPr lang="en-US" dirty="0"/>
              <a:t>Scratch</a:t>
            </a:r>
          </a:p>
          <a:p>
            <a:pPr lvl="1"/>
            <a:r>
              <a:rPr lang="en-US" dirty="0"/>
              <a:t>/n/netscratch/pi_lab</a:t>
            </a:r>
          </a:p>
          <a:p>
            <a:pPr lvl="1"/>
            <a:r>
              <a:rPr lang="en-US" dirty="0"/>
              <a:t>no size limit</a:t>
            </a:r>
          </a:p>
          <a:p>
            <a:pPr lvl="1"/>
            <a:r>
              <a:rPr lang="en-US" dirty="0"/>
              <a:t>90 day retention</a:t>
            </a:r>
          </a:p>
          <a:p>
            <a:pPr lvl="1"/>
            <a:r>
              <a:rPr lang="en-US" dirty="0"/>
              <a:t>used for compute</a:t>
            </a:r>
          </a:p>
          <a:p>
            <a:r>
              <a:rPr lang="en-US" dirty="0"/>
              <a:t>Lab directory</a:t>
            </a:r>
          </a:p>
          <a:p>
            <a:pPr lvl="1"/>
            <a:r>
              <a:rPr lang="en-US" dirty="0"/>
              <a:t>path varies</a:t>
            </a:r>
          </a:p>
          <a:p>
            <a:pPr lvl="1"/>
            <a:r>
              <a:rPr lang="en-US" dirty="0"/>
              <a:t>size limit based on what’s purchased</a:t>
            </a:r>
          </a:p>
          <a:p>
            <a:pPr lvl="1"/>
            <a:r>
              <a:rPr lang="en-US" dirty="0"/>
              <a:t>general storage</a:t>
            </a:r>
          </a:p>
          <a:p>
            <a:r>
              <a:rPr lang="en-US" dirty="0">
                <a:highlight>
                  <a:srgbClr val="FFFF00"/>
                </a:highlight>
              </a:rPr>
              <a:t>Tape Storage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archival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size limit based on what’s purchased</a:t>
            </a: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7DDBA9-3087-0FCC-760F-13C763BCC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78037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7C18A7-BAE3-4FE4-77C4-45C62F1A7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74693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DCF67DB-4D53-08FE-ADB4-82C4EF9B7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06" y="4671349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97C6E74-8AE8-D392-FEBF-5E29BD9C2A59}"/>
              </a:ext>
            </a:extLst>
          </p:cNvPr>
          <p:cNvSpPr txBox="1"/>
          <p:nvPr/>
        </p:nvSpPr>
        <p:spPr>
          <a:xfrm>
            <a:off x="1160278" y="221341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$HOME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DA5DA6-42D3-209C-DB5E-65BDF6CA9D0A}"/>
              </a:ext>
            </a:extLst>
          </p:cNvPr>
          <p:cNvSpPr txBox="1"/>
          <p:nvPr/>
        </p:nvSpPr>
        <p:spPr>
          <a:xfrm>
            <a:off x="1089616" y="3779764"/>
            <a:ext cx="1093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$SCRATCH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E044A8-0F20-0955-9709-20D2A74F2548}"/>
              </a:ext>
            </a:extLst>
          </p:cNvPr>
          <p:cNvSpPr txBox="1"/>
          <p:nvPr/>
        </p:nvSpPr>
        <p:spPr>
          <a:xfrm>
            <a:off x="1086515" y="5372876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pi_lab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521C195-FBD6-9D88-E249-F7EEC0E5F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157" y="4896219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7409F2-2563-3149-0F5F-0C83E992F854}"/>
              </a:ext>
            </a:extLst>
          </p:cNvPr>
          <p:cNvSpPr txBox="1"/>
          <p:nvPr/>
        </p:nvSpPr>
        <p:spPr>
          <a:xfrm>
            <a:off x="10611266" y="5597746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Tape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1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1837-9F51-0DDB-C3C7-86BE03B9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file system review -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7311-25E2-5ABB-3AC2-72B6FC6F4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012" y="1411942"/>
            <a:ext cx="5006788" cy="5217458"/>
          </a:xfrm>
        </p:spPr>
        <p:txBody>
          <a:bodyPr>
            <a:normAutofit lnSpcReduction="10000"/>
          </a:bodyPr>
          <a:lstStyle/>
          <a:p>
            <a:r>
              <a:rPr lang="en-US"/>
              <a:t>Lab</a:t>
            </a:r>
          </a:p>
          <a:p>
            <a:pPr lvl="1"/>
            <a:r>
              <a:rPr lang="en-US"/>
              <a:t>Only people in your lab can read or write to this folder</a:t>
            </a:r>
          </a:p>
          <a:p>
            <a:r>
              <a:rPr lang="en-US"/>
              <a:t>Everyone</a:t>
            </a:r>
          </a:p>
          <a:p>
            <a:pPr lvl="1"/>
            <a:r>
              <a:rPr lang="en-US"/>
              <a:t>Everyone on the cluster can read/write to this folder</a:t>
            </a:r>
          </a:p>
          <a:p>
            <a:r>
              <a:rPr lang="en-US"/>
              <a:t>User</a:t>
            </a:r>
          </a:p>
          <a:p>
            <a:pPr lvl="1"/>
            <a:r>
              <a:rPr lang="en-US"/>
              <a:t>Only specific users can read/write here</a:t>
            </a:r>
          </a:p>
          <a:p>
            <a:pPr lvl="1"/>
            <a:r>
              <a:rPr lang="en-US"/>
              <a:t>Deprecated, don’t use!</a:t>
            </a:r>
          </a:p>
          <a:p>
            <a:r>
              <a:rPr lang="en-US"/>
              <a:t>In general, you can’t modify/delete/move files created by someone else</a:t>
            </a:r>
          </a:p>
        </p:txBody>
      </p:sp>
      <p:pic>
        <p:nvPicPr>
          <p:cNvPr id="1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477DEA3-3738-928C-9AD7-F93AD3F6E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524" y="1566418"/>
            <a:ext cx="1143387" cy="114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E8F82B-EE8E-2D6E-5690-049AB53122FD}"/>
              </a:ext>
            </a:extLst>
          </p:cNvPr>
          <p:cNvSpPr txBox="1"/>
          <p:nvPr/>
        </p:nvSpPr>
        <p:spPr>
          <a:xfrm>
            <a:off x="1842963" y="1976333"/>
            <a:ext cx="915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X_lab/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E64BD7-6910-E452-E735-292DA959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054" y="308356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E0B2B8-885D-C0A5-646F-DC85ED02748B}"/>
              </a:ext>
            </a:extLst>
          </p:cNvPr>
          <p:cNvSpPr txBox="1"/>
          <p:nvPr/>
        </p:nvSpPr>
        <p:spPr>
          <a:xfrm>
            <a:off x="1656273" y="3452373"/>
            <a:ext cx="1143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Everyone/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DECB93-F429-4C44-1D1B-74F01FE4F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174" y="3157118"/>
            <a:ext cx="952499" cy="9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715DB2-F657-6B38-E616-8B2F22F06CFC}"/>
              </a:ext>
            </a:extLst>
          </p:cNvPr>
          <p:cNvSpPr txBox="1"/>
          <p:nvPr/>
        </p:nvSpPr>
        <p:spPr>
          <a:xfrm>
            <a:off x="3268973" y="3517281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User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85F2C09-43A7-F1CF-0D86-9B7DA1F8E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24" y="3112414"/>
            <a:ext cx="894810" cy="89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04598BF-A2DF-8B9E-4BB6-177B083D8744}"/>
              </a:ext>
            </a:extLst>
          </p:cNvPr>
          <p:cNvSpPr txBox="1"/>
          <p:nvPr/>
        </p:nvSpPr>
        <p:spPr>
          <a:xfrm>
            <a:off x="190934" y="339054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093B80-2144-69FA-6F5F-AE244F14E25F}"/>
              </a:ext>
            </a:extLst>
          </p:cNvPr>
          <p:cNvCxnSpPr>
            <a:cxnSpLocks/>
          </p:cNvCxnSpPr>
          <p:nvPr/>
        </p:nvCxnSpPr>
        <p:spPr>
          <a:xfrm flipH="1" flipV="1">
            <a:off x="2214304" y="2641152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B9A47B-E495-D8FE-DE9F-5F4E3D09258D}"/>
              </a:ext>
            </a:extLst>
          </p:cNvPr>
          <p:cNvCxnSpPr>
            <a:cxnSpLocks/>
          </p:cNvCxnSpPr>
          <p:nvPr/>
        </p:nvCxnSpPr>
        <p:spPr>
          <a:xfrm flipV="1">
            <a:off x="1149492" y="269584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7B3D2E-5BB7-0659-AD81-33F33C343CF2}"/>
              </a:ext>
            </a:extLst>
          </p:cNvPr>
          <p:cNvCxnSpPr>
            <a:cxnSpLocks/>
          </p:cNvCxnSpPr>
          <p:nvPr/>
        </p:nvCxnSpPr>
        <p:spPr>
          <a:xfrm>
            <a:off x="2758385" y="269418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37DB029-33E0-FBBA-7FCF-A972DA4E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91" y="4260533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E0177A-8F0E-C34F-CD01-4E1739D0D599}"/>
              </a:ext>
            </a:extLst>
          </p:cNvPr>
          <p:cNvSpPr txBox="1"/>
          <p:nvPr/>
        </p:nvSpPr>
        <p:spPr>
          <a:xfrm>
            <a:off x="3863593" y="4362058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37AD7D-1206-7E1A-5453-2E068F2401A9}"/>
              </a:ext>
            </a:extLst>
          </p:cNvPr>
          <p:cNvCxnSpPr>
            <a:cxnSpLocks/>
          </p:cNvCxnSpPr>
          <p:nvPr/>
        </p:nvCxnSpPr>
        <p:spPr>
          <a:xfrm>
            <a:off x="3939549" y="4034442"/>
            <a:ext cx="281924" cy="2772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C9D7B6-3FF4-B472-62F4-D481E3860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165" y="4336145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E914F46-D751-E32F-AFA3-14DC1C7DC0EF}"/>
              </a:ext>
            </a:extLst>
          </p:cNvPr>
          <p:cNvCxnSpPr>
            <a:cxnSpLocks/>
          </p:cNvCxnSpPr>
          <p:nvPr/>
        </p:nvCxnSpPr>
        <p:spPr>
          <a:xfrm flipV="1">
            <a:off x="1842964" y="3963217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5775910-D78C-BCAC-3E98-145705519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8" y="436205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E90098A-4F81-050F-DDE9-466D7AB2D648}"/>
              </a:ext>
            </a:extLst>
          </p:cNvPr>
          <p:cNvCxnSpPr>
            <a:cxnSpLocks/>
          </p:cNvCxnSpPr>
          <p:nvPr/>
        </p:nvCxnSpPr>
        <p:spPr>
          <a:xfrm flipV="1">
            <a:off x="408971" y="3968428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4F88807-BEF1-BC70-CEA8-72EC171B0C82}"/>
              </a:ext>
            </a:extLst>
          </p:cNvPr>
          <p:cNvSpPr txBox="1"/>
          <p:nvPr/>
        </p:nvSpPr>
        <p:spPr>
          <a:xfrm>
            <a:off x="-67279" y="4627887"/>
            <a:ext cx="9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4865BD-55A1-6C59-FC33-F6D5AA22D0E4}"/>
              </a:ext>
            </a:extLst>
          </p:cNvPr>
          <p:cNvSpPr txBox="1"/>
          <p:nvPr/>
        </p:nvSpPr>
        <p:spPr>
          <a:xfrm>
            <a:off x="1301892" y="4605044"/>
            <a:ext cx="9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ProjectB</a:t>
            </a:r>
          </a:p>
        </p:txBody>
      </p:sp>
      <p:pic>
        <p:nvPicPr>
          <p:cNvPr id="46" name="Graphic 45" descr="Paper outline">
            <a:extLst>
              <a:ext uri="{FF2B5EF4-FFF2-40B4-BE49-F238E27FC236}">
                <a16:creationId xmlns:a16="http://schemas.microsoft.com/office/drawing/2014/main" id="{958AC6A8-DE16-06BF-37F8-BAC2BA0A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5892" y="5825509"/>
            <a:ext cx="914400" cy="914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FE4BADB-EEF0-493D-DED6-742ED58173F7}"/>
              </a:ext>
            </a:extLst>
          </p:cNvPr>
          <p:cNvSpPr txBox="1"/>
          <p:nvPr/>
        </p:nvSpPr>
        <p:spPr>
          <a:xfrm>
            <a:off x="173136" y="630535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93EDA8-6E05-06C6-2145-402D01CEA386}"/>
              </a:ext>
            </a:extLst>
          </p:cNvPr>
          <p:cNvCxnSpPr>
            <a:cxnSpLocks/>
          </p:cNvCxnSpPr>
          <p:nvPr/>
        </p:nvCxnSpPr>
        <p:spPr>
          <a:xfrm flipV="1">
            <a:off x="255494" y="5118702"/>
            <a:ext cx="226237" cy="622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BE5C159-B721-C77B-DE89-3050A2CD8914}"/>
              </a:ext>
            </a:extLst>
          </p:cNvPr>
          <p:cNvCxnSpPr>
            <a:cxnSpLocks/>
          </p:cNvCxnSpPr>
          <p:nvPr/>
        </p:nvCxnSpPr>
        <p:spPr>
          <a:xfrm flipH="1" flipV="1">
            <a:off x="723423" y="5134125"/>
            <a:ext cx="664742" cy="65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Graphic 51" descr="Paper outline">
            <a:extLst>
              <a:ext uri="{FF2B5EF4-FFF2-40B4-BE49-F238E27FC236}">
                <a16:creationId xmlns:a16="http://schemas.microsoft.com/office/drawing/2014/main" id="{4A0A34BC-C26E-DD7F-963D-C4BE49C90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571" y="5819538"/>
            <a:ext cx="914400" cy="9144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529C88D-916C-A6B8-CFE5-4975504A0707}"/>
              </a:ext>
            </a:extLst>
          </p:cNvPr>
          <p:cNvSpPr txBox="1"/>
          <p:nvPr/>
        </p:nvSpPr>
        <p:spPr>
          <a:xfrm>
            <a:off x="1177307" y="6316536"/>
            <a:ext cx="716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gregg</a:t>
            </a:r>
          </a:p>
        </p:txBody>
      </p:sp>
    </p:spTree>
    <p:extLst>
      <p:ext uri="{BB962C8B-B14F-4D97-AF65-F5344CB8AC3E}">
        <p14:creationId xmlns:p14="http://schemas.microsoft.com/office/powerpoint/2010/main" val="3310723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0D316F56-DF24-2C5D-C6BF-58EC0728E055}"/>
              </a:ext>
            </a:extLst>
          </p:cNvPr>
          <p:cNvGrpSpPr/>
          <p:nvPr/>
        </p:nvGrpSpPr>
        <p:grpSpPr>
          <a:xfrm>
            <a:off x="2361335" y="660172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98A911B4-7EEF-B1BB-0828-0E2A1DCDC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D55935-14B1-7405-461B-D5998D3E2E80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88F1F5-2CA0-860A-A480-5138A8D26757}"/>
              </a:ext>
            </a:extLst>
          </p:cNvPr>
          <p:cNvGrpSpPr/>
          <p:nvPr/>
        </p:nvGrpSpPr>
        <p:grpSpPr>
          <a:xfrm>
            <a:off x="5200283" y="660172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2EF94722-CD1C-E117-2439-439A71C8A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9DE851-B6CE-0CC4-D154-69D0E32B5F17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EB2B4A4-02A0-8687-4E21-54185ECDB596}"/>
              </a:ext>
            </a:extLst>
          </p:cNvPr>
          <p:cNvGrpSpPr/>
          <p:nvPr/>
        </p:nvGrpSpPr>
        <p:grpSpPr>
          <a:xfrm>
            <a:off x="8055816" y="660172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B1F72394-59E8-121D-C1A5-A7A2568BA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998E1-0180-933B-BEC5-6FD600E04155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BD5D818-670A-1B41-A383-F1C3E89D4328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C68DB3-4014-F71E-1966-2CAF53642DFB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560763DB-9970-69AA-2AA8-41ADB981C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B8E992-F9DA-336E-68A7-EAEEC58CDF52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D4CC013F-11E1-5928-D626-1949B2575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9F20C4-2ECA-FE84-4E2F-D30638683A32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usb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65215B-0D08-C32D-9CC5-33E86AB6A9E6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5AD9869-D41B-48A4-89EC-DD540EA56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4960DD-12FF-6F2C-58C1-4B86B0DD4679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dropbox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BAACF9-4F67-51C5-A1C1-E27E45DA7A92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B3BF15B4-FD01-A269-C094-6BB1FA6EE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10A2E8-0B0F-6504-F0A1-905B0C979694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gdrive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224812-750C-FF40-3F7B-3EF633CDE5B0}"/>
              </a:ext>
            </a:extLst>
          </p:cNvPr>
          <p:cNvGrpSpPr/>
          <p:nvPr/>
        </p:nvGrpSpPr>
        <p:grpSpPr>
          <a:xfrm>
            <a:off x="1531073" y="4605444"/>
            <a:ext cx="973087" cy="1264365"/>
            <a:chOff x="9899067" y="1970798"/>
            <a:chExt cx="973087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CE8E464A-72E4-DB16-6D39-698CC1A61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D02E3E1-B9BB-4239-E2D7-6EE2CFEAA547}"/>
                </a:ext>
              </a:extLst>
            </p:cNvPr>
            <p:cNvSpPr txBox="1"/>
            <p:nvPr/>
          </p:nvSpPr>
          <p:spPr>
            <a:xfrm>
              <a:off x="9899067" y="2865831"/>
              <a:ext cx="9730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4AF5D17-CD6A-5960-3823-2134005E151B}"/>
              </a:ext>
            </a:extLst>
          </p:cNvPr>
          <p:cNvSpPr/>
          <p:nvPr/>
        </p:nvSpPr>
        <p:spPr>
          <a:xfrm>
            <a:off x="1861873" y="170996"/>
            <a:ext cx="7681803" cy="24877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8A122B6-A39F-FD1C-3ACE-EABC1D3889AA}"/>
              </a:ext>
            </a:extLst>
          </p:cNvPr>
          <p:cNvSpPr/>
          <p:nvPr/>
        </p:nvSpPr>
        <p:spPr>
          <a:xfrm>
            <a:off x="1093816" y="3573102"/>
            <a:ext cx="3543821" cy="2955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487B0A6-B2A7-5BAC-7371-8028CEC35054}"/>
              </a:ext>
            </a:extLst>
          </p:cNvPr>
          <p:cNvSpPr/>
          <p:nvPr/>
        </p:nvSpPr>
        <p:spPr>
          <a:xfrm>
            <a:off x="6889022" y="3498259"/>
            <a:ext cx="3543821" cy="2955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336574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5F7A-B2FD-D109-3DF6-C19BEA7A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A7663BA-F35E-0307-A4DA-25A1B1873072}"/>
              </a:ext>
            </a:extLst>
          </p:cNvPr>
          <p:cNvGrpSpPr/>
          <p:nvPr/>
        </p:nvGrpSpPr>
        <p:grpSpPr>
          <a:xfrm>
            <a:off x="2361335" y="660172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74D449D0-4B06-840E-EC9F-5B9E6CABF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F837B7-E3D7-8EF3-47BE-23D04CC6B24B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4402B96-DD2D-2001-854F-5F7B3DA0E8B7}"/>
              </a:ext>
            </a:extLst>
          </p:cNvPr>
          <p:cNvGrpSpPr/>
          <p:nvPr/>
        </p:nvGrpSpPr>
        <p:grpSpPr>
          <a:xfrm>
            <a:off x="5200283" y="660172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B89FDA47-9195-45D8-1103-4C709CF33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2571A5-B4DC-636C-71BB-E14C70A38CC0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D52BC8-621B-ED7E-E8C6-197A971687CB}"/>
              </a:ext>
            </a:extLst>
          </p:cNvPr>
          <p:cNvGrpSpPr/>
          <p:nvPr/>
        </p:nvGrpSpPr>
        <p:grpSpPr>
          <a:xfrm>
            <a:off x="8055816" y="660172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95642AE0-5960-59C2-9D8A-8375C9FD0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37628F-D7B8-B57E-C261-D69522920045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7A1B38-54C6-6272-4437-A20D69663FDD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EDEF021-D689-3993-AC8A-A3D5AE6AB37C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10E86C62-F2D4-6904-AA6B-88319C4CF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EF3D4E-CA21-600C-301E-039285EB13D9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3C4D442D-66D2-E7E7-18D8-DCDE2A37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DB8423-3C28-653F-A37D-7BB03EC1DA12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usb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24512AA-8B5C-D9AD-8004-2F653A4465EF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E00DA6B-8DC8-EB5C-DD90-C19BD4A7A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D0BE4A-0864-4073-2941-02512FE70B65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dropbox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D5DB75-AA82-4FBE-AE5A-AC2CB55F8DE7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0A586C32-B242-879C-1BDE-15B06A5EA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DE18EB-C44C-EB0D-2115-3F776DABF3B4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gdrive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A28C0F-746F-AB26-4FBB-22EB012AC18A}"/>
              </a:ext>
            </a:extLst>
          </p:cNvPr>
          <p:cNvGrpSpPr/>
          <p:nvPr/>
        </p:nvGrpSpPr>
        <p:grpSpPr>
          <a:xfrm>
            <a:off x="1531073" y="4605444"/>
            <a:ext cx="973087" cy="1264365"/>
            <a:chOff x="9899067" y="1970798"/>
            <a:chExt cx="973087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C09D6DB6-D317-D7AF-C66A-8A67A5EC0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98DF186-C13F-354A-0528-DF50F84958DD}"/>
                </a:ext>
              </a:extLst>
            </p:cNvPr>
            <p:cNvSpPr txBox="1"/>
            <p:nvPr/>
          </p:nvSpPr>
          <p:spPr>
            <a:xfrm>
              <a:off x="9899067" y="2865831"/>
              <a:ext cx="9730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4B50B4F-795A-BD25-FEA4-10539874166D}"/>
              </a:ext>
            </a:extLst>
          </p:cNvPr>
          <p:cNvSpPr/>
          <p:nvPr/>
        </p:nvSpPr>
        <p:spPr>
          <a:xfrm>
            <a:off x="1861873" y="170996"/>
            <a:ext cx="7681803" cy="24877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Cluster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F36BEDF-7ADF-0CDD-0D89-A8ED6B32D154}"/>
              </a:ext>
            </a:extLst>
          </p:cNvPr>
          <p:cNvSpPr/>
          <p:nvPr/>
        </p:nvSpPr>
        <p:spPr>
          <a:xfrm>
            <a:off x="1093816" y="3573102"/>
            <a:ext cx="3543821" cy="2955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E833A8D-B780-4590-9025-93B981181590}"/>
              </a:ext>
            </a:extLst>
          </p:cNvPr>
          <p:cNvSpPr/>
          <p:nvPr/>
        </p:nvSpPr>
        <p:spPr>
          <a:xfrm>
            <a:off x="6889022" y="3498259"/>
            <a:ext cx="3543821" cy="2955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Cloud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61666A1-C5AB-D97B-D05C-E054C63CDF37}"/>
              </a:ext>
            </a:extLst>
          </p:cNvPr>
          <p:cNvCxnSpPr/>
          <p:nvPr/>
        </p:nvCxnSpPr>
        <p:spPr>
          <a:xfrm>
            <a:off x="3446399" y="1116106"/>
            <a:ext cx="184750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492EBB-9571-EDFD-5B5C-6C7854A0B1D9}"/>
              </a:ext>
            </a:extLst>
          </p:cNvPr>
          <p:cNvCxnSpPr/>
          <p:nvPr/>
        </p:nvCxnSpPr>
        <p:spPr>
          <a:xfrm>
            <a:off x="6208307" y="1093694"/>
            <a:ext cx="184750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9F7B42-859B-A7A2-4468-F6BE1259172B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3322927" y="1759238"/>
            <a:ext cx="1877356" cy="223599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884E00-1DF8-607C-3672-D8CE24AC315D}"/>
              </a:ext>
            </a:extLst>
          </p:cNvPr>
          <p:cNvCxnSpPr>
            <a:cxnSpLocks/>
            <a:stCxn id="11" idx="3"/>
            <a:endCxn id="1026" idx="1"/>
          </p:cNvCxnSpPr>
          <p:nvPr/>
        </p:nvCxnSpPr>
        <p:spPr>
          <a:xfrm>
            <a:off x="6301931" y="1759238"/>
            <a:ext cx="2851606" cy="277418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E30802-05FB-FBCE-ED3F-39A8A0A1040A}"/>
              </a:ext>
            </a:extLst>
          </p:cNvPr>
          <p:cNvSpPr txBox="1"/>
          <p:nvPr/>
        </p:nvSpPr>
        <p:spPr>
          <a:xfrm>
            <a:off x="5091938" y="2932448"/>
            <a:ext cx="1390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is what we will be covering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486F0F-DEBA-4488-0DB7-63BFADEE969B}"/>
              </a:ext>
            </a:extLst>
          </p:cNvPr>
          <p:cNvCxnSpPr>
            <a:cxnSpLocks/>
            <a:stCxn id="43" idx="0"/>
            <a:endCxn id="10" idx="2"/>
          </p:cNvCxnSpPr>
          <p:nvPr/>
        </p:nvCxnSpPr>
        <p:spPr>
          <a:xfrm flipV="1">
            <a:off x="2865727" y="1943904"/>
            <a:ext cx="123472" cy="162919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49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4B69D-065D-7CAF-8EED-648BCCD1D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Command line: </a:t>
            </a:r>
            <a:r>
              <a:rPr lang="en-US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/>
              <a:t> + </a:t>
            </a:r>
            <a:r>
              <a:rPr lang="en-US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1A8AE-DA1E-29C0-F152-F245ECBC9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1465729"/>
          </a:xfrm>
        </p:spPr>
        <p:txBody>
          <a:bodyPr>
            <a:normAutofit lnSpcReduction="10000"/>
          </a:bodyPr>
          <a:lstStyle/>
          <a:p>
            <a:r>
              <a:rPr lang="en-US"/>
              <a:t>Start an interactive session with </a:t>
            </a:r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salloc</a:t>
            </a:r>
          </a:p>
          <a:p>
            <a:r>
              <a:rPr lang="en-US"/>
              <a:t>Use </a:t>
            </a:r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/>
              <a:t> to multitask</a:t>
            </a:r>
          </a:p>
          <a:p>
            <a:r>
              <a:rPr lang="en-US"/>
              <a:t>Use </a:t>
            </a:r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r>
              <a:rPr lang="en-US"/>
              <a:t> rather than cp or mv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53322-E89D-BA37-80BF-550F2C2A78F4}"/>
              </a:ext>
            </a:extLst>
          </p:cNvPr>
          <p:cNvSpPr txBox="1"/>
          <p:nvPr/>
        </p:nvSpPr>
        <p:spPr>
          <a:xfrm>
            <a:off x="3387566" y="3055784"/>
            <a:ext cx="5416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 [OPTIONS] SOURCE DESTINATION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DBA0CD-EE15-B010-37C8-3A796B44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30" y="3737817"/>
            <a:ext cx="7772400" cy="2953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BDB971-EFB5-1424-3654-F90C687C8926}"/>
              </a:ext>
            </a:extLst>
          </p:cNvPr>
          <p:cNvSpPr txBox="1"/>
          <p:nvPr/>
        </p:nvSpPr>
        <p:spPr>
          <a:xfrm>
            <a:off x="8265460" y="3921804"/>
            <a:ext cx="39265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Options I like:</a:t>
            </a:r>
          </a:p>
          <a:p>
            <a:endParaRPr lang="en-US"/>
          </a:p>
          <a:p>
            <a:r>
              <a:rPr lang="en-US"/>
              <a:t>-a “archive mode”, produces most exact copy</a:t>
            </a:r>
          </a:p>
          <a:p>
            <a:r>
              <a:rPr lang="en-US"/>
              <a:t>-v “verbose”, prints more stuff</a:t>
            </a:r>
          </a:p>
          <a:p>
            <a:r>
              <a:rPr lang="en-US"/>
              <a:t>-h “human readable” makes file sizes make sense</a:t>
            </a:r>
          </a:p>
          <a:p>
            <a:r>
              <a:rPr lang="en-US"/>
              <a:t>--progress displays progress</a:t>
            </a:r>
          </a:p>
          <a:p>
            <a:r>
              <a:rPr lang="en-US"/>
              <a:t>--stats prints stats at the end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24565D-516A-A51A-DC65-60DF18C3A2FA}"/>
              </a:ext>
            </a:extLst>
          </p:cNvPr>
          <p:cNvGrpSpPr/>
          <p:nvPr/>
        </p:nvGrpSpPr>
        <p:grpSpPr>
          <a:xfrm>
            <a:off x="8018930" y="1510377"/>
            <a:ext cx="1255728" cy="1283732"/>
            <a:chOff x="3032551" y="387638"/>
            <a:chExt cx="1255728" cy="1283732"/>
          </a:xfrm>
        </p:grpSpPr>
        <p:pic>
          <p:nvPicPr>
            <p:cNvPr id="16" name="Graphic 15" descr="Server with solid fill">
              <a:extLst>
                <a:ext uri="{FF2B5EF4-FFF2-40B4-BE49-F238E27FC236}">
                  <a16:creationId xmlns:a16="http://schemas.microsoft.com/office/drawing/2014/main" id="{62E6628A-213A-B132-21C9-8EF198BEC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1C63C4-D618-1D66-D71A-5DD1448CD4D1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7605D5-2F7C-4E29-09CE-E361F5DE488D}"/>
              </a:ext>
            </a:extLst>
          </p:cNvPr>
          <p:cNvGrpSpPr/>
          <p:nvPr/>
        </p:nvGrpSpPr>
        <p:grpSpPr>
          <a:xfrm>
            <a:off x="10857878" y="1510377"/>
            <a:ext cx="1101648" cy="1283732"/>
            <a:chOff x="5643892" y="387638"/>
            <a:chExt cx="1101648" cy="1283732"/>
          </a:xfrm>
        </p:grpSpPr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69CBF412-A823-7753-3843-867D31CC9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FCE0FDB-BE6D-4461-8804-BF9E394930F8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45B127-FB07-EED7-FA98-E6E5ADEB04EF}"/>
              </a:ext>
            </a:extLst>
          </p:cNvPr>
          <p:cNvCxnSpPr/>
          <p:nvPr/>
        </p:nvCxnSpPr>
        <p:spPr>
          <a:xfrm>
            <a:off x="9103994" y="1966311"/>
            <a:ext cx="184750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1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7434-3729-BCE9-2AE9-3D9B7EA8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4990-7563-9F36-4B88-A4765BA09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Filezilla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8FD68C-36C7-87A4-8F0E-1D6C5674B2FE}"/>
              </a:ext>
            </a:extLst>
          </p:cNvPr>
          <p:cNvGrpSpPr/>
          <p:nvPr/>
        </p:nvGrpSpPr>
        <p:grpSpPr>
          <a:xfrm>
            <a:off x="5839561" y="478373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F8AA6E56-EECB-9972-291E-202E25815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4D7F5B-7C8A-2FAF-0EEC-CB4332EEEABC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C95CFDB-FC04-B9C3-C3B2-FB247EAE7909}"/>
              </a:ext>
            </a:extLst>
          </p:cNvPr>
          <p:cNvGrpSpPr/>
          <p:nvPr/>
        </p:nvGrpSpPr>
        <p:grpSpPr>
          <a:xfrm>
            <a:off x="9089266" y="478373"/>
            <a:ext cx="1161344" cy="1099066"/>
            <a:chOff x="2170185" y="4087564"/>
            <a:chExt cx="1161344" cy="10990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811046-0B17-A7EF-AF67-8B16BABD17C0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9" name="Graphic 8" descr="Computer with solid fill">
              <a:extLst>
                <a:ext uri="{FF2B5EF4-FFF2-40B4-BE49-F238E27FC236}">
                  <a16:creationId xmlns:a16="http://schemas.microsoft.com/office/drawing/2014/main" id="{C0402C8C-D8FF-4758-58E3-D6D211E0B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4A1994-2B05-F240-F488-3B313693FABA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>
            <a:off x="6847585" y="935573"/>
            <a:ext cx="236515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Picture 13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AA60A0A5-3043-751C-A03F-4529EC6F3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13" y="625668"/>
            <a:ext cx="3839510" cy="827679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3F0C2756-27C7-929D-F150-D0D37BA0E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355" y="1762105"/>
            <a:ext cx="5753660" cy="501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B785507-5CD5-ADD4-DB16-B7280EF19FDC}"/>
              </a:ext>
            </a:extLst>
          </p:cNvPr>
          <p:cNvGrpSpPr/>
          <p:nvPr/>
        </p:nvGrpSpPr>
        <p:grpSpPr>
          <a:xfrm>
            <a:off x="9212738" y="2533670"/>
            <a:ext cx="1255728" cy="1283732"/>
            <a:chOff x="3032551" y="387638"/>
            <a:chExt cx="1255728" cy="1283732"/>
          </a:xfrm>
        </p:grpSpPr>
        <p:pic>
          <p:nvPicPr>
            <p:cNvPr id="15" name="Graphic 14" descr="Server with solid fill">
              <a:extLst>
                <a:ext uri="{FF2B5EF4-FFF2-40B4-BE49-F238E27FC236}">
                  <a16:creationId xmlns:a16="http://schemas.microsoft.com/office/drawing/2014/main" id="{666A92D4-760C-4C4E-13E7-EECA2449A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AE03A6-793B-BBC3-AD99-49CDDDCA47DB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8FCE22-8568-847D-F7D5-87AEE4F10868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9669938" y="1577439"/>
            <a:ext cx="170664" cy="95623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44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E83A7-BB90-949B-0DCA-9859B444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Filezilla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5B4A6-C0CF-0368-01E0-9F66B0F9F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/>
              <a:t>Secure File Transfer Protocol (SFTP) application</a:t>
            </a:r>
          </a:p>
          <a:p>
            <a:r>
              <a:rPr lang="en-US"/>
              <a:t>Available on Mac, Windows, and Linux</a:t>
            </a:r>
          </a:p>
          <a:p>
            <a:r>
              <a:rPr lang="en-US"/>
              <a:t>Instructions to set up on FASRC Docs page</a:t>
            </a:r>
          </a:p>
          <a:p>
            <a:pPr lvl="1"/>
            <a:r>
              <a:rPr lang="en-US">
                <a:hlinkClick r:id="rId2"/>
              </a:rPr>
              <a:t>https://docs.rc.fas.harvard.edu/kb/sftp-file-transfer/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Demo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Open site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Connect to login.rc.fas.harvard.edu with SFTP and interactive login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(optional) choose default remote directory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Limit the number of simultaneous connections to 1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14" name="Picture 13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5CB52076-0DFD-AFF5-39EE-32B8F0555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13" y="625668"/>
            <a:ext cx="3839510" cy="82767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30F9753-1309-C557-3EB1-3E3909D90353}"/>
              </a:ext>
            </a:extLst>
          </p:cNvPr>
          <p:cNvGrpSpPr/>
          <p:nvPr/>
        </p:nvGrpSpPr>
        <p:grpSpPr>
          <a:xfrm>
            <a:off x="5839561" y="478373"/>
            <a:ext cx="1101648" cy="1283732"/>
            <a:chOff x="5643892" y="387638"/>
            <a:chExt cx="1101648" cy="1283732"/>
          </a:xfrm>
        </p:grpSpPr>
        <p:pic>
          <p:nvPicPr>
            <p:cNvPr id="17" name="Graphic 16" descr="Server with solid fill">
              <a:extLst>
                <a:ext uri="{FF2B5EF4-FFF2-40B4-BE49-F238E27FC236}">
                  <a16:creationId xmlns:a16="http://schemas.microsoft.com/office/drawing/2014/main" id="{710E8511-C14C-AEB3-253B-C9ECA417E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5A8D30-CD8C-25A9-9FB2-535E68C64AE6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2A4310-74F4-BF29-1B0A-E0BE155E6417}"/>
              </a:ext>
            </a:extLst>
          </p:cNvPr>
          <p:cNvGrpSpPr/>
          <p:nvPr/>
        </p:nvGrpSpPr>
        <p:grpSpPr>
          <a:xfrm>
            <a:off x="9089266" y="478373"/>
            <a:ext cx="1161344" cy="1099066"/>
            <a:chOff x="2170185" y="4087564"/>
            <a:chExt cx="1161344" cy="109906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A4A146-C2FA-6266-FC81-BD9872B19A32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21" name="Graphic 20" descr="Computer with solid fill">
              <a:extLst>
                <a:ext uri="{FF2B5EF4-FFF2-40B4-BE49-F238E27FC236}">
                  <a16:creationId xmlns:a16="http://schemas.microsoft.com/office/drawing/2014/main" id="{14A9CD36-8F9A-BFAE-59ED-8F82AB096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EB690-20CE-0FD7-8C80-5ABF859A1F51}"/>
              </a:ext>
            </a:extLst>
          </p:cNvPr>
          <p:cNvCxnSpPr>
            <a:cxnSpLocks/>
            <a:stCxn id="21" idx="1"/>
            <a:endCxn id="17" idx="3"/>
          </p:cNvCxnSpPr>
          <p:nvPr/>
        </p:nvCxnSpPr>
        <p:spPr>
          <a:xfrm flipH="1">
            <a:off x="6847585" y="935573"/>
            <a:ext cx="236515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92DA6B-98FC-77C5-F652-4268A681F5EE}"/>
              </a:ext>
            </a:extLst>
          </p:cNvPr>
          <p:cNvGrpSpPr/>
          <p:nvPr/>
        </p:nvGrpSpPr>
        <p:grpSpPr>
          <a:xfrm>
            <a:off x="9212738" y="2533670"/>
            <a:ext cx="1255728" cy="1283732"/>
            <a:chOff x="3032551" y="387638"/>
            <a:chExt cx="1255728" cy="1283732"/>
          </a:xfrm>
        </p:grpSpPr>
        <p:pic>
          <p:nvPicPr>
            <p:cNvPr id="24" name="Graphic 23" descr="Server with solid fill">
              <a:extLst>
                <a:ext uri="{FF2B5EF4-FFF2-40B4-BE49-F238E27FC236}">
                  <a16:creationId xmlns:a16="http://schemas.microsoft.com/office/drawing/2014/main" id="{1C3CAE93-1AFE-C227-4172-D15C06FDD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DE6B0A-539A-942D-F65A-CE7898D561F7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868F6D-CA33-AA53-EC59-8DD77AB3A772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9669938" y="1577439"/>
            <a:ext cx="170664" cy="95623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72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48C4-2FC8-A1A1-3A88-0D9C4F94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Mounting labshare to local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9810C-D812-A3BB-AD05-D961978C0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Only tier 1 and tier 2 storage is mountable, not tier 0 or scratch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Steps (no demo)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Ask someone in your lab if directions exist, if so complete!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Ask FASRC during office hours 😅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73E92D-27BA-11EF-6EA7-CF75D0DC3C47}"/>
              </a:ext>
            </a:extLst>
          </p:cNvPr>
          <p:cNvGrpSpPr/>
          <p:nvPr/>
        </p:nvGrpSpPr>
        <p:grpSpPr>
          <a:xfrm>
            <a:off x="6229525" y="4391467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03536E63-5F3C-5203-B56A-B3BB466C9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CE85B7-EAE1-3660-3D8C-97B0BCF99685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4FF97E-AF53-80E4-918B-9354BB3016A7}"/>
              </a:ext>
            </a:extLst>
          </p:cNvPr>
          <p:cNvGrpSpPr/>
          <p:nvPr/>
        </p:nvGrpSpPr>
        <p:grpSpPr>
          <a:xfrm>
            <a:off x="9479230" y="4391467"/>
            <a:ext cx="1161344" cy="1099066"/>
            <a:chOff x="2170185" y="4087564"/>
            <a:chExt cx="1161344" cy="10990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A31A3D-6242-701A-5E13-23459AFDD18F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9" name="Graphic 8" descr="Computer with solid fill">
              <a:extLst>
                <a:ext uri="{FF2B5EF4-FFF2-40B4-BE49-F238E27FC236}">
                  <a16:creationId xmlns:a16="http://schemas.microsoft.com/office/drawing/2014/main" id="{54F769C9-F758-C69B-9AD7-B13CA726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59D6D-8F63-59CB-8D0C-D7C91EDB0B71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>
            <a:off x="7237549" y="4848667"/>
            <a:ext cx="236515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243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3352-EDA4-E6F7-BD29-7EF02ED0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Globus file transfer</a:t>
            </a:r>
          </a:p>
        </p:txBody>
      </p:sp>
      <p:pic>
        <p:nvPicPr>
          <p:cNvPr id="12" name="Content Placeholder 11" descr="A blue and white logo&#10;&#10;AI-generated content may be incorrect.">
            <a:extLst>
              <a:ext uri="{FF2B5EF4-FFF2-40B4-BE49-F238E27FC236}">
                <a16:creationId xmlns:a16="http://schemas.microsoft.com/office/drawing/2014/main" id="{18BB4DA2-9F1F-8984-3899-7A921984A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8915" y="488736"/>
            <a:ext cx="3530600" cy="977900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C0D0A8-8712-8B1E-A006-D5E9D26DFE9C}"/>
              </a:ext>
            </a:extLst>
          </p:cNvPr>
          <p:cNvGrpSpPr/>
          <p:nvPr/>
        </p:nvGrpSpPr>
        <p:grpSpPr>
          <a:xfrm>
            <a:off x="7004246" y="1864519"/>
            <a:ext cx="1255728" cy="1283732"/>
            <a:chOff x="3032551" y="387638"/>
            <a:chExt cx="1255728" cy="1283732"/>
          </a:xfrm>
        </p:grpSpPr>
        <p:pic>
          <p:nvPicPr>
            <p:cNvPr id="14" name="Graphic 13" descr="Server with solid fill">
              <a:extLst>
                <a:ext uri="{FF2B5EF4-FFF2-40B4-BE49-F238E27FC236}">
                  <a16:creationId xmlns:a16="http://schemas.microsoft.com/office/drawing/2014/main" id="{C0C97CB2-DD67-D896-F12A-B196228B0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6C9877-C3C6-5AF2-4F91-0C2E77863F49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1EEDB2-1E7F-3960-FE5E-16BCF3DA876E}"/>
              </a:ext>
            </a:extLst>
          </p:cNvPr>
          <p:cNvGrpSpPr/>
          <p:nvPr/>
        </p:nvGrpSpPr>
        <p:grpSpPr>
          <a:xfrm>
            <a:off x="8898224" y="1864519"/>
            <a:ext cx="1735347" cy="1560731"/>
            <a:chOff x="5643892" y="387638"/>
            <a:chExt cx="1735347" cy="1560731"/>
          </a:xfrm>
        </p:grpSpPr>
        <p:pic>
          <p:nvPicPr>
            <p:cNvPr id="17" name="Graphic 16" descr="Server with solid fill">
              <a:extLst>
                <a:ext uri="{FF2B5EF4-FFF2-40B4-BE49-F238E27FC236}">
                  <a16:creationId xmlns:a16="http://schemas.microsoft.com/office/drawing/2014/main" id="{160C120C-20E5-FA44-E8D2-066837164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9137EB-63E8-96E0-32DB-B2D5A5504A83}"/>
                </a:ext>
              </a:extLst>
            </p:cNvPr>
            <p:cNvSpPr txBox="1"/>
            <p:nvPr/>
          </p:nvSpPr>
          <p:spPr>
            <a:xfrm>
              <a:off x="5643892" y="1302038"/>
              <a:ext cx="17353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  <a:p>
              <a:r>
                <a:rPr lang="en-US" b="1"/>
                <a:t>Lab folder only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21FCDB-BC91-5499-88B5-454ECBB0216B}"/>
              </a:ext>
            </a:extLst>
          </p:cNvPr>
          <p:cNvGrpSpPr/>
          <p:nvPr/>
        </p:nvGrpSpPr>
        <p:grpSpPr>
          <a:xfrm>
            <a:off x="10762316" y="1864519"/>
            <a:ext cx="914400" cy="1283732"/>
            <a:chOff x="8288401" y="387638"/>
            <a:chExt cx="914400" cy="1283732"/>
          </a:xfrm>
        </p:grpSpPr>
        <p:pic>
          <p:nvPicPr>
            <p:cNvPr id="20" name="Graphic 19" descr="Server with solid fill">
              <a:extLst>
                <a:ext uri="{FF2B5EF4-FFF2-40B4-BE49-F238E27FC236}">
                  <a16:creationId xmlns:a16="http://schemas.microsoft.com/office/drawing/2014/main" id="{A51301E6-7AB0-7DC2-2E64-5555D01B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D91346-47A5-17D5-6C72-89C29C450F97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1EE601-1D11-C9A4-F369-0DCF0F1ECFF8}"/>
              </a:ext>
            </a:extLst>
          </p:cNvPr>
          <p:cNvGrpSpPr/>
          <p:nvPr/>
        </p:nvGrpSpPr>
        <p:grpSpPr>
          <a:xfrm>
            <a:off x="9325576" y="3863031"/>
            <a:ext cx="1161344" cy="1099066"/>
            <a:chOff x="2170185" y="4087564"/>
            <a:chExt cx="1161344" cy="109906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8FED3C-1386-6C2C-CD13-513AB2FC4CA4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24" name="Graphic 23" descr="Computer with solid fill">
              <a:extLst>
                <a:ext uri="{FF2B5EF4-FFF2-40B4-BE49-F238E27FC236}">
                  <a16:creationId xmlns:a16="http://schemas.microsoft.com/office/drawing/2014/main" id="{F26564B4-F4C6-74A9-9645-B0E65CE16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EDE44E-402D-751C-98D5-74AB77CC94E2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089310" y="2320453"/>
            <a:ext cx="902538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6BD6DC-7E30-6F68-1C97-3D9FDC55E178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906248" y="2298041"/>
            <a:ext cx="856068" cy="2367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B7D59A-F5EB-3B7E-67CE-FBAD493DD348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9765898" y="3425250"/>
            <a:ext cx="140350" cy="46019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B81894-193C-0226-7B3A-A2EB6A39F859}"/>
              </a:ext>
            </a:extLst>
          </p:cNvPr>
          <p:cNvCxnSpPr>
            <a:cxnSpLocks/>
            <a:stCxn id="24" idx="1"/>
            <a:endCxn id="15" idx="2"/>
          </p:cNvCxnSpPr>
          <p:nvPr/>
        </p:nvCxnSpPr>
        <p:spPr>
          <a:xfrm flipH="1" flipV="1">
            <a:off x="7632110" y="3148251"/>
            <a:ext cx="1816938" cy="117198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05EBFD0-DDBD-F930-049C-E56DBB045654}"/>
              </a:ext>
            </a:extLst>
          </p:cNvPr>
          <p:cNvSpPr txBox="1"/>
          <p:nvPr/>
        </p:nvSpPr>
        <p:spPr>
          <a:xfrm>
            <a:off x="838200" y="1690688"/>
            <a:ext cx="66128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All purpose transfer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Transfers between clusters and between clusters +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Only way to access tape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ONLY </a:t>
            </a:r>
            <a:r>
              <a:rPr lang="en-US" sz="2400">
                <a:highlight>
                  <a:srgbClr val="FFFF00"/>
                </a:highlight>
              </a:rPr>
              <a:t>scratch</a:t>
            </a:r>
            <a:r>
              <a:rPr lang="en-US" sz="2400"/>
              <a:t> and </a:t>
            </a:r>
            <a:r>
              <a:rPr lang="en-US" sz="2400">
                <a:highlight>
                  <a:srgbClr val="FFFF00"/>
                </a:highlight>
              </a:rPr>
              <a:t>pi_lab/Lab/ </a:t>
            </a:r>
            <a:r>
              <a:rPr lang="en-US" sz="2400"/>
              <a:t>folders are available from Cannon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Permissions issue with Everyone folder</a:t>
            </a:r>
          </a:p>
          <a:p>
            <a:endParaRPr lang="en-US" sz="2400"/>
          </a:p>
          <a:p>
            <a:r>
              <a:rPr lang="en-US" sz="2400"/>
              <a:t>Self-paced Globus Training </a:t>
            </a:r>
            <a:r>
              <a:rPr lang="en-US" sz="2400">
                <a:hlinkClick r:id="rId11"/>
              </a:rPr>
              <a:t>https://canvas.harvard.edu/courses/157915/pages/globus-overview-2</a:t>
            </a:r>
            <a:endParaRPr lang="en-US" sz="2400"/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19995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8364-9174-2B8A-251F-08BF2756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nline Media 4" descr="FASRC Globus login">
            <a:hlinkClick r:id="" action="ppaction://media"/>
            <a:extLst>
              <a:ext uri="{FF2B5EF4-FFF2-40B4-BE49-F238E27FC236}">
                <a16:creationId xmlns:a16="http://schemas.microsoft.com/office/drawing/2014/main" id="{7B2AB8E6-03CA-5B81-9BAD-986B6E165F9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0679" y="94129"/>
            <a:ext cx="11970642" cy="676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2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38FC-AF03-5AD1-8B75-BF5CB035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Create globus collections to share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879E-FC09-152D-AED5-DD1A9FC64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5163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Demo</a:t>
            </a:r>
          </a:p>
          <a:p>
            <a:r>
              <a:rPr lang="en-US"/>
              <a:t>Great way to share with collaborates internal and external to Harvard</a:t>
            </a:r>
          </a:p>
          <a:p>
            <a:r>
              <a:rPr lang="en-US"/>
              <a:t>Collaborates have read-only access so they can copy out but can’t modify</a:t>
            </a:r>
          </a:p>
          <a:p>
            <a:r>
              <a:rPr lang="en-US"/>
              <a:t>Only shares from the pi_lab/Lab or pi_lab/User directory</a:t>
            </a:r>
          </a:p>
        </p:txBody>
      </p:sp>
    </p:spTree>
    <p:extLst>
      <p:ext uri="{BB962C8B-B14F-4D97-AF65-F5344CB8AC3E}">
        <p14:creationId xmlns:p14="http://schemas.microsoft.com/office/powerpoint/2010/main" val="2459291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36AB-B15A-7658-D2C7-3EBF09E3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globus connect personal to transfer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C944-EB32-77DD-4BCE-55270BAAA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Demo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Download globus connect personal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Log in using your HarvardKey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Choose which folder(s) to share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You can now use Globus to transfer from any other collection to your computer</a:t>
            </a:r>
          </a:p>
        </p:txBody>
      </p:sp>
    </p:spTree>
    <p:extLst>
      <p:ext uri="{BB962C8B-B14F-4D97-AF65-F5344CB8AC3E}">
        <p14:creationId xmlns:p14="http://schemas.microsoft.com/office/powerpoint/2010/main" val="298766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69EA-BD43-F748-482F-3541345A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Globus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333B-A9FE-C303-B441-E0E42201A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Bookmark your scratch and lab directory</a:t>
            </a:r>
          </a:p>
          <a:p>
            <a:r>
              <a:rPr lang="en-US"/>
              <a:t>Set up automatic file sync to back up files</a:t>
            </a:r>
          </a:p>
          <a:p>
            <a:r>
              <a:rPr lang="en-US"/>
              <a:t>Write down your lab’s Globus protocols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F0C95C-EFE5-BA5A-49FA-DE6E554FD86B}"/>
              </a:ext>
            </a:extLst>
          </p:cNvPr>
          <p:cNvGrpSpPr/>
          <p:nvPr/>
        </p:nvGrpSpPr>
        <p:grpSpPr>
          <a:xfrm>
            <a:off x="7125269" y="541893"/>
            <a:ext cx="1255728" cy="1283732"/>
            <a:chOff x="3032551" y="387638"/>
            <a:chExt cx="125572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2674098E-87A7-D8BC-EC11-A4A77BB9E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96BC3C-0F72-A443-AE70-497EE78468DA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EFFD945-FB63-DAD3-0AF5-1CE1F3722D51}"/>
              </a:ext>
            </a:extLst>
          </p:cNvPr>
          <p:cNvGrpSpPr/>
          <p:nvPr/>
        </p:nvGrpSpPr>
        <p:grpSpPr>
          <a:xfrm>
            <a:off x="9019247" y="541893"/>
            <a:ext cx="1735347" cy="1560731"/>
            <a:chOff x="5643892" y="387638"/>
            <a:chExt cx="1735347" cy="1560731"/>
          </a:xfrm>
        </p:grpSpPr>
        <p:pic>
          <p:nvPicPr>
            <p:cNvPr id="8" name="Graphic 7" descr="Server with solid fill">
              <a:extLst>
                <a:ext uri="{FF2B5EF4-FFF2-40B4-BE49-F238E27FC236}">
                  <a16:creationId xmlns:a16="http://schemas.microsoft.com/office/drawing/2014/main" id="{359013F8-336D-057C-8647-9E89B8A95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849750-8514-ED14-E1C3-4935297C84F8}"/>
                </a:ext>
              </a:extLst>
            </p:cNvPr>
            <p:cNvSpPr txBox="1"/>
            <p:nvPr/>
          </p:nvSpPr>
          <p:spPr>
            <a:xfrm>
              <a:off x="5643892" y="1302038"/>
              <a:ext cx="17353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  <a:p>
              <a:r>
                <a:rPr lang="en-US" b="1"/>
                <a:t>Lab folder only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1E7B24-F449-F2F6-A5AA-B7EFE3E47DB3}"/>
              </a:ext>
            </a:extLst>
          </p:cNvPr>
          <p:cNvGrpSpPr/>
          <p:nvPr/>
        </p:nvGrpSpPr>
        <p:grpSpPr>
          <a:xfrm>
            <a:off x="10883339" y="541893"/>
            <a:ext cx="914400" cy="1283732"/>
            <a:chOff x="8288401" y="387638"/>
            <a:chExt cx="914400" cy="1283732"/>
          </a:xfrm>
        </p:grpSpPr>
        <p:pic>
          <p:nvPicPr>
            <p:cNvPr id="11" name="Graphic 10" descr="Server with solid fill">
              <a:extLst>
                <a:ext uri="{FF2B5EF4-FFF2-40B4-BE49-F238E27FC236}">
                  <a16:creationId xmlns:a16="http://schemas.microsoft.com/office/drawing/2014/main" id="{77B8CA5D-1255-85AE-F43B-1F71DD02E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1F5A5E-2CC2-B6DD-0D4A-8C6FF1CFF250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669CFB-69BA-B83C-5955-A99CF63001A2}"/>
              </a:ext>
            </a:extLst>
          </p:cNvPr>
          <p:cNvGrpSpPr/>
          <p:nvPr/>
        </p:nvGrpSpPr>
        <p:grpSpPr>
          <a:xfrm>
            <a:off x="9446599" y="2540405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013919-6BFD-BA1B-531E-70FCA26B8CFE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computer</a:t>
              </a:r>
            </a:p>
          </p:txBody>
        </p:sp>
        <p:pic>
          <p:nvPicPr>
            <p:cNvPr id="15" name="Graphic 14" descr="Computer with solid fill">
              <a:extLst>
                <a:ext uri="{FF2B5EF4-FFF2-40B4-BE49-F238E27FC236}">
                  <a16:creationId xmlns:a16="http://schemas.microsoft.com/office/drawing/2014/main" id="{FE54A989-2760-86A3-D1F0-99FDF6B69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BADA03-A92D-372F-3E61-BA968321DD4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8210333" y="997827"/>
            <a:ext cx="902538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C39A4D-F99F-ED0D-AD42-414BEADEC3A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0027271" y="975415"/>
            <a:ext cx="856068" cy="2367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069ADC-ED35-A0D1-1C40-4FE21234B75B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9886921" y="2102624"/>
            <a:ext cx="140350" cy="46019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38F010-9566-421C-63A2-812E2A498B9B}"/>
              </a:ext>
            </a:extLst>
          </p:cNvPr>
          <p:cNvCxnSpPr>
            <a:cxnSpLocks/>
            <a:stCxn id="15" idx="1"/>
            <a:endCxn id="6" idx="2"/>
          </p:cNvCxnSpPr>
          <p:nvPr/>
        </p:nvCxnSpPr>
        <p:spPr>
          <a:xfrm flipH="1" flipV="1">
            <a:off x="7753133" y="1825625"/>
            <a:ext cx="1816938" cy="117198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045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2DC6-8F58-77B7-B438-CEF3873A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Rclone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7957-9563-935C-119F-4493F389E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can use rclone to move/sync files between FASRC and Google Drive</a:t>
            </a:r>
          </a:p>
          <a:p>
            <a:r>
              <a:rPr lang="en-US"/>
              <a:t>Command line only</a:t>
            </a:r>
          </a:p>
          <a:p>
            <a:r>
              <a:rPr lang="en-US"/>
              <a:t>Not great for many small files (2 files per second limit)</a:t>
            </a:r>
          </a:p>
          <a:p>
            <a:r>
              <a:rPr lang="en-US"/>
              <a:t>FASRC Docs</a:t>
            </a:r>
          </a:p>
          <a:p>
            <a:pPr lvl="1"/>
            <a:r>
              <a:rPr lang="en-US"/>
              <a:t>https://docs.rc.fas.harvard.edu/kb/rclone/</a:t>
            </a:r>
          </a:p>
          <a:p>
            <a:r>
              <a:rPr lang="en-US"/>
              <a:t>Walkthrough to connect to your google drive</a:t>
            </a:r>
          </a:p>
          <a:p>
            <a:pPr lvl="1"/>
            <a:r>
              <a:rPr lang="en-US"/>
              <a:t>https://rclone.org/drive/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249D89-F7A3-4C8C-D7FB-2F462AF65A07}"/>
              </a:ext>
            </a:extLst>
          </p:cNvPr>
          <p:cNvGrpSpPr/>
          <p:nvPr/>
        </p:nvGrpSpPr>
        <p:grpSpPr>
          <a:xfrm>
            <a:off x="5786551" y="265763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FD68547D-3122-D0C4-68D7-23F92E8C3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A9332B-BF49-E644-060B-BBF4C53627D1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7CE38CE-7397-5843-9A0C-58FC659522CF}"/>
              </a:ext>
            </a:extLst>
          </p:cNvPr>
          <p:cNvGrpSpPr/>
          <p:nvPr/>
        </p:nvGrpSpPr>
        <p:grpSpPr>
          <a:xfrm>
            <a:off x="8159348" y="365125"/>
            <a:ext cx="780278" cy="1039070"/>
            <a:chOff x="9898343" y="3203218"/>
            <a:chExt cx="780278" cy="1039070"/>
          </a:xfrm>
        </p:grpSpPr>
        <p:pic>
          <p:nvPicPr>
            <p:cNvPr id="8" name="Picture 2">
              <a:hlinkClick r:id="rId4"/>
              <a:extLst>
                <a:ext uri="{FF2B5EF4-FFF2-40B4-BE49-F238E27FC236}">
                  <a16:creationId xmlns:a16="http://schemas.microsoft.com/office/drawing/2014/main" id="{444010F7-C350-3D51-35A2-27DA85398E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CBF775-CF6E-FBA8-BD75-F62192797396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gdrive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0B6D67-1C37-606D-E1BF-DDF74D9A820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6794575" y="699994"/>
            <a:ext cx="1364773" cy="2296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529AA6-CE93-59DF-F69F-F74194AB3746}"/>
              </a:ext>
            </a:extLst>
          </p:cNvPr>
          <p:cNvGrpSpPr/>
          <p:nvPr/>
        </p:nvGrpSpPr>
        <p:grpSpPr>
          <a:xfrm>
            <a:off x="10038354" y="265763"/>
            <a:ext cx="1255728" cy="1283732"/>
            <a:chOff x="3032551" y="387638"/>
            <a:chExt cx="1255728" cy="1283732"/>
          </a:xfrm>
        </p:grpSpPr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B370B1A7-C295-E65E-364F-E35A2CEAB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8BB53B-CC27-03F5-E7A6-B8920B8EBE1A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E1CBEF-D1F5-6A2A-7B57-0C0A9727D41F}"/>
              </a:ext>
            </a:extLst>
          </p:cNvPr>
          <p:cNvCxnSpPr>
            <a:cxnSpLocks/>
          </p:cNvCxnSpPr>
          <p:nvPr/>
        </p:nvCxnSpPr>
        <p:spPr>
          <a:xfrm>
            <a:off x="8956878" y="773767"/>
            <a:ext cx="122220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710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890</Words>
  <Application>Microsoft Macintosh PowerPoint</Application>
  <PresentationFormat>Widescreen</PresentationFormat>
  <Paragraphs>178</Paragraphs>
  <Slides>16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Source Sans Pro</vt:lpstr>
      <vt:lpstr>Office Theme</vt:lpstr>
      <vt:lpstr>Transferring files</vt:lpstr>
      <vt:lpstr>Cluster file system review</vt:lpstr>
      <vt:lpstr>Cluster file system review</vt:lpstr>
      <vt:lpstr>Cluster file system review - permissions</vt:lpstr>
      <vt:lpstr>PowerPoint Presentation</vt:lpstr>
      <vt:lpstr>PowerPoint Presentation</vt:lpstr>
      <vt:lpstr>Command line: screen + rsync</vt:lpstr>
      <vt:lpstr>Filezilla</vt:lpstr>
      <vt:lpstr>Filezilla</vt:lpstr>
      <vt:lpstr>Mounting labshare to local computer</vt:lpstr>
      <vt:lpstr>Globus file transfer</vt:lpstr>
      <vt:lpstr>PowerPoint Presentation</vt:lpstr>
      <vt:lpstr>Create globus collections to share data</vt:lpstr>
      <vt:lpstr>Use globus connect personal to transfer locally</vt:lpstr>
      <vt:lpstr>Globus tips</vt:lpstr>
      <vt:lpstr>Rclone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Ma, Lei</dc:creator>
  <cp:lastModifiedBy>Ma, Lei</cp:lastModifiedBy>
  <cp:revision>5</cp:revision>
  <dcterms:created xsi:type="dcterms:W3CDTF">2026-02-17T16:19:14Z</dcterms:created>
  <dcterms:modified xsi:type="dcterms:W3CDTF">2026-02-18T17:06:01Z</dcterms:modified>
</cp:coreProperties>
</file>