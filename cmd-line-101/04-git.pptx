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39"/>
  </p:notesMasterIdLst>
  <p:sldIdLst>
    <p:sldId id="257" r:id="rId3"/>
    <p:sldId id="448" r:id="rId4"/>
    <p:sldId id="288" r:id="rId5"/>
    <p:sldId id="373" r:id="rId6"/>
    <p:sldId id="449" r:id="rId7"/>
    <p:sldId id="450" r:id="rId8"/>
    <p:sldId id="258" r:id="rId9"/>
    <p:sldId id="272" r:id="rId10"/>
    <p:sldId id="261" r:id="rId11"/>
    <p:sldId id="262" r:id="rId12"/>
    <p:sldId id="451" r:id="rId13"/>
    <p:sldId id="263" r:id="rId14"/>
    <p:sldId id="273" r:id="rId15"/>
    <p:sldId id="285" r:id="rId16"/>
    <p:sldId id="267" r:id="rId17"/>
    <p:sldId id="294" r:id="rId18"/>
    <p:sldId id="460" r:id="rId19"/>
    <p:sldId id="454" r:id="rId20"/>
    <p:sldId id="304" r:id="rId21"/>
    <p:sldId id="452" r:id="rId22"/>
    <p:sldId id="301" r:id="rId23"/>
    <p:sldId id="455" r:id="rId24"/>
    <p:sldId id="291" r:id="rId25"/>
    <p:sldId id="290" r:id="rId26"/>
    <p:sldId id="464" r:id="rId27"/>
    <p:sldId id="463" r:id="rId28"/>
    <p:sldId id="459" r:id="rId29"/>
    <p:sldId id="456" r:id="rId30"/>
    <p:sldId id="457" r:id="rId31"/>
    <p:sldId id="458" r:id="rId32"/>
    <p:sldId id="287" r:id="rId33"/>
    <p:sldId id="462" r:id="rId34"/>
    <p:sldId id="296" r:id="rId35"/>
    <p:sldId id="295" r:id="rId36"/>
    <p:sldId id="277" r:id="rId37"/>
    <p:sldId id="453"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09"/>
    <p:restoredTop sz="96949"/>
  </p:normalViewPr>
  <p:slideViewPr>
    <p:cSldViewPr snapToGrid="0">
      <p:cViewPr varScale="1">
        <p:scale>
          <a:sx n="156" d="100"/>
          <a:sy n="156" d="100"/>
        </p:scale>
        <p:origin x="69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012A4D-C050-C64F-8528-AB2F0AE3126C}" type="datetimeFigureOut">
              <a:t>2/24/26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11E459-0D51-DC47-8232-444A4B9DC166}" type="slidenum">
              <a:t>‹#›</a:t>
            </a:fld>
            <a:endParaRPr lang="en-US"/>
          </a:p>
        </p:txBody>
      </p:sp>
    </p:spTree>
    <p:extLst>
      <p:ext uri="{BB962C8B-B14F-4D97-AF65-F5344CB8AC3E}">
        <p14:creationId xmlns:p14="http://schemas.microsoft.com/office/powerpoint/2010/main" val="410825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 poll to see who just wants to follow along vs do the demo</a:t>
            </a:r>
          </a:p>
        </p:txBody>
      </p:sp>
      <p:sp>
        <p:nvSpPr>
          <p:cNvPr id="4" name="Slide Number Placeholder 3"/>
          <p:cNvSpPr>
            <a:spLocks noGrp="1"/>
          </p:cNvSpPr>
          <p:nvPr>
            <p:ph type="sldNum" sz="quarter" idx="5"/>
          </p:nvPr>
        </p:nvSpPr>
        <p:spPr/>
        <p:txBody>
          <a:bodyPr/>
          <a:lstStyle/>
          <a:p>
            <a:fld id="{09B073C3-34AA-E540-B78C-5CAF7DE85827}" type="slidenum">
              <a:rPr lang="en-US"/>
              <a:t>3</a:t>
            </a:fld>
            <a:endParaRPr lang="en-US"/>
          </a:p>
        </p:txBody>
      </p:sp>
    </p:spTree>
    <p:extLst>
      <p:ext uri="{BB962C8B-B14F-4D97-AF65-F5344CB8AC3E}">
        <p14:creationId xmlns:p14="http://schemas.microsoft.com/office/powerpoint/2010/main" val="133358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A0DD8-5255-68D4-CCDB-35E748216E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203259-0DD3-1016-EA4E-DBE5B0627F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CBC086-A5F7-549E-7C95-A26CE34477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E24F7C-4F2F-3959-64AE-9A3B763B539C}"/>
              </a:ext>
            </a:extLst>
          </p:cNvPr>
          <p:cNvSpPr>
            <a:spLocks noGrp="1"/>
          </p:cNvSpPr>
          <p:nvPr>
            <p:ph type="sldNum" sz="quarter" idx="5"/>
          </p:nvPr>
        </p:nvSpPr>
        <p:spPr/>
        <p:txBody>
          <a:bodyPr/>
          <a:lstStyle/>
          <a:p>
            <a:fld id="{1C1C7EF8-35D8-4635-8F46-65E701D73223}" type="slidenum">
              <a:rPr lang="en-US" smtClean="0"/>
              <a:t>4</a:t>
            </a:fld>
            <a:endParaRPr lang="en-US"/>
          </a:p>
        </p:txBody>
      </p:sp>
    </p:spTree>
    <p:extLst>
      <p:ext uri="{BB962C8B-B14F-4D97-AF65-F5344CB8AC3E}">
        <p14:creationId xmlns:p14="http://schemas.microsoft.com/office/powerpoint/2010/main" val="963940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5F083-2B5F-2269-CE93-D991AAF200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A1D201-AA81-BBBA-A6D0-A073D53152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548C42-A116-0E9C-6A98-C0AD6FDBCD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952770-1744-1F49-FB97-8E4D6D3F0A51}"/>
              </a:ext>
            </a:extLst>
          </p:cNvPr>
          <p:cNvSpPr>
            <a:spLocks noGrp="1"/>
          </p:cNvSpPr>
          <p:nvPr>
            <p:ph type="sldNum" sz="quarter" idx="5"/>
          </p:nvPr>
        </p:nvSpPr>
        <p:spPr/>
        <p:txBody>
          <a:bodyPr/>
          <a:lstStyle/>
          <a:p>
            <a:fld id="{1C1C7EF8-35D8-4635-8F46-65E701D73223}" type="slidenum">
              <a:rPr lang="en-US" smtClean="0"/>
              <a:t>5</a:t>
            </a:fld>
            <a:endParaRPr lang="en-US"/>
          </a:p>
        </p:txBody>
      </p:sp>
    </p:spTree>
    <p:extLst>
      <p:ext uri="{BB962C8B-B14F-4D97-AF65-F5344CB8AC3E}">
        <p14:creationId xmlns:p14="http://schemas.microsoft.com/office/powerpoint/2010/main" val="460106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Regardless of where your code comes from, usually throughout a project there is an iterative process of writing, testing, and changing your code until you get to the final version that you use in your publication. This may consist of testing out multiple versions of the same code at a time, or maybe one set of scripts for analysis A and another set for analysis B and there's some overlap between the two... Anyway, it can get messy! Version control is a way to manage this process so that you never lose important work and can clearly distinguish between different version of your code.</a:t>
            </a:r>
          </a:p>
          <a:p>
            <a:pPr>
              <a:lnSpc>
                <a:spcPts val="1350"/>
              </a:lnSpc>
            </a:pP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pPr>
              <a:lnSpc>
                <a:spcPts val="1350"/>
              </a:lnSpc>
            </a:pPr>
            <a:endParaRPr lang="en-US" b="0">
              <a:solidFill>
                <a:srgbClr val="D4D4D4"/>
              </a:solidFill>
              <a:effectLst/>
              <a:latin typeface="Menlo" panose="020B0609030804020204" pitchFamily="49" charset="0"/>
            </a:endParaRPr>
          </a:p>
        </p:txBody>
      </p:sp>
      <p:sp>
        <p:nvSpPr>
          <p:cNvPr id="4" name="Slide Number Placeholder 3"/>
          <p:cNvSpPr>
            <a:spLocks noGrp="1"/>
          </p:cNvSpPr>
          <p:nvPr>
            <p:ph type="sldNum" sz="quarter" idx="5"/>
          </p:nvPr>
        </p:nvSpPr>
        <p:spPr/>
        <p:txBody>
          <a:bodyPr/>
          <a:lstStyle/>
          <a:p>
            <a:fld id="{09B073C3-34AA-E540-B78C-5CAF7DE85827}" type="slidenum">
              <a:rPr lang="en-US"/>
              <a:t>6</a:t>
            </a:fld>
            <a:endParaRPr lang="en-US"/>
          </a:p>
        </p:txBody>
      </p:sp>
    </p:spTree>
    <p:extLst>
      <p:ext uri="{BB962C8B-B14F-4D97-AF65-F5344CB8AC3E}">
        <p14:creationId xmlns:p14="http://schemas.microsoft.com/office/powerpoint/2010/main" val="1525182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B073C3-34AA-E540-B78C-5CAF7DE85827}" type="slidenum">
              <a:rPr lang="en-US"/>
              <a:t>7</a:t>
            </a:fld>
            <a:endParaRPr lang="en-US"/>
          </a:p>
        </p:txBody>
      </p:sp>
    </p:spTree>
    <p:extLst>
      <p:ext uri="{BB962C8B-B14F-4D97-AF65-F5344CB8AC3E}">
        <p14:creationId xmlns:p14="http://schemas.microsoft.com/office/powerpoint/2010/main" val="3350674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B073C3-34AA-E540-B78C-5CAF7DE85827}" type="slidenum">
              <a:rPr lang="en-US"/>
              <a:t>8</a:t>
            </a:fld>
            <a:endParaRPr lang="en-US"/>
          </a:p>
        </p:txBody>
      </p:sp>
    </p:spTree>
    <p:extLst>
      <p:ext uri="{BB962C8B-B14F-4D97-AF65-F5344CB8AC3E}">
        <p14:creationId xmlns:p14="http://schemas.microsoft.com/office/powerpoint/2010/main" val="4102094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BF0FE-CB25-DE60-7744-F152C1666A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DFD0DC-60F3-DCED-F90F-36F29F6363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AD5DB-0075-9D8C-508B-C68FF073FF24}"/>
              </a:ext>
            </a:extLst>
          </p:cNvPr>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Before we talk about GitHub, we need to talk about git. Git is a version control system that allows you to track changes in your code. It's made for people who want to take snapshots of their code as they work on it, like google docs or dropbox, which allow you to see the history of your document and revert to previous versions. The difference is you have to manually take these snapshots, whereas the other services do it automatically. Another difference is, this version control works locally rather than by uploading your files to some cloud storage service. It does this by creating a hidden .git folder in your directory that stores all the changes you've made in each snapshot.</a:t>
            </a:r>
          </a:p>
          <a:p>
            <a:pPr>
              <a:lnSpc>
                <a:spcPts val="1350"/>
              </a:lnSpc>
            </a:pP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endParaRPr lang="en-US"/>
          </a:p>
        </p:txBody>
      </p:sp>
      <p:sp>
        <p:nvSpPr>
          <p:cNvPr id="4" name="Slide Number Placeholder 3">
            <a:extLst>
              <a:ext uri="{FF2B5EF4-FFF2-40B4-BE49-F238E27FC236}">
                <a16:creationId xmlns:a16="http://schemas.microsoft.com/office/drawing/2014/main" id="{F746D991-41A4-27F8-C0B6-680BC34C19B2}"/>
              </a:ext>
            </a:extLst>
          </p:cNvPr>
          <p:cNvSpPr>
            <a:spLocks noGrp="1"/>
          </p:cNvSpPr>
          <p:nvPr>
            <p:ph type="sldNum" sz="quarter" idx="5"/>
          </p:nvPr>
        </p:nvSpPr>
        <p:spPr/>
        <p:txBody>
          <a:bodyPr/>
          <a:lstStyle/>
          <a:p>
            <a:fld id="{09B073C3-34AA-E540-B78C-5CAF7DE85827}" type="slidenum">
              <a:t>9</a:t>
            </a:fld>
            <a:endParaRPr lang="en-US"/>
          </a:p>
        </p:txBody>
      </p:sp>
    </p:spTree>
    <p:extLst>
      <p:ext uri="{BB962C8B-B14F-4D97-AF65-F5344CB8AC3E}">
        <p14:creationId xmlns:p14="http://schemas.microsoft.com/office/powerpoint/2010/main" val="365522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This is the central concept of git: You have a working directory where you are interacting with files, changing and and saving them as normal. Then when you want to save a version of your file, you "stage" the file, telling git you want to track the current version. When you've staged all the files you want to take a snapshot of, you "commit" the changes along with a descriptive message.</a:t>
            </a:r>
          </a:p>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When you want to time travel to a previous commit, that is called "checking out" a commit. You can check out a whole commit or just a single file from a commit. Checking out a commit/file will change your working directory. We'll go more into detail on checking out commits later. Right now, let's focus on the arrows going to the right, which save your changes to git.</a:t>
            </a:r>
          </a:p>
        </p:txBody>
      </p:sp>
      <p:sp>
        <p:nvSpPr>
          <p:cNvPr id="4" name="Slide Number Placeholder 3"/>
          <p:cNvSpPr>
            <a:spLocks noGrp="1"/>
          </p:cNvSpPr>
          <p:nvPr>
            <p:ph type="sldNum" sz="quarter" idx="5"/>
          </p:nvPr>
        </p:nvSpPr>
        <p:spPr/>
        <p:txBody>
          <a:bodyPr/>
          <a:lstStyle/>
          <a:p>
            <a:fld id="{09B073C3-34AA-E540-B78C-5CAF7DE85827}" type="slidenum">
              <a:rPr lang="en-US"/>
              <a:t>10</a:t>
            </a:fld>
            <a:endParaRPr lang="en-US"/>
          </a:p>
        </p:txBody>
      </p:sp>
    </p:spTree>
    <p:extLst>
      <p:ext uri="{BB962C8B-B14F-4D97-AF65-F5344CB8AC3E}">
        <p14:creationId xmlns:p14="http://schemas.microsoft.com/office/powerpoint/2010/main" val="7771729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0466B-9D2C-BA38-075F-23B06E2A3F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B4FAE1-403D-10E5-96EC-33C58382A0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58C78B-120C-9533-185F-5183B52002D2}"/>
              </a:ext>
            </a:extLst>
          </p:cNvPr>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This is the central concept of git: You have a working directory where you are interacting with files, changing and and saving them as normal. Then when you want to save a version of your file, you "stage" the file, telling git you want to track the current version. When you've staged all the files you want to take a snapshot of, you "commit" the changes along with a descriptive message.</a:t>
            </a:r>
          </a:p>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When you want to time travel to a previous commit, that is called "checking out" a commit. You can check out a whole commit or just a single file from a commit. Checking out a commit/file will change your working directory. We'll go more into detail on checking out commits later. Right now, let's focus on the arrows going to the right, which save your changes to git.</a:t>
            </a:r>
          </a:p>
        </p:txBody>
      </p:sp>
      <p:sp>
        <p:nvSpPr>
          <p:cNvPr id="4" name="Slide Number Placeholder 3">
            <a:extLst>
              <a:ext uri="{FF2B5EF4-FFF2-40B4-BE49-F238E27FC236}">
                <a16:creationId xmlns:a16="http://schemas.microsoft.com/office/drawing/2014/main" id="{2026BD65-93A8-3F30-1427-88A1D91B5634}"/>
              </a:ext>
            </a:extLst>
          </p:cNvPr>
          <p:cNvSpPr>
            <a:spLocks noGrp="1"/>
          </p:cNvSpPr>
          <p:nvPr>
            <p:ph type="sldNum" sz="quarter" idx="5"/>
          </p:nvPr>
        </p:nvSpPr>
        <p:spPr/>
        <p:txBody>
          <a:bodyPr/>
          <a:lstStyle/>
          <a:p>
            <a:fld id="{09B073C3-34AA-E540-B78C-5CAF7DE85827}" type="slidenum">
              <a:rPr lang="en-US"/>
              <a:t>11</a:t>
            </a:fld>
            <a:endParaRPr lang="en-US"/>
          </a:p>
        </p:txBody>
      </p:sp>
    </p:spTree>
    <p:extLst>
      <p:ext uri="{BB962C8B-B14F-4D97-AF65-F5344CB8AC3E}">
        <p14:creationId xmlns:p14="http://schemas.microsoft.com/office/powerpoint/2010/main" val="2579629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Now that you know what git is, this is how GitHub relates. GitHub is a website that hosts git repositories. It's a place where you can share your code with the general public, or just to back up your code. The jargon for this is called a "remote", while the version of your repository on your computer is called the "local" version. You can have multiple local versions (clones) but it's up to you to keep them up to date. </a:t>
            </a:r>
          </a:p>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To transfer code between your local and remote repositories, you use "push" and "pull" commands. "Push" sends your changes to the remote while "pull" grabs the changes from the remote. You can push after a series of commits and all that history will be transferred to the remote. Let's say you're working on the cluster and have been making commits and pushes. Those changes will not be reflected on your local machine until you "pull" the changes from the remote. </a:t>
            </a:r>
          </a:p>
          <a:p>
            <a:pPr>
              <a:lnSpc>
                <a:spcPts val="1350"/>
              </a:lnSpc>
            </a:pP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p:txBody>
      </p:sp>
      <p:sp>
        <p:nvSpPr>
          <p:cNvPr id="4" name="Slide Number Placeholder 3"/>
          <p:cNvSpPr>
            <a:spLocks noGrp="1"/>
          </p:cNvSpPr>
          <p:nvPr>
            <p:ph type="sldNum" sz="quarter" idx="5"/>
          </p:nvPr>
        </p:nvSpPr>
        <p:spPr/>
        <p:txBody>
          <a:bodyPr/>
          <a:lstStyle/>
          <a:p>
            <a:fld id="{09B073C3-34AA-E540-B78C-5CAF7DE85827}" type="slidenum">
              <a:rPr lang="en-US"/>
              <a:t>12</a:t>
            </a:fld>
            <a:endParaRPr lang="en-US"/>
          </a:p>
        </p:txBody>
      </p:sp>
    </p:spTree>
    <p:extLst>
      <p:ext uri="{BB962C8B-B14F-4D97-AF65-F5344CB8AC3E}">
        <p14:creationId xmlns:p14="http://schemas.microsoft.com/office/powerpoint/2010/main" val="1734776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Because it's often a point of confusion for folks, here is a summary page outlining the differences between git and GitHub (and other remotes or code hosting services). Git is a free and open source version control software that works offline on your local machine. You use it to take snapshots of your folder and track the changes to files in your folder. GitHub is a cloud-based hosting service that allows you to back up your code to computers owned by GitHub/Microsoft and share them with the world. It offers collaboration features and additional ways to interact with your code. Most of the features relevant to us are free, but there are paid features as well. </a:t>
            </a:r>
          </a:p>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We will also be using GitHub Desktop, which is an application that helps users perform git actions and connect their git repository to GitHub. Originally, git was purely a command line tool. However, if we are not hard core coders, we can use an app called GitHub Desktop to perform all the actions described previously using a graphical interface. </a:t>
            </a:r>
          </a:p>
          <a:p>
            <a:pPr>
              <a:lnSpc>
                <a:spcPts val="1350"/>
              </a:lnSpc>
            </a:pP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endParaRPr lang="en-US"/>
          </a:p>
        </p:txBody>
      </p:sp>
      <p:sp>
        <p:nvSpPr>
          <p:cNvPr id="4" name="Slide Number Placeholder 3"/>
          <p:cNvSpPr>
            <a:spLocks noGrp="1"/>
          </p:cNvSpPr>
          <p:nvPr>
            <p:ph type="sldNum" sz="quarter" idx="5"/>
          </p:nvPr>
        </p:nvSpPr>
        <p:spPr/>
        <p:txBody>
          <a:bodyPr/>
          <a:lstStyle/>
          <a:p>
            <a:fld id="{09B073C3-34AA-E540-B78C-5CAF7DE85827}" type="slidenum">
              <a:rPr lang="en-US"/>
              <a:t>13</a:t>
            </a:fld>
            <a:endParaRPr lang="en-US"/>
          </a:p>
        </p:txBody>
      </p:sp>
    </p:spTree>
    <p:extLst>
      <p:ext uri="{BB962C8B-B14F-4D97-AF65-F5344CB8AC3E}">
        <p14:creationId xmlns:p14="http://schemas.microsoft.com/office/powerpoint/2010/main" val="31159051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endParaRPr lang="en-US" b="0">
              <a:solidFill>
                <a:srgbClr val="D4D4D4"/>
              </a:solidFill>
              <a:effectLst/>
              <a:latin typeface="Menlo" panose="020B0609030804020204" pitchFamily="49" charset="0"/>
            </a:endParaRPr>
          </a:p>
        </p:txBody>
      </p:sp>
      <p:sp>
        <p:nvSpPr>
          <p:cNvPr id="4" name="Slide Number Placeholder 3"/>
          <p:cNvSpPr>
            <a:spLocks noGrp="1"/>
          </p:cNvSpPr>
          <p:nvPr>
            <p:ph type="sldNum" sz="quarter" idx="5"/>
          </p:nvPr>
        </p:nvSpPr>
        <p:spPr/>
        <p:txBody>
          <a:bodyPr/>
          <a:lstStyle/>
          <a:p>
            <a:fld id="{09B073C3-34AA-E540-B78C-5CAF7DE85827}" type="slidenum">
              <a:rPr lang="en-US"/>
              <a:t>15</a:t>
            </a:fld>
            <a:endParaRPr lang="en-US"/>
          </a:p>
        </p:txBody>
      </p:sp>
    </p:spTree>
    <p:extLst>
      <p:ext uri="{BB962C8B-B14F-4D97-AF65-F5344CB8AC3E}">
        <p14:creationId xmlns:p14="http://schemas.microsoft.com/office/powerpoint/2010/main" val="10330778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B073C3-34AA-E540-B78C-5CAF7DE85827}" type="slidenum">
              <a:rPr lang="en-US"/>
              <a:t>16</a:t>
            </a:fld>
            <a:endParaRPr lang="en-US"/>
          </a:p>
        </p:txBody>
      </p:sp>
    </p:spTree>
    <p:extLst>
      <p:ext uri="{BB962C8B-B14F-4D97-AF65-F5344CB8AC3E}">
        <p14:creationId xmlns:p14="http://schemas.microsoft.com/office/powerpoint/2010/main" val="3117683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3DADF-1306-1EF7-8B78-B77A76501B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F6B370-4016-82AA-423B-3222EAE5DB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DE1525-74ED-1789-1F98-1E27E25B116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098A7D-00F1-006B-8946-41DD1E82C06B}"/>
              </a:ext>
            </a:extLst>
          </p:cNvPr>
          <p:cNvSpPr>
            <a:spLocks noGrp="1"/>
          </p:cNvSpPr>
          <p:nvPr>
            <p:ph type="sldNum" sz="quarter" idx="5"/>
          </p:nvPr>
        </p:nvSpPr>
        <p:spPr/>
        <p:txBody>
          <a:bodyPr/>
          <a:lstStyle/>
          <a:p>
            <a:fld id="{09B073C3-34AA-E540-B78C-5CAF7DE85827}" type="slidenum">
              <a:rPr lang="en-US"/>
              <a:t>17</a:t>
            </a:fld>
            <a:endParaRPr lang="en-US"/>
          </a:p>
        </p:txBody>
      </p:sp>
    </p:spTree>
    <p:extLst>
      <p:ext uri="{BB962C8B-B14F-4D97-AF65-F5344CB8AC3E}">
        <p14:creationId xmlns:p14="http://schemas.microsoft.com/office/powerpoint/2010/main" val="30496364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28B96-364C-B3CA-5A59-8AB3E08CD7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3DFAC-89BE-F9B9-F5A4-ED2E948667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6D950-277A-C0B6-ABDE-40E09D553FA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9389FC8-F7F0-A07F-1D47-ACC80B897756}"/>
              </a:ext>
            </a:extLst>
          </p:cNvPr>
          <p:cNvSpPr>
            <a:spLocks noGrp="1"/>
          </p:cNvSpPr>
          <p:nvPr>
            <p:ph type="sldNum" sz="quarter" idx="5"/>
          </p:nvPr>
        </p:nvSpPr>
        <p:spPr/>
        <p:txBody>
          <a:bodyPr/>
          <a:lstStyle/>
          <a:p>
            <a:fld id="{09B073C3-34AA-E540-B78C-5CAF7DE85827}" type="slidenum">
              <a:rPr lang="en-US"/>
              <a:t>18</a:t>
            </a:fld>
            <a:endParaRPr lang="en-US"/>
          </a:p>
        </p:txBody>
      </p:sp>
    </p:spTree>
    <p:extLst>
      <p:ext uri="{BB962C8B-B14F-4D97-AF65-F5344CB8AC3E}">
        <p14:creationId xmlns:p14="http://schemas.microsoft.com/office/powerpoint/2010/main" val="28087205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EEE42-CDF9-32E8-2487-F7ABCD0D8E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C32380-613C-BF67-DA14-97A79D322B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607D06-879B-DA79-F927-374229F91F5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5627CDA-9A5B-191F-8DB7-6659E5FAB215}"/>
              </a:ext>
            </a:extLst>
          </p:cNvPr>
          <p:cNvSpPr>
            <a:spLocks noGrp="1"/>
          </p:cNvSpPr>
          <p:nvPr>
            <p:ph type="sldNum" sz="quarter" idx="5"/>
          </p:nvPr>
        </p:nvSpPr>
        <p:spPr/>
        <p:txBody>
          <a:bodyPr/>
          <a:lstStyle/>
          <a:p>
            <a:fld id="{09B073C3-34AA-E540-B78C-5CAF7DE85827}" type="slidenum">
              <a:rPr lang="en-US"/>
              <a:t>19</a:t>
            </a:fld>
            <a:endParaRPr lang="en-US"/>
          </a:p>
        </p:txBody>
      </p:sp>
    </p:spTree>
    <p:extLst>
      <p:ext uri="{BB962C8B-B14F-4D97-AF65-F5344CB8AC3E}">
        <p14:creationId xmlns:p14="http://schemas.microsoft.com/office/powerpoint/2010/main" val="3445232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When you want to collaborate with others, you can "fork" their repository, which makes a copy of their repo on your own GitHub account. You can then "clone" this repo to your local machine, make changes, push those changes to the remote, and then make a "pull request" to merge your changes to the original repository. </a:t>
            </a:r>
          </a:p>
          <a:p>
            <a:pPr>
              <a:lnSpc>
                <a:spcPts val="1350"/>
              </a:lnSpc>
            </a:pP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endParaRPr lang="en-US"/>
          </a:p>
        </p:txBody>
      </p:sp>
      <p:sp>
        <p:nvSpPr>
          <p:cNvPr id="4" name="Slide Number Placeholder 3"/>
          <p:cNvSpPr>
            <a:spLocks noGrp="1"/>
          </p:cNvSpPr>
          <p:nvPr>
            <p:ph type="sldNum" sz="quarter" idx="5"/>
          </p:nvPr>
        </p:nvSpPr>
        <p:spPr/>
        <p:txBody>
          <a:bodyPr/>
          <a:lstStyle/>
          <a:p>
            <a:fld id="{09B073C3-34AA-E540-B78C-5CAF7DE85827}" type="slidenum">
              <a:rPr lang="en-US"/>
              <a:t>23</a:t>
            </a:fld>
            <a:endParaRPr lang="en-US"/>
          </a:p>
        </p:txBody>
      </p:sp>
    </p:spTree>
    <p:extLst>
      <p:ext uri="{BB962C8B-B14F-4D97-AF65-F5344CB8AC3E}">
        <p14:creationId xmlns:p14="http://schemas.microsoft.com/office/powerpoint/2010/main" val="36949118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Use case for forks: One of the best things about GitHub is that it allows you to share code with others. Raise your hand if you've ever been handed code from a previous student or lab member, but it didn't work for whatever reason. Or perhaps there are just loose scripts floating around, each version slightly different from the last but nobody knows which one is current or which one is the best. One way to avoid this is to have a lab GitHub account where known working versions of scripts are posted and users can fork the repo of helpful scripts to adjust to their own needs. Then, if a user fixes a bug or adds a feature, they can make a pull request and update the lab's version. This way, everyone in the lab can benefit from the work of others and the lab's scripts are always up to date.</a:t>
            </a:r>
          </a:p>
          <a:p>
            <a:pPr>
              <a:lnSpc>
                <a:spcPts val="1350"/>
              </a:lnSpc>
            </a:pPr>
            <a:endParaRPr lang="en-US" b="0">
              <a:solidFill>
                <a:srgbClr val="D4D4D4"/>
              </a:solidFill>
              <a:effectLst/>
              <a:latin typeface="Menlo" panose="020B0609030804020204" pitchFamily="49" charset="0"/>
            </a:endParaRPr>
          </a:p>
          <a:p>
            <a:pPr>
              <a:lnSpc>
                <a:spcPts val="1350"/>
              </a:lnSpc>
            </a:pPr>
            <a:r>
              <a:rPr lang="en-US" b="0">
                <a:solidFill>
                  <a:srgbClr val="D4D4D4"/>
                </a:solidFill>
                <a:effectLst/>
                <a:latin typeface="Menlo" panose="020B0609030804020204" pitchFamily="49" charset="0"/>
              </a:rPr>
              <a:t>The above image illustrates the relationship between a forked repo, the original repo, and local clones of the forked repo. If the repo you forked gets updated, you can sync your fork with the original repo but changes you make on your fork does not affect the original repo. Then, when you're working on a local clone of your repo (on the computer and on the cluster), the way to get them to sync is to push and pull between the two. When you have multiple local clones like this, do not work on the same file in two different places before syncing them by pushing and pulling.</a:t>
            </a: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pPr>
              <a:lnSpc>
                <a:spcPts val="1350"/>
              </a:lnSpc>
            </a:pPr>
            <a:endParaRPr lang="en-US" b="0">
              <a:solidFill>
                <a:srgbClr val="D4D4D4"/>
              </a:solidFill>
              <a:effectLst/>
              <a:latin typeface="Menlo" panose="020B0609030804020204" pitchFamily="49" charset="0"/>
            </a:endParaRPr>
          </a:p>
        </p:txBody>
      </p:sp>
      <p:sp>
        <p:nvSpPr>
          <p:cNvPr id="4" name="Slide Number Placeholder 3"/>
          <p:cNvSpPr>
            <a:spLocks noGrp="1"/>
          </p:cNvSpPr>
          <p:nvPr>
            <p:ph type="sldNum" sz="quarter" idx="5"/>
          </p:nvPr>
        </p:nvSpPr>
        <p:spPr/>
        <p:txBody>
          <a:bodyPr/>
          <a:lstStyle/>
          <a:p>
            <a:fld id="{09B073C3-34AA-E540-B78C-5CAF7DE85827}" type="slidenum">
              <a:rPr lang="en-US"/>
              <a:t>24</a:t>
            </a:fld>
            <a:endParaRPr lang="en-US"/>
          </a:p>
        </p:txBody>
      </p:sp>
    </p:spTree>
    <p:extLst>
      <p:ext uri="{BB962C8B-B14F-4D97-AF65-F5344CB8AC3E}">
        <p14:creationId xmlns:p14="http://schemas.microsoft.com/office/powerpoint/2010/main" val="19623216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6EDA2-1173-D8E4-1B41-4AEA2163FF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E90E3B-6F99-DFB5-C5B1-8DFB79A180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14E25E-FE54-FA73-6EF2-612C0E2B732B}"/>
              </a:ext>
            </a:extLst>
          </p:cNvPr>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Use case for forks: One of the best things about GitHub is that it allows you to share code with others. Raise your hand if you've ever been handed code from a previous student or lab member, but it didn't work for whatever reason. Or perhaps there are just loose scripts floating around, each version slightly different from the last but nobody knows which one is current or which one is the best. One way to avoid this is to have a lab GitHub account where known working versions of scripts are posted and users can fork the repo of helpful scripts to adjust to their own needs. Then, if a user fixes a bug or adds a feature, they can make a pull request and update the lab's version. This way, everyone in the lab can benefit from the work of others and the lab's scripts are always up to date.</a:t>
            </a:r>
          </a:p>
          <a:p>
            <a:pPr>
              <a:lnSpc>
                <a:spcPts val="1350"/>
              </a:lnSpc>
            </a:pPr>
            <a:endParaRPr lang="en-US" b="0">
              <a:solidFill>
                <a:srgbClr val="D4D4D4"/>
              </a:solidFill>
              <a:effectLst/>
              <a:latin typeface="Menlo" panose="020B0609030804020204" pitchFamily="49" charset="0"/>
            </a:endParaRPr>
          </a:p>
          <a:p>
            <a:pPr>
              <a:lnSpc>
                <a:spcPts val="1350"/>
              </a:lnSpc>
            </a:pPr>
            <a:r>
              <a:rPr lang="en-US" b="0">
                <a:solidFill>
                  <a:srgbClr val="D4D4D4"/>
                </a:solidFill>
                <a:effectLst/>
                <a:latin typeface="Menlo" panose="020B0609030804020204" pitchFamily="49" charset="0"/>
              </a:rPr>
              <a:t>The above image illustrates the relationship between a forked repo, the original repo, and local clones of the forked repo. If the repo you forked gets updated, you can sync your fork with the original repo but changes you make on your fork does not affect the original repo. Then, when you're working on a local clone of your repo (on the computer and on the cluster), the way to get them to sync is to push and pull between the two. When you have multiple local clones like this, do not work on the same file in two different places before syncing them by pushing and pulling.</a:t>
            </a: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pPr>
              <a:lnSpc>
                <a:spcPts val="1350"/>
              </a:lnSpc>
            </a:pPr>
            <a:endParaRPr lang="en-US" b="0">
              <a:solidFill>
                <a:srgbClr val="D4D4D4"/>
              </a:solidFill>
              <a:effectLst/>
              <a:latin typeface="Menlo" panose="020B0609030804020204" pitchFamily="49" charset="0"/>
            </a:endParaRPr>
          </a:p>
        </p:txBody>
      </p:sp>
      <p:sp>
        <p:nvSpPr>
          <p:cNvPr id="4" name="Slide Number Placeholder 3">
            <a:extLst>
              <a:ext uri="{FF2B5EF4-FFF2-40B4-BE49-F238E27FC236}">
                <a16:creationId xmlns:a16="http://schemas.microsoft.com/office/drawing/2014/main" id="{93DDA3A2-6EA5-DA41-8F2B-A42A29403DE0}"/>
              </a:ext>
            </a:extLst>
          </p:cNvPr>
          <p:cNvSpPr>
            <a:spLocks noGrp="1"/>
          </p:cNvSpPr>
          <p:nvPr>
            <p:ph type="sldNum" sz="quarter" idx="5"/>
          </p:nvPr>
        </p:nvSpPr>
        <p:spPr/>
        <p:txBody>
          <a:bodyPr/>
          <a:lstStyle/>
          <a:p>
            <a:fld id="{09B073C3-34AA-E540-B78C-5CAF7DE85827}" type="slidenum">
              <a:rPr lang="en-US"/>
              <a:t>25</a:t>
            </a:fld>
            <a:endParaRPr lang="en-US"/>
          </a:p>
        </p:txBody>
      </p:sp>
    </p:spTree>
    <p:extLst>
      <p:ext uri="{BB962C8B-B14F-4D97-AF65-F5344CB8AC3E}">
        <p14:creationId xmlns:p14="http://schemas.microsoft.com/office/powerpoint/2010/main" val="2196245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EF2F9-F9D3-9679-ABC0-562B6BD473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16D677-C46B-1576-E1D8-F25A20140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DD40CB-A412-B9B3-118C-E390DEEEAB8E}"/>
              </a:ext>
            </a:extLst>
          </p:cNvPr>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Use case for forks: One of the best things about GitHub is that it allows you to share code with others. Raise your hand if you've ever been handed code from a previous student or lab member, but it didn't work for whatever reason. Or perhaps there are just loose scripts floating around, each version slightly different from the last but nobody knows which one is current or which one is the best. One way to avoid this is to have a lab GitHub account where known working versions of scripts are posted and users can fork the repo of helpful scripts to adjust to their own needs. Then, if a user fixes a bug or adds a feature, they can make a pull request and update the lab's version. This way, everyone in the lab can benefit from the work of others and the lab's scripts are always up to date.</a:t>
            </a:r>
          </a:p>
          <a:p>
            <a:pPr>
              <a:lnSpc>
                <a:spcPts val="1350"/>
              </a:lnSpc>
            </a:pPr>
            <a:endParaRPr lang="en-US" b="0">
              <a:solidFill>
                <a:srgbClr val="D4D4D4"/>
              </a:solidFill>
              <a:effectLst/>
              <a:latin typeface="Menlo" panose="020B0609030804020204" pitchFamily="49" charset="0"/>
            </a:endParaRPr>
          </a:p>
          <a:p>
            <a:pPr>
              <a:lnSpc>
                <a:spcPts val="1350"/>
              </a:lnSpc>
            </a:pPr>
            <a:r>
              <a:rPr lang="en-US" b="0">
                <a:solidFill>
                  <a:srgbClr val="D4D4D4"/>
                </a:solidFill>
                <a:effectLst/>
                <a:latin typeface="Menlo" panose="020B0609030804020204" pitchFamily="49" charset="0"/>
              </a:rPr>
              <a:t>The above image illustrates the relationship between a forked repo, the original repo, and local clones of the forked repo. If the repo you forked gets updated, you can sync your fork with the original repo but changes you make on your fork does not affect the original repo. Then, when you're working on a local clone of your repo (on the computer and on the cluster), the way to get them to sync is to push and pull between the two. When you have multiple local clones like this, do not work on the same file in two different places before syncing them by pushing and pulling.</a:t>
            </a: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pPr>
              <a:lnSpc>
                <a:spcPts val="1350"/>
              </a:lnSpc>
            </a:pPr>
            <a:endParaRPr lang="en-US" b="0">
              <a:solidFill>
                <a:srgbClr val="D4D4D4"/>
              </a:solidFill>
              <a:effectLst/>
              <a:latin typeface="Menlo" panose="020B0609030804020204" pitchFamily="49" charset="0"/>
            </a:endParaRPr>
          </a:p>
        </p:txBody>
      </p:sp>
      <p:sp>
        <p:nvSpPr>
          <p:cNvPr id="4" name="Slide Number Placeholder 3">
            <a:extLst>
              <a:ext uri="{FF2B5EF4-FFF2-40B4-BE49-F238E27FC236}">
                <a16:creationId xmlns:a16="http://schemas.microsoft.com/office/drawing/2014/main" id="{2FA31BAF-02A8-EB13-5EBB-469FF4A06355}"/>
              </a:ext>
            </a:extLst>
          </p:cNvPr>
          <p:cNvSpPr>
            <a:spLocks noGrp="1"/>
          </p:cNvSpPr>
          <p:nvPr>
            <p:ph type="sldNum" sz="quarter" idx="5"/>
          </p:nvPr>
        </p:nvSpPr>
        <p:spPr/>
        <p:txBody>
          <a:bodyPr/>
          <a:lstStyle/>
          <a:p>
            <a:fld id="{09B073C3-34AA-E540-B78C-5CAF7DE85827}" type="slidenum">
              <a:rPr lang="en-US"/>
              <a:t>26</a:t>
            </a:fld>
            <a:endParaRPr lang="en-US"/>
          </a:p>
        </p:txBody>
      </p:sp>
    </p:spTree>
    <p:extLst>
      <p:ext uri="{BB962C8B-B14F-4D97-AF65-F5344CB8AC3E}">
        <p14:creationId xmlns:p14="http://schemas.microsoft.com/office/powerpoint/2010/main" val="26481431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336A3-74CB-6628-4296-5A98F1D689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80A0E-A562-7954-BE2A-EDA81CAE1C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9BAB14-3895-BB74-6818-CDD877827F86}"/>
              </a:ext>
            </a:extLst>
          </p:cNvPr>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Use case for forks: One of the best things about GitHub is that it allows you to share code with others. Raise your hand if you've ever been handed code from a previous student or lab member, but it didn't work for whatever reason. Or perhaps there are just loose scripts floating around, each version slightly different from the last but nobody knows which one is current or which one is the best. One way to avoid this is to have a lab GitHub account where known working versions of scripts are posted and users can fork the repo of helpful scripts to adjust to their own needs. Then, if a user fixes a bug or adds a feature, they can make a pull request and update the lab's version. This way, everyone in the lab can benefit from the work of others and the lab's scripts are always up to date.</a:t>
            </a:r>
          </a:p>
          <a:p>
            <a:pPr>
              <a:lnSpc>
                <a:spcPts val="1350"/>
              </a:lnSpc>
            </a:pPr>
            <a:endParaRPr lang="en-US" b="0">
              <a:solidFill>
                <a:srgbClr val="D4D4D4"/>
              </a:solidFill>
              <a:effectLst/>
              <a:latin typeface="Menlo" panose="020B0609030804020204" pitchFamily="49" charset="0"/>
            </a:endParaRPr>
          </a:p>
          <a:p>
            <a:pPr>
              <a:lnSpc>
                <a:spcPts val="1350"/>
              </a:lnSpc>
            </a:pPr>
            <a:r>
              <a:rPr lang="en-US" b="0">
                <a:solidFill>
                  <a:srgbClr val="D4D4D4"/>
                </a:solidFill>
                <a:effectLst/>
                <a:latin typeface="Menlo" panose="020B0609030804020204" pitchFamily="49" charset="0"/>
              </a:rPr>
              <a:t>The above image illustrates the relationship between a forked repo, the original repo, and local clones of the forked repo. If the repo you forked gets updated, you can sync your fork with the original repo but changes you make on your fork does not affect the original repo. Then, when you're working on a local clone of your repo (on the computer and on the cluster), the way to get them to sync is to push and pull between the two. When you have multiple local clones like this, do not work on the same file in two different places before syncing them by pushing and pulling.</a:t>
            </a: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pPr>
              <a:lnSpc>
                <a:spcPts val="1350"/>
              </a:lnSpc>
            </a:pPr>
            <a:endParaRPr lang="en-US" b="0">
              <a:solidFill>
                <a:srgbClr val="D4D4D4"/>
              </a:solidFill>
              <a:effectLst/>
              <a:latin typeface="Menlo" panose="020B0609030804020204" pitchFamily="49" charset="0"/>
            </a:endParaRPr>
          </a:p>
        </p:txBody>
      </p:sp>
      <p:sp>
        <p:nvSpPr>
          <p:cNvPr id="4" name="Slide Number Placeholder 3">
            <a:extLst>
              <a:ext uri="{FF2B5EF4-FFF2-40B4-BE49-F238E27FC236}">
                <a16:creationId xmlns:a16="http://schemas.microsoft.com/office/drawing/2014/main" id="{5AA9CBDF-8330-0F60-8423-26C659980B81}"/>
              </a:ext>
            </a:extLst>
          </p:cNvPr>
          <p:cNvSpPr>
            <a:spLocks noGrp="1"/>
          </p:cNvSpPr>
          <p:nvPr>
            <p:ph type="sldNum" sz="quarter" idx="5"/>
          </p:nvPr>
        </p:nvSpPr>
        <p:spPr/>
        <p:txBody>
          <a:bodyPr/>
          <a:lstStyle/>
          <a:p>
            <a:fld id="{09B073C3-34AA-E540-B78C-5CAF7DE85827}" type="slidenum">
              <a:rPr lang="en-US"/>
              <a:t>27</a:t>
            </a:fld>
            <a:endParaRPr lang="en-US"/>
          </a:p>
        </p:txBody>
      </p:sp>
    </p:spTree>
    <p:extLst>
      <p:ext uri="{BB962C8B-B14F-4D97-AF65-F5344CB8AC3E}">
        <p14:creationId xmlns:p14="http://schemas.microsoft.com/office/powerpoint/2010/main" val="3246342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87966-031D-ED2E-F1F5-191DFDFB56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2267BC-7364-2029-75C9-37DE0C70FF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DB1862-BB9F-AA34-F34F-02B197C93DFB}"/>
              </a:ext>
            </a:extLst>
          </p:cNvPr>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Use case for forks: One of the best things about GitHub is that it allows you to share code with others. Raise your hand if you've ever been handed code from a previous student or lab member, but it didn't work for whatever reason. Or perhaps there are just loose scripts floating around, each version slightly different from the last but nobody knows which one is current or which one is the best. One way to avoid this is to have a lab GitHub account where known working versions of scripts are posted and users can fork the repo of helpful scripts to adjust to their own needs. Then, if a user fixes a bug or adds a feature, they can make a pull request and update the lab's version. This way, everyone in the lab can benefit from the work of others and the lab's scripts are always up to date.</a:t>
            </a:r>
          </a:p>
          <a:p>
            <a:pPr>
              <a:lnSpc>
                <a:spcPts val="1350"/>
              </a:lnSpc>
            </a:pPr>
            <a:endParaRPr lang="en-US" b="0">
              <a:solidFill>
                <a:srgbClr val="D4D4D4"/>
              </a:solidFill>
              <a:effectLst/>
              <a:latin typeface="Menlo" panose="020B0609030804020204" pitchFamily="49" charset="0"/>
            </a:endParaRPr>
          </a:p>
          <a:p>
            <a:pPr>
              <a:lnSpc>
                <a:spcPts val="1350"/>
              </a:lnSpc>
            </a:pPr>
            <a:r>
              <a:rPr lang="en-US" b="0">
                <a:solidFill>
                  <a:srgbClr val="D4D4D4"/>
                </a:solidFill>
                <a:effectLst/>
                <a:latin typeface="Menlo" panose="020B0609030804020204" pitchFamily="49" charset="0"/>
              </a:rPr>
              <a:t>The above image illustrates the relationship between a forked repo, the original repo, and local clones of the forked repo. If the repo you forked gets updated, you can sync your fork with the original repo but changes you make on your fork does not affect the original repo. Then, when you're working on a local clone of your repo (on the computer and on the cluster), the way to get them to sync is to push and pull between the two. When you have multiple local clones like this, do not work on the same file in two different places before syncing them by pushing and pulling.</a:t>
            </a: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pPr>
              <a:lnSpc>
                <a:spcPts val="1350"/>
              </a:lnSpc>
            </a:pPr>
            <a:endParaRPr lang="en-US" b="0">
              <a:solidFill>
                <a:srgbClr val="D4D4D4"/>
              </a:solidFill>
              <a:effectLst/>
              <a:latin typeface="Menlo" panose="020B0609030804020204" pitchFamily="49" charset="0"/>
            </a:endParaRPr>
          </a:p>
        </p:txBody>
      </p:sp>
      <p:sp>
        <p:nvSpPr>
          <p:cNvPr id="4" name="Slide Number Placeholder 3">
            <a:extLst>
              <a:ext uri="{FF2B5EF4-FFF2-40B4-BE49-F238E27FC236}">
                <a16:creationId xmlns:a16="http://schemas.microsoft.com/office/drawing/2014/main" id="{E4263C4C-9CCB-F373-237E-FCFDA8591C18}"/>
              </a:ext>
            </a:extLst>
          </p:cNvPr>
          <p:cNvSpPr>
            <a:spLocks noGrp="1"/>
          </p:cNvSpPr>
          <p:nvPr>
            <p:ph type="sldNum" sz="quarter" idx="5"/>
          </p:nvPr>
        </p:nvSpPr>
        <p:spPr/>
        <p:txBody>
          <a:bodyPr/>
          <a:lstStyle/>
          <a:p>
            <a:fld id="{09B073C3-34AA-E540-B78C-5CAF7DE85827}" type="slidenum">
              <a:rPr lang="en-US"/>
              <a:t>28</a:t>
            </a:fld>
            <a:endParaRPr lang="en-US"/>
          </a:p>
        </p:txBody>
      </p:sp>
    </p:spTree>
    <p:extLst>
      <p:ext uri="{BB962C8B-B14F-4D97-AF65-F5344CB8AC3E}">
        <p14:creationId xmlns:p14="http://schemas.microsoft.com/office/powerpoint/2010/main" val="28708822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B7FEB-5AB2-DBD2-D6CC-8F7D3D7EAB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A4F6BD-9994-7910-3381-2C56702FB0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256869-8BC3-FF80-7F8E-3B9E986F9E5F}"/>
              </a:ext>
            </a:extLst>
          </p:cNvPr>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Use case for forks: One of the best things about GitHub is that it allows you to share code with others. Raise your hand if you've ever been handed code from a previous student or lab member, but it didn't work for whatever reason. Or perhaps there are just loose scripts floating around, each version slightly different from the last but nobody knows which one is current or which one is the best. One way to avoid this is to have a lab GitHub account where known working versions of scripts are posted and users can fork the repo of helpful scripts to adjust to their own needs. Then, if a user fixes a bug or adds a feature, they can make a pull request and update the lab's version. This way, everyone in the lab can benefit from the work of others and the lab's scripts are always up to date.</a:t>
            </a:r>
          </a:p>
          <a:p>
            <a:pPr>
              <a:lnSpc>
                <a:spcPts val="1350"/>
              </a:lnSpc>
            </a:pPr>
            <a:endParaRPr lang="en-US" b="0">
              <a:solidFill>
                <a:srgbClr val="D4D4D4"/>
              </a:solidFill>
              <a:effectLst/>
              <a:latin typeface="Menlo" panose="020B0609030804020204" pitchFamily="49" charset="0"/>
            </a:endParaRPr>
          </a:p>
          <a:p>
            <a:pPr>
              <a:lnSpc>
                <a:spcPts val="1350"/>
              </a:lnSpc>
            </a:pPr>
            <a:r>
              <a:rPr lang="en-US" b="0">
                <a:solidFill>
                  <a:srgbClr val="D4D4D4"/>
                </a:solidFill>
                <a:effectLst/>
                <a:latin typeface="Menlo" panose="020B0609030804020204" pitchFamily="49" charset="0"/>
              </a:rPr>
              <a:t>The above image illustrates the relationship between a forked repo, the original repo, and local clones of the forked repo. If the repo you forked gets updated, you can sync your fork with the original repo but changes you make on your fork does not affect the original repo. Then, when you're working on a local clone of your repo (on the computer and on the cluster), the way to get them to sync is to push and pull between the two. When you have multiple local clones like this, do not work on the same file in two different places before syncing them by pushing and pulling.</a:t>
            </a: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pPr>
              <a:lnSpc>
                <a:spcPts val="1350"/>
              </a:lnSpc>
            </a:pPr>
            <a:endParaRPr lang="en-US" b="0">
              <a:solidFill>
                <a:srgbClr val="D4D4D4"/>
              </a:solidFill>
              <a:effectLst/>
              <a:latin typeface="Menlo" panose="020B0609030804020204" pitchFamily="49" charset="0"/>
            </a:endParaRPr>
          </a:p>
        </p:txBody>
      </p:sp>
      <p:sp>
        <p:nvSpPr>
          <p:cNvPr id="4" name="Slide Number Placeholder 3">
            <a:extLst>
              <a:ext uri="{FF2B5EF4-FFF2-40B4-BE49-F238E27FC236}">
                <a16:creationId xmlns:a16="http://schemas.microsoft.com/office/drawing/2014/main" id="{02B386B0-92B9-C76D-79B9-4C22DC9506FD}"/>
              </a:ext>
            </a:extLst>
          </p:cNvPr>
          <p:cNvSpPr>
            <a:spLocks noGrp="1"/>
          </p:cNvSpPr>
          <p:nvPr>
            <p:ph type="sldNum" sz="quarter" idx="5"/>
          </p:nvPr>
        </p:nvSpPr>
        <p:spPr/>
        <p:txBody>
          <a:bodyPr/>
          <a:lstStyle/>
          <a:p>
            <a:fld id="{09B073C3-34AA-E540-B78C-5CAF7DE85827}" type="slidenum">
              <a:rPr lang="en-US"/>
              <a:t>29</a:t>
            </a:fld>
            <a:endParaRPr lang="en-US"/>
          </a:p>
        </p:txBody>
      </p:sp>
    </p:spTree>
    <p:extLst>
      <p:ext uri="{BB962C8B-B14F-4D97-AF65-F5344CB8AC3E}">
        <p14:creationId xmlns:p14="http://schemas.microsoft.com/office/powerpoint/2010/main" val="23076931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AF9A3-751C-571F-6C04-B6923E3524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0DFC9F-3417-CD10-6C9F-C367FDBFBD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60233F-06B3-D677-A585-4191261CAE63}"/>
              </a:ext>
            </a:extLst>
          </p:cNvPr>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Use case for forks: One of the best things about GitHub is that it allows you to share code with others. Raise your hand if you've ever been handed code from a previous student or lab member, but it didn't work for whatever reason. Or perhaps there are just loose scripts floating around, each version slightly different from the last but nobody knows which one is current or which one is the best. One way to avoid this is to have a lab GitHub account where known working versions of scripts are posted and users can fork the repo of helpful scripts to adjust to their own needs. Then, if a user fixes a bug or adds a feature, they can make a pull request and update the lab's version. This way, everyone in the lab can benefit from the work of others and the lab's scripts are always up to date.</a:t>
            </a:r>
          </a:p>
          <a:p>
            <a:pPr>
              <a:lnSpc>
                <a:spcPts val="1350"/>
              </a:lnSpc>
            </a:pPr>
            <a:endParaRPr lang="en-US" b="0">
              <a:solidFill>
                <a:srgbClr val="D4D4D4"/>
              </a:solidFill>
              <a:effectLst/>
              <a:latin typeface="Menlo" panose="020B0609030804020204" pitchFamily="49" charset="0"/>
            </a:endParaRPr>
          </a:p>
          <a:p>
            <a:pPr>
              <a:lnSpc>
                <a:spcPts val="1350"/>
              </a:lnSpc>
            </a:pPr>
            <a:r>
              <a:rPr lang="en-US" b="0">
                <a:solidFill>
                  <a:srgbClr val="D4D4D4"/>
                </a:solidFill>
                <a:effectLst/>
                <a:latin typeface="Menlo" panose="020B0609030804020204" pitchFamily="49" charset="0"/>
              </a:rPr>
              <a:t>The above image illustrates the relationship between a forked repo, the original repo, and local clones of the forked repo. If the repo you forked gets updated, you can sync your fork with the original repo but changes you make on your fork does not affect the original repo. Then, when you're working on a local clone of your repo (on the computer and on the cluster), the way to get them to sync is to push and pull between the two. When you have multiple local clones like this, do not work on the same file in two different places before syncing them by pushing and pulling.</a:t>
            </a: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pPr>
              <a:lnSpc>
                <a:spcPts val="1350"/>
              </a:lnSpc>
            </a:pPr>
            <a:endParaRPr lang="en-US" b="0">
              <a:solidFill>
                <a:srgbClr val="D4D4D4"/>
              </a:solidFill>
              <a:effectLst/>
              <a:latin typeface="Menlo" panose="020B0609030804020204" pitchFamily="49" charset="0"/>
            </a:endParaRPr>
          </a:p>
        </p:txBody>
      </p:sp>
      <p:sp>
        <p:nvSpPr>
          <p:cNvPr id="4" name="Slide Number Placeholder 3">
            <a:extLst>
              <a:ext uri="{FF2B5EF4-FFF2-40B4-BE49-F238E27FC236}">
                <a16:creationId xmlns:a16="http://schemas.microsoft.com/office/drawing/2014/main" id="{C1E10F95-6324-B1BB-695F-32C25C9269A1}"/>
              </a:ext>
            </a:extLst>
          </p:cNvPr>
          <p:cNvSpPr>
            <a:spLocks noGrp="1"/>
          </p:cNvSpPr>
          <p:nvPr>
            <p:ph type="sldNum" sz="quarter" idx="5"/>
          </p:nvPr>
        </p:nvSpPr>
        <p:spPr/>
        <p:txBody>
          <a:bodyPr/>
          <a:lstStyle/>
          <a:p>
            <a:fld id="{09B073C3-34AA-E540-B78C-5CAF7DE85827}" type="slidenum">
              <a:rPr lang="en-US"/>
              <a:t>30</a:t>
            </a:fld>
            <a:endParaRPr lang="en-US"/>
          </a:p>
        </p:txBody>
      </p:sp>
    </p:spTree>
    <p:extLst>
      <p:ext uri="{BB962C8B-B14F-4D97-AF65-F5344CB8AC3E}">
        <p14:creationId xmlns:p14="http://schemas.microsoft.com/office/powerpoint/2010/main" val="17536974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Optional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B073C3-34AA-E540-B78C-5CAF7DE85827}"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61533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AA0E8-B94C-C7B8-65FD-FA23F7ABEE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1B7A00-5120-96C5-FA7D-E465C1D0AD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79C9AD-7FAF-A757-22DE-3C10590C593B}"/>
              </a:ext>
            </a:extLst>
          </p:cNvPr>
          <p:cNvSpPr>
            <a:spLocks noGrp="1"/>
          </p:cNvSpPr>
          <p:nvPr>
            <p:ph type="dt" sz="half" idx="10"/>
          </p:nvPr>
        </p:nvSpPr>
        <p:spPr/>
        <p:txBody>
          <a:bodyPr/>
          <a:lstStyle/>
          <a:p>
            <a:fld id="{1DEE9E0B-EBD4-C744-999F-88EA14EC12E8}" type="datetimeFigureOut">
              <a:t>2/24/26</a:t>
            </a:fld>
            <a:endParaRPr lang="en-US"/>
          </a:p>
        </p:txBody>
      </p:sp>
      <p:sp>
        <p:nvSpPr>
          <p:cNvPr id="5" name="Footer Placeholder 4">
            <a:extLst>
              <a:ext uri="{FF2B5EF4-FFF2-40B4-BE49-F238E27FC236}">
                <a16:creationId xmlns:a16="http://schemas.microsoft.com/office/drawing/2014/main" id="{71AFDDC4-F06A-5C2F-A286-E36472AEA5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C57ED8-CA73-21C8-9126-A7AA09C4C38E}"/>
              </a:ext>
            </a:extLst>
          </p:cNvPr>
          <p:cNvSpPr>
            <a:spLocks noGrp="1"/>
          </p:cNvSpPr>
          <p:nvPr>
            <p:ph type="sldNum" sz="quarter" idx="12"/>
          </p:nvPr>
        </p:nvSpPr>
        <p:spPr/>
        <p:txBody>
          <a:bodyPr/>
          <a:lstStyle/>
          <a:p>
            <a:fld id="{4D3373A6-5A0B-924D-B87C-303D6554D149}" type="slidenum">
              <a:t>‹#›</a:t>
            </a:fld>
            <a:endParaRPr lang="en-US"/>
          </a:p>
        </p:txBody>
      </p:sp>
    </p:spTree>
    <p:extLst>
      <p:ext uri="{BB962C8B-B14F-4D97-AF65-F5344CB8AC3E}">
        <p14:creationId xmlns:p14="http://schemas.microsoft.com/office/powerpoint/2010/main" val="4285787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7110D-D020-76B3-9D5B-7213B47DA4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116B45-6060-F42B-E347-3C65D1D443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19DCB3-D757-2EA0-1BEC-9270E2D0DC72}"/>
              </a:ext>
            </a:extLst>
          </p:cNvPr>
          <p:cNvSpPr>
            <a:spLocks noGrp="1"/>
          </p:cNvSpPr>
          <p:nvPr>
            <p:ph type="dt" sz="half" idx="10"/>
          </p:nvPr>
        </p:nvSpPr>
        <p:spPr/>
        <p:txBody>
          <a:bodyPr/>
          <a:lstStyle/>
          <a:p>
            <a:fld id="{1DEE9E0B-EBD4-C744-999F-88EA14EC12E8}" type="datetimeFigureOut">
              <a:t>2/24/26</a:t>
            </a:fld>
            <a:endParaRPr lang="en-US"/>
          </a:p>
        </p:txBody>
      </p:sp>
      <p:sp>
        <p:nvSpPr>
          <p:cNvPr id="5" name="Footer Placeholder 4">
            <a:extLst>
              <a:ext uri="{FF2B5EF4-FFF2-40B4-BE49-F238E27FC236}">
                <a16:creationId xmlns:a16="http://schemas.microsoft.com/office/drawing/2014/main" id="{6ACE9268-C928-41B2-CEE4-3DE46CA2B5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CB1CE9-8F40-EB27-A8DD-B17FAFED3C99}"/>
              </a:ext>
            </a:extLst>
          </p:cNvPr>
          <p:cNvSpPr>
            <a:spLocks noGrp="1"/>
          </p:cNvSpPr>
          <p:nvPr>
            <p:ph type="sldNum" sz="quarter" idx="12"/>
          </p:nvPr>
        </p:nvSpPr>
        <p:spPr/>
        <p:txBody>
          <a:bodyPr/>
          <a:lstStyle/>
          <a:p>
            <a:fld id="{4D3373A6-5A0B-924D-B87C-303D6554D149}" type="slidenum">
              <a:t>‹#›</a:t>
            </a:fld>
            <a:endParaRPr lang="en-US"/>
          </a:p>
        </p:txBody>
      </p:sp>
    </p:spTree>
    <p:extLst>
      <p:ext uri="{BB962C8B-B14F-4D97-AF65-F5344CB8AC3E}">
        <p14:creationId xmlns:p14="http://schemas.microsoft.com/office/powerpoint/2010/main" val="1481925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3D593-AE6C-3800-E88A-3B9AC50A32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5DE7B4-CBD4-43D9-1EE9-07E1FEDB18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98E0D8-1F39-FFF5-688B-1EFE98B363B5}"/>
              </a:ext>
            </a:extLst>
          </p:cNvPr>
          <p:cNvSpPr>
            <a:spLocks noGrp="1"/>
          </p:cNvSpPr>
          <p:nvPr>
            <p:ph type="dt" sz="half" idx="10"/>
          </p:nvPr>
        </p:nvSpPr>
        <p:spPr/>
        <p:txBody>
          <a:bodyPr/>
          <a:lstStyle/>
          <a:p>
            <a:fld id="{1DEE9E0B-EBD4-C744-999F-88EA14EC12E8}" type="datetimeFigureOut">
              <a:t>2/24/26</a:t>
            </a:fld>
            <a:endParaRPr lang="en-US"/>
          </a:p>
        </p:txBody>
      </p:sp>
      <p:sp>
        <p:nvSpPr>
          <p:cNvPr id="5" name="Footer Placeholder 4">
            <a:extLst>
              <a:ext uri="{FF2B5EF4-FFF2-40B4-BE49-F238E27FC236}">
                <a16:creationId xmlns:a16="http://schemas.microsoft.com/office/drawing/2014/main" id="{A5497DBE-9330-785C-18EC-CF3A4DB036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F47234-D1DC-2BC4-FB4C-30C50DA5D007}"/>
              </a:ext>
            </a:extLst>
          </p:cNvPr>
          <p:cNvSpPr>
            <a:spLocks noGrp="1"/>
          </p:cNvSpPr>
          <p:nvPr>
            <p:ph type="sldNum" sz="quarter" idx="12"/>
          </p:nvPr>
        </p:nvSpPr>
        <p:spPr/>
        <p:txBody>
          <a:bodyPr/>
          <a:lstStyle/>
          <a:p>
            <a:fld id="{4D3373A6-5A0B-924D-B87C-303D6554D149}" type="slidenum">
              <a:t>‹#›</a:t>
            </a:fld>
            <a:endParaRPr lang="en-US"/>
          </a:p>
        </p:txBody>
      </p:sp>
    </p:spTree>
    <p:extLst>
      <p:ext uri="{BB962C8B-B14F-4D97-AF65-F5344CB8AC3E}">
        <p14:creationId xmlns:p14="http://schemas.microsoft.com/office/powerpoint/2010/main" val="4204843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2AB88-0A03-A4DC-07D6-22A2F75AB3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A7CCB0-A4E1-0421-8DA3-9109D34EF7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2F7A0C-D838-15E2-8B52-9718DDF619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E8F79E-6751-A5CE-5D60-2C9E85F72EEA}"/>
              </a:ext>
            </a:extLst>
          </p:cNvPr>
          <p:cNvSpPr>
            <a:spLocks noGrp="1"/>
          </p:cNvSpPr>
          <p:nvPr>
            <p:ph type="dt" sz="half" idx="10"/>
          </p:nvPr>
        </p:nvSpPr>
        <p:spPr/>
        <p:txBody>
          <a:bodyPr/>
          <a:lstStyle/>
          <a:p>
            <a:fld id="{1DEE9E0B-EBD4-C744-999F-88EA14EC12E8}" type="datetimeFigureOut">
              <a:t>2/24/26</a:t>
            </a:fld>
            <a:endParaRPr lang="en-US"/>
          </a:p>
        </p:txBody>
      </p:sp>
      <p:sp>
        <p:nvSpPr>
          <p:cNvPr id="6" name="Footer Placeholder 5">
            <a:extLst>
              <a:ext uri="{FF2B5EF4-FFF2-40B4-BE49-F238E27FC236}">
                <a16:creationId xmlns:a16="http://schemas.microsoft.com/office/drawing/2014/main" id="{B89CDA3A-17B0-8309-CF51-071A5EB866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32EAD8-6989-316C-F7FE-DE0125424B2F}"/>
              </a:ext>
            </a:extLst>
          </p:cNvPr>
          <p:cNvSpPr>
            <a:spLocks noGrp="1"/>
          </p:cNvSpPr>
          <p:nvPr>
            <p:ph type="sldNum" sz="quarter" idx="12"/>
          </p:nvPr>
        </p:nvSpPr>
        <p:spPr/>
        <p:txBody>
          <a:bodyPr/>
          <a:lstStyle/>
          <a:p>
            <a:fld id="{4D3373A6-5A0B-924D-B87C-303D6554D149}" type="slidenum">
              <a:t>‹#›</a:t>
            </a:fld>
            <a:endParaRPr lang="en-US"/>
          </a:p>
        </p:txBody>
      </p:sp>
    </p:spTree>
    <p:extLst>
      <p:ext uri="{BB962C8B-B14F-4D97-AF65-F5344CB8AC3E}">
        <p14:creationId xmlns:p14="http://schemas.microsoft.com/office/powerpoint/2010/main" val="2865233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9825A-48F2-B4F3-57FF-BFCC7566DA4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1FCDA43-7438-298D-068D-8D8A0CFDF6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06B487-028C-4D2E-6259-A44BB6DCB2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AAC5F1-702B-1401-EFB4-9092447390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145EA8-F0B7-556D-80E9-FDDB9B01C9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332DD0-7751-16B4-81DE-C939141911F7}"/>
              </a:ext>
            </a:extLst>
          </p:cNvPr>
          <p:cNvSpPr>
            <a:spLocks noGrp="1"/>
          </p:cNvSpPr>
          <p:nvPr>
            <p:ph type="dt" sz="half" idx="10"/>
          </p:nvPr>
        </p:nvSpPr>
        <p:spPr/>
        <p:txBody>
          <a:bodyPr/>
          <a:lstStyle/>
          <a:p>
            <a:fld id="{1DEE9E0B-EBD4-C744-999F-88EA14EC12E8}" type="datetimeFigureOut">
              <a:t>2/24/26</a:t>
            </a:fld>
            <a:endParaRPr lang="en-US"/>
          </a:p>
        </p:txBody>
      </p:sp>
      <p:sp>
        <p:nvSpPr>
          <p:cNvPr id="8" name="Footer Placeholder 7">
            <a:extLst>
              <a:ext uri="{FF2B5EF4-FFF2-40B4-BE49-F238E27FC236}">
                <a16:creationId xmlns:a16="http://schemas.microsoft.com/office/drawing/2014/main" id="{2EF3E297-CC84-400D-3B4B-E5BB9DE226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708E99-A148-9006-9856-12DD27E58B68}"/>
              </a:ext>
            </a:extLst>
          </p:cNvPr>
          <p:cNvSpPr>
            <a:spLocks noGrp="1"/>
          </p:cNvSpPr>
          <p:nvPr>
            <p:ph type="sldNum" sz="quarter" idx="12"/>
          </p:nvPr>
        </p:nvSpPr>
        <p:spPr/>
        <p:txBody>
          <a:bodyPr/>
          <a:lstStyle/>
          <a:p>
            <a:fld id="{4D3373A6-5A0B-924D-B87C-303D6554D149}" type="slidenum">
              <a:t>‹#›</a:t>
            </a:fld>
            <a:endParaRPr lang="en-US"/>
          </a:p>
        </p:txBody>
      </p:sp>
    </p:spTree>
    <p:extLst>
      <p:ext uri="{BB962C8B-B14F-4D97-AF65-F5344CB8AC3E}">
        <p14:creationId xmlns:p14="http://schemas.microsoft.com/office/powerpoint/2010/main" val="4017969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4D8BA-45E9-6E31-11BF-8BD17119C6C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B60ED3-3286-31CA-4EE4-994FCB45EDB1}"/>
              </a:ext>
            </a:extLst>
          </p:cNvPr>
          <p:cNvSpPr>
            <a:spLocks noGrp="1"/>
          </p:cNvSpPr>
          <p:nvPr>
            <p:ph type="dt" sz="half" idx="10"/>
          </p:nvPr>
        </p:nvSpPr>
        <p:spPr/>
        <p:txBody>
          <a:bodyPr/>
          <a:lstStyle/>
          <a:p>
            <a:fld id="{1DEE9E0B-EBD4-C744-999F-88EA14EC12E8}" type="datetimeFigureOut">
              <a:t>2/24/26</a:t>
            </a:fld>
            <a:endParaRPr lang="en-US"/>
          </a:p>
        </p:txBody>
      </p:sp>
      <p:sp>
        <p:nvSpPr>
          <p:cNvPr id="4" name="Footer Placeholder 3">
            <a:extLst>
              <a:ext uri="{FF2B5EF4-FFF2-40B4-BE49-F238E27FC236}">
                <a16:creationId xmlns:a16="http://schemas.microsoft.com/office/drawing/2014/main" id="{6D90895A-4F8D-BC5D-D465-E3711C8F14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58FD0A6-43A4-6785-1FBA-50D1FDDFC24F}"/>
              </a:ext>
            </a:extLst>
          </p:cNvPr>
          <p:cNvSpPr>
            <a:spLocks noGrp="1"/>
          </p:cNvSpPr>
          <p:nvPr>
            <p:ph type="sldNum" sz="quarter" idx="12"/>
          </p:nvPr>
        </p:nvSpPr>
        <p:spPr/>
        <p:txBody>
          <a:bodyPr/>
          <a:lstStyle/>
          <a:p>
            <a:fld id="{4D3373A6-5A0B-924D-B87C-303D6554D149}" type="slidenum">
              <a:t>‹#›</a:t>
            </a:fld>
            <a:endParaRPr lang="en-US"/>
          </a:p>
        </p:txBody>
      </p:sp>
    </p:spTree>
    <p:extLst>
      <p:ext uri="{BB962C8B-B14F-4D97-AF65-F5344CB8AC3E}">
        <p14:creationId xmlns:p14="http://schemas.microsoft.com/office/powerpoint/2010/main" val="1914760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64DEC5-B8AE-E4E3-6A53-57F99CF266C2}"/>
              </a:ext>
            </a:extLst>
          </p:cNvPr>
          <p:cNvSpPr>
            <a:spLocks noGrp="1"/>
          </p:cNvSpPr>
          <p:nvPr>
            <p:ph type="dt" sz="half" idx="10"/>
          </p:nvPr>
        </p:nvSpPr>
        <p:spPr/>
        <p:txBody>
          <a:bodyPr/>
          <a:lstStyle/>
          <a:p>
            <a:fld id="{1DEE9E0B-EBD4-C744-999F-88EA14EC12E8}" type="datetimeFigureOut">
              <a:t>2/24/26</a:t>
            </a:fld>
            <a:endParaRPr lang="en-US"/>
          </a:p>
        </p:txBody>
      </p:sp>
      <p:sp>
        <p:nvSpPr>
          <p:cNvPr id="3" name="Footer Placeholder 2">
            <a:extLst>
              <a:ext uri="{FF2B5EF4-FFF2-40B4-BE49-F238E27FC236}">
                <a16:creationId xmlns:a16="http://schemas.microsoft.com/office/drawing/2014/main" id="{373C00F5-83FD-D11B-928D-538A491F62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9CFBDE-AC79-8CD6-016C-70E16527743A}"/>
              </a:ext>
            </a:extLst>
          </p:cNvPr>
          <p:cNvSpPr>
            <a:spLocks noGrp="1"/>
          </p:cNvSpPr>
          <p:nvPr>
            <p:ph type="sldNum" sz="quarter" idx="12"/>
          </p:nvPr>
        </p:nvSpPr>
        <p:spPr/>
        <p:txBody>
          <a:bodyPr/>
          <a:lstStyle/>
          <a:p>
            <a:fld id="{4D3373A6-5A0B-924D-B87C-303D6554D149}" type="slidenum">
              <a:t>‹#›</a:t>
            </a:fld>
            <a:endParaRPr lang="en-US"/>
          </a:p>
        </p:txBody>
      </p:sp>
    </p:spTree>
    <p:extLst>
      <p:ext uri="{BB962C8B-B14F-4D97-AF65-F5344CB8AC3E}">
        <p14:creationId xmlns:p14="http://schemas.microsoft.com/office/powerpoint/2010/main" val="4242027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72ED4-8EE3-3CC9-09F3-D43E048734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76A29E-3651-C584-9077-70BED6836D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190D7A9-1A4A-C97B-47FA-8652D4E37D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219A0E-2543-4414-F8DB-4C9B15ED13B9}"/>
              </a:ext>
            </a:extLst>
          </p:cNvPr>
          <p:cNvSpPr>
            <a:spLocks noGrp="1"/>
          </p:cNvSpPr>
          <p:nvPr>
            <p:ph type="dt" sz="half" idx="10"/>
          </p:nvPr>
        </p:nvSpPr>
        <p:spPr/>
        <p:txBody>
          <a:bodyPr/>
          <a:lstStyle/>
          <a:p>
            <a:fld id="{1DEE9E0B-EBD4-C744-999F-88EA14EC12E8}" type="datetimeFigureOut">
              <a:t>2/24/26</a:t>
            </a:fld>
            <a:endParaRPr lang="en-US"/>
          </a:p>
        </p:txBody>
      </p:sp>
      <p:sp>
        <p:nvSpPr>
          <p:cNvPr id="6" name="Footer Placeholder 5">
            <a:extLst>
              <a:ext uri="{FF2B5EF4-FFF2-40B4-BE49-F238E27FC236}">
                <a16:creationId xmlns:a16="http://schemas.microsoft.com/office/drawing/2014/main" id="{D80453A4-3CFA-16D0-22DD-C75E89BF0F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A1BCA6-F488-D8B2-108B-0C983C8DD1EF}"/>
              </a:ext>
            </a:extLst>
          </p:cNvPr>
          <p:cNvSpPr>
            <a:spLocks noGrp="1"/>
          </p:cNvSpPr>
          <p:nvPr>
            <p:ph type="sldNum" sz="quarter" idx="12"/>
          </p:nvPr>
        </p:nvSpPr>
        <p:spPr/>
        <p:txBody>
          <a:bodyPr/>
          <a:lstStyle/>
          <a:p>
            <a:fld id="{4D3373A6-5A0B-924D-B87C-303D6554D149}" type="slidenum">
              <a:t>‹#›</a:t>
            </a:fld>
            <a:endParaRPr lang="en-US"/>
          </a:p>
        </p:txBody>
      </p:sp>
    </p:spTree>
    <p:extLst>
      <p:ext uri="{BB962C8B-B14F-4D97-AF65-F5344CB8AC3E}">
        <p14:creationId xmlns:p14="http://schemas.microsoft.com/office/powerpoint/2010/main" val="669414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50F71-B2F0-E5B8-FAFF-C031930477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7DB194E-9D85-5CF9-7932-5BC90A0B56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BBB857-1642-0313-53DF-4C563E59B9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F4F972-6CA3-63A6-2FB2-36317FF40220}"/>
              </a:ext>
            </a:extLst>
          </p:cNvPr>
          <p:cNvSpPr>
            <a:spLocks noGrp="1"/>
          </p:cNvSpPr>
          <p:nvPr>
            <p:ph type="dt" sz="half" idx="10"/>
          </p:nvPr>
        </p:nvSpPr>
        <p:spPr/>
        <p:txBody>
          <a:bodyPr/>
          <a:lstStyle/>
          <a:p>
            <a:fld id="{1DEE9E0B-EBD4-C744-999F-88EA14EC12E8}" type="datetimeFigureOut">
              <a:t>2/24/26</a:t>
            </a:fld>
            <a:endParaRPr lang="en-US"/>
          </a:p>
        </p:txBody>
      </p:sp>
      <p:sp>
        <p:nvSpPr>
          <p:cNvPr id="6" name="Footer Placeholder 5">
            <a:extLst>
              <a:ext uri="{FF2B5EF4-FFF2-40B4-BE49-F238E27FC236}">
                <a16:creationId xmlns:a16="http://schemas.microsoft.com/office/drawing/2014/main" id="{D56E0524-2725-3736-8040-DB4F2F75CD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33E238-1CA8-B8DD-6E5B-D2054D0C6F57}"/>
              </a:ext>
            </a:extLst>
          </p:cNvPr>
          <p:cNvSpPr>
            <a:spLocks noGrp="1"/>
          </p:cNvSpPr>
          <p:nvPr>
            <p:ph type="sldNum" sz="quarter" idx="12"/>
          </p:nvPr>
        </p:nvSpPr>
        <p:spPr/>
        <p:txBody>
          <a:bodyPr/>
          <a:lstStyle/>
          <a:p>
            <a:fld id="{4D3373A6-5A0B-924D-B87C-303D6554D149}" type="slidenum">
              <a:t>‹#›</a:t>
            </a:fld>
            <a:endParaRPr lang="en-US"/>
          </a:p>
        </p:txBody>
      </p:sp>
    </p:spTree>
    <p:extLst>
      <p:ext uri="{BB962C8B-B14F-4D97-AF65-F5344CB8AC3E}">
        <p14:creationId xmlns:p14="http://schemas.microsoft.com/office/powerpoint/2010/main" val="142581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2409C-18C2-D475-5C90-E8CE1969C8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7EAEA78-30F4-2FDD-A7B5-855ADC4202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7C9AE7-ED24-5E83-096D-B7ECD620D18C}"/>
              </a:ext>
            </a:extLst>
          </p:cNvPr>
          <p:cNvSpPr>
            <a:spLocks noGrp="1"/>
          </p:cNvSpPr>
          <p:nvPr>
            <p:ph type="dt" sz="half" idx="10"/>
          </p:nvPr>
        </p:nvSpPr>
        <p:spPr/>
        <p:txBody>
          <a:bodyPr/>
          <a:lstStyle/>
          <a:p>
            <a:fld id="{1DEE9E0B-EBD4-C744-999F-88EA14EC12E8}" type="datetimeFigureOut">
              <a:t>2/24/26</a:t>
            </a:fld>
            <a:endParaRPr lang="en-US"/>
          </a:p>
        </p:txBody>
      </p:sp>
      <p:sp>
        <p:nvSpPr>
          <p:cNvPr id="5" name="Footer Placeholder 4">
            <a:extLst>
              <a:ext uri="{FF2B5EF4-FFF2-40B4-BE49-F238E27FC236}">
                <a16:creationId xmlns:a16="http://schemas.microsoft.com/office/drawing/2014/main" id="{E12AB00B-264A-7FD8-DFE7-1029E9A11E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D5C12A-80DE-2B31-5E03-DAC36219CC01}"/>
              </a:ext>
            </a:extLst>
          </p:cNvPr>
          <p:cNvSpPr>
            <a:spLocks noGrp="1"/>
          </p:cNvSpPr>
          <p:nvPr>
            <p:ph type="sldNum" sz="quarter" idx="12"/>
          </p:nvPr>
        </p:nvSpPr>
        <p:spPr/>
        <p:txBody>
          <a:bodyPr/>
          <a:lstStyle/>
          <a:p>
            <a:fld id="{4D3373A6-5A0B-924D-B87C-303D6554D149}" type="slidenum">
              <a:t>‹#›</a:t>
            </a:fld>
            <a:endParaRPr lang="en-US"/>
          </a:p>
        </p:txBody>
      </p:sp>
    </p:spTree>
    <p:extLst>
      <p:ext uri="{BB962C8B-B14F-4D97-AF65-F5344CB8AC3E}">
        <p14:creationId xmlns:p14="http://schemas.microsoft.com/office/powerpoint/2010/main" val="1301945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16BF1B-9DFB-1B32-8CA3-D9A6AC9BF8E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C374E2-1223-8D54-5724-CC5C605B31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099858-3C70-62BF-B5C6-28E3DDFA3F26}"/>
              </a:ext>
            </a:extLst>
          </p:cNvPr>
          <p:cNvSpPr>
            <a:spLocks noGrp="1"/>
          </p:cNvSpPr>
          <p:nvPr>
            <p:ph type="dt" sz="half" idx="10"/>
          </p:nvPr>
        </p:nvSpPr>
        <p:spPr/>
        <p:txBody>
          <a:bodyPr/>
          <a:lstStyle/>
          <a:p>
            <a:fld id="{1DEE9E0B-EBD4-C744-999F-88EA14EC12E8}" type="datetimeFigureOut">
              <a:t>2/24/26</a:t>
            </a:fld>
            <a:endParaRPr lang="en-US"/>
          </a:p>
        </p:txBody>
      </p:sp>
      <p:sp>
        <p:nvSpPr>
          <p:cNvPr id="5" name="Footer Placeholder 4">
            <a:extLst>
              <a:ext uri="{FF2B5EF4-FFF2-40B4-BE49-F238E27FC236}">
                <a16:creationId xmlns:a16="http://schemas.microsoft.com/office/drawing/2014/main" id="{C864E84A-A9CF-F243-D4A9-EED59CE0A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3D342A-3F70-2C64-E93D-27E6EBFD3740}"/>
              </a:ext>
            </a:extLst>
          </p:cNvPr>
          <p:cNvSpPr>
            <a:spLocks noGrp="1"/>
          </p:cNvSpPr>
          <p:nvPr>
            <p:ph type="sldNum" sz="quarter" idx="12"/>
          </p:nvPr>
        </p:nvSpPr>
        <p:spPr/>
        <p:txBody>
          <a:bodyPr/>
          <a:lstStyle/>
          <a:p>
            <a:fld id="{4D3373A6-5A0B-924D-B87C-303D6554D149}" type="slidenum">
              <a:t>‹#›</a:t>
            </a:fld>
            <a:endParaRPr lang="en-US"/>
          </a:p>
        </p:txBody>
      </p:sp>
    </p:spTree>
    <p:extLst>
      <p:ext uri="{BB962C8B-B14F-4D97-AF65-F5344CB8AC3E}">
        <p14:creationId xmlns:p14="http://schemas.microsoft.com/office/powerpoint/2010/main" val="10744368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DE2C7-73DB-C3A8-AF6B-93BE05D3CF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D14C17C-5B00-2521-39AB-9DE4016D25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8D4095B-F834-2308-6A55-55354079BBB2}"/>
              </a:ext>
            </a:extLst>
          </p:cNvPr>
          <p:cNvSpPr>
            <a:spLocks noGrp="1"/>
          </p:cNvSpPr>
          <p:nvPr>
            <p:ph type="dt" sz="half" idx="10"/>
          </p:nvPr>
        </p:nvSpPr>
        <p:spPr/>
        <p:txBody>
          <a:bodyPr/>
          <a:lstStyle/>
          <a:p>
            <a:fld id="{76A84026-166A-B54F-BCA3-33826D623C7A}" type="datetimeFigureOut">
              <a:t>2/24/26</a:t>
            </a:fld>
            <a:endParaRPr lang="en-US"/>
          </a:p>
        </p:txBody>
      </p:sp>
      <p:sp>
        <p:nvSpPr>
          <p:cNvPr id="5" name="Footer Placeholder 4">
            <a:extLst>
              <a:ext uri="{FF2B5EF4-FFF2-40B4-BE49-F238E27FC236}">
                <a16:creationId xmlns:a16="http://schemas.microsoft.com/office/drawing/2014/main" id="{ED64F238-1EBD-4D75-85ED-F31A3F161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03BC72-B4A5-E4D7-AFB6-559FF04549BB}"/>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1811576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CF9B6-E285-8119-4F0A-FCA26D6721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E3F06F-D187-2754-3090-CBEDA40C80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BC1773-E2B5-7363-6AB7-ACF322B9428C}"/>
              </a:ext>
            </a:extLst>
          </p:cNvPr>
          <p:cNvSpPr>
            <a:spLocks noGrp="1"/>
          </p:cNvSpPr>
          <p:nvPr>
            <p:ph type="dt" sz="half" idx="10"/>
          </p:nvPr>
        </p:nvSpPr>
        <p:spPr/>
        <p:txBody>
          <a:bodyPr/>
          <a:lstStyle/>
          <a:p>
            <a:fld id="{76A84026-166A-B54F-BCA3-33826D623C7A}" type="datetimeFigureOut">
              <a:t>2/24/26</a:t>
            </a:fld>
            <a:endParaRPr lang="en-US"/>
          </a:p>
        </p:txBody>
      </p:sp>
      <p:sp>
        <p:nvSpPr>
          <p:cNvPr id="5" name="Footer Placeholder 4">
            <a:extLst>
              <a:ext uri="{FF2B5EF4-FFF2-40B4-BE49-F238E27FC236}">
                <a16:creationId xmlns:a16="http://schemas.microsoft.com/office/drawing/2014/main" id="{9C62E9C6-D47D-BDFE-5B50-6CF875F726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169755-2998-339A-DA08-D3ED706FD745}"/>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37442576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BAA2F-4CCE-08B1-FDC0-CD9BECC00F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163295-32DC-871D-C295-EA23F05178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ED0BC1-349D-3D0D-FEC6-25CF0B2B5C4C}"/>
              </a:ext>
            </a:extLst>
          </p:cNvPr>
          <p:cNvSpPr>
            <a:spLocks noGrp="1"/>
          </p:cNvSpPr>
          <p:nvPr>
            <p:ph type="dt" sz="half" idx="10"/>
          </p:nvPr>
        </p:nvSpPr>
        <p:spPr/>
        <p:txBody>
          <a:bodyPr/>
          <a:lstStyle/>
          <a:p>
            <a:fld id="{76A84026-166A-B54F-BCA3-33826D623C7A}" type="datetimeFigureOut">
              <a:t>2/24/26</a:t>
            </a:fld>
            <a:endParaRPr lang="en-US"/>
          </a:p>
        </p:txBody>
      </p:sp>
      <p:sp>
        <p:nvSpPr>
          <p:cNvPr id="5" name="Footer Placeholder 4">
            <a:extLst>
              <a:ext uri="{FF2B5EF4-FFF2-40B4-BE49-F238E27FC236}">
                <a16:creationId xmlns:a16="http://schemas.microsoft.com/office/drawing/2014/main" id="{7E5F6F09-CAC0-5227-81B1-1D80F5B56A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EDE91-35D5-FDD4-C181-9810AEF30A31}"/>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41743562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CBFFE-A23F-9C6D-3D13-8723B7E640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0B3AF3-F43C-B802-6A25-A4A64B8BE0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9CCADC7-48AB-24E0-8A16-E180960E15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3CDDF9-0938-5103-6EB3-053B680C267D}"/>
              </a:ext>
            </a:extLst>
          </p:cNvPr>
          <p:cNvSpPr>
            <a:spLocks noGrp="1"/>
          </p:cNvSpPr>
          <p:nvPr>
            <p:ph type="dt" sz="half" idx="10"/>
          </p:nvPr>
        </p:nvSpPr>
        <p:spPr/>
        <p:txBody>
          <a:bodyPr/>
          <a:lstStyle/>
          <a:p>
            <a:fld id="{76A84026-166A-B54F-BCA3-33826D623C7A}" type="datetimeFigureOut">
              <a:t>2/24/26</a:t>
            </a:fld>
            <a:endParaRPr lang="en-US"/>
          </a:p>
        </p:txBody>
      </p:sp>
      <p:sp>
        <p:nvSpPr>
          <p:cNvPr id="6" name="Footer Placeholder 5">
            <a:extLst>
              <a:ext uri="{FF2B5EF4-FFF2-40B4-BE49-F238E27FC236}">
                <a16:creationId xmlns:a16="http://schemas.microsoft.com/office/drawing/2014/main" id="{EBED6D9C-2D2F-40F9-060F-6B14E22017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712391-AD9E-8BB2-2D52-60EDDF38D75C}"/>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22441893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96B40-A653-0B7A-6A67-6A625B2498D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198924-E757-E95F-67BC-FC8B93B7A0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D805AD-B81C-1956-311E-08B4F1EDF7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BE0E39-74FB-85BC-DA20-8B6A3E6C9A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FE1737-45A3-67B5-1246-647B8EA701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52C2685-B725-07A9-7395-390B79D6E94D}"/>
              </a:ext>
            </a:extLst>
          </p:cNvPr>
          <p:cNvSpPr>
            <a:spLocks noGrp="1"/>
          </p:cNvSpPr>
          <p:nvPr>
            <p:ph type="dt" sz="half" idx="10"/>
          </p:nvPr>
        </p:nvSpPr>
        <p:spPr/>
        <p:txBody>
          <a:bodyPr/>
          <a:lstStyle/>
          <a:p>
            <a:fld id="{76A84026-166A-B54F-BCA3-33826D623C7A}" type="datetimeFigureOut">
              <a:t>2/24/26</a:t>
            </a:fld>
            <a:endParaRPr lang="en-US"/>
          </a:p>
        </p:txBody>
      </p:sp>
      <p:sp>
        <p:nvSpPr>
          <p:cNvPr id="8" name="Footer Placeholder 7">
            <a:extLst>
              <a:ext uri="{FF2B5EF4-FFF2-40B4-BE49-F238E27FC236}">
                <a16:creationId xmlns:a16="http://schemas.microsoft.com/office/drawing/2014/main" id="{B368EC8C-01E5-0883-527D-5AA4315205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B63931-0887-79AD-A826-14788070C4EF}"/>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37685674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172E8-C0F0-404D-0A26-A0B04A4637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5999B4-9E61-BF84-9076-1C5A81DD4F68}"/>
              </a:ext>
            </a:extLst>
          </p:cNvPr>
          <p:cNvSpPr>
            <a:spLocks noGrp="1"/>
          </p:cNvSpPr>
          <p:nvPr>
            <p:ph type="dt" sz="half" idx="10"/>
          </p:nvPr>
        </p:nvSpPr>
        <p:spPr/>
        <p:txBody>
          <a:bodyPr/>
          <a:lstStyle/>
          <a:p>
            <a:fld id="{76A84026-166A-B54F-BCA3-33826D623C7A}" type="datetimeFigureOut">
              <a:t>2/24/26</a:t>
            </a:fld>
            <a:endParaRPr lang="en-US"/>
          </a:p>
        </p:txBody>
      </p:sp>
      <p:sp>
        <p:nvSpPr>
          <p:cNvPr id="4" name="Footer Placeholder 3">
            <a:extLst>
              <a:ext uri="{FF2B5EF4-FFF2-40B4-BE49-F238E27FC236}">
                <a16:creationId xmlns:a16="http://schemas.microsoft.com/office/drawing/2014/main" id="{22C67388-877D-F74F-EC83-74654B58722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5CF380-2ACD-27A1-CB9B-7696B853C2E0}"/>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2189767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05A3A3-152E-7664-869B-D617C2E2EC3D}"/>
              </a:ext>
            </a:extLst>
          </p:cNvPr>
          <p:cNvSpPr>
            <a:spLocks noGrp="1"/>
          </p:cNvSpPr>
          <p:nvPr>
            <p:ph type="dt" sz="half" idx="10"/>
          </p:nvPr>
        </p:nvSpPr>
        <p:spPr/>
        <p:txBody>
          <a:bodyPr/>
          <a:lstStyle/>
          <a:p>
            <a:fld id="{76A84026-166A-B54F-BCA3-33826D623C7A}" type="datetimeFigureOut">
              <a:t>2/24/26</a:t>
            </a:fld>
            <a:endParaRPr lang="en-US"/>
          </a:p>
        </p:txBody>
      </p:sp>
      <p:sp>
        <p:nvSpPr>
          <p:cNvPr id="3" name="Footer Placeholder 2">
            <a:extLst>
              <a:ext uri="{FF2B5EF4-FFF2-40B4-BE49-F238E27FC236}">
                <a16:creationId xmlns:a16="http://schemas.microsoft.com/office/drawing/2014/main" id="{B11CA14E-2548-4377-83B0-D6ABD699D45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A140BC7-B080-1B9B-AA35-3304877D2328}"/>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38024260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746FA-1DDA-B34E-2396-912ED001DD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3059BC-A75F-82CD-9082-B23C58D551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729483-F968-3D11-D945-D3B4E89347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20F27F-7DA6-6783-A834-3BA5B7129F70}"/>
              </a:ext>
            </a:extLst>
          </p:cNvPr>
          <p:cNvSpPr>
            <a:spLocks noGrp="1"/>
          </p:cNvSpPr>
          <p:nvPr>
            <p:ph type="dt" sz="half" idx="10"/>
          </p:nvPr>
        </p:nvSpPr>
        <p:spPr/>
        <p:txBody>
          <a:bodyPr/>
          <a:lstStyle/>
          <a:p>
            <a:fld id="{76A84026-166A-B54F-BCA3-33826D623C7A}" type="datetimeFigureOut">
              <a:t>2/24/26</a:t>
            </a:fld>
            <a:endParaRPr lang="en-US"/>
          </a:p>
        </p:txBody>
      </p:sp>
      <p:sp>
        <p:nvSpPr>
          <p:cNvPr id="6" name="Footer Placeholder 5">
            <a:extLst>
              <a:ext uri="{FF2B5EF4-FFF2-40B4-BE49-F238E27FC236}">
                <a16:creationId xmlns:a16="http://schemas.microsoft.com/office/drawing/2014/main" id="{C128B5DE-6DF9-FBCC-7A61-556D14CADB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225290-CE68-A8ED-3269-13F4E5AC7A21}"/>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27179170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401A7-31C2-6A66-DF70-16E160BAA4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8205F7-F548-BB33-10C2-26833BFBEF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1A12AC-8E87-CFE4-DD70-899C288A49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F8251A-BBD2-2F72-4E3A-0BA2410DEE18}"/>
              </a:ext>
            </a:extLst>
          </p:cNvPr>
          <p:cNvSpPr>
            <a:spLocks noGrp="1"/>
          </p:cNvSpPr>
          <p:nvPr>
            <p:ph type="dt" sz="half" idx="10"/>
          </p:nvPr>
        </p:nvSpPr>
        <p:spPr/>
        <p:txBody>
          <a:bodyPr/>
          <a:lstStyle/>
          <a:p>
            <a:fld id="{76A84026-166A-B54F-BCA3-33826D623C7A}" type="datetimeFigureOut">
              <a:t>2/24/26</a:t>
            </a:fld>
            <a:endParaRPr lang="en-US"/>
          </a:p>
        </p:txBody>
      </p:sp>
      <p:sp>
        <p:nvSpPr>
          <p:cNvPr id="6" name="Footer Placeholder 5">
            <a:extLst>
              <a:ext uri="{FF2B5EF4-FFF2-40B4-BE49-F238E27FC236}">
                <a16:creationId xmlns:a16="http://schemas.microsoft.com/office/drawing/2014/main" id="{E496CE1F-819B-2618-48BE-496863BDF1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BEB355-C996-74E7-F776-60854493B528}"/>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27908981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D2FC4-F0C0-0A65-45DE-720CC72270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B6F479-FE04-C351-236C-07452186A8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D80F46-0975-E0FC-74D5-D03609D8E437}"/>
              </a:ext>
            </a:extLst>
          </p:cNvPr>
          <p:cNvSpPr>
            <a:spLocks noGrp="1"/>
          </p:cNvSpPr>
          <p:nvPr>
            <p:ph type="dt" sz="half" idx="10"/>
          </p:nvPr>
        </p:nvSpPr>
        <p:spPr/>
        <p:txBody>
          <a:bodyPr/>
          <a:lstStyle/>
          <a:p>
            <a:fld id="{76A84026-166A-B54F-BCA3-33826D623C7A}" type="datetimeFigureOut">
              <a:t>2/24/26</a:t>
            </a:fld>
            <a:endParaRPr lang="en-US"/>
          </a:p>
        </p:txBody>
      </p:sp>
      <p:sp>
        <p:nvSpPr>
          <p:cNvPr id="5" name="Footer Placeholder 4">
            <a:extLst>
              <a:ext uri="{FF2B5EF4-FFF2-40B4-BE49-F238E27FC236}">
                <a16:creationId xmlns:a16="http://schemas.microsoft.com/office/drawing/2014/main" id="{AE3DDFE1-39B5-DADA-10DD-5C84DC3B6A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81EDC2-EB43-32FF-DC4F-46C6EC54AAFE}"/>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28463270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D71F31-3F0F-70A5-CA1C-25FC187B74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56051A4-199F-B23E-B60D-6FCB0670DE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3B52B3-0E03-BE48-89F9-A7EAEB4BAF87}"/>
              </a:ext>
            </a:extLst>
          </p:cNvPr>
          <p:cNvSpPr>
            <a:spLocks noGrp="1"/>
          </p:cNvSpPr>
          <p:nvPr>
            <p:ph type="dt" sz="half" idx="10"/>
          </p:nvPr>
        </p:nvSpPr>
        <p:spPr/>
        <p:txBody>
          <a:bodyPr/>
          <a:lstStyle/>
          <a:p>
            <a:fld id="{76A84026-166A-B54F-BCA3-33826D623C7A}" type="datetimeFigureOut">
              <a:t>2/24/26</a:t>
            </a:fld>
            <a:endParaRPr lang="en-US"/>
          </a:p>
        </p:txBody>
      </p:sp>
      <p:sp>
        <p:nvSpPr>
          <p:cNvPr id="5" name="Footer Placeholder 4">
            <a:extLst>
              <a:ext uri="{FF2B5EF4-FFF2-40B4-BE49-F238E27FC236}">
                <a16:creationId xmlns:a16="http://schemas.microsoft.com/office/drawing/2014/main" id="{812B2E9B-1621-E2BA-7FBC-1FB872586C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EF2673-DEC4-EF87-342F-5CE5E68B76F6}"/>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4037965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48BAC6-FD5E-FF52-AB6D-DA17789248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3175C3-79F6-04B4-9BA9-4AACF415E1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D6A534-6FD2-CC10-0F43-A3C14C20E2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EE9E0B-EBD4-C744-999F-88EA14EC12E8}" type="datetimeFigureOut">
              <a:t>2/24/26</a:t>
            </a:fld>
            <a:endParaRPr lang="en-US"/>
          </a:p>
        </p:txBody>
      </p:sp>
      <p:sp>
        <p:nvSpPr>
          <p:cNvPr id="5" name="Footer Placeholder 4">
            <a:extLst>
              <a:ext uri="{FF2B5EF4-FFF2-40B4-BE49-F238E27FC236}">
                <a16:creationId xmlns:a16="http://schemas.microsoft.com/office/drawing/2014/main" id="{F32AA064-ECB4-9DDB-5949-C7FB830960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18E7833-2696-28AF-9F37-14B85FFC03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D3373A6-5A0B-924D-B87C-303D6554D149}" type="slidenum">
              <a:t>‹#›</a:t>
            </a:fld>
            <a:endParaRPr lang="en-US"/>
          </a:p>
        </p:txBody>
      </p:sp>
    </p:spTree>
    <p:extLst>
      <p:ext uri="{BB962C8B-B14F-4D97-AF65-F5344CB8AC3E}">
        <p14:creationId xmlns:p14="http://schemas.microsoft.com/office/powerpoint/2010/main" val="5215704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054AC9-AEA2-B32E-66FA-3B97DF6CF8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E83CDA-2084-A2F0-3481-D5D69EEA18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948A44-F01B-0B27-1952-B3560AF49E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A84026-166A-B54F-BCA3-33826D623C7A}" type="datetimeFigureOut">
              <a:t>2/24/26</a:t>
            </a:fld>
            <a:endParaRPr lang="en-US"/>
          </a:p>
        </p:txBody>
      </p:sp>
      <p:sp>
        <p:nvSpPr>
          <p:cNvPr id="5" name="Footer Placeholder 4">
            <a:extLst>
              <a:ext uri="{FF2B5EF4-FFF2-40B4-BE49-F238E27FC236}">
                <a16:creationId xmlns:a16="http://schemas.microsoft.com/office/drawing/2014/main" id="{B5B91C00-785C-A573-B0CC-9970581897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3747C36-0718-69ED-2C86-BECE658A92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8732B6-0629-9E4A-8DE3-4FA22FAB9A05}" type="slidenum">
              <a:t>‹#›</a:t>
            </a:fld>
            <a:endParaRPr lang="en-US"/>
          </a:p>
        </p:txBody>
      </p:sp>
    </p:spTree>
    <p:extLst>
      <p:ext uri="{BB962C8B-B14F-4D97-AF65-F5344CB8AC3E}">
        <p14:creationId xmlns:p14="http://schemas.microsoft.com/office/powerpoint/2010/main" val="17558250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cli.github.com/" TargetMode="External"/><Relationship Id="rId4" Type="http://schemas.openxmlformats.org/officeDocument/2006/relationships/hyperlink" Target="https://desktop.github.com/"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9.xml"/><Relationship Id="rId5" Type="http://schemas.openxmlformats.org/officeDocument/2006/relationships/hyperlink" Target="https://www.phdcomics.com/" TargetMode="Externa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3.xml"/><Relationship Id="rId5" Type="http://schemas.openxmlformats.org/officeDocument/2006/relationships/image" Target="../media/image20.svg"/><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svg"/><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2" Type="http://schemas.openxmlformats.org/officeDocument/2006/relationships/hyperlink" Target="https://learngitbranching.js.org/?NODEMO"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58677DF-0627-BDC6-9C23-C3EBC33F697A}"/>
              </a:ext>
            </a:extLst>
          </p:cNvPr>
          <p:cNvSpPr/>
          <p:nvPr/>
        </p:nvSpPr>
        <p:spPr>
          <a:xfrm>
            <a:off x="0" y="0"/>
            <a:ext cx="12192000"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8D15E9-D3C5-4D56-EC73-260C90963F1F}"/>
              </a:ext>
            </a:extLst>
          </p:cNvPr>
          <p:cNvSpPr>
            <a:spLocks noGrp="1"/>
          </p:cNvSpPr>
          <p:nvPr>
            <p:ph type="ctrTitle"/>
          </p:nvPr>
        </p:nvSpPr>
        <p:spPr>
          <a:xfrm>
            <a:off x="0" y="-809"/>
            <a:ext cx="12192000" cy="1204913"/>
          </a:xfrm>
        </p:spPr>
        <p:txBody>
          <a:bodyPr>
            <a:normAutofit/>
          </a:bodyPr>
          <a:lstStyle/>
          <a:p>
            <a:pPr algn="l"/>
            <a:r>
              <a:rPr lang="en-US" sz="4000" dirty="0">
                <a:solidFill>
                  <a:srgbClr val="33FF33"/>
                </a:solidFill>
                <a:latin typeface="Consolas" panose="020B0609020204030204" pitchFamily="49" charset="0"/>
              </a:rPr>
              <a:t>$</a:t>
            </a:r>
            <a:r>
              <a:rPr lang="en-US" sz="2400" dirty="0">
                <a:solidFill>
                  <a:srgbClr val="33FF33"/>
                </a:solidFill>
                <a:latin typeface="Consolas" panose="020B0609020204030204" pitchFamily="49" charset="0"/>
              </a:rPr>
              <a:t> </a:t>
            </a:r>
            <a:r>
              <a:rPr lang="en-US" sz="4000" dirty="0">
                <a:solidFill>
                  <a:srgbClr val="33FF33"/>
                </a:solidFill>
                <a:latin typeface="Consolas" panose="020B0609020204030204" pitchFamily="49" charset="0"/>
              </a:rPr>
              <a:t>Command line 101:</a:t>
            </a:r>
            <a:br>
              <a:rPr lang="en-US" sz="4000" dirty="0">
                <a:solidFill>
                  <a:srgbClr val="33FF33"/>
                </a:solidFill>
                <a:latin typeface="Consolas" panose="020B0609020204030204" pitchFamily="49" charset="0"/>
              </a:rPr>
            </a:br>
            <a:r>
              <a:rPr lang="en-US" sz="4000" dirty="0">
                <a:solidFill>
                  <a:srgbClr val="33FF33"/>
                </a:solidFill>
                <a:latin typeface="Consolas" panose="020B0609020204030204" pitchFamily="49" charset="0"/>
              </a:rPr>
              <a:t>$</a:t>
            </a:r>
            <a:r>
              <a:rPr lang="en-US" sz="2400" dirty="0">
                <a:solidFill>
                  <a:srgbClr val="33FF33"/>
                </a:solidFill>
                <a:latin typeface="Consolas" panose="020B0609020204030204" pitchFamily="49" charset="0"/>
              </a:rPr>
              <a:t> </a:t>
            </a:r>
            <a:r>
              <a:rPr lang="en-US" sz="4000" dirty="0">
                <a:solidFill>
                  <a:srgbClr val="33FF33"/>
                </a:solidFill>
                <a:latin typeface="Consolas" panose="020B0609020204030204" pitchFamily="49" charset="0"/>
              </a:rPr>
              <a:t>git/GitHub on the cluster &amp; your computer</a:t>
            </a:r>
          </a:p>
        </p:txBody>
      </p:sp>
      <p:sp>
        <p:nvSpPr>
          <p:cNvPr id="3" name="Subtitle 2">
            <a:extLst>
              <a:ext uri="{FF2B5EF4-FFF2-40B4-BE49-F238E27FC236}">
                <a16:creationId xmlns:a16="http://schemas.microsoft.com/office/drawing/2014/main" id="{40F930FF-0D52-8019-4787-F80035CFA7FE}"/>
              </a:ext>
            </a:extLst>
          </p:cNvPr>
          <p:cNvSpPr>
            <a:spLocks noGrp="1"/>
          </p:cNvSpPr>
          <p:nvPr>
            <p:ph type="subTitle" idx="1"/>
          </p:nvPr>
        </p:nvSpPr>
        <p:spPr>
          <a:xfrm>
            <a:off x="0" y="1204103"/>
            <a:ext cx="10668000" cy="2573337"/>
          </a:xfrm>
        </p:spPr>
        <p:txBody>
          <a:bodyPr>
            <a:normAutofit/>
          </a:bodyPr>
          <a:lstStyle/>
          <a:p>
            <a:pPr algn="l"/>
            <a:r>
              <a:rPr lang="en-US" sz="4000" dirty="0">
                <a:solidFill>
                  <a:srgbClr val="33FF33"/>
                </a:solidFill>
                <a:latin typeface="Consolas" panose="020B0609020204030204" pitchFamily="49" charset="0"/>
              </a:rPr>
              <a:t>$</a:t>
            </a:r>
            <a:r>
              <a:rPr lang="en-US" dirty="0">
                <a:solidFill>
                  <a:srgbClr val="33FF33"/>
                </a:solidFill>
                <a:latin typeface="Consolas" panose="020B0609020204030204" pitchFamily="49" charset="0"/>
              </a:rPr>
              <a:t> Harvard FAS Informatics virtual training</a:t>
            </a:r>
          </a:p>
          <a:p>
            <a:pPr algn="l"/>
            <a:r>
              <a:rPr lang="en-US" sz="4000" dirty="0">
                <a:solidFill>
                  <a:srgbClr val="33FF33"/>
                </a:solidFill>
                <a:latin typeface="Consolas" panose="020B0609020204030204" pitchFamily="49" charset="0"/>
              </a:rPr>
              <a:t>$</a:t>
            </a:r>
            <a:r>
              <a:rPr lang="en-US" dirty="0">
                <a:solidFill>
                  <a:srgbClr val="33FF33"/>
                </a:solidFill>
                <a:latin typeface="Consolas" panose="020B0609020204030204" pitchFamily="49" charset="0"/>
              </a:rPr>
              <a:t> Thursday, February 26, 2026</a:t>
            </a:r>
          </a:p>
          <a:p>
            <a:pPr algn="l"/>
            <a:r>
              <a:rPr lang="en-US" sz="4000" dirty="0">
                <a:solidFill>
                  <a:srgbClr val="33FF33"/>
                </a:solidFill>
                <a:latin typeface="Consolas" panose="020B0609020204030204" pitchFamily="49" charset="0"/>
              </a:rPr>
              <a:t>$ </a:t>
            </a:r>
          </a:p>
        </p:txBody>
      </p:sp>
      <p:pic>
        <p:nvPicPr>
          <p:cNvPr id="1026" name="Picture 2">
            <a:extLst>
              <a:ext uri="{FF2B5EF4-FFF2-40B4-BE49-F238E27FC236}">
                <a16:creationId xmlns:a16="http://schemas.microsoft.com/office/drawing/2014/main" id="{CF140393-AEA2-A958-0E1D-DBF9A848BC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050" y="2570941"/>
            <a:ext cx="584200" cy="58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8609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9B39F-034A-8AD7-D24B-1126D90A8DA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D163F42-833F-B876-0B1F-89F14C9C6D51}"/>
              </a:ext>
            </a:extLst>
          </p:cNvPr>
          <p:cNvSpPr/>
          <p:nvPr/>
        </p:nvSpPr>
        <p:spPr>
          <a:xfrm>
            <a:off x="0" y="0"/>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149206F-6B5F-8C05-3597-A871427C22F1}"/>
              </a:ext>
            </a:extLst>
          </p:cNvPr>
          <p:cNvSpPr txBox="1"/>
          <p:nvPr/>
        </p:nvSpPr>
        <p:spPr>
          <a:xfrm>
            <a:off x="1173591" y="1382286"/>
            <a:ext cx="9844818" cy="4585871"/>
          </a:xfrm>
          <a:prstGeom prst="rect">
            <a:avLst/>
          </a:prstGeom>
          <a:solidFill>
            <a:schemeClr val="bg1"/>
          </a:solidFill>
        </p:spPr>
        <p:txBody>
          <a:bodyPr wrap="square" rtlCol="0">
            <a:spAutoFit/>
          </a:bodyPr>
          <a:lstStyle/>
          <a:p>
            <a:pPr algn="ctr"/>
            <a:r>
              <a:rPr lang="en-US" sz="3600" u="sng" dirty="0">
                <a:latin typeface="Consolas" panose="020B0609020204030204" pitchFamily="49" charset="0"/>
                <a:ea typeface="Source Sans Pro" panose="020B0503030403020204" pitchFamily="34" charset="0"/>
              </a:rPr>
              <a:t>Topics covered</a:t>
            </a:r>
          </a:p>
          <a:p>
            <a:pPr marL="742950" indent="-742950">
              <a:buAutoNum type="arabicPeriod"/>
            </a:pPr>
            <a:r>
              <a:rPr lang="en-US" sz="3200" dirty="0">
                <a:latin typeface="Consolas" panose="020B0609020204030204" pitchFamily="49" charset="0"/>
                <a:ea typeface="Source Sans Pro" panose="020B0503030403020204" pitchFamily="34" charset="0"/>
              </a:rPr>
              <a:t>What is git version control</a:t>
            </a:r>
          </a:p>
          <a:p>
            <a:pPr marL="742950" indent="-742950">
              <a:buAutoNum type="arabicPeriod"/>
            </a:pPr>
            <a:endParaRPr lang="en-US" sz="3200" dirty="0">
              <a:latin typeface="Consolas" panose="020B0609020204030204" pitchFamily="49" charset="0"/>
              <a:ea typeface="Source Sans Pro" panose="020B0503030403020204" pitchFamily="34" charset="0"/>
            </a:endParaRPr>
          </a:p>
          <a:p>
            <a:pPr marL="742950" indent="-742950">
              <a:buAutoNum type="arabicPeriod"/>
            </a:pPr>
            <a:r>
              <a:rPr lang="en-US" sz="3200" dirty="0">
                <a:latin typeface="Consolas" panose="020B0609020204030204" pitchFamily="49" charset="0"/>
                <a:ea typeface="Source Sans Pro" panose="020B0503030403020204" pitchFamily="34" charset="0"/>
              </a:rPr>
              <a:t>Using git on the command line</a:t>
            </a:r>
          </a:p>
          <a:p>
            <a:pPr marL="742950" indent="-742950">
              <a:buAutoNum type="arabicPeriod"/>
            </a:pPr>
            <a:endParaRPr lang="en-US" sz="3200" dirty="0">
              <a:latin typeface="Consolas" panose="020B0609020204030204" pitchFamily="49" charset="0"/>
              <a:ea typeface="Source Sans Pro" panose="020B0503030403020204" pitchFamily="34" charset="0"/>
            </a:endParaRPr>
          </a:p>
          <a:p>
            <a:pPr marL="742950" indent="-742950">
              <a:buAutoNum type="arabicPeriod"/>
            </a:pPr>
            <a:r>
              <a:rPr lang="en-US" sz="3200" dirty="0">
                <a:latin typeface="Consolas" panose="020B0609020204030204" pitchFamily="49" charset="0"/>
                <a:ea typeface="Source Sans Pro" panose="020B0503030403020204" pitchFamily="34" charset="0"/>
              </a:rPr>
              <a:t>Collaborating with others</a:t>
            </a:r>
          </a:p>
          <a:p>
            <a:pPr marL="742950" indent="-742950">
              <a:buAutoNum type="arabicPeriod"/>
            </a:pPr>
            <a:endParaRPr lang="en-US" sz="3200" dirty="0">
              <a:latin typeface="Consolas" panose="020B0609020204030204" pitchFamily="49" charset="0"/>
              <a:ea typeface="Source Sans Pro" panose="020B0503030403020204" pitchFamily="34" charset="0"/>
            </a:endParaRPr>
          </a:p>
          <a:p>
            <a:pPr marL="742950" indent="-742950">
              <a:buFontTx/>
              <a:buAutoNum type="arabicPeriod"/>
            </a:pPr>
            <a:r>
              <a:rPr lang="en-US" sz="3200" dirty="0">
                <a:latin typeface="Consolas" panose="020B0609020204030204" pitchFamily="49" charset="0"/>
                <a:ea typeface="Source Sans Pro" panose="020B0503030403020204" pitchFamily="34" charset="0"/>
              </a:rPr>
              <a:t>Resolving merge conflicts</a:t>
            </a:r>
          </a:p>
          <a:p>
            <a:pPr marL="742950" indent="-742950">
              <a:buAutoNum type="arabicPeriod"/>
            </a:pPr>
            <a:endParaRPr lang="en-US" sz="3200" dirty="0">
              <a:latin typeface="Consolas" panose="020B0609020204030204" pitchFamily="49" charset="0"/>
              <a:ea typeface="Source Sans Pro" panose="020B0503030403020204" pitchFamily="34" charset="0"/>
            </a:endParaRPr>
          </a:p>
        </p:txBody>
      </p:sp>
    </p:spTree>
    <p:extLst>
      <p:ext uri="{BB962C8B-B14F-4D97-AF65-F5344CB8AC3E}">
        <p14:creationId xmlns:p14="http://schemas.microsoft.com/office/powerpoint/2010/main" val="113602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DB16C-543C-06FA-4037-98FE732952B3}"/>
              </a:ext>
            </a:extLst>
          </p:cNvPr>
          <p:cNvSpPr>
            <a:spLocks noGrp="1"/>
          </p:cNvSpPr>
          <p:nvPr>
            <p:ph type="title"/>
          </p:nvPr>
        </p:nvSpPr>
        <p:spPr/>
        <p:txBody>
          <a:bodyPr/>
          <a:lstStyle/>
          <a:p>
            <a:r>
              <a:rPr lang="en-US">
                <a:latin typeface="Consolas" panose="020B0609020204030204" pitchFamily="49" charset="0"/>
                <a:cs typeface="Consolas" panose="020B0609020204030204" pitchFamily="49" charset="0"/>
              </a:rPr>
              <a:t>Steps to participate in hands on workshop</a:t>
            </a:r>
          </a:p>
        </p:txBody>
      </p:sp>
      <p:sp>
        <p:nvSpPr>
          <p:cNvPr id="3" name="Content Placeholder 2">
            <a:extLst>
              <a:ext uri="{FF2B5EF4-FFF2-40B4-BE49-F238E27FC236}">
                <a16:creationId xmlns:a16="http://schemas.microsoft.com/office/drawing/2014/main" id="{997A3DE6-67E6-2BEE-1BFA-24F3299EDD5B}"/>
              </a:ext>
            </a:extLst>
          </p:cNvPr>
          <p:cNvSpPr>
            <a:spLocks noGrp="1"/>
          </p:cNvSpPr>
          <p:nvPr>
            <p:ph idx="1"/>
          </p:nvPr>
        </p:nvSpPr>
        <p:spPr/>
        <p:txBody>
          <a:bodyPr/>
          <a:lstStyle/>
          <a:p>
            <a:pPr marL="514350" indent="-514350">
              <a:buFont typeface="+mj-lt"/>
              <a:buAutoNum type="arabicPeriod"/>
            </a:pPr>
            <a:r>
              <a:rPr lang="en-US">
                <a:latin typeface="Consolas" panose="020B0609020204030204" pitchFamily="49" charset="0"/>
                <a:cs typeface="Consolas" panose="020B0609020204030204" pitchFamily="49" charset="0"/>
              </a:rPr>
              <a:t>Make a GitHub Account</a:t>
            </a:r>
          </a:p>
          <a:p>
            <a:pPr lvl="1"/>
            <a:r>
              <a:rPr lang="en-US">
                <a:latin typeface="Consolas" panose="020B0609020204030204" pitchFamily="49" charset="0"/>
                <a:cs typeface="Consolas" panose="020B0609020204030204" pitchFamily="49" charset="0"/>
                <a:hlinkClick r:id="rId3"/>
              </a:rPr>
              <a:t>https://github.com/</a:t>
            </a:r>
            <a:r>
              <a:rPr lang="en-US">
                <a:latin typeface="Consolas" panose="020B0609020204030204" pitchFamily="49" charset="0"/>
                <a:cs typeface="Consolas" panose="020B0609020204030204" pitchFamily="49" charset="0"/>
              </a:rPr>
              <a:t> </a:t>
            </a:r>
          </a:p>
          <a:p>
            <a:pPr marL="514350" indent="-514350">
              <a:buFont typeface="+mj-lt"/>
              <a:buAutoNum type="arabicPeriod"/>
            </a:pPr>
            <a:r>
              <a:rPr lang="en-US">
                <a:latin typeface="Consolas" panose="020B0609020204030204" pitchFamily="49" charset="0"/>
                <a:cs typeface="Consolas" panose="020B0609020204030204" pitchFamily="49" charset="0"/>
              </a:rPr>
              <a:t>Download GitHub Desktop (if you wan to follow along on your local computer)</a:t>
            </a:r>
          </a:p>
          <a:p>
            <a:pPr lvl="1"/>
            <a:r>
              <a:rPr lang="en-US">
                <a:latin typeface="Consolas" panose="020B0609020204030204" pitchFamily="49" charset="0"/>
                <a:cs typeface="Consolas" panose="020B0609020204030204" pitchFamily="49" charset="0"/>
                <a:hlinkClick r:id="rId4"/>
              </a:rPr>
              <a:t>https://desktop.github.com/</a:t>
            </a:r>
            <a:r>
              <a:rPr lang="en-US">
                <a:latin typeface="Consolas" panose="020B0609020204030204" pitchFamily="49" charset="0"/>
                <a:cs typeface="Consolas" panose="020B0609020204030204" pitchFamily="49" charset="0"/>
              </a:rPr>
              <a:t> </a:t>
            </a:r>
          </a:p>
          <a:p>
            <a:pPr marL="514350" indent="-514350">
              <a:buFont typeface="+mj-lt"/>
              <a:buAutoNum type="arabicPeriod"/>
            </a:pPr>
            <a:r>
              <a:rPr lang="en-US">
                <a:latin typeface="Consolas" panose="020B0609020204030204" pitchFamily="49" charset="0"/>
                <a:cs typeface="Consolas" panose="020B0609020204030204" pitchFamily="49" charset="0"/>
              </a:rPr>
              <a:t>Download and install gh CLI (if you want to use command line/on the cluster) </a:t>
            </a:r>
          </a:p>
          <a:p>
            <a:pPr lvl="1"/>
            <a:r>
              <a:rPr lang="en-US">
                <a:latin typeface="Consolas" panose="020B0609020204030204" pitchFamily="49" charset="0"/>
                <a:cs typeface="Consolas" panose="020B0609020204030204" pitchFamily="49" charset="0"/>
                <a:hlinkClick r:id="rId5"/>
              </a:rPr>
              <a:t>https://cli.github.com/</a:t>
            </a:r>
            <a:endParaRPr lang="en-US">
              <a:latin typeface="Consolas" panose="020B0609020204030204" pitchFamily="49" charset="0"/>
              <a:cs typeface="Consolas" panose="020B0609020204030204" pitchFamily="49" charset="0"/>
            </a:endParaRPr>
          </a:p>
          <a:p>
            <a:pPr lvl="1"/>
            <a:r>
              <a:rPr lang="en-US">
                <a:latin typeface="Consolas" panose="020B0609020204030204" pitchFamily="49" charset="0"/>
                <a:cs typeface="Consolas" panose="020B0609020204030204" pitchFamily="49" charset="0"/>
              </a:rPr>
              <a:t>Recommend using a conda environment on cluster or homebrew for macOS</a:t>
            </a:r>
          </a:p>
        </p:txBody>
      </p:sp>
    </p:spTree>
    <p:extLst>
      <p:ext uri="{BB962C8B-B14F-4D97-AF65-F5344CB8AC3E}">
        <p14:creationId xmlns:p14="http://schemas.microsoft.com/office/powerpoint/2010/main" val="2726294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FEBCB-F327-2667-6A5A-D652E3EAA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1078C-BB19-128F-7883-71EE43A7003E}"/>
              </a:ext>
            </a:extLst>
          </p:cNvPr>
          <p:cNvSpPr>
            <a:spLocks noGrp="1"/>
          </p:cNvSpPr>
          <p:nvPr>
            <p:ph type="title"/>
          </p:nvPr>
        </p:nvSpPr>
        <p:spPr>
          <a:xfrm>
            <a:off x="317500" y="250031"/>
            <a:ext cx="5172797" cy="1325563"/>
          </a:xfrm>
        </p:spPr>
        <p:txBody>
          <a:bodyPr/>
          <a:lstStyle/>
          <a:p>
            <a:r>
              <a:rPr lang="en-US" dirty="0"/>
              <a:t>Connecting to the cluster</a:t>
            </a:r>
          </a:p>
        </p:txBody>
      </p:sp>
      <p:grpSp>
        <p:nvGrpSpPr>
          <p:cNvPr id="11" name="Group 10">
            <a:extLst>
              <a:ext uri="{FF2B5EF4-FFF2-40B4-BE49-F238E27FC236}">
                <a16:creationId xmlns:a16="http://schemas.microsoft.com/office/drawing/2014/main" id="{74B5169E-9D95-A043-D3F3-E6BE20FF359E}"/>
              </a:ext>
            </a:extLst>
          </p:cNvPr>
          <p:cNvGrpSpPr/>
          <p:nvPr/>
        </p:nvGrpSpPr>
        <p:grpSpPr>
          <a:xfrm>
            <a:off x="6181004" y="0"/>
            <a:ext cx="6010996" cy="6858000"/>
            <a:chOff x="3090502" y="0"/>
            <a:chExt cx="6010996" cy="6858000"/>
          </a:xfrm>
        </p:grpSpPr>
        <p:pic>
          <p:nvPicPr>
            <p:cNvPr id="5" name="Picture 4">
              <a:extLst>
                <a:ext uri="{FF2B5EF4-FFF2-40B4-BE49-F238E27FC236}">
                  <a16:creationId xmlns:a16="http://schemas.microsoft.com/office/drawing/2014/main" id="{A3AAC112-0999-900F-1D3B-8B88AE3BA414}"/>
                </a:ext>
              </a:extLst>
            </p:cNvPr>
            <p:cNvPicPr>
              <a:picLocks noChangeAspect="1"/>
            </p:cNvPicPr>
            <p:nvPr/>
          </p:nvPicPr>
          <p:blipFill>
            <a:blip r:embed="rId3"/>
            <a:stretch>
              <a:fillRect/>
            </a:stretch>
          </p:blipFill>
          <p:spPr>
            <a:xfrm>
              <a:off x="3090502" y="0"/>
              <a:ext cx="6010996" cy="6858000"/>
            </a:xfrm>
            <a:prstGeom prst="rect">
              <a:avLst/>
            </a:prstGeom>
          </p:spPr>
        </p:pic>
        <p:pic>
          <p:nvPicPr>
            <p:cNvPr id="8" name="Picture 7">
              <a:extLst>
                <a:ext uri="{FF2B5EF4-FFF2-40B4-BE49-F238E27FC236}">
                  <a16:creationId xmlns:a16="http://schemas.microsoft.com/office/drawing/2014/main" id="{E6A21681-0F28-EEA1-BF87-1995B32C202C}"/>
                </a:ext>
              </a:extLst>
            </p:cNvPr>
            <p:cNvPicPr>
              <a:picLocks noChangeAspect="1"/>
            </p:cNvPicPr>
            <p:nvPr/>
          </p:nvPicPr>
          <p:blipFill>
            <a:blip r:embed="rId4"/>
            <a:stretch>
              <a:fillRect/>
            </a:stretch>
          </p:blipFill>
          <p:spPr>
            <a:xfrm>
              <a:off x="3206508" y="6392468"/>
              <a:ext cx="2327659" cy="465532"/>
            </a:xfrm>
            <a:prstGeom prst="rect">
              <a:avLst/>
            </a:prstGeom>
          </p:spPr>
        </p:pic>
        <p:pic>
          <p:nvPicPr>
            <p:cNvPr id="10" name="Picture 9">
              <a:extLst>
                <a:ext uri="{FF2B5EF4-FFF2-40B4-BE49-F238E27FC236}">
                  <a16:creationId xmlns:a16="http://schemas.microsoft.com/office/drawing/2014/main" id="{D7202485-F05A-1CEF-D7DE-4886C7FEE408}"/>
                </a:ext>
              </a:extLst>
            </p:cNvPr>
            <p:cNvPicPr>
              <a:picLocks noChangeAspect="1"/>
            </p:cNvPicPr>
            <p:nvPr/>
          </p:nvPicPr>
          <p:blipFill>
            <a:blip r:embed="rId5"/>
            <a:stretch>
              <a:fillRect/>
            </a:stretch>
          </p:blipFill>
          <p:spPr>
            <a:xfrm>
              <a:off x="5333893" y="6375408"/>
              <a:ext cx="1524213" cy="428685"/>
            </a:xfrm>
            <a:prstGeom prst="rect">
              <a:avLst/>
            </a:prstGeom>
          </p:spPr>
        </p:pic>
      </p:grpSp>
      <p:sp>
        <p:nvSpPr>
          <p:cNvPr id="13" name="Content Placeholder 12">
            <a:extLst>
              <a:ext uri="{FF2B5EF4-FFF2-40B4-BE49-F238E27FC236}">
                <a16:creationId xmlns:a16="http://schemas.microsoft.com/office/drawing/2014/main" id="{D60DF920-6022-3816-B1B9-36A9E6630610}"/>
              </a:ext>
            </a:extLst>
          </p:cNvPr>
          <p:cNvSpPr>
            <a:spLocks noGrp="1"/>
          </p:cNvSpPr>
          <p:nvPr>
            <p:ph idx="1"/>
          </p:nvPr>
        </p:nvSpPr>
        <p:spPr>
          <a:xfrm>
            <a:off x="317500" y="1825625"/>
            <a:ext cx="5778500" cy="4351338"/>
          </a:xfrm>
        </p:spPr>
        <p:txBody>
          <a:bodyPr>
            <a:normAutofit/>
          </a:bodyPr>
          <a:lstStyle/>
          <a:p>
            <a:r>
              <a:rPr lang="en-US" dirty="0"/>
              <a:t>Use the </a:t>
            </a:r>
            <a:r>
              <a:rPr lang="en-US" dirty="0">
                <a:latin typeface="Consolas" panose="020B0609020204030204" pitchFamily="49" charset="0"/>
              </a:rPr>
              <a:t>ssh</a:t>
            </a:r>
            <a:r>
              <a:rPr lang="en-US" dirty="0"/>
              <a:t> command to connect to the cannon cluster:</a:t>
            </a:r>
          </a:p>
          <a:p>
            <a:endParaRPr lang="en-US" dirty="0"/>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white">
                    <a:lumMod val="95000"/>
                  </a:prstClr>
                </a:solidFill>
                <a:effectLst/>
                <a:highlight>
                  <a:srgbClr val="000000"/>
                </a:highlight>
                <a:uLnTx/>
                <a:uFillTx/>
                <a:latin typeface="Consolas" panose="020B0609020204030204" pitchFamily="49" charset="0"/>
                <a:ea typeface="+mn-ea"/>
                <a:cs typeface="+mn-cs"/>
              </a:rPr>
              <a:t>ssh &lt;username&gt;@login.rc.fas.harvard.edu</a:t>
            </a:r>
            <a:endParaRPr kumimoji="0" lang="en-US" sz="2000" b="0" i="0" u="none" strike="noStrike" kern="1200" cap="none" spc="0" normalizeH="0" baseline="0" noProof="0" dirty="0">
              <a:ln>
                <a:noFill/>
              </a:ln>
              <a:solidFill>
                <a:prstClr val="white">
                  <a:lumMod val="95000"/>
                </a:prstClr>
              </a:solidFill>
              <a:effectLst/>
              <a:highlight>
                <a:srgbClr val="000000"/>
              </a:highlight>
              <a:uLnTx/>
              <a:uFillTx/>
              <a:latin typeface="Aptos" panose="02110004020202020204"/>
              <a:ea typeface="+mn-ea"/>
              <a:cs typeface="+mn-cs"/>
            </a:endParaRPr>
          </a:p>
          <a:p>
            <a:pPr marL="0" indent="0">
              <a:buNone/>
            </a:pPr>
            <a:endParaRPr lang="en-US" dirty="0"/>
          </a:p>
        </p:txBody>
      </p:sp>
      <p:sp>
        <p:nvSpPr>
          <p:cNvPr id="3" name="Rectangle: Rounded Corners 2">
            <a:extLst>
              <a:ext uri="{FF2B5EF4-FFF2-40B4-BE49-F238E27FC236}">
                <a16:creationId xmlns:a16="http://schemas.microsoft.com/office/drawing/2014/main" id="{18035A13-1407-163C-E313-D386B4B98C3B}"/>
              </a:ext>
            </a:extLst>
          </p:cNvPr>
          <p:cNvSpPr/>
          <p:nvPr/>
        </p:nvSpPr>
        <p:spPr>
          <a:xfrm>
            <a:off x="6261342" y="358440"/>
            <a:ext cx="3221617" cy="232767"/>
          </a:xfrm>
          <a:prstGeom prst="roundRect">
            <a:avLst/>
          </a:prstGeom>
          <a:no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9207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861B3-EB56-E277-E62D-C128632E72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F930D-1A31-C77C-7959-6584FAC40E34}"/>
              </a:ext>
            </a:extLst>
          </p:cNvPr>
          <p:cNvSpPr>
            <a:spLocks noGrp="1"/>
          </p:cNvSpPr>
          <p:nvPr>
            <p:ph type="title"/>
          </p:nvPr>
        </p:nvSpPr>
        <p:spPr>
          <a:xfrm>
            <a:off x="317500" y="250031"/>
            <a:ext cx="5172797" cy="1325563"/>
          </a:xfrm>
        </p:spPr>
        <p:txBody>
          <a:bodyPr/>
          <a:lstStyle/>
          <a:p>
            <a:r>
              <a:rPr lang="en-US" dirty="0"/>
              <a:t>Create conda env for </a:t>
            </a:r>
            <a:r>
              <a:rPr lang="en-US" dirty="0">
                <a:latin typeface="Consolas" panose="020B0609020204030204" pitchFamily="49" charset="0"/>
                <a:cs typeface="Consolas" panose="020B0609020204030204" pitchFamily="49" charset="0"/>
              </a:rPr>
              <a:t>gh</a:t>
            </a:r>
            <a:r>
              <a:rPr lang="en-US" dirty="0"/>
              <a:t> CLI</a:t>
            </a:r>
          </a:p>
        </p:txBody>
      </p:sp>
      <p:sp>
        <p:nvSpPr>
          <p:cNvPr id="13" name="Content Placeholder 12">
            <a:extLst>
              <a:ext uri="{FF2B5EF4-FFF2-40B4-BE49-F238E27FC236}">
                <a16:creationId xmlns:a16="http://schemas.microsoft.com/office/drawing/2014/main" id="{E81E2AA5-A336-34BF-36A4-B721A6B6A4E1}"/>
              </a:ext>
            </a:extLst>
          </p:cNvPr>
          <p:cNvSpPr>
            <a:spLocks noGrp="1"/>
          </p:cNvSpPr>
          <p:nvPr>
            <p:ph idx="1"/>
          </p:nvPr>
        </p:nvSpPr>
        <p:spPr>
          <a:xfrm>
            <a:off x="317500" y="1825625"/>
            <a:ext cx="6508602" cy="4351338"/>
          </a:xfrm>
        </p:spPr>
        <p:txBody>
          <a:bodyPr>
            <a:normAutofit/>
          </a:bodyPr>
          <a:lstStyle/>
          <a:p>
            <a:r>
              <a:rPr lang="en-US" dirty="0">
                <a:cs typeface="Consolas" panose="020B0609020204030204" pitchFamily="49" charset="0"/>
              </a:rPr>
              <a:t>This is mainly a simpler way to authenticate &amp; perform other GitHub specific actions</a:t>
            </a:r>
          </a:p>
          <a:p>
            <a:pPr marL="0" indent="0">
              <a:buNone/>
            </a:pPr>
            <a:endParaRPr lang="en-US" dirty="0">
              <a:latin typeface="Consolas" panose="020B0609020204030204" pitchFamily="49" charset="0"/>
              <a:cs typeface="Consolas" panose="020B0609020204030204" pitchFamily="49" charset="0"/>
            </a:endParaRPr>
          </a:p>
          <a:p>
            <a:pPr marL="0" indent="0">
              <a:buNone/>
            </a:pPr>
            <a:r>
              <a:rPr lang="en-US" dirty="0">
                <a:solidFill>
                  <a:schemeClr val="bg1"/>
                </a:solidFill>
                <a:highlight>
                  <a:srgbClr val="000000"/>
                </a:highlight>
                <a:latin typeface="Consolas" panose="020B0609020204030204" pitchFamily="49" charset="0"/>
                <a:cs typeface="Consolas" panose="020B0609020204030204" pitchFamily="49" charset="0"/>
              </a:rPr>
              <a:t>module load python</a:t>
            </a:r>
          </a:p>
          <a:p>
            <a:pPr marL="0" indent="0">
              <a:buNone/>
            </a:pPr>
            <a:r>
              <a:rPr lang="en-US" dirty="0">
                <a:solidFill>
                  <a:schemeClr val="bg1"/>
                </a:solidFill>
                <a:highlight>
                  <a:srgbClr val="000000"/>
                </a:highlight>
                <a:latin typeface="Consolas" panose="020B0609020204030204" pitchFamily="49" charset="0"/>
                <a:cs typeface="Consolas" panose="020B0609020204030204" pitchFamily="49" charset="0"/>
              </a:rPr>
              <a:t>conda create --name ghcli gh -y</a:t>
            </a:r>
          </a:p>
          <a:p>
            <a:pPr marL="0" indent="0">
              <a:buNone/>
            </a:pPr>
            <a:r>
              <a:rPr lang="en-US" dirty="0">
                <a:solidFill>
                  <a:schemeClr val="bg1"/>
                </a:solidFill>
                <a:highlight>
                  <a:srgbClr val="000000"/>
                </a:highlight>
                <a:latin typeface="Consolas" panose="020B0609020204030204" pitchFamily="49" charset="0"/>
                <a:cs typeface="Consolas" panose="020B0609020204030204" pitchFamily="49" charset="0"/>
              </a:rPr>
              <a:t>conda activate ghcli</a:t>
            </a:r>
          </a:p>
        </p:txBody>
      </p:sp>
      <p:pic>
        <p:nvPicPr>
          <p:cNvPr id="7" name="Picture 6" descr="A screenshot of a computer screen&#10;&#10;AI-generated content may be incorrect.">
            <a:extLst>
              <a:ext uri="{FF2B5EF4-FFF2-40B4-BE49-F238E27FC236}">
                <a16:creationId xmlns:a16="http://schemas.microsoft.com/office/drawing/2014/main" id="{C9DB2644-E4A2-DF6B-1C26-7AF4CF79B2B5}"/>
              </a:ext>
            </a:extLst>
          </p:cNvPr>
          <p:cNvPicPr>
            <a:picLocks noChangeAspect="1"/>
          </p:cNvPicPr>
          <p:nvPr/>
        </p:nvPicPr>
        <p:blipFill>
          <a:blip r:embed="rId3"/>
          <a:srcRect l="6975" t="3305" r="6883"/>
          <a:stretch>
            <a:fillRect/>
          </a:stretch>
        </p:blipFill>
        <p:spPr>
          <a:xfrm>
            <a:off x="6930360" y="0"/>
            <a:ext cx="4944140" cy="7559235"/>
          </a:xfrm>
          <a:prstGeom prst="rect">
            <a:avLst/>
          </a:prstGeom>
        </p:spPr>
      </p:pic>
      <p:sp>
        <p:nvSpPr>
          <p:cNvPr id="3" name="Rectangle: Rounded Corners 2">
            <a:extLst>
              <a:ext uri="{FF2B5EF4-FFF2-40B4-BE49-F238E27FC236}">
                <a16:creationId xmlns:a16="http://schemas.microsoft.com/office/drawing/2014/main" id="{67D801C1-DE52-E22D-A63F-516C8C4C209D}"/>
              </a:ext>
            </a:extLst>
          </p:cNvPr>
          <p:cNvSpPr/>
          <p:nvPr/>
        </p:nvSpPr>
        <p:spPr>
          <a:xfrm>
            <a:off x="7005620" y="250031"/>
            <a:ext cx="3221617" cy="232767"/>
          </a:xfrm>
          <a:prstGeom prst="roundRect">
            <a:avLst/>
          </a:prstGeom>
          <a:no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7725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68C36-F485-7F7F-42E5-38523C3AF387}"/>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3400" kern="1200">
                <a:latin typeface="+mj-lt"/>
                <a:ea typeface="+mj-ea"/>
                <a:cs typeface="+mj-cs"/>
              </a:rPr>
              <a:t>Changing file names is not version control</a:t>
            </a:r>
          </a:p>
        </p:txBody>
      </p:sp>
      <p:pic>
        <p:nvPicPr>
          <p:cNvPr id="3" name="Picture 2" descr="Comic: a PhD student sends &quot;FINAL.doc&quot; to their supervisor, but after several increasingly intense and frustrating rounds of comments and revisions they end up with a file named &quot;FINAL_rev.22.comments49.corrections.10.#@$%WHYDIDCOMETOGRADSCHOOL????.doc&quot;">
            <a:extLst>
              <a:ext uri="{FF2B5EF4-FFF2-40B4-BE49-F238E27FC236}">
                <a16:creationId xmlns:a16="http://schemas.microsoft.com/office/drawing/2014/main" id="{3F4B5471-48EB-8220-6519-4244D035381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27" r="4808" b="6"/>
          <a:stretch/>
        </p:blipFill>
        <p:spPr bwMode="auto">
          <a:xfrm>
            <a:off x="4164155" y="1025054"/>
            <a:ext cx="3901164" cy="4967408"/>
          </a:xfrm>
          <a:prstGeom prst="rect">
            <a:avLst/>
          </a:prstGeom>
          <a:noFill/>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a:extLst>
            <a:ext uri="{909E8E84-426E-40DD-AFC4-6F175D3DCCD1}">
              <a14:hiddenFill xmlns:a14="http://schemas.microsoft.com/office/drawing/2010/main">
                <a:solidFill>
                  <a:srgbClr val="FFFFFF"/>
                </a:solidFill>
              </a14:hiddenFill>
            </a:ext>
          </a:extLst>
        </p:spPr>
      </p:pic>
      <p:pic>
        <p:nvPicPr>
          <p:cNvPr id="4" name="Grafik 5" descr="Ein Bild, das Text, Screenshot enthält.&#10;&#10;Automatisch generierte Beschreibung">
            <a:extLst>
              <a:ext uri="{FF2B5EF4-FFF2-40B4-BE49-F238E27FC236}">
                <a16:creationId xmlns:a16="http://schemas.microsoft.com/office/drawing/2014/main" id="{3E0661E9-68CA-88CD-B1E3-45C97A1838DD}"/>
              </a:ext>
            </a:extLst>
          </p:cNvPr>
          <p:cNvPicPr>
            <a:picLocks noChangeAspect="1"/>
          </p:cNvPicPr>
          <p:nvPr/>
        </p:nvPicPr>
        <p:blipFill>
          <a:blip r:embed="rId4"/>
          <a:stretch>
            <a:fillRect/>
          </a:stretch>
        </p:blipFill>
        <p:spPr>
          <a:xfrm>
            <a:off x="8191657" y="10138"/>
            <a:ext cx="4000343" cy="6772345"/>
          </a:xfrm>
          <a:prstGeom prst="rect">
            <a:avLst/>
          </a:prstGeom>
        </p:spPr>
      </p:pic>
      <p:sp>
        <p:nvSpPr>
          <p:cNvPr id="5" name="Abgerundetes Rechteck 6">
            <a:extLst>
              <a:ext uri="{FF2B5EF4-FFF2-40B4-BE49-F238E27FC236}">
                <a16:creationId xmlns:a16="http://schemas.microsoft.com/office/drawing/2014/main" id="{0908985E-01C4-6AB2-1125-CCA76AE45760}"/>
              </a:ext>
            </a:extLst>
          </p:cNvPr>
          <p:cNvSpPr/>
          <p:nvPr/>
        </p:nvSpPr>
        <p:spPr>
          <a:xfrm>
            <a:off x="10191828" y="1564426"/>
            <a:ext cx="676893" cy="581891"/>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ym typeface="Wingdings" pitchFamily="2" charset="2"/>
              </a:rPr>
              <a:t></a:t>
            </a:r>
            <a:endParaRPr lang="de-US"/>
          </a:p>
        </p:txBody>
      </p:sp>
      <p:sp>
        <p:nvSpPr>
          <p:cNvPr id="17" name="TextBox 16">
            <a:extLst>
              <a:ext uri="{FF2B5EF4-FFF2-40B4-BE49-F238E27FC236}">
                <a16:creationId xmlns:a16="http://schemas.microsoft.com/office/drawing/2014/main" id="{8E552018-2DA7-5A67-C396-B7CA758DE25D}"/>
              </a:ext>
            </a:extLst>
          </p:cNvPr>
          <p:cNvSpPr txBox="1"/>
          <p:nvPr/>
        </p:nvSpPr>
        <p:spPr>
          <a:xfrm>
            <a:off x="4164155" y="6117453"/>
            <a:ext cx="3860352" cy="261610"/>
          </a:xfrm>
          <a:prstGeom prst="rect">
            <a:avLst/>
          </a:prstGeom>
          <a:noFill/>
        </p:spPr>
        <p:txBody>
          <a:bodyPr wrap="none" rtlCol="0">
            <a:spAutoFit/>
          </a:bodyPr>
          <a:lstStyle/>
          <a:p>
            <a:r>
              <a:rPr lang="en-US" sz="1100"/>
              <a:t>“notFinal.doc” by Jorge Cham, </a:t>
            </a:r>
            <a:r>
              <a:rPr lang="en-US" sz="1100">
                <a:hlinkClick r:id="rId5"/>
              </a:rPr>
              <a:t>https://www.phdcomics.com</a:t>
            </a:r>
            <a:endParaRPr lang="en-US" sz="1100"/>
          </a:p>
        </p:txBody>
      </p:sp>
    </p:spTree>
    <p:extLst>
      <p:ext uri="{BB962C8B-B14F-4D97-AF65-F5344CB8AC3E}">
        <p14:creationId xmlns:p14="http://schemas.microsoft.com/office/powerpoint/2010/main" val="1075659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330C2-229C-2093-15BC-9B60F19DB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E2589C-E98D-36E6-DAF6-436BAE8D5862}"/>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3400"/>
              <a:t>Git is </a:t>
            </a:r>
            <a:r>
              <a:rPr lang="en-US" sz="3400" b="1"/>
              <a:t>manual</a:t>
            </a:r>
            <a:r>
              <a:rPr lang="en-US" sz="3400"/>
              <a:t> version control</a:t>
            </a:r>
            <a:endParaRPr lang="en-US" sz="3400" kern="1200">
              <a:latin typeface="+mj-lt"/>
              <a:ea typeface="+mj-ea"/>
              <a:cs typeface="+mj-cs"/>
            </a:endParaRPr>
          </a:p>
        </p:txBody>
      </p:sp>
      <p:pic>
        <p:nvPicPr>
          <p:cNvPr id="17" name="Graphic 16">
            <a:extLst>
              <a:ext uri="{FF2B5EF4-FFF2-40B4-BE49-F238E27FC236}">
                <a16:creationId xmlns:a16="http://schemas.microsoft.com/office/drawing/2014/main" id="{87166448-7FFF-A458-6DB8-13D4BD56584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14579" y="195262"/>
            <a:ext cx="5854700" cy="1866900"/>
          </a:xfrm>
          <a:prstGeom prst="rect">
            <a:avLst/>
          </a:prstGeom>
        </p:spPr>
      </p:pic>
      <p:sp>
        <p:nvSpPr>
          <p:cNvPr id="21" name="TextBox 20">
            <a:extLst>
              <a:ext uri="{FF2B5EF4-FFF2-40B4-BE49-F238E27FC236}">
                <a16:creationId xmlns:a16="http://schemas.microsoft.com/office/drawing/2014/main" id="{65B3E573-1625-C8F6-AB74-DDE3AA2AD6DC}"/>
              </a:ext>
            </a:extLst>
          </p:cNvPr>
          <p:cNvSpPr txBox="1"/>
          <p:nvPr/>
        </p:nvSpPr>
        <p:spPr>
          <a:xfrm>
            <a:off x="4367696" y="2635524"/>
            <a:ext cx="7357582" cy="3539430"/>
          </a:xfrm>
          <a:prstGeom prst="rect">
            <a:avLst/>
          </a:prstGeom>
          <a:noFill/>
        </p:spPr>
        <p:txBody>
          <a:bodyPr wrap="square">
            <a:spAutoFit/>
          </a:bodyPr>
          <a:lstStyle/>
          <a:p>
            <a:pPr marL="285750" indent="-285750">
              <a:buFont typeface="Arial" panose="020B0604020202020204" pitchFamily="34" charset="0"/>
              <a:buChar char="•"/>
            </a:pPr>
            <a:r>
              <a:rPr lang="en-US" sz="2800"/>
              <a:t>Allows </a:t>
            </a:r>
            <a:r>
              <a:rPr lang="en-US" sz="2800" b="1"/>
              <a:t>manual</a:t>
            </a:r>
            <a:r>
              <a:rPr lang="en-US" sz="2800"/>
              <a:t> snapshotting of directory</a:t>
            </a:r>
          </a:p>
          <a:p>
            <a:pPr marL="742950" lvl="1" indent="-285750">
              <a:buFont typeface="Arial" panose="020B0604020202020204" pitchFamily="34" charset="0"/>
              <a:buChar char="•"/>
            </a:pPr>
            <a:r>
              <a:rPr lang="en-US" sz="2800"/>
              <a:t>like Time Machine, Dropbox, Google Docs, but not automatic</a:t>
            </a:r>
          </a:p>
          <a:p>
            <a:pPr marL="285750" indent="-285750">
              <a:buFont typeface="Arial" panose="020B0604020202020204" pitchFamily="34" charset="0"/>
              <a:buChar char="•"/>
            </a:pPr>
            <a:r>
              <a:rPr lang="en-US" sz="2800"/>
              <a:t>Works </a:t>
            </a:r>
            <a:r>
              <a:rPr lang="en-US" sz="2800" b="1"/>
              <a:t>locally</a:t>
            </a:r>
            <a:r>
              <a:rPr lang="en-US" sz="2800"/>
              <a:t> (i.e. does not upload to anywhere on the internet)</a:t>
            </a:r>
          </a:p>
          <a:p>
            <a:pPr marL="285750" indent="-285750">
              <a:buFont typeface="Arial" panose="020B0604020202020204" pitchFamily="34" charset="0"/>
              <a:buChar char="•"/>
            </a:pPr>
            <a:r>
              <a:rPr lang="en-US" sz="2800"/>
              <a:t>A hidden folder (.git) tracks changes, not copies</a:t>
            </a:r>
          </a:p>
          <a:p>
            <a:pPr marL="285750" indent="-285750">
              <a:buFont typeface="Arial" panose="020B0604020202020204" pitchFamily="34" charset="0"/>
              <a:buChar char="•"/>
            </a:pPr>
            <a:r>
              <a:rPr lang="en-US" sz="2800"/>
              <a:t>Works </a:t>
            </a:r>
            <a:r>
              <a:rPr lang="en-US" sz="2800" b="1"/>
              <a:t>line by line</a:t>
            </a:r>
            <a:endParaRPr lang="en-US"/>
          </a:p>
        </p:txBody>
      </p:sp>
      <p:sp>
        <p:nvSpPr>
          <p:cNvPr id="23" name="TextBox 22">
            <a:extLst>
              <a:ext uri="{FF2B5EF4-FFF2-40B4-BE49-F238E27FC236}">
                <a16:creationId xmlns:a16="http://schemas.microsoft.com/office/drawing/2014/main" id="{4743DFAF-8B68-95DA-8DBF-CD8517D3EC0F}"/>
              </a:ext>
            </a:extLst>
          </p:cNvPr>
          <p:cNvSpPr txBox="1"/>
          <p:nvPr/>
        </p:nvSpPr>
        <p:spPr>
          <a:xfrm>
            <a:off x="4911531" y="1828510"/>
            <a:ext cx="1552028" cy="369332"/>
          </a:xfrm>
          <a:prstGeom prst="rect">
            <a:avLst/>
          </a:prstGeom>
          <a:noFill/>
        </p:spPr>
        <p:txBody>
          <a:bodyPr wrap="none" rtlCol="0">
            <a:spAutoFit/>
          </a:bodyPr>
          <a:lstStyle/>
          <a:p>
            <a:r>
              <a:rPr lang="en-US"/>
              <a:t>initial commit</a:t>
            </a:r>
          </a:p>
        </p:txBody>
      </p:sp>
      <p:sp>
        <p:nvSpPr>
          <p:cNvPr id="25" name="TextBox 24">
            <a:extLst>
              <a:ext uri="{FF2B5EF4-FFF2-40B4-BE49-F238E27FC236}">
                <a16:creationId xmlns:a16="http://schemas.microsoft.com/office/drawing/2014/main" id="{0AFF1A44-46CD-D80F-E633-DF23ECBDC179}"/>
              </a:ext>
            </a:extLst>
          </p:cNvPr>
          <p:cNvSpPr txBox="1"/>
          <p:nvPr/>
        </p:nvSpPr>
        <p:spPr>
          <a:xfrm>
            <a:off x="7278313" y="1828510"/>
            <a:ext cx="1127232" cy="369332"/>
          </a:xfrm>
          <a:prstGeom prst="rect">
            <a:avLst/>
          </a:prstGeom>
          <a:noFill/>
        </p:spPr>
        <p:txBody>
          <a:bodyPr wrap="none" rtlCol="0">
            <a:spAutoFit/>
          </a:bodyPr>
          <a:lstStyle/>
          <a:p>
            <a:r>
              <a:rPr lang="en-US"/>
              <a:t>commit 2</a:t>
            </a:r>
          </a:p>
        </p:txBody>
      </p:sp>
      <p:sp>
        <p:nvSpPr>
          <p:cNvPr id="26" name="TextBox 25">
            <a:extLst>
              <a:ext uri="{FF2B5EF4-FFF2-40B4-BE49-F238E27FC236}">
                <a16:creationId xmlns:a16="http://schemas.microsoft.com/office/drawing/2014/main" id="{4E9CA283-7936-192B-4004-59E6573EB93A}"/>
              </a:ext>
            </a:extLst>
          </p:cNvPr>
          <p:cNvSpPr txBox="1"/>
          <p:nvPr/>
        </p:nvSpPr>
        <p:spPr>
          <a:xfrm>
            <a:off x="9406658" y="1828510"/>
            <a:ext cx="1127232" cy="369332"/>
          </a:xfrm>
          <a:prstGeom prst="rect">
            <a:avLst/>
          </a:prstGeom>
          <a:noFill/>
        </p:spPr>
        <p:txBody>
          <a:bodyPr wrap="none" rtlCol="0">
            <a:spAutoFit/>
          </a:bodyPr>
          <a:lstStyle/>
          <a:p>
            <a:r>
              <a:rPr lang="en-US"/>
              <a:t>commit 3</a:t>
            </a:r>
          </a:p>
        </p:txBody>
      </p:sp>
    </p:spTree>
    <p:extLst>
      <p:ext uri="{BB962C8B-B14F-4D97-AF65-F5344CB8AC3E}">
        <p14:creationId xmlns:p14="http://schemas.microsoft.com/office/powerpoint/2010/main" val="2386557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55B73-FD05-8D52-DB33-2E7C402CDD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E9CE5E-DA95-4AA4-419A-5D72B61CEFCA}"/>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a:t>Why use git over Google Drive, Word, etc?</a:t>
            </a:r>
            <a:endParaRPr lang="en-US" sz="4000" kern="1200">
              <a:latin typeface="+mj-lt"/>
              <a:ea typeface="+mj-ea"/>
              <a:cs typeface="+mj-cs"/>
            </a:endParaRPr>
          </a:p>
        </p:txBody>
      </p:sp>
      <p:sp>
        <p:nvSpPr>
          <p:cNvPr id="11" name="TextBox 10">
            <a:extLst>
              <a:ext uri="{FF2B5EF4-FFF2-40B4-BE49-F238E27FC236}">
                <a16:creationId xmlns:a16="http://schemas.microsoft.com/office/drawing/2014/main" id="{F323F257-F52B-4982-897A-2283306F2811}"/>
              </a:ext>
            </a:extLst>
          </p:cNvPr>
          <p:cNvSpPr txBox="1"/>
          <p:nvPr/>
        </p:nvSpPr>
        <p:spPr>
          <a:xfrm>
            <a:off x="4504548" y="1710700"/>
            <a:ext cx="7205830" cy="3416320"/>
          </a:xfrm>
          <a:prstGeom prst="rect">
            <a:avLst/>
          </a:prstGeom>
          <a:noFill/>
        </p:spPr>
        <p:txBody>
          <a:bodyPr wrap="square" rtlCol="0">
            <a:spAutoFit/>
          </a:bodyPr>
          <a:lstStyle/>
          <a:p>
            <a:pPr marL="285750" indent="-285750">
              <a:buFont typeface="Arial" panose="020B0604020202020204" pitchFamily="34" charset="0"/>
              <a:buChar char="•"/>
            </a:pPr>
            <a:r>
              <a:rPr lang="en-US" sz="2400"/>
              <a:t>Records </a:t>
            </a:r>
            <a:r>
              <a:rPr lang="en-US" sz="2400" b="1"/>
              <a:t>all changes and who made them</a:t>
            </a:r>
          </a:p>
          <a:p>
            <a:pPr marL="742950" lvl="1" indent="-285750">
              <a:buFont typeface="Arial" panose="020B0604020202020204" pitchFamily="34" charset="0"/>
              <a:buChar char="•"/>
            </a:pPr>
            <a:r>
              <a:rPr lang="en-US" sz="2400"/>
              <a:t>compare to track changes in Word after you’ve “accepted changes”</a:t>
            </a:r>
          </a:p>
          <a:p>
            <a:pPr marL="285750" indent="-285750">
              <a:buFont typeface="Arial" panose="020B0604020202020204" pitchFamily="34" charset="0"/>
              <a:buChar char="•"/>
            </a:pPr>
            <a:r>
              <a:rPr lang="en-US" sz="2400"/>
              <a:t>You have </a:t>
            </a:r>
            <a:r>
              <a:rPr lang="en-US" sz="2400" b="1"/>
              <a:t>control over snapshots</a:t>
            </a:r>
          </a:p>
          <a:p>
            <a:pPr marL="285750" indent="-285750">
              <a:buFont typeface="Arial" panose="020B0604020202020204" pitchFamily="34" charset="0"/>
              <a:buChar char="•"/>
            </a:pPr>
            <a:r>
              <a:rPr lang="en-US" sz="2400"/>
              <a:t>You can </a:t>
            </a:r>
            <a:r>
              <a:rPr lang="en-US" sz="2400" b="1"/>
              <a:t>experiment with different versions </a:t>
            </a:r>
            <a:r>
              <a:rPr lang="en-US" sz="2400"/>
              <a:t>while keeping a working version intact</a:t>
            </a:r>
          </a:p>
          <a:p>
            <a:pPr marL="285750" indent="-285750">
              <a:buFont typeface="Arial" panose="020B0604020202020204" pitchFamily="34" charset="0"/>
              <a:buChar char="•"/>
            </a:pPr>
            <a:r>
              <a:rPr lang="en-US" sz="2400"/>
              <a:t>Will </a:t>
            </a:r>
            <a:r>
              <a:rPr lang="en-US" sz="2400" b="1"/>
              <a:t>never accidentally erase</a:t>
            </a:r>
            <a:r>
              <a:rPr lang="en-US" sz="2400"/>
              <a:t> something.</a:t>
            </a:r>
          </a:p>
          <a:p>
            <a:pPr marL="285750" indent="-285750">
              <a:buFont typeface="Arial" panose="020B0604020202020204" pitchFamily="34" charset="0"/>
              <a:buChar char="•"/>
            </a:pPr>
            <a:r>
              <a:rPr lang="en-US" sz="2400"/>
              <a:t>You can </a:t>
            </a:r>
            <a:r>
              <a:rPr lang="en-US" sz="2400" b="1"/>
              <a:t>time travel </a:t>
            </a:r>
            <a:r>
              <a:rPr lang="en-US" sz="2400"/>
              <a:t>across different versions of your files</a:t>
            </a:r>
          </a:p>
        </p:txBody>
      </p:sp>
    </p:spTree>
    <p:extLst>
      <p:ext uri="{BB962C8B-B14F-4D97-AF65-F5344CB8AC3E}">
        <p14:creationId xmlns:p14="http://schemas.microsoft.com/office/powerpoint/2010/main" val="834089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C8374-5E31-438D-8EDD-382925565C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D31222-7A27-BD5B-AE54-2034EEC71A37}"/>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3400" kern="1200">
                <a:latin typeface="+mj-lt"/>
                <a:ea typeface="+mj-ea"/>
                <a:cs typeface="+mj-cs"/>
              </a:rPr>
              <a:t>What is git?</a:t>
            </a:r>
          </a:p>
        </p:txBody>
      </p:sp>
      <p:sp>
        <p:nvSpPr>
          <p:cNvPr id="3" name="TextBox 2">
            <a:extLst>
              <a:ext uri="{FF2B5EF4-FFF2-40B4-BE49-F238E27FC236}">
                <a16:creationId xmlns:a16="http://schemas.microsoft.com/office/drawing/2014/main" id="{7C50B07E-C64E-1C4D-D106-6ACD2B84B692}"/>
              </a:ext>
            </a:extLst>
          </p:cNvPr>
          <p:cNvSpPr txBox="1"/>
          <p:nvPr/>
        </p:nvSpPr>
        <p:spPr>
          <a:xfrm>
            <a:off x="4315815" y="1864588"/>
            <a:ext cx="7676706" cy="3108543"/>
          </a:xfrm>
          <a:prstGeom prst="rect">
            <a:avLst/>
          </a:prstGeom>
          <a:noFill/>
        </p:spPr>
        <p:txBody>
          <a:bodyPr wrap="square" rtlCol="0">
            <a:spAutoFit/>
          </a:bodyPr>
          <a:lstStyle/>
          <a:p>
            <a:pPr marL="285750" indent="-285750">
              <a:buFont typeface="Arial" panose="020B0604020202020204" pitchFamily="34" charset="0"/>
              <a:buChar char="•"/>
            </a:pPr>
            <a:r>
              <a:rPr lang="en-US" sz="2800"/>
              <a:t>Version control software used by developers</a:t>
            </a:r>
          </a:p>
          <a:p>
            <a:pPr marL="285750" indent="-285750">
              <a:buFont typeface="Arial" panose="020B0604020202020204" pitchFamily="34" charset="0"/>
              <a:buChar char="•"/>
            </a:pPr>
            <a:r>
              <a:rPr lang="en-US" sz="2800"/>
              <a:t>Allows </a:t>
            </a:r>
            <a:r>
              <a:rPr lang="en-US" sz="2800" b="1"/>
              <a:t>manual</a:t>
            </a:r>
            <a:r>
              <a:rPr lang="en-US" sz="2800"/>
              <a:t> snapshotting of directory</a:t>
            </a:r>
          </a:p>
          <a:p>
            <a:pPr marL="742950" lvl="1" indent="-285750">
              <a:buFont typeface="Arial" panose="020B0604020202020204" pitchFamily="34" charset="0"/>
              <a:buChar char="•"/>
            </a:pPr>
            <a:r>
              <a:rPr lang="en-US" sz="2800"/>
              <a:t>like Time Machine, Dropbox, Google Docs, but not automatic</a:t>
            </a:r>
          </a:p>
          <a:p>
            <a:pPr marL="285750" indent="-285750">
              <a:buFont typeface="Arial" panose="020B0604020202020204" pitchFamily="34" charset="0"/>
              <a:buChar char="•"/>
            </a:pPr>
            <a:r>
              <a:rPr lang="en-US" sz="2800"/>
              <a:t>Works </a:t>
            </a:r>
            <a:r>
              <a:rPr lang="en-US" sz="2800" b="1"/>
              <a:t>locally</a:t>
            </a:r>
            <a:r>
              <a:rPr lang="en-US" sz="2800"/>
              <a:t> (i.e. does not upload to anywhere on the internet)</a:t>
            </a:r>
          </a:p>
          <a:p>
            <a:pPr marL="285750" indent="-285750">
              <a:buFont typeface="Arial" panose="020B0604020202020204" pitchFamily="34" charset="0"/>
              <a:buChar char="•"/>
            </a:pPr>
            <a:r>
              <a:rPr lang="en-US" sz="2800"/>
              <a:t>A hidden folder (.git) is how it tracks changes</a:t>
            </a:r>
          </a:p>
        </p:txBody>
      </p:sp>
    </p:spTree>
    <p:extLst>
      <p:ext uri="{BB962C8B-B14F-4D97-AF65-F5344CB8AC3E}">
        <p14:creationId xmlns:p14="http://schemas.microsoft.com/office/powerpoint/2010/main" val="762595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ADAAA332-DA58-0674-46C5-DB35A8B11FB2}"/>
              </a:ext>
            </a:extLst>
          </p:cNvPr>
          <p:cNvGrpSpPr/>
          <p:nvPr/>
        </p:nvGrpSpPr>
        <p:grpSpPr>
          <a:xfrm>
            <a:off x="478875" y="1081237"/>
            <a:ext cx="11234249" cy="4695525"/>
            <a:chOff x="390193" y="583324"/>
            <a:chExt cx="11234249" cy="4695525"/>
          </a:xfrm>
        </p:grpSpPr>
        <p:sp>
          <p:nvSpPr>
            <p:cNvPr id="6" name="Rectangle 5">
              <a:extLst>
                <a:ext uri="{FF2B5EF4-FFF2-40B4-BE49-F238E27FC236}">
                  <a16:creationId xmlns:a16="http://schemas.microsoft.com/office/drawing/2014/main" id="{8835C9B6-CFE1-CBE3-F0A4-EBD11D0BFE67}"/>
                </a:ext>
              </a:extLst>
            </p:cNvPr>
            <p:cNvSpPr/>
            <p:nvPr/>
          </p:nvSpPr>
          <p:spPr>
            <a:xfrm>
              <a:off x="4435364" y="607001"/>
              <a:ext cx="3074276"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Staging area</a:t>
              </a:r>
            </a:p>
          </p:txBody>
        </p:sp>
        <p:sp>
          <p:nvSpPr>
            <p:cNvPr id="7" name="Rectangle 6">
              <a:extLst>
                <a:ext uri="{FF2B5EF4-FFF2-40B4-BE49-F238E27FC236}">
                  <a16:creationId xmlns:a16="http://schemas.microsoft.com/office/drawing/2014/main" id="{2F5A1139-1EB3-7250-156D-04A46B7C195D}"/>
                </a:ext>
              </a:extLst>
            </p:cNvPr>
            <p:cNvSpPr/>
            <p:nvPr/>
          </p:nvSpPr>
          <p:spPr>
            <a:xfrm>
              <a:off x="390193" y="607229"/>
              <a:ext cx="2778671"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Working directory</a:t>
              </a:r>
            </a:p>
          </p:txBody>
        </p:sp>
        <p:sp>
          <p:nvSpPr>
            <p:cNvPr id="8" name="Rectangle 7">
              <a:extLst>
                <a:ext uri="{FF2B5EF4-FFF2-40B4-BE49-F238E27FC236}">
                  <a16:creationId xmlns:a16="http://schemas.microsoft.com/office/drawing/2014/main" id="{DE07B709-49F5-E382-7617-CE173E7A632D}"/>
                </a:ext>
              </a:extLst>
            </p:cNvPr>
            <p:cNvSpPr/>
            <p:nvPr/>
          </p:nvSpPr>
          <p:spPr>
            <a:xfrm>
              <a:off x="8776140" y="583324"/>
              <a:ext cx="2848302"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.git directory</a:t>
              </a:r>
            </a:p>
          </p:txBody>
        </p:sp>
        <p:cxnSp>
          <p:nvCxnSpPr>
            <p:cNvPr id="9" name="Straight Connector 8">
              <a:extLst>
                <a:ext uri="{FF2B5EF4-FFF2-40B4-BE49-F238E27FC236}">
                  <a16:creationId xmlns:a16="http://schemas.microsoft.com/office/drawing/2014/main" id="{BAC220A0-A379-04DD-45E7-CC1DBFD8E0BE}"/>
                </a:ext>
              </a:extLst>
            </p:cNvPr>
            <p:cNvCxnSpPr>
              <a:cxnSpLocks/>
            </p:cNvCxnSpPr>
            <p:nvPr/>
          </p:nvCxnSpPr>
          <p:spPr>
            <a:xfrm>
              <a:off x="1665889" y="1321705"/>
              <a:ext cx="0" cy="395714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7639363-74C7-366E-A03D-5E4949116D93}"/>
                </a:ext>
              </a:extLst>
            </p:cNvPr>
            <p:cNvCxnSpPr/>
            <p:nvPr/>
          </p:nvCxnSpPr>
          <p:spPr>
            <a:xfrm flipH="1">
              <a:off x="5972503" y="1298028"/>
              <a:ext cx="1" cy="395714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37D1A60-16EE-022D-072C-37CF6F45A1F5}"/>
                </a:ext>
              </a:extLst>
            </p:cNvPr>
            <p:cNvCxnSpPr/>
            <p:nvPr/>
          </p:nvCxnSpPr>
          <p:spPr>
            <a:xfrm flipH="1">
              <a:off x="10279116" y="1298028"/>
              <a:ext cx="1" cy="395714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Right Arrow 11">
              <a:extLst>
                <a:ext uri="{FF2B5EF4-FFF2-40B4-BE49-F238E27FC236}">
                  <a16:creationId xmlns:a16="http://schemas.microsoft.com/office/drawing/2014/main" id="{38CBD498-04AC-CD27-8520-B954484C9651}"/>
                </a:ext>
              </a:extLst>
            </p:cNvPr>
            <p:cNvSpPr/>
            <p:nvPr/>
          </p:nvSpPr>
          <p:spPr>
            <a:xfrm>
              <a:off x="1665889" y="1602828"/>
              <a:ext cx="4306614" cy="1517374"/>
            </a:xfrm>
            <a:prstGeom prst="rightArrow">
              <a:avLst/>
            </a:prstGeom>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Stage file (git add)</a:t>
              </a:r>
            </a:p>
          </p:txBody>
        </p:sp>
        <p:sp>
          <p:nvSpPr>
            <p:cNvPr id="13" name="Right Arrow 12">
              <a:extLst>
                <a:ext uri="{FF2B5EF4-FFF2-40B4-BE49-F238E27FC236}">
                  <a16:creationId xmlns:a16="http://schemas.microsoft.com/office/drawing/2014/main" id="{EBE2CDCE-28DE-D274-70C8-EACAB8ED7131}"/>
                </a:ext>
              </a:extLst>
            </p:cNvPr>
            <p:cNvSpPr/>
            <p:nvPr/>
          </p:nvSpPr>
          <p:spPr>
            <a:xfrm>
              <a:off x="5972502" y="1898860"/>
              <a:ext cx="4306614" cy="1766566"/>
            </a:xfrm>
            <a:prstGeom prst="rightArrow">
              <a:avLst/>
            </a:prstGeom>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(git commit -m “message”)</a:t>
              </a:r>
            </a:p>
          </p:txBody>
        </p:sp>
        <p:sp>
          <p:nvSpPr>
            <p:cNvPr id="14" name="Left Arrow 13">
              <a:extLst>
                <a:ext uri="{FF2B5EF4-FFF2-40B4-BE49-F238E27FC236}">
                  <a16:creationId xmlns:a16="http://schemas.microsoft.com/office/drawing/2014/main" id="{4B9B6D73-925A-A5C6-D3A7-2DD0B4B27997}"/>
                </a:ext>
              </a:extLst>
            </p:cNvPr>
            <p:cNvSpPr/>
            <p:nvPr/>
          </p:nvSpPr>
          <p:spPr>
            <a:xfrm>
              <a:off x="1665889" y="3416234"/>
              <a:ext cx="8613227" cy="1798497"/>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Retrieve saved version (git checkout or git restore)</a:t>
              </a:r>
            </a:p>
          </p:txBody>
        </p:sp>
      </p:grpSp>
    </p:spTree>
    <p:extLst>
      <p:ext uri="{BB962C8B-B14F-4D97-AF65-F5344CB8AC3E}">
        <p14:creationId xmlns:p14="http://schemas.microsoft.com/office/powerpoint/2010/main" val="2295596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D78D6-92B0-B15D-A93F-E5D556611AB3}"/>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52201F91-A918-74F9-5AAC-B8EB990009AF}"/>
              </a:ext>
            </a:extLst>
          </p:cNvPr>
          <p:cNvGrpSpPr/>
          <p:nvPr/>
        </p:nvGrpSpPr>
        <p:grpSpPr>
          <a:xfrm>
            <a:off x="478875" y="1081237"/>
            <a:ext cx="11234249" cy="4695525"/>
            <a:chOff x="390193" y="583324"/>
            <a:chExt cx="11234249" cy="4695525"/>
          </a:xfrm>
        </p:grpSpPr>
        <p:sp>
          <p:nvSpPr>
            <p:cNvPr id="6" name="Rectangle 5">
              <a:extLst>
                <a:ext uri="{FF2B5EF4-FFF2-40B4-BE49-F238E27FC236}">
                  <a16:creationId xmlns:a16="http://schemas.microsoft.com/office/drawing/2014/main" id="{A411DD0C-3891-6618-3535-07CC3E2D5770}"/>
                </a:ext>
              </a:extLst>
            </p:cNvPr>
            <p:cNvSpPr/>
            <p:nvPr/>
          </p:nvSpPr>
          <p:spPr>
            <a:xfrm>
              <a:off x="4435364" y="607001"/>
              <a:ext cx="3074276"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Staging area</a:t>
              </a:r>
            </a:p>
          </p:txBody>
        </p:sp>
        <p:sp>
          <p:nvSpPr>
            <p:cNvPr id="7" name="Rectangle 6">
              <a:extLst>
                <a:ext uri="{FF2B5EF4-FFF2-40B4-BE49-F238E27FC236}">
                  <a16:creationId xmlns:a16="http://schemas.microsoft.com/office/drawing/2014/main" id="{A7DA316E-47FB-A68B-A538-8F53A64F67B2}"/>
                </a:ext>
              </a:extLst>
            </p:cNvPr>
            <p:cNvSpPr/>
            <p:nvPr/>
          </p:nvSpPr>
          <p:spPr>
            <a:xfrm>
              <a:off x="390193" y="607229"/>
              <a:ext cx="2778671"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Working directory</a:t>
              </a:r>
            </a:p>
          </p:txBody>
        </p:sp>
        <p:sp>
          <p:nvSpPr>
            <p:cNvPr id="8" name="Rectangle 7">
              <a:extLst>
                <a:ext uri="{FF2B5EF4-FFF2-40B4-BE49-F238E27FC236}">
                  <a16:creationId xmlns:a16="http://schemas.microsoft.com/office/drawing/2014/main" id="{4A6432D4-3176-7399-2E40-C921E7DD4DC5}"/>
                </a:ext>
              </a:extLst>
            </p:cNvPr>
            <p:cNvSpPr/>
            <p:nvPr/>
          </p:nvSpPr>
          <p:spPr>
            <a:xfrm>
              <a:off x="8776140" y="583324"/>
              <a:ext cx="2848302"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.git directory</a:t>
              </a:r>
            </a:p>
          </p:txBody>
        </p:sp>
        <p:cxnSp>
          <p:nvCxnSpPr>
            <p:cNvPr id="9" name="Straight Connector 8">
              <a:extLst>
                <a:ext uri="{FF2B5EF4-FFF2-40B4-BE49-F238E27FC236}">
                  <a16:creationId xmlns:a16="http://schemas.microsoft.com/office/drawing/2014/main" id="{2FE3F757-5E22-CABF-8600-D4A0C9082E9A}"/>
                </a:ext>
              </a:extLst>
            </p:cNvPr>
            <p:cNvCxnSpPr>
              <a:cxnSpLocks/>
            </p:cNvCxnSpPr>
            <p:nvPr/>
          </p:nvCxnSpPr>
          <p:spPr>
            <a:xfrm>
              <a:off x="1665889" y="1321705"/>
              <a:ext cx="0" cy="395714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CEE3A96-B12E-E383-B780-8F318E0EE683}"/>
                </a:ext>
              </a:extLst>
            </p:cNvPr>
            <p:cNvCxnSpPr/>
            <p:nvPr/>
          </p:nvCxnSpPr>
          <p:spPr>
            <a:xfrm flipH="1">
              <a:off x="5972503" y="1298028"/>
              <a:ext cx="1" cy="395714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95A70ED-9732-C7F9-D5A4-B81AFABE87EF}"/>
                </a:ext>
              </a:extLst>
            </p:cNvPr>
            <p:cNvCxnSpPr/>
            <p:nvPr/>
          </p:nvCxnSpPr>
          <p:spPr>
            <a:xfrm flipH="1">
              <a:off x="10279116" y="1298028"/>
              <a:ext cx="1" cy="395714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Right Arrow 11">
              <a:extLst>
                <a:ext uri="{FF2B5EF4-FFF2-40B4-BE49-F238E27FC236}">
                  <a16:creationId xmlns:a16="http://schemas.microsoft.com/office/drawing/2014/main" id="{94460D6B-078E-4202-F12C-F1A4BA2CE950}"/>
                </a:ext>
              </a:extLst>
            </p:cNvPr>
            <p:cNvSpPr/>
            <p:nvPr/>
          </p:nvSpPr>
          <p:spPr>
            <a:xfrm>
              <a:off x="1665889" y="1602828"/>
              <a:ext cx="4306614" cy="1517374"/>
            </a:xfrm>
            <a:prstGeom prst="rightArrow">
              <a:avLst/>
            </a:prstGeom>
            <a:ln w="762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Stage file (git add)</a:t>
              </a:r>
            </a:p>
          </p:txBody>
        </p:sp>
        <p:sp>
          <p:nvSpPr>
            <p:cNvPr id="13" name="Right Arrow 12">
              <a:extLst>
                <a:ext uri="{FF2B5EF4-FFF2-40B4-BE49-F238E27FC236}">
                  <a16:creationId xmlns:a16="http://schemas.microsoft.com/office/drawing/2014/main" id="{D9B4C672-90D7-33EE-77C6-441FEC345E31}"/>
                </a:ext>
              </a:extLst>
            </p:cNvPr>
            <p:cNvSpPr/>
            <p:nvPr/>
          </p:nvSpPr>
          <p:spPr>
            <a:xfrm>
              <a:off x="5972502" y="1898860"/>
              <a:ext cx="4306614" cy="1766566"/>
            </a:xfrm>
            <a:prstGeom prst="rightArrow">
              <a:avLst/>
            </a:prstGeom>
            <a:ln w="762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(git commit -m “message”)</a:t>
              </a:r>
            </a:p>
          </p:txBody>
        </p:sp>
        <p:sp>
          <p:nvSpPr>
            <p:cNvPr id="14" name="Left Arrow 13">
              <a:extLst>
                <a:ext uri="{FF2B5EF4-FFF2-40B4-BE49-F238E27FC236}">
                  <a16:creationId xmlns:a16="http://schemas.microsoft.com/office/drawing/2014/main" id="{78B019FF-FA9B-E01C-2639-31D98351E055}"/>
                </a:ext>
              </a:extLst>
            </p:cNvPr>
            <p:cNvSpPr/>
            <p:nvPr/>
          </p:nvSpPr>
          <p:spPr>
            <a:xfrm>
              <a:off x="1665889" y="3416234"/>
              <a:ext cx="8613227" cy="1798497"/>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Retrieve saved version (git checkout or git restore)</a:t>
              </a:r>
            </a:p>
          </p:txBody>
        </p:sp>
      </p:grpSp>
    </p:spTree>
    <p:extLst>
      <p:ext uri="{BB962C8B-B14F-4D97-AF65-F5344CB8AC3E}">
        <p14:creationId xmlns:p14="http://schemas.microsoft.com/office/powerpoint/2010/main" val="837204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3AA3961-D424-E3D5-2B9D-43ECE817C00F}"/>
              </a:ext>
            </a:extLst>
          </p:cNvPr>
          <p:cNvSpPr/>
          <p:nvPr/>
        </p:nvSpPr>
        <p:spPr>
          <a:xfrm>
            <a:off x="7940231" y="1684693"/>
            <a:ext cx="2604305" cy="29508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79D55745-9C8A-239F-C408-013B66081BCD}"/>
              </a:ext>
            </a:extLst>
          </p:cNvPr>
          <p:cNvGrpSpPr/>
          <p:nvPr/>
        </p:nvGrpSpPr>
        <p:grpSpPr>
          <a:xfrm>
            <a:off x="675022" y="2572473"/>
            <a:ext cx="3526588" cy="2265744"/>
            <a:chOff x="390193" y="583324"/>
            <a:chExt cx="11234249" cy="4695525"/>
          </a:xfrm>
        </p:grpSpPr>
        <p:sp>
          <p:nvSpPr>
            <p:cNvPr id="3" name="Rectangle 2">
              <a:extLst>
                <a:ext uri="{FF2B5EF4-FFF2-40B4-BE49-F238E27FC236}">
                  <a16:creationId xmlns:a16="http://schemas.microsoft.com/office/drawing/2014/main" id="{F9EDBE7F-943E-745D-DECE-ED3EE1369C8D}"/>
                </a:ext>
              </a:extLst>
            </p:cNvPr>
            <p:cNvSpPr/>
            <p:nvPr/>
          </p:nvSpPr>
          <p:spPr>
            <a:xfrm>
              <a:off x="4435364" y="607001"/>
              <a:ext cx="3074276"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Staging area</a:t>
              </a:r>
            </a:p>
          </p:txBody>
        </p:sp>
        <p:sp>
          <p:nvSpPr>
            <p:cNvPr id="4" name="Rectangle 3">
              <a:extLst>
                <a:ext uri="{FF2B5EF4-FFF2-40B4-BE49-F238E27FC236}">
                  <a16:creationId xmlns:a16="http://schemas.microsoft.com/office/drawing/2014/main" id="{39B96967-642C-21A1-5D7C-BD87ED536219}"/>
                </a:ext>
              </a:extLst>
            </p:cNvPr>
            <p:cNvSpPr/>
            <p:nvPr/>
          </p:nvSpPr>
          <p:spPr>
            <a:xfrm>
              <a:off x="390193" y="607229"/>
              <a:ext cx="2778671"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Working directory</a:t>
              </a:r>
            </a:p>
          </p:txBody>
        </p:sp>
        <p:sp>
          <p:nvSpPr>
            <p:cNvPr id="5" name="Rectangle 4">
              <a:extLst>
                <a:ext uri="{FF2B5EF4-FFF2-40B4-BE49-F238E27FC236}">
                  <a16:creationId xmlns:a16="http://schemas.microsoft.com/office/drawing/2014/main" id="{C5CD61E8-0E34-50AC-BEC2-F9DE17EFF379}"/>
                </a:ext>
              </a:extLst>
            </p:cNvPr>
            <p:cNvSpPr/>
            <p:nvPr/>
          </p:nvSpPr>
          <p:spPr>
            <a:xfrm>
              <a:off x="8776140" y="583324"/>
              <a:ext cx="2848302"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.git directory</a:t>
              </a:r>
            </a:p>
          </p:txBody>
        </p:sp>
        <p:cxnSp>
          <p:nvCxnSpPr>
            <p:cNvPr id="6" name="Straight Connector 5">
              <a:extLst>
                <a:ext uri="{FF2B5EF4-FFF2-40B4-BE49-F238E27FC236}">
                  <a16:creationId xmlns:a16="http://schemas.microsoft.com/office/drawing/2014/main" id="{3CB43A85-3732-54D1-55C4-D74ACE977AE6}"/>
                </a:ext>
              </a:extLst>
            </p:cNvPr>
            <p:cNvCxnSpPr>
              <a:cxnSpLocks/>
            </p:cNvCxnSpPr>
            <p:nvPr/>
          </p:nvCxnSpPr>
          <p:spPr>
            <a:xfrm>
              <a:off x="1665889" y="1321705"/>
              <a:ext cx="0" cy="395714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E637A8E-065E-851A-6342-1FACC334EC6E}"/>
                </a:ext>
              </a:extLst>
            </p:cNvPr>
            <p:cNvCxnSpPr/>
            <p:nvPr/>
          </p:nvCxnSpPr>
          <p:spPr>
            <a:xfrm flipH="1">
              <a:off x="5972503" y="1298028"/>
              <a:ext cx="1" cy="395714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F8407C8-3D0F-F117-2CE8-58120FDC4496}"/>
                </a:ext>
              </a:extLst>
            </p:cNvPr>
            <p:cNvCxnSpPr/>
            <p:nvPr/>
          </p:nvCxnSpPr>
          <p:spPr>
            <a:xfrm flipH="1">
              <a:off x="10279116" y="1298028"/>
              <a:ext cx="1" cy="395714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Right Arrow 8">
              <a:extLst>
                <a:ext uri="{FF2B5EF4-FFF2-40B4-BE49-F238E27FC236}">
                  <a16:creationId xmlns:a16="http://schemas.microsoft.com/office/drawing/2014/main" id="{F80CAC05-7809-C3DE-68C3-085CFC6801DD}"/>
                </a:ext>
              </a:extLst>
            </p:cNvPr>
            <p:cNvSpPr/>
            <p:nvPr/>
          </p:nvSpPr>
          <p:spPr>
            <a:xfrm>
              <a:off x="1665889" y="1602828"/>
              <a:ext cx="4306614" cy="980660"/>
            </a:xfrm>
            <a:prstGeom prst="rightArrow">
              <a:avLst/>
            </a:prstGeom>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Stage</a:t>
              </a:r>
            </a:p>
          </p:txBody>
        </p:sp>
        <p:sp>
          <p:nvSpPr>
            <p:cNvPr id="10" name="Right Arrow 9">
              <a:extLst>
                <a:ext uri="{FF2B5EF4-FFF2-40B4-BE49-F238E27FC236}">
                  <a16:creationId xmlns:a16="http://schemas.microsoft.com/office/drawing/2014/main" id="{127BF359-CC03-E1C7-9C32-34FEC632EFD4}"/>
                </a:ext>
              </a:extLst>
            </p:cNvPr>
            <p:cNvSpPr/>
            <p:nvPr/>
          </p:nvSpPr>
          <p:spPr>
            <a:xfrm>
              <a:off x="5972502" y="2574978"/>
              <a:ext cx="4306614" cy="1090448"/>
            </a:xfrm>
            <a:prstGeom prst="rightArrow">
              <a:avLst/>
            </a:prstGeom>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Commit</a:t>
              </a:r>
            </a:p>
          </p:txBody>
        </p:sp>
        <p:sp>
          <p:nvSpPr>
            <p:cNvPr id="11" name="Left Arrow 10">
              <a:extLst>
                <a:ext uri="{FF2B5EF4-FFF2-40B4-BE49-F238E27FC236}">
                  <a16:creationId xmlns:a16="http://schemas.microsoft.com/office/drawing/2014/main" id="{51DBFF28-6D23-265A-5B6C-CA2B09FDCEA0}"/>
                </a:ext>
              </a:extLst>
            </p:cNvPr>
            <p:cNvSpPr/>
            <p:nvPr/>
          </p:nvSpPr>
          <p:spPr>
            <a:xfrm>
              <a:off x="1665889" y="3697357"/>
              <a:ext cx="8613227" cy="980660"/>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Checkout</a:t>
              </a:r>
            </a:p>
          </p:txBody>
        </p:sp>
      </p:grpSp>
      <p:grpSp>
        <p:nvGrpSpPr>
          <p:cNvPr id="12" name="Group 11">
            <a:extLst>
              <a:ext uri="{FF2B5EF4-FFF2-40B4-BE49-F238E27FC236}">
                <a16:creationId xmlns:a16="http://schemas.microsoft.com/office/drawing/2014/main" id="{22F05476-54E3-8F01-5027-2144C84288F4}"/>
              </a:ext>
            </a:extLst>
          </p:cNvPr>
          <p:cNvGrpSpPr/>
          <p:nvPr/>
        </p:nvGrpSpPr>
        <p:grpSpPr>
          <a:xfrm>
            <a:off x="675022" y="1597455"/>
            <a:ext cx="3526588" cy="3252486"/>
            <a:chOff x="1126435" y="2442258"/>
            <a:chExt cx="3526588" cy="3252486"/>
          </a:xfrm>
        </p:grpSpPr>
        <p:sp>
          <p:nvSpPr>
            <p:cNvPr id="13" name="Rectangle 12">
              <a:extLst>
                <a:ext uri="{FF2B5EF4-FFF2-40B4-BE49-F238E27FC236}">
                  <a16:creationId xmlns:a16="http://schemas.microsoft.com/office/drawing/2014/main" id="{A4D43AAF-1376-4589-B0DD-F6243648AB5E}"/>
                </a:ext>
              </a:extLst>
            </p:cNvPr>
            <p:cNvSpPr/>
            <p:nvPr/>
          </p:nvSpPr>
          <p:spPr>
            <a:xfrm>
              <a:off x="1126435" y="2442258"/>
              <a:ext cx="3526588" cy="325248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AA602A9-6CD5-094F-5333-B7CB8F1187A6}"/>
                </a:ext>
              </a:extLst>
            </p:cNvPr>
            <p:cNvSpPr txBox="1"/>
            <p:nvPr/>
          </p:nvSpPr>
          <p:spPr>
            <a:xfrm>
              <a:off x="2083068" y="2649569"/>
              <a:ext cx="1471685" cy="461665"/>
            </a:xfrm>
            <a:prstGeom prst="rect">
              <a:avLst/>
            </a:prstGeom>
            <a:noFill/>
          </p:spPr>
          <p:txBody>
            <a:bodyPr wrap="none" rtlCol="0" anchor="ctr">
              <a:spAutoFit/>
            </a:bodyPr>
            <a:lstStyle/>
            <a:p>
              <a:pPr algn="ctr"/>
              <a:r>
                <a:rPr lang="en-US" sz="2400" dirty="0"/>
                <a:t>Local repo</a:t>
              </a:r>
            </a:p>
          </p:txBody>
        </p:sp>
      </p:grpSp>
      <p:pic>
        <p:nvPicPr>
          <p:cNvPr id="15" name="Picture 14" descr="A black cat with a white circle in the background&#10;&#10;Description automatically generated">
            <a:extLst>
              <a:ext uri="{FF2B5EF4-FFF2-40B4-BE49-F238E27FC236}">
                <a16:creationId xmlns:a16="http://schemas.microsoft.com/office/drawing/2014/main" id="{143A0FF2-A0D1-B78F-3196-91E5A95B2343}"/>
              </a:ext>
            </a:extLst>
          </p:cNvPr>
          <p:cNvPicPr>
            <a:picLocks noChangeAspect="1"/>
          </p:cNvPicPr>
          <p:nvPr/>
        </p:nvPicPr>
        <p:blipFill>
          <a:blip r:embed="rId3"/>
          <a:stretch>
            <a:fillRect/>
          </a:stretch>
        </p:blipFill>
        <p:spPr>
          <a:xfrm>
            <a:off x="8576058" y="3130093"/>
            <a:ext cx="1332653" cy="1303682"/>
          </a:xfrm>
          <a:prstGeom prst="rect">
            <a:avLst/>
          </a:prstGeom>
        </p:spPr>
      </p:pic>
      <p:sp>
        <p:nvSpPr>
          <p:cNvPr id="16" name="Rectangle 15">
            <a:extLst>
              <a:ext uri="{FF2B5EF4-FFF2-40B4-BE49-F238E27FC236}">
                <a16:creationId xmlns:a16="http://schemas.microsoft.com/office/drawing/2014/main" id="{8E6A241B-14D0-7385-294C-57646F63C09B}"/>
              </a:ext>
            </a:extLst>
          </p:cNvPr>
          <p:cNvSpPr/>
          <p:nvPr/>
        </p:nvSpPr>
        <p:spPr>
          <a:xfrm>
            <a:off x="7940233" y="1693152"/>
            <a:ext cx="2604304" cy="29508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dirty="0"/>
          </a:p>
          <a:p>
            <a:pPr algn="ctr"/>
            <a:r>
              <a:rPr lang="en-US" sz="2400" dirty="0"/>
              <a:t>Remote</a:t>
            </a:r>
          </a:p>
          <a:p>
            <a:pPr algn="ctr"/>
            <a:r>
              <a:rPr lang="en-US" sz="2400" dirty="0" err="1"/>
              <a:t>Your_name</a:t>
            </a:r>
            <a:r>
              <a:rPr lang="en-US" sz="2400" dirty="0"/>
              <a:t>/repo-name</a:t>
            </a:r>
          </a:p>
        </p:txBody>
      </p:sp>
      <p:sp>
        <p:nvSpPr>
          <p:cNvPr id="17" name="Right Arrow 16">
            <a:extLst>
              <a:ext uri="{FF2B5EF4-FFF2-40B4-BE49-F238E27FC236}">
                <a16:creationId xmlns:a16="http://schemas.microsoft.com/office/drawing/2014/main" id="{585D14FA-AC1F-8565-6D38-D4367441B711}"/>
              </a:ext>
            </a:extLst>
          </p:cNvPr>
          <p:cNvSpPr/>
          <p:nvPr/>
        </p:nvSpPr>
        <p:spPr>
          <a:xfrm>
            <a:off x="4324850" y="1784059"/>
            <a:ext cx="3445201" cy="960848"/>
          </a:xfrm>
          <a:prstGeom prst="rightArrow">
            <a:avLst/>
          </a:prstGeom>
          <a:ln w="762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Backup to remote (git push)</a:t>
            </a:r>
          </a:p>
        </p:txBody>
      </p:sp>
      <p:sp>
        <p:nvSpPr>
          <p:cNvPr id="18" name="Left Arrow 17">
            <a:extLst>
              <a:ext uri="{FF2B5EF4-FFF2-40B4-BE49-F238E27FC236}">
                <a16:creationId xmlns:a16="http://schemas.microsoft.com/office/drawing/2014/main" id="{018C979B-60C7-07DE-B182-8DE5F21E859D}"/>
              </a:ext>
            </a:extLst>
          </p:cNvPr>
          <p:cNvSpPr/>
          <p:nvPr/>
        </p:nvSpPr>
        <p:spPr>
          <a:xfrm>
            <a:off x="4258453" y="2861387"/>
            <a:ext cx="3406717" cy="101067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Retrieve from remote (git pull)</a:t>
            </a:r>
          </a:p>
        </p:txBody>
      </p:sp>
      <p:sp>
        <p:nvSpPr>
          <p:cNvPr id="20" name="TextBox 19">
            <a:extLst>
              <a:ext uri="{FF2B5EF4-FFF2-40B4-BE49-F238E27FC236}">
                <a16:creationId xmlns:a16="http://schemas.microsoft.com/office/drawing/2014/main" id="{6825E38D-0A45-ACA0-6736-A52DC10BC533}"/>
              </a:ext>
            </a:extLst>
          </p:cNvPr>
          <p:cNvSpPr txBox="1"/>
          <p:nvPr/>
        </p:nvSpPr>
        <p:spPr>
          <a:xfrm>
            <a:off x="1037036" y="5350185"/>
            <a:ext cx="2660921" cy="369332"/>
          </a:xfrm>
          <a:prstGeom prst="rect">
            <a:avLst/>
          </a:prstGeom>
          <a:noFill/>
        </p:spPr>
        <p:txBody>
          <a:bodyPr wrap="none" rtlCol="0">
            <a:spAutoFit/>
          </a:bodyPr>
          <a:lstStyle/>
          <a:p>
            <a:r>
              <a:rPr lang="en-US"/>
              <a:t>git on your local machine</a:t>
            </a:r>
          </a:p>
        </p:txBody>
      </p:sp>
      <p:sp>
        <p:nvSpPr>
          <p:cNvPr id="21" name="TextBox 20">
            <a:extLst>
              <a:ext uri="{FF2B5EF4-FFF2-40B4-BE49-F238E27FC236}">
                <a16:creationId xmlns:a16="http://schemas.microsoft.com/office/drawing/2014/main" id="{6730FA62-9395-3A34-CA6A-3D78F85CDC7E}"/>
              </a:ext>
            </a:extLst>
          </p:cNvPr>
          <p:cNvSpPr txBox="1"/>
          <p:nvPr/>
        </p:nvSpPr>
        <p:spPr>
          <a:xfrm>
            <a:off x="7940231" y="5342759"/>
            <a:ext cx="2732928" cy="369332"/>
          </a:xfrm>
          <a:prstGeom prst="rect">
            <a:avLst/>
          </a:prstGeom>
          <a:noFill/>
        </p:spPr>
        <p:txBody>
          <a:bodyPr wrap="none" rtlCol="0">
            <a:spAutoFit/>
          </a:bodyPr>
          <a:lstStyle/>
          <a:p>
            <a:r>
              <a:rPr lang="en-US"/>
              <a:t>GitHub on remote servers</a:t>
            </a:r>
          </a:p>
        </p:txBody>
      </p:sp>
    </p:spTree>
    <p:extLst>
      <p:ext uri="{BB962C8B-B14F-4D97-AF65-F5344CB8AC3E}">
        <p14:creationId xmlns:p14="http://schemas.microsoft.com/office/powerpoint/2010/main" val="591984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710C2DCE-E044-78AA-1017-5EC7B016F153}"/>
              </a:ext>
            </a:extLst>
          </p:cNvPr>
          <p:cNvGraphicFramePr>
            <a:graphicFrameLocks noGrp="1"/>
          </p:cNvGraphicFramePr>
          <p:nvPr/>
        </p:nvGraphicFramePr>
        <p:xfrm>
          <a:off x="486062" y="130684"/>
          <a:ext cx="11219875" cy="6557421"/>
        </p:xfrm>
        <a:graphic>
          <a:graphicData uri="http://schemas.openxmlformats.org/drawingml/2006/table">
            <a:tbl>
              <a:tblPr firstRow="1" bandRow="1">
                <a:solidFill>
                  <a:schemeClr val="bg1"/>
                </a:solidFill>
              </a:tblPr>
              <a:tblGrid>
                <a:gridCol w="2574643">
                  <a:extLst>
                    <a:ext uri="{9D8B030D-6E8A-4147-A177-3AD203B41FA5}">
                      <a16:colId xmlns:a16="http://schemas.microsoft.com/office/drawing/2014/main" val="2566721546"/>
                    </a:ext>
                  </a:extLst>
                </a:gridCol>
                <a:gridCol w="2818268">
                  <a:extLst>
                    <a:ext uri="{9D8B030D-6E8A-4147-A177-3AD203B41FA5}">
                      <a16:colId xmlns:a16="http://schemas.microsoft.com/office/drawing/2014/main" val="3893320685"/>
                    </a:ext>
                  </a:extLst>
                </a:gridCol>
                <a:gridCol w="2913482">
                  <a:extLst>
                    <a:ext uri="{9D8B030D-6E8A-4147-A177-3AD203B41FA5}">
                      <a16:colId xmlns:a16="http://schemas.microsoft.com/office/drawing/2014/main" val="3712737575"/>
                    </a:ext>
                  </a:extLst>
                </a:gridCol>
                <a:gridCol w="2913482">
                  <a:extLst>
                    <a:ext uri="{9D8B030D-6E8A-4147-A177-3AD203B41FA5}">
                      <a16:colId xmlns:a16="http://schemas.microsoft.com/office/drawing/2014/main" val="3032844368"/>
                    </a:ext>
                  </a:extLst>
                </a:gridCol>
              </a:tblGrid>
              <a:tr h="458193">
                <a:tc>
                  <a:txBody>
                    <a:bodyPr/>
                    <a:lstStyle/>
                    <a:p>
                      <a:pPr fontAlgn="t" latinLnBrk="0"/>
                      <a:r>
                        <a:rPr lang="en-US" sz="1500" b="0" cap="none" spc="0">
                          <a:solidFill>
                            <a:schemeClr val="bg1"/>
                          </a:solidFill>
                          <a:effectLst/>
                        </a:rPr>
                        <a:t>Feature</a:t>
                      </a:r>
                    </a:p>
                  </a:txBody>
                  <a:tcPr marL="125842" marR="57581" marT="96801" marB="96801"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fontAlgn="t" latinLnBrk="0"/>
                      <a:endParaRPr lang="en-US" sz="1500" b="0" cap="none" spc="0" dirty="0">
                        <a:solidFill>
                          <a:schemeClr val="bg1"/>
                        </a:solidFill>
                        <a:effectLst/>
                      </a:endParaRPr>
                    </a:p>
                  </a:txBody>
                  <a:tcPr marL="125842" marR="57581" marT="96801" marB="96801"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fontAlgn="t" latinLnBrk="0"/>
                      <a:r>
                        <a:rPr lang="en-US" sz="1500" b="0" cap="none" spc="0">
                          <a:solidFill>
                            <a:schemeClr val="bg1"/>
                          </a:solidFill>
                          <a:effectLst/>
                        </a:rPr>
                        <a:t>GitHub</a:t>
                      </a:r>
                    </a:p>
                  </a:txBody>
                  <a:tcPr marL="125842" marR="57581" marT="96801" marB="96801"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fontAlgn="t" latinLnBrk="0"/>
                      <a:r>
                        <a:rPr lang="en-US" sz="1500" b="0" cap="none" spc="0">
                          <a:solidFill>
                            <a:schemeClr val="bg1"/>
                          </a:solidFill>
                          <a:effectLst/>
                        </a:rPr>
                        <a:t>GitHub Desktop</a:t>
                      </a:r>
                    </a:p>
                  </a:txBody>
                  <a:tcPr marL="125842" marR="57581" marT="96801" marB="96801"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1481575192"/>
                  </a:ext>
                </a:extLst>
              </a:tr>
              <a:tr h="458193">
                <a:tc>
                  <a:txBody>
                    <a:bodyPr/>
                    <a:lstStyle/>
                    <a:p>
                      <a:pPr fontAlgn="base" latinLnBrk="0"/>
                      <a:r>
                        <a:rPr lang="en-US" sz="1500" cap="none" spc="0">
                          <a:solidFill>
                            <a:schemeClr val="tx1"/>
                          </a:solidFill>
                          <a:effectLst/>
                        </a:rPr>
                        <a:t>Type</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Local version control software</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fontAlgn="base" latinLnBrk="0"/>
                      <a:r>
                        <a:rPr lang="en-US" sz="1500" cap="none" spc="0" dirty="0">
                          <a:solidFill>
                            <a:schemeClr val="tx1"/>
                          </a:solidFill>
                          <a:effectLst/>
                        </a:rPr>
                        <a:t>Cloud-based hosting service</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38100" cmpd="sng">
                      <a:noFill/>
                    </a:lnT>
                    <a:lnB w="6350" cap="flat" cmpd="sng" algn="ctr">
                      <a:solidFill>
                        <a:schemeClr val="tx1">
                          <a:lumMod val="50000"/>
                          <a:lumOff val="50000"/>
                        </a:schemeClr>
                      </a:solidFill>
                      <a:prstDash val="solid"/>
                    </a:lnB>
                    <a:noFill/>
                  </a:tcPr>
                </a:tc>
                <a:tc>
                  <a:txBody>
                    <a:bodyPr/>
                    <a:lstStyle/>
                    <a:p>
                      <a:pPr fontAlgn="base" latinLnBrk="0"/>
                      <a:r>
                        <a:rPr lang="en-US" sz="1500" cap="none" spc="0" dirty="0">
                          <a:solidFill>
                            <a:schemeClr val="tx1"/>
                          </a:solidFill>
                          <a:effectLst/>
                        </a:rPr>
                        <a:t>Software to help manage GitHub repositories with a user interface</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38100" cmpd="sng">
                      <a:noFill/>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515302146"/>
                  </a:ext>
                </a:extLst>
              </a:tr>
              <a:tr h="684063">
                <a:tc>
                  <a:txBody>
                    <a:bodyPr/>
                    <a:lstStyle/>
                    <a:p>
                      <a:pPr fontAlgn="base" latinLnBrk="0"/>
                      <a:r>
                        <a:rPr lang="en-US" sz="1500" cap="none" spc="0">
                          <a:solidFill>
                            <a:schemeClr val="tx1"/>
                          </a:solidFill>
                          <a:effectLst/>
                        </a:rPr>
                        <a:t>Installation</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Downloaded and installed locally</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Web-based, no installation needed</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Downloaded and installed locally</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mpd="sng">
                      <a:noFill/>
                      <a:prstDash val="solid"/>
                    </a:lnB>
                    <a:solidFill>
                      <a:schemeClr val="bg1">
                        <a:lumMod val="85000"/>
                      </a:schemeClr>
                    </a:solidFill>
                  </a:tcPr>
                </a:tc>
                <a:extLst>
                  <a:ext uri="{0D108BD9-81ED-4DB2-BD59-A6C34878D82A}">
                    <a16:rowId xmlns:a16="http://schemas.microsoft.com/office/drawing/2014/main" val="2203901713"/>
                  </a:ext>
                </a:extLst>
              </a:tr>
              <a:tr h="458193">
                <a:tc>
                  <a:txBody>
                    <a:bodyPr/>
                    <a:lstStyle/>
                    <a:p>
                      <a:pPr fontAlgn="base" latinLnBrk="0"/>
                      <a:r>
                        <a:rPr lang="en-US" sz="1500" cap="none" spc="0">
                          <a:solidFill>
                            <a:schemeClr val="tx1"/>
                          </a:solidFill>
                          <a:effectLst/>
                        </a:rPr>
                        <a:t>Cost</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Free and open-source</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Free and paid tiers available</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Free</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12700" cmpd="sng">
                      <a:noFill/>
                      <a:prstDash val="soli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540095750"/>
                  </a:ext>
                </a:extLst>
              </a:tr>
              <a:tr h="458193">
                <a:tc>
                  <a:txBody>
                    <a:bodyPr/>
                    <a:lstStyle/>
                    <a:p>
                      <a:pPr fontAlgn="base" latinLnBrk="0"/>
                      <a:r>
                        <a:rPr lang="en-US" sz="1500" cap="none" spc="0">
                          <a:solidFill>
                            <a:schemeClr val="tx1"/>
                          </a:solidFill>
                          <a:effectLst/>
                        </a:rPr>
                        <a:t>Dependency</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Can work independently</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Requires Git to function</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Comes with its own copy of git</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mpd="sng">
                      <a:noFill/>
                      <a:prstDash val="solid"/>
                    </a:lnB>
                    <a:solidFill>
                      <a:schemeClr val="bg1">
                        <a:lumMod val="85000"/>
                      </a:schemeClr>
                    </a:solidFill>
                  </a:tcPr>
                </a:tc>
                <a:extLst>
                  <a:ext uri="{0D108BD9-81ED-4DB2-BD59-A6C34878D82A}">
                    <a16:rowId xmlns:a16="http://schemas.microsoft.com/office/drawing/2014/main" val="2414701731"/>
                  </a:ext>
                </a:extLst>
              </a:tr>
              <a:tr h="458193">
                <a:tc>
                  <a:txBody>
                    <a:bodyPr/>
                    <a:lstStyle/>
                    <a:p>
                      <a:pPr fontAlgn="base" latinLnBrk="0"/>
                      <a:r>
                        <a:rPr lang="en-US" sz="1500" cap="none" spc="0">
                          <a:solidFill>
                            <a:schemeClr val="tx1"/>
                          </a:solidFill>
                          <a:effectLst/>
                        </a:rPr>
                        <a:t>Ownership</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dirty="0">
                          <a:solidFill>
                            <a:schemeClr val="tx1"/>
                          </a:solidFill>
                          <a:effectLst/>
                        </a:rPr>
                        <a:t>Open-source community; (Maintained by the Linux Foundation)</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Owned by Microsoft</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Owned by Microsoft</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12700" cmpd="sng">
                      <a:noFill/>
                      <a:prstDash val="soli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669532681"/>
                  </a:ext>
                </a:extLst>
              </a:tr>
              <a:tr h="458193">
                <a:tc>
                  <a:txBody>
                    <a:bodyPr/>
                    <a:lstStyle/>
                    <a:p>
                      <a:pPr fontAlgn="base" latinLnBrk="0"/>
                      <a:r>
                        <a:rPr lang="en-US" sz="1500" cap="none" spc="0">
                          <a:solidFill>
                            <a:schemeClr val="tx1"/>
                          </a:solidFill>
                          <a:effectLst/>
                        </a:rPr>
                        <a:t>Internet Requirement</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Works offline</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Requires internet connection</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Requires internet connection</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mpd="sng">
                      <a:noFill/>
                      <a:prstDash val="solid"/>
                    </a:lnB>
                    <a:solidFill>
                      <a:schemeClr val="bg1">
                        <a:lumMod val="85000"/>
                      </a:schemeClr>
                    </a:solidFill>
                  </a:tcPr>
                </a:tc>
                <a:extLst>
                  <a:ext uri="{0D108BD9-81ED-4DB2-BD59-A6C34878D82A}">
                    <a16:rowId xmlns:a16="http://schemas.microsoft.com/office/drawing/2014/main" val="1398033193"/>
                  </a:ext>
                </a:extLst>
              </a:tr>
              <a:tr h="684063">
                <a:tc>
                  <a:txBody>
                    <a:bodyPr/>
                    <a:lstStyle/>
                    <a:p>
                      <a:pPr fontAlgn="base" latinLnBrk="0"/>
                      <a:r>
                        <a:rPr lang="en-US" sz="1500" cap="none" spc="0">
                          <a:solidFill>
                            <a:schemeClr val="tx1"/>
                          </a:solidFill>
                          <a:effectLst/>
                        </a:rPr>
                        <a:t>Primary Function</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dirty="0">
                          <a:solidFill>
                            <a:schemeClr val="tx1"/>
                          </a:solidFill>
                          <a:effectLst/>
                        </a:rPr>
                        <a:t>Version control and code management</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Repository hosting and collaboration</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Help manage git/GitHub repos</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12700" cmpd="sng">
                      <a:noFill/>
                      <a:prstDash val="soli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00001352"/>
                  </a:ext>
                </a:extLst>
              </a:tr>
              <a:tr h="458193">
                <a:tc>
                  <a:txBody>
                    <a:bodyPr/>
                    <a:lstStyle/>
                    <a:p>
                      <a:pPr fontAlgn="base" latinLnBrk="0"/>
                      <a:r>
                        <a:rPr lang="en-US" sz="1500" cap="none" spc="0">
                          <a:solidFill>
                            <a:schemeClr val="tx1"/>
                          </a:solidFill>
                          <a:effectLst/>
                        </a:rPr>
                        <a:t>Access</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Local machine only</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Accessible from anywhere</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Local machine only</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mpd="sng">
                      <a:noFill/>
                      <a:prstDash val="solid"/>
                    </a:lnB>
                    <a:solidFill>
                      <a:schemeClr val="bg1">
                        <a:lumMod val="85000"/>
                      </a:schemeClr>
                    </a:solidFill>
                  </a:tcPr>
                </a:tc>
                <a:extLst>
                  <a:ext uri="{0D108BD9-81ED-4DB2-BD59-A6C34878D82A}">
                    <a16:rowId xmlns:a16="http://schemas.microsoft.com/office/drawing/2014/main" val="3225847399"/>
                  </a:ext>
                </a:extLst>
              </a:tr>
              <a:tr h="684063">
                <a:tc>
                  <a:txBody>
                    <a:bodyPr/>
                    <a:lstStyle/>
                    <a:p>
                      <a:pPr fontAlgn="base" latinLnBrk="0"/>
                      <a:r>
                        <a:rPr lang="en-US" sz="1500" cap="none" spc="0">
                          <a:solidFill>
                            <a:schemeClr val="tx1"/>
                          </a:solidFill>
                          <a:effectLst/>
                        </a:rPr>
                        <a:t>Features</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Basic version control operations</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Additional features like issue tracking, pull requests, wikis</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Most features of git &amp; GitHub</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12700" cmpd="sng">
                      <a:noFill/>
                      <a:prstDash val="soli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772981506"/>
                  </a:ext>
                </a:extLst>
              </a:tr>
              <a:tr h="684063">
                <a:tc>
                  <a:txBody>
                    <a:bodyPr/>
                    <a:lstStyle/>
                    <a:p>
                      <a:pPr fontAlgn="base" latinLnBrk="0"/>
                      <a:r>
                        <a:rPr lang="en-US" sz="1500" cap="none" spc="0">
                          <a:solidFill>
                            <a:schemeClr val="tx1"/>
                          </a:solidFill>
                          <a:effectLst/>
                        </a:rPr>
                        <a:t>Security</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Local authentication</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dirty="0">
                          <a:solidFill>
                            <a:schemeClr val="tx1"/>
                          </a:solidFill>
                          <a:effectLst/>
                        </a:rPr>
                        <a:t>Two-factor authentication, access control</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dirty="0">
                          <a:solidFill>
                            <a:schemeClr val="tx1"/>
                          </a:solidFill>
                          <a:effectLst/>
                        </a:rPr>
                        <a:t>Connects to GitHub account</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mpd="sng">
                      <a:noFill/>
                      <a:prstDash val="solid"/>
                    </a:lnB>
                    <a:solidFill>
                      <a:schemeClr val="bg1">
                        <a:lumMod val="85000"/>
                      </a:schemeClr>
                    </a:solidFill>
                  </a:tcPr>
                </a:tc>
                <a:extLst>
                  <a:ext uri="{0D108BD9-81ED-4DB2-BD59-A6C34878D82A}">
                    <a16:rowId xmlns:a16="http://schemas.microsoft.com/office/drawing/2014/main" val="2102280542"/>
                  </a:ext>
                </a:extLst>
              </a:tr>
            </a:tbl>
          </a:graphicData>
        </a:graphic>
      </p:graphicFrame>
      <p:pic>
        <p:nvPicPr>
          <p:cNvPr id="5" name="Picture 4" descr="A black background with white text&#10;&#10;AI-generated content may be incorrect.">
            <a:extLst>
              <a:ext uri="{FF2B5EF4-FFF2-40B4-BE49-F238E27FC236}">
                <a16:creationId xmlns:a16="http://schemas.microsoft.com/office/drawing/2014/main" id="{7175E958-68F1-B180-E3D7-87920A3B2E62}"/>
              </a:ext>
            </a:extLst>
          </p:cNvPr>
          <p:cNvPicPr>
            <a:picLocks noChangeAspect="1"/>
          </p:cNvPicPr>
          <p:nvPr/>
        </p:nvPicPr>
        <p:blipFill>
          <a:blip r:embed="rId3"/>
          <a:stretch>
            <a:fillRect/>
          </a:stretch>
        </p:blipFill>
        <p:spPr>
          <a:xfrm>
            <a:off x="2975952" y="-642744"/>
            <a:ext cx="1420150" cy="2194777"/>
          </a:xfrm>
          <a:prstGeom prst="rect">
            <a:avLst/>
          </a:prstGeom>
        </p:spPr>
      </p:pic>
      <p:pic>
        <p:nvPicPr>
          <p:cNvPr id="7" name="Picture 6" descr="A white cat in a circle&#10;&#10;AI-generated content may be incorrect.">
            <a:extLst>
              <a:ext uri="{FF2B5EF4-FFF2-40B4-BE49-F238E27FC236}">
                <a16:creationId xmlns:a16="http://schemas.microsoft.com/office/drawing/2014/main" id="{6DC78D50-B6C4-7982-38F2-40F85ED494EC}"/>
              </a:ext>
            </a:extLst>
          </p:cNvPr>
          <p:cNvPicPr>
            <a:picLocks noChangeAspect="1"/>
          </p:cNvPicPr>
          <p:nvPr/>
        </p:nvPicPr>
        <p:blipFill>
          <a:blip r:embed="rId4"/>
          <a:stretch>
            <a:fillRect/>
          </a:stretch>
        </p:blipFill>
        <p:spPr>
          <a:xfrm flipH="1">
            <a:off x="6474166" y="-273954"/>
            <a:ext cx="823651" cy="1272916"/>
          </a:xfrm>
          <a:prstGeom prst="rect">
            <a:avLst/>
          </a:prstGeom>
        </p:spPr>
      </p:pic>
    </p:spTree>
    <p:extLst>
      <p:ext uri="{BB962C8B-B14F-4D97-AF65-F5344CB8AC3E}">
        <p14:creationId xmlns:p14="http://schemas.microsoft.com/office/powerpoint/2010/main" val="1944905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3">
            <a:extLst>
              <a:ext uri="{FF2B5EF4-FFF2-40B4-BE49-F238E27FC236}">
                <a16:creationId xmlns:a16="http://schemas.microsoft.com/office/drawing/2014/main" id="{53F6D66F-03EC-E920-95DD-C0D00ED0CE06}"/>
              </a:ext>
            </a:extLst>
          </p:cNvPr>
          <p:cNvGraphicFramePr>
            <a:graphicFrameLocks/>
          </p:cNvGraphicFramePr>
          <p:nvPr>
            <p:extLst>
              <p:ext uri="{D42A27DB-BD31-4B8C-83A1-F6EECF244321}">
                <p14:modId xmlns:p14="http://schemas.microsoft.com/office/powerpoint/2010/main" val="2082731279"/>
              </p:ext>
            </p:extLst>
          </p:nvPr>
        </p:nvGraphicFramePr>
        <p:xfrm>
          <a:off x="838200" y="1492237"/>
          <a:ext cx="10515600" cy="4079240"/>
        </p:xfrm>
        <a:graphic>
          <a:graphicData uri="http://schemas.openxmlformats.org/drawingml/2006/table">
            <a:tbl>
              <a:tblPr firstRow="1" bandRow="1">
                <a:tableStyleId>{5C22544A-7EE6-4342-B048-85BDC9FD1C3A}</a:tableStyleId>
              </a:tblPr>
              <a:tblGrid>
                <a:gridCol w="1978572">
                  <a:extLst>
                    <a:ext uri="{9D8B030D-6E8A-4147-A177-3AD203B41FA5}">
                      <a16:colId xmlns:a16="http://schemas.microsoft.com/office/drawing/2014/main" val="2568585776"/>
                    </a:ext>
                  </a:extLst>
                </a:gridCol>
                <a:gridCol w="8537028">
                  <a:extLst>
                    <a:ext uri="{9D8B030D-6E8A-4147-A177-3AD203B41FA5}">
                      <a16:colId xmlns:a16="http://schemas.microsoft.com/office/drawing/2014/main" val="2358434205"/>
                    </a:ext>
                  </a:extLst>
                </a:gridCol>
              </a:tblGrid>
              <a:tr h="370840">
                <a:tc>
                  <a:txBody>
                    <a:bodyPr/>
                    <a:lstStyle/>
                    <a:p>
                      <a:r>
                        <a:rPr lang="en-US"/>
                        <a:t>Term</a:t>
                      </a:r>
                    </a:p>
                  </a:txBody>
                  <a:tcPr/>
                </a:tc>
                <a:tc>
                  <a:txBody>
                    <a:bodyPr/>
                    <a:lstStyle/>
                    <a:p>
                      <a:r>
                        <a:rPr lang="en-US"/>
                        <a:t>Definition</a:t>
                      </a:r>
                    </a:p>
                  </a:txBody>
                  <a:tcPr/>
                </a:tc>
                <a:extLst>
                  <a:ext uri="{0D108BD9-81ED-4DB2-BD59-A6C34878D82A}">
                    <a16:rowId xmlns:a16="http://schemas.microsoft.com/office/drawing/2014/main" val="1673741691"/>
                  </a:ext>
                </a:extLst>
              </a:tr>
              <a:tr h="370840">
                <a:tc>
                  <a:txBody>
                    <a:bodyPr/>
                    <a:lstStyle/>
                    <a:p>
                      <a:r>
                        <a:rPr lang="en-US"/>
                        <a:t>repository (repo)</a:t>
                      </a:r>
                    </a:p>
                  </a:txBody>
                  <a:tcPr/>
                </a:tc>
                <a:tc>
                  <a:txBody>
                    <a:bodyPr/>
                    <a:lstStyle/>
                    <a:p>
                      <a:r>
                        <a:rPr lang="en-US"/>
                        <a:t>a folder tracked by git</a:t>
                      </a:r>
                    </a:p>
                  </a:txBody>
                  <a:tcPr/>
                </a:tc>
                <a:extLst>
                  <a:ext uri="{0D108BD9-81ED-4DB2-BD59-A6C34878D82A}">
                    <a16:rowId xmlns:a16="http://schemas.microsoft.com/office/drawing/2014/main" val="3834734102"/>
                  </a:ext>
                </a:extLst>
              </a:tr>
              <a:tr h="370840">
                <a:tc>
                  <a:txBody>
                    <a:bodyPr/>
                    <a:lstStyle/>
                    <a:p>
                      <a:r>
                        <a:rPr lang="en-US" b="1"/>
                        <a:t>clone</a:t>
                      </a:r>
                    </a:p>
                  </a:txBody>
                  <a:tcPr/>
                </a:tc>
                <a:tc>
                  <a:txBody>
                    <a:bodyPr/>
                    <a:lstStyle/>
                    <a:p>
                      <a:r>
                        <a:rPr lang="en-US"/>
                        <a:t>copy a repo from a remote onto your local computer</a:t>
                      </a:r>
                    </a:p>
                  </a:txBody>
                  <a:tcPr/>
                </a:tc>
                <a:extLst>
                  <a:ext uri="{0D108BD9-81ED-4DB2-BD59-A6C34878D82A}">
                    <a16:rowId xmlns:a16="http://schemas.microsoft.com/office/drawing/2014/main" val="295643167"/>
                  </a:ext>
                </a:extLst>
              </a:tr>
              <a:tr h="370840">
                <a:tc>
                  <a:txBody>
                    <a:bodyPr/>
                    <a:lstStyle/>
                    <a:p>
                      <a:r>
                        <a:rPr lang="en-US" b="1"/>
                        <a:t>add</a:t>
                      </a:r>
                    </a:p>
                  </a:txBody>
                  <a:tcPr/>
                </a:tc>
                <a:tc>
                  <a:txBody>
                    <a:bodyPr/>
                    <a:lstStyle/>
                    <a:p>
                      <a:r>
                        <a:rPr lang="en-US"/>
                        <a:t>add file to staging area (start tracking it)</a:t>
                      </a:r>
                    </a:p>
                  </a:txBody>
                  <a:tcPr/>
                </a:tc>
                <a:extLst>
                  <a:ext uri="{0D108BD9-81ED-4DB2-BD59-A6C34878D82A}">
                    <a16:rowId xmlns:a16="http://schemas.microsoft.com/office/drawing/2014/main" val="1883509595"/>
                  </a:ext>
                </a:extLst>
              </a:tr>
              <a:tr h="370840">
                <a:tc>
                  <a:txBody>
                    <a:bodyPr/>
                    <a:lstStyle/>
                    <a:p>
                      <a:r>
                        <a:rPr lang="en-US" b="1"/>
                        <a:t>commit</a:t>
                      </a:r>
                    </a:p>
                  </a:txBody>
                  <a:tcPr/>
                </a:tc>
                <a:tc>
                  <a:txBody>
                    <a:bodyPr/>
                    <a:lstStyle/>
                    <a:p>
                      <a:r>
                        <a:rPr lang="en-US"/>
                        <a:t>make a snapshot of staging area to repository</a:t>
                      </a:r>
                    </a:p>
                  </a:txBody>
                  <a:tcPr/>
                </a:tc>
                <a:extLst>
                  <a:ext uri="{0D108BD9-81ED-4DB2-BD59-A6C34878D82A}">
                    <a16:rowId xmlns:a16="http://schemas.microsoft.com/office/drawing/2014/main" val="3590404162"/>
                  </a:ext>
                </a:extLst>
              </a:tr>
              <a:tr h="370840">
                <a:tc>
                  <a:txBody>
                    <a:bodyPr/>
                    <a:lstStyle/>
                    <a:p>
                      <a:r>
                        <a:rPr lang="en-US" b="1"/>
                        <a:t>push</a:t>
                      </a:r>
                    </a:p>
                  </a:txBody>
                  <a:tcPr/>
                </a:tc>
                <a:tc>
                  <a:txBody>
                    <a:bodyPr/>
                    <a:lstStyle/>
                    <a:p>
                      <a:r>
                        <a:rPr lang="en-US"/>
                        <a:t>upload changes to remote repo</a:t>
                      </a:r>
                    </a:p>
                  </a:txBody>
                  <a:tcPr/>
                </a:tc>
                <a:extLst>
                  <a:ext uri="{0D108BD9-81ED-4DB2-BD59-A6C34878D82A}">
                    <a16:rowId xmlns:a16="http://schemas.microsoft.com/office/drawing/2014/main" val="73513012"/>
                  </a:ext>
                </a:extLst>
              </a:tr>
              <a:tr h="370840">
                <a:tc>
                  <a:txBody>
                    <a:bodyPr/>
                    <a:lstStyle/>
                    <a:p>
                      <a:r>
                        <a:rPr lang="en-US"/>
                        <a:t>remote</a:t>
                      </a:r>
                    </a:p>
                  </a:txBody>
                  <a:tcPr/>
                </a:tc>
                <a:tc>
                  <a:txBody>
                    <a:bodyPr/>
                    <a:lstStyle/>
                    <a:p>
                      <a:r>
                        <a:rPr lang="en-US"/>
                        <a:t>a repository hosted on a server (e.g. GitHub)</a:t>
                      </a:r>
                    </a:p>
                  </a:txBody>
                  <a:tcPr/>
                </a:tc>
                <a:extLst>
                  <a:ext uri="{0D108BD9-81ED-4DB2-BD59-A6C34878D82A}">
                    <a16:rowId xmlns:a16="http://schemas.microsoft.com/office/drawing/2014/main" val="2609831263"/>
                  </a:ext>
                </a:extLst>
              </a:tr>
              <a:tr h="370840">
                <a:tc>
                  <a:txBody>
                    <a:bodyPr/>
                    <a:lstStyle/>
                    <a:p>
                      <a:r>
                        <a:rPr lang="en-US"/>
                        <a:t>staging area</a:t>
                      </a:r>
                    </a:p>
                  </a:txBody>
                  <a:tcPr/>
                </a:tc>
                <a:tc>
                  <a:txBody>
                    <a:bodyPr/>
                    <a:lstStyle/>
                    <a:p>
                      <a:r>
                        <a:rPr lang="en-US"/>
                        <a:t>intermediate area where files are tracked before they are added to git</a:t>
                      </a:r>
                    </a:p>
                  </a:txBody>
                  <a:tcPr/>
                </a:tc>
                <a:extLst>
                  <a:ext uri="{0D108BD9-81ED-4DB2-BD59-A6C34878D82A}">
                    <a16:rowId xmlns:a16="http://schemas.microsoft.com/office/drawing/2014/main" val="2623257424"/>
                  </a:ext>
                </a:extLst>
              </a:tr>
              <a:tr h="370840">
                <a:tc>
                  <a:txBody>
                    <a:bodyPr/>
                    <a:lstStyle/>
                    <a:p>
                      <a:r>
                        <a:rPr lang="en-US" b="1"/>
                        <a:t>pull</a:t>
                      </a:r>
                    </a:p>
                  </a:txBody>
                  <a:tcPr/>
                </a:tc>
                <a:tc>
                  <a:txBody>
                    <a:bodyPr/>
                    <a:lstStyle/>
                    <a:p>
                      <a:r>
                        <a:rPr lang="en-US"/>
                        <a:t>fetch changes from a remote and merge into existing branch</a:t>
                      </a:r>
                    </a:p>
                  </a:txBody>
                  <a:tcPr/>
                </a:tc>
                <a:extLst>
                  <a:ext uri="{0D108BD9-81ED-4DB2-BD59-A6C34878D82A}">
                    <a16:rowId xmlns:a16="http://schemas.microsoft.com/office/drawing/2014/main" val="3009278457"/>
                  </a:ext>
                </a:extLst>
              </a:tr>
              <a:tr h="370840">
                <a:tc>
                  <a:txBody>
                    <a:bodyPr/>
                    <a:lstStyle/>
                    <a:p>
                      <a:r>
                        <a:rPr lang="en-US" b="1"/>
                        <a:t>status</a:t>
                      </a:r>
                    </a:p>
                  </a:txBody>
                  <a:tcPr/>
                </a:tc>
                <a:tc>
                  <a:txBody>
                    <a:bodyPr/>
                    <a:lstStyle/>
                    <a:p>
                      <a:r>
                        <a:rPr lang="en-US"/>
                        <a:t>check the status of your git repo</a:t>
                      </a:r>
                    </a:p>
                  </a:txBody>
                  <a:tcPr/>
                </a:tc>
                <a:extLst>
                  <a:ext uri="{0D108BD9-81ED-4DB2-BD59-A6C34878D82A}">
                    <a16:rowId xmlns:a16="http://schemas.microsoft.com/office/drawing/2014/main" val="585666054"/>
                  </a:ext>
                </a:extLst>
              </a:tr>
              <a:tr h="370840">
                <a:tc>
                  <a:txBody>
                    <a:bodyPr/>
                    <a:lstStyle/>
                    <a:p>
                      <a:r>
                        <a:rPr lang="en-US" b="1"/>
                        <a:t>init</a:t>
                      </a:r>
                    </a:p>
                  </a:txBody>
                  <a:tcPr/>
                </a:tc>
                <a:tc>
                  <a:txBody>
                    <a:bodyPr/>
                    <a:lstStyle/>
                    <a:p>
                      <a:r>
                        <a:rPr lang="en-US"/>
                        <a:t>make a folder into a git repo</a:t>
                      </a:r>
                    </a:p>
                  </a:txBody>
                  <a:tcPr/>
                </a:tc>
                <a:extLst>
                  <a:ext uri="{0D108BD9-81ED-4DB2-BD59-A6C34878D82A}">
                    <a16:rowId xmlns:a16="http://schemas.microsoft.com/office/drawing/2014/main" val="2196574469"/>
                  </a:ext>
                </a:extLst>
              </a:tr>
            </a:tbl>
          </a:graphicData>
        </a:graphic>
      </p:graphicFrame>
      <p:sp>
        <p:nvSpPr>
          <p:cNvPr id="3" name="Title 5">
            <a:extLst>
              <a:ext uri="{FF2B5EF4-FFF2-40B4-BE49-F238E27FC236}">
                <a16:creationId xmlns:a16="http://schemas.microsoft.com/office/drawing/2014/main" id="{9F76BBA2-27C9-DBDF-56E8-75DA0EDC5318}"/>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git terminology part 1</a:t>
            </a:r>
          </a:p>
        </p:txBody>
      </p:sp>
    </p:spTree>
    <p:extLst>
      <p:ext uri="{BB962C8B-B14F-4D97-AF65-F5344CB8AC3E}">
        <p14:creationId xmlns:p14="http://schemas.microsoft.com/office/powerpoint/2010/main" val="128349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DB40B7A-B3A8-C35C-4DE2-440973760272}"/>
              </a:ext>
            </a:extLst>
          </p:cNvPr>
          <p:cNvSpPr>
            <a:spLocks noGrp="1"/>
          </p:cNvSpPr>
          <p:nvPr>
            <p:ph type="title"/>
          </p:nvPr>
        </p:nvSpPr>
        <p:spPr/>
        <p:txBody>
          <a:bodyPr/>
          <a:lstStyle/>
          <a:p>
            <a:r>
              <a:rPr lang="en-US"/>
              <a:t>What to upload</a:t>
            </a:r>
          </a:p>
        </p:txBody>
      </p:sp>
      <p:graphicFrame>
        <p:nvGraphicFramePr>
          <p:cNvPr id="7" name="Table 6">
            <a:extLst>
              <a:ext uri="{FF2B5EF4-FFF2-40B4-BE49-F238E27FC236}">
                <a16:creationId xmlns:a16="http://schemas.microsoft.com/office/drawing/2014/main" id="{311A1192-A5C3-DE4A-00CD-A11A30BA5826}"/>
              </a:ext>
            </a:extLst>
          </p:cNvPr>
          <p:cNvGraphicFramePr>
            <a:graphicFrameLocks noGrp="1"/>
          </p:cNvGraphicFramePr>
          <p:nvPr/>
        </p:nvGraphicFramePr>
        <p:xfrm>
          <a:off x="967409" y="1514795"/>
          <a:ext cx="10151166" cy="4342665"/>
        </p:xfrm>
        <a:graphic>
          <a:graphicData uri="http://schemas.openxmlformats.org/drawingml/2006/table">
            <a:tbl>
              <a:tblPr firstRow="1" bandRow="1">
                <a:tableStyleId>{5C22544A-7EE6-4342-B048-85BDC9FD1C3A}</a:tableStyleId>
              </a:tblPr>
              <a:tblGrid>
                <a:gridCol w="5075583">
                  <a:extLst>
                    <a:ext uri="{9D8B030D-6E8A-4147-A177-3AD203B41FA5}">
                      <a16:colId xmlns:a16="http://schemas.microsoft.com/office/drawing/2014/main" val="1678428013"/>
                    </a:ext>
                  </a:extLst>
                </a:gridCol>
                <a:gridCol w="5075583">
                  <a:extLst>
                    <a:ext uri="{9D8B030D-6E8A-4147-A177-3AD203B41FA5}">
                      <a16:colId xmlns:a16="http://schemas.microsoft.com/office/drawing/2014/main" val="3780352048"/>
                    </a:ext>
                  </a:extLst>
                </a:gridCol>
              </a:tblGrid>
              <a:tr h="675937">
                <a:tc>
                  <a:txBody>
                    <a:bodyPr/>
                    <a:lstStyle/>
                    <a:p>
                      <a:pPr algn="ctr"/>
                      <a:r>
                        <a:rPr lang="en-US" sz="3200"/>
                        <a:t>What to include</a:t>
                      </a:r>
                    </a:p>
                  </a:txBody>
                  <a:tcPr/>
                </a:tc>
                <a:tc>
                  <a:txBody>
                    <a:bodyPr/>
                    <a:lstStyle/>
                    <a:p>
                      <a:pPr algn="ctr"/>
                      <a:r>
                        <a:rPr lang="en-US" sz="3200"/>
                        <a:t>What NOT to include</a:t>
                      </a:r>
                    </a:p>
                  </a:txBody>
                  <a:tcPr/>
                </a:tc>
                <a:extLst>
                  <a:ext uri="{0D108BD9-81ED-4DB2-BD59-A6C34878D82A}">
                    <a16:rowId xmlns:a16="http://schemas.microsoft.com/office/drawing/2014/main" val="2007128576"/>
                  </a:ext>
                </a:extLst>
              </a:tr>
              <a:tr h="3666728">
                <a:tc>
                  <a:txBody>
                    <a:bodyPr/>
                    <a:lstStyle/>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Scripts</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Notebooks</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READMEs</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Configuration files (yamls, config files)</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Metadata files (maybe)</a:t>
                      </a:r>
                    </a:p>
                  </a:txBody>
                  <a:tcPr/>
                </a:tc>
                <a:tc>
                  <a:txBody>
                    <a:bodyPr/>
                    <a:lstStyle/>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Data</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Software (conda envs, containers)</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Files &gt;50 MB</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Passwords and sensitive information (!!!)</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Log files (slurm logs, error logs, etc)</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Junk files (temp, OS-generated junk)</a:t>
                      </a:r>
                    </a:p>
                  </a:txBody>
                  <a:tcPr/>
                </a:tc>
                <a:extLst>
                  <a:ext uri="{0D108BD9-81ED-4DB2-BD59-A6C34878D82A}">
                    <a16:rowId xmlns:a16="http://schemas.microsoft.com/office/drawing/2014/main" val="4008996938"/>
                  </a:ext>
                </a:extLst>
              </a:tr>
            </a:tbl>
          </a:graphicData>
        </a:graphic>
      </p:graphicFrame>
    </p:spTree>
    <p:extLst>
      <p:ext uri="{BB962C8B-B14F-4D97-AF65-F5344CB8AC3E}">
        <p14:creationId xmlns:p14="http://schemas.microsoft.com/office/powerpoint/2010/main" val="2941207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D5CB9-FF83-87F5-4A3D-E38374FA66E7}"/>
              </a:ext>
            </a:extLst>
          </p:cNvPr>
          <p:cNvSpPr>
            <a:spLocks noGrp="1"/>
          </p:cNvSpPr>
          <p:nvPr>
            <p:ph type="title"/>
          </p:nvPr>
        </p:nvSpPr>
        <p:spPr>
          <a:xfrm>
            <a:off x="757174" y="425734"/>
            <a:ext cx="5718048" cy="1642969"/>
          </a:xfrm>
        </p:spPr>
        <p:txBody>
          <a:bodyPr vert="horz" lIns="91440" tIns="45720" rIns="91440" bIns="45720" rtlCol="0" anchor="b">
            <a:normAutofit/>
          </a:bodyPr>
          <a:lstStyle/>
          <a:p>
            <a:r>
              <a:rPr lang="en-US" sz="3700" kern="1200">
                <a:solidFill>
                  <a:schemeClr val="tx1"/>
                </a:solidFill>
                <a:latin typeface="+mj-lt"/>
                <a:ea typeface="+mj-ea"/>
                <a:cs typeface="+mj-cs"/>
              </a:rPr>
              <a:t>Steps to create a repo on GitHub using git and gh cli</a:t>
            </a:r>
          </a:p>
        </p:txBody>
      </p:sp>
      <p:sp>
        <p:nvSpPr>
          <p:cNvPr id="4" name="Text Placeholder 3">
            <a:extLst>
              <a:ext uri="{FF2B5EF4-FFF2-40B4-BE49-F238E27FC236}">
                <a16:creationId xmlns:a16="http://schemas.microsoft.com/office/drawing/2014/main" id="{02F12D00-4C1E-E517-832D-E2191E3ECA20}"/>
              </a:ext>
            </a:extLst>
          </p:cNvPr>
          <p:cNvSpPr>
            <a:spLocks noGrp="1"/>
          </p:cNvSpPr>
          <p:nvPr>
            <p:ph type="body" sz="half" idx="2"/>
          </p:nvPr>
        </p:nvSpPr>
        <p:spPr>
          <a:xfrm>
            <a:off x="1136397" y="2442792"/>
            <a:ext cx="4959603" cy="3522569"/>
          </a:xfrm>
        </p:spPr>
        <p:txBody>
          <a:bodyPr vert="horz" lIns="91440" tIns="45720" rIns="91440" bIns="45720" rtlCol="0" anchor="t">
            <a:normAutofit/>
          </a:bodyPr>
          <a:lstStyle/>
          <a:p>
            <a:r>
              <a:rPr lang="en-US" sz="2000">
                <a:latin typeface="Consolas" panose="020B0609020204030204" pitchFamily="49" charset="0"/>
                <a:cs typeface="Consolas" panose="020B0609020204030204" pitchFamily="49" charset="0"/>
              </a:rPr>
              <a:t>git init</a:t>
            </a:r>
          </a:p>
          <a:p>
            <a:r>
              <a:rPr lang="en-US" sz="2000">
                <a:latin typeface="Consolas" panose="020B0609020204030204" pitchFamily="49" charset="0"/>
                <a:cs typeface="Consolas" panose="020B0609020204030204" pitchFamily="49" charset="0"/>
              </a:rPr>
              <a:t>git status</a:t>
            </a:r>
          </a:p>
          <a:p>
            <a:r>
              <a:rPr lang="en-US" sz="2000">
                <a:latin typeface="Consolas" panose="020B0609020204030204" pitchFamily="49" charset="0"/>
                <a:cs typeface="Consolas" panose="020B0609020204030204" pitchFamily="49" charset="0"/>
              </a:rPr>
              <a:t>git add &lt;filename&gt;</a:t>
            </a:r>
          </a:p>
          <a:p>
            <a:r>
              <a:rPr lang="en-US" sz="2000">
                <a:latin typeface="Consolas" panose="020B0609020204030204" pitchFamily="49" charset="0"/>
                <a:cs typeface="Consolas" panose="020B0609020204030204" pitchFamily="49" charset="0"/>
              </a:rPr>
              <a:t>git commit -m “first commit”</a:t>
            </a:r>
          </a:p>
          <a:p>
            <a:endParaRPr lang="en-US" sz="2000">
              <a:latin typeface="Consolas" panose="020B0609020204030204" pitchFamily="49" charset="0"/>
              <a:cs typeface="Consolas" panose="020B0609020204030204" pitchFamily="49" charset="0"/>
            </a:endParaRPr>
          </a:p>
          <a:p>
            <a:r>
              <a:rPr lang="en-US" sz="2000">
                <a:latin typeface="Consolas" panose="020B0609020204030204" pitchFamily="49" charset="0"/>
                <a:cs typeface="Consolas" panose="020B0609020204030204" pitchFamily="49" charset="0"/>
              </a:rPr>
              <a:t>gh auth login</a:t>
            </a:r>
          </a:p>
          <a:p>
            <a:r>
              <a:rPr lang="en-US" sz="2000">
                <a:latin typeface="Consolas" panose="020B0609020204030204" pitchFamily="49" charset="0"/>
                <a:cs typeface="Consolas" panose="020B0609020204030204" pitchFamily="49" charset="0"/>
              </a:rPr>
              <a:t>gh repo create</a:t>
            </a:r>
          </a:p>
        </p:txBody>
      </p:sp>
      <p:pic>
        <p:nvPicPr>
          <p:cNvPr id="2050" name="Picture 2" descr="Git">
            <a:extLst>
              <a:ext uri="{FF2B5EF4-FFF2-40B4-BE49-F238E27FC236}">
                <a16:creationId xmlns:a16="http://schemas.microsoft.com/office/drawing/2014/main" id="{D1AB2094-27B6-186B-E8B3-D7ADD1C62E8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226152" y="489118"/>
            <a:ext cx="3773602" cy="546600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4DFE06E-F825-CC5C-1116-85FF31322F5F}"/>
              </a:ext>
            </a:extLst>
          </p:cNvPr>
          <p:cNvSpPr txBox="1"/>
          <p:nvPr/>
        </p:nvSpPr>
        <p:spPr>
          <a:xfrm>
            <a:off x="9595104" y="5940977"/>
            <a:ext cx="1149995" cy="369332"/>
          </a:xfrm>
          <a:prstGeom prst="rect">
            <a:avLst/>
          </a:prstGeom>
          <a:noFill/>
        </p:spPr>
        <p:txBody>
          <a:bodyPr wrap="none" rtlCol="0">
            <a:spAutoFit/>
          </a:bodyPr>
          <a:lstStyle/>
          <a:p>
            <a:r>
              <a:rPr lang="en-US"/>
              <a:t>xkcd.com</a:t>
            </a:r>
          </a:p>
        </p:txBody>
      </p:sp>
    </p:spTree>
    <p:extLst>
      <p:ext uri="{BB962C8B-B14F-4D97-AF65-F5344CB8AC3E}">
        <p14:creationId xmlns:p14="http://schemas.microsoft.com/office/powerpoint/2010/main" val="1840851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06F6D-8454-8635-ECB4-09E8B5C6D7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9CC80-12D4-2075-3520-0FFFA9DAD9A3}"/>
              </a:ext>
            </a:extLst>
          </p:cNvPr>
          <p:cNvSpPr>
            <a:spLocks noGrp="1"/>
          </p:cNvSpPr>
          <p:nvPr>
            <p:ph type="title"/>
          </p:nvPr>
        </p:nvSpPr>
        <p:spPr>
          <a:xfrm>
            <a:off x="757174" y="425734"/>
            <a:ext cx="5718048" cy="1642969"/>
          </a:xfrm>
        </p:spPr>
        <p:txBody>
          <a:bodyPr vert="horz" lIns="91440" tIns="45720" rIns="91440" bIns="45720" rtlCol="0" anchor="b">
            <a:normAutofit/>
          </a:bodyPr>
          <a:lstStyle/>
          <a:p>
            <a:r>
              <a:rPr lang="en-US" sz="3700" kern="1200">
                <a:solidFill>
                  <a:schemeClr val="tx1"/>
                </a:solidFill>
                <a:latin typeface="+mj-lt"/>
                <a:ea typeface="+mj-ea"/>
                <a:cs typeface="+mj-cs"/>
              </a:rPr>
              <a:t>Steps to create a repo on GitHub using git and gh cli</a:t>
            </a:r>
          </a:p>
        </p:txBody>
      </p:sp>
      <p:sp>
        <p:nvSpPr>
          <p:cNvPr id="4" name="Text Placeholder 3">
            <a:extLst>
              <a:ext uri="{FF2B5EF4-FFF2-40B4-BE49-F238E27FC236}">
                <a16:creationId xmlns:a16="http://schemas.microsoft.com/office/drawing/2014/main" id="{4D24C124-8C72-3AFE-12AF-C5B668964C38}"/>
              </a:ext>
            </a:extLst>
          </p:cNvPr>
          <p:cNvSpPr>
            <a:spLocks noGrp="1"/>
          </p:cNvSpPr>
          <p:nvPr>
            <p:ph type="body" sz="half" idx="2"/>
          </p:nvPr>
        </p:nvSpPr>
        <p:spPr>
          <a:xfrm>
            <a:off x="1136397" y="2442792"/>
            <a:ext cx="4959603" cy="3522569"/>
          </a:xfrm>
        </p:spPr>
        <p:txBody>
          <a:bodyPr vert="horz" lIns="91440" tIns="45720" rIns="91440" bIns="45720" rtlCol="0" anchor="t">
            <a:normAutofit/>
          </a:bodyPr>
          <a:lstStyle/>
          <a:p>
            <a:endParaRPr lang="en-US" sz="2000">
              <a:latin typeface="Consolas" panose="020B0609020204030204" pitchFamily="49" charset="0"/>
              <a:cs typeface="Consolas" panose="020B0609020204030204" pitchFamily="49" charset="0"/>
            </a:endParaRPr>
          </a:p>
          <a:p>
            <a:r>
              <a:rPr lang="en-US" sz="2000">
                <a:latin typeface="Consolas" panose="020B0609020204030204" pitchFamily="49" charset="0"/>
                <a:cs typeface="Consolas" panose="020B0609020204030204" pitchFamily="49" charset="0"/>
              </a:rPr>
              <a:t>gh auth login</a:t>
            </a:r>
          </a:p>
        </p:txBody>
      </p:sp>
      <p:pic>
        <p:nvPicPr>
          <p:cNvPr id="7" name="Picture 6" descr="A screenshot of a computer&#10;&#10;AI-generated content may be incorrect.">
            <a:extLst>
              <a:ext uri="{FF2B5EF4-FFF2-40B4-BE49-F238E27FC236}">
                <a16:creationId xmlns:a16="http://schemas.microsoft.com/office/drawing/2014/main" id="{587FC9A2-C559-9861-A52B-A60E256F2123}"/>
              </a:ext>
            </a:extLst>
          </p:cNvPr>
          <p:cNvPicPr>
            <a:picLocks noChangeAspect="1"/>
          </p:cNvPicPr>
          <p:nvPr/>
        </p:nvPicPr>
        <p:blipFill>
          <a:blip r:embed="rId3"/>
          <a:srcRect l="7749" t="6207" r="7749" b="11650"/>
          <a:stretch>
            <a:fillRect/>
          </a:stretch>
        </p:blipFill>
        <p:spPr>
          <a:xfrm>
            <a:off x="6198728" y="926377"/>
            <a:ext cx="5420826" cy="4709684"/>
          </a:xfrm>
          <a:prstGeom prst="rect">
            <a:avLst/>
          </a:prstGeom>
        </p:spPr>
      </p:pic>
      <p:sp>
        <p:nvSpPr>
          <p:cNvPr id="3" name="Rounded Rectangle 2">
            <a:extLst>
              <a:ext uri="{FF2B5EF4-FFF2-40B4-BE49-F238E27FC236}">
                <a16:creationId xmlns:a16="http://schemas.microsoft.com/office/drawing/2014/main" id="{12FF5C71-6902-9549-0656-592EBC02F2A3}"/>
              </a:ext>
            </a:extLst>
          </p:cNvPr>
          <p:cNvSpPr/>
          <p:nvPr/>
        </p:nvSpPr>
        <p:spPr>
          <a:xfrm>
            <a:off x="7629904" y="1958109"/>
            <a:ext cx="2373746" cy="415637"/>
          </a:xfrm>
          <a:prstGeom prst="round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Rounded Rectangle 7">
            <a:extLst>
              <a:ext uri="{FF2B5EF4-FFF2-40B4-BE49-F238E27FC236}">
                <a16:creationId xmlns:a16="http://schemas.microsoft.com/office/drawing/2014/main" id="{4166124D-1112-2735-DEB1-F8DB9517D716}"/>
              </a:ext>
            </a:extLst>
          </p:cNvPr>
          <p:cNvSpPr/>
          <p:nvPr/>
        </p:nvSpPr>
        <p:spPr>
          <a:xfrm>
            <a:off x="2799746" y="3429000"/>
            <a:ext cx="3398982" cy="733616"/>
          </a:xfrm>
          <a:prstGeom prst="round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a:t>go here manually on your local web browser. Pressing enter gets you the error shown</a:t>
            </a:r>
          </a:p>
        </p:txBody>
      </p:sp>
      <p:cxnSp>
        <p:nvCxnSpPr>
          <p:cNvPr id="14" name="Straight Arrow Connector 13">
            <a:extLst>
              <a:ext uri="{FF2B5EF4-FFF2-40B4-BE49-F238E27FC236}">
                <a16:creationId xmlns:a16="http://schemas.microsoft.com/office/drawing/2014/main" id="{E1AADF30-453B-5901-D8B1-502B4E0B3EB0}"/>
              </a:ext>
            </a:extLst>
          </p:cNvPr>
          <p:cNvCxnSpPr>
            <a:endCxn id="3" idx="1"/>
          </p:cNvCxnSpPr>
          <p:nvPr/>
        </p:nvCxnSpPr>
        <p:spPr>
          <a:xfrm flipV="1">
            <a:off x="6198728" y="2165928"/>
            <a:ext cx="1431176" cy="1620981"/>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56042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53AB8-BE49-68A4-01C9-B7323788AD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022863-B3B8-67A2-34E9-37BB1560D4B1}"/>
              </a:ext>
            </a:extLst>
          </p:cNvPr>
          <p:cNvSpPr>
            <a:spLocks noGrp="1"/>
          </p:cNvSpPr>
          <p:nvPr>
            <p:ph type="title"/>
          </p:nvPr>
        </p:nvSpPr>
        <p:spPr>
          <a:xfrm>
            <a:off x="757174" y="425734"/>
            <a:ext cx="5718048" cy="1642969"/>
          </a:xfrm>
        </p:spPr>
        <p:txBody>
          <a:bodyPr vert="horz" lIns="91440" tIns="45720" rIns="91440" bIns="45720" rtlCol="0" anchor="b">
            <a:normAutofit/>
          </a:bodyPr>
          <a:lstStyle/>
          <a:p>
            <a:r>
              <a:rPr lang="en-US" sz="3700" kern="1200">
                <a:solidFill>
                  <a:schemeClr val="tx1"/>
                </a:solidFill>
                <a:latin typeface="+mj-lt"/>
                <a:ea typeface="+mj-ea"/>
                <a:cs typeface="+mj-cs"/>
              </a:rPr>
              <a:t>Steps to create a repo on GitHub using git and gh cli</a:t>
            </a:r>
          </a:p>
        </p:txBody>
      </p:sp>
      <p:sp>
        <p:nvSpPr>
          <p:cNvPr id="4" name="Text Placeholder 3">
            <a:extLst>
              <a:ext uri="{FF2B5EF4-FFF2-40B4-BE49-F238E27FC236}">
                <a16:creationId xmlns:a16="http://schemas.microsoft.com/office/drawing/2014/main" id="{CFD090EC-980F-47A5-C8CE-7026C79072FB}"/>
              </a:ext>
            </a:extLst>
          </p:cNvPr>
          <p:cNvSpPr>
            <a:spLocks noGrp="1"/>
          </p:cNvSpPr>
          <p:nvPr>
            <p:ph type="body" sz="half" idx="2"/>
          </p:nvPr>
        </p:nvSpPr>
        <p:spPr>
          <a:xfrm>
            <a:off x="1136397" y="2442792"/>
            <a:ext cx="4959603" cy="3522569"/>
          </a:xfrm>
        </p:spPr>
        <p:txBody>
          <a:bodyPr vert="horz" lIns="91440" tIns="45720" rIns="91440" bIns="45720" rtlCol="0" anchor="t">
            <a:normAutofit/>
          </a:bodyPr>
          <a:lstStyle/>
          <a:p>
            <a:r>
              <a:rPr lang="en-US" sz="2000">
                <a:latin typeface="Consolas" panose="020B0609020204030204" pitchFamily="49" charset="0"/>
                <a:cs typeface="Consolas" panose="020B0609020204030204" pitchFamily="49" charset="0"/>
              </a:rPr>
              <a:t>gh repo create</a:t>
            </a:r>
          </a:p>
        </p:txBody>
      </p:sp>
      <p:pic>
        <p:nvPicPr>
          <p:cNvPr id="6" name="Picture 5" descr="A screenshot of a computer program&#10;&#10;AI-generated content may be incorrect.">
            <a:extLst>
              <a:ext uri="{FF2B5EF4-FFF2-40B4-BE49-F238E27FC236}">
                <a16:creationId xmlns:a16="http://schemas.microsoft.com/office/drawing/2014/main" id="{F9AB1903-4AFA-6F69-7C98-87E42287D3A5}"/>
              </a:ext>
            </a:extLst>
          </p:cNvPr>
          <p:cNvPicPr>
            <a:picLocks noChangeAspect="1"/>
          </p:cNvPicPr>
          <p:nvPr/>
        </p:nvPicPr>
        <p:blipFill>
          <a:blip r:embed="rId3"/>
          <a:srcRect l="7805" t="7185" r="7488" b="12754"/>
          <a:stretch>
            <a:fillRect/>
          </a:stretch>
        </p:blipFill>
        <p:spPr>
          <a:xfrm>
            <a:off x="5989354" y="1375954"/>
            <a:ext cx="5976223" cy="4279863"/>
          </a:xfrm>
          <a:prstGeom prst="rect">
            <a:avLst/>
          </a:prstGeom>
        </p:spPr>
      </p:pic>
    </p:spTree>
    <p:extLst>
      <p:ext uri="{BB962C8B-B14F-4D97-AF65-F5344CB8AC3E}">
        <p14:creationId xmlns:p14="http://schemas.microsoft.com/office/powerpoint/2010/main" val="2999097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286A8-C26A-8C4A-4B89-CB1F456294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9B0266-33B7-F295-BD03-59EFC386DE17}"/>
              </a:ext>
            </a:extLst>
          </p:cNvPr>
          <p:cNvSpPr>
            <a:spLocks noGrp="1"/>
          </p:cNvSpPr>
          <p:nvPr>
            <p:ph type="title"/>
          </p:nvPr>
        </p:nvSpPr>
        <p:spPr>
          <a:xfrm>
            <a:off x="757174" y="425734"/>
            <a:ext cx="5718048" cy="1642969"/>
          </a:xfrm>
        </p:spPr>
        <p:txBody>
          <a:bodyPr vert="horz" lIns="91440" tIns="45720" rIns="91440" bIns="45720" rtlCol="0" anchor="b">
            <a:normAutofit/>
          </a:bodyPr>
          <a:lstStyle/>
          <a:p>
            <a:r>
              <a:rPr lang="en-US" sz="3700" kern="1200">
                <a:solidFill>
                  <a:schemeClr val="tx1"/>
                </a:solidFill>
                <a:latin typeface="+mj-lt"/>
                <a:ea typeface="+mj-ea"/>
                <a:cs typeface="+mj-cs"/>
              </a:rPr>
              <a:t>Steps to create a repo on GitHub using GitHub Desktop</a:t>
            </a:r>
          </a:p>
        </p:txBody>
      </p:sp>
      <p:sp>
        <p:nvSpPr>
          <p:cNvPr id="4" name="Text Placeholder 3">
            <a:extLst>
              <a:ext uri="{FF2B5EF4-FFF2-40B4-BE49-F238E27FC236}">
                <a16:creationId xmlns:a16="http://schemas.microsoft.com/office/drawing/2014/main" id="{976F1B1A-F59A-9C2C-4793-CE7233C6503D}"/>
              </a:ext>
            </a:extLst>
          </p:cNvPr>
          <p:cNvSpPr>
            <a:spLocks noGrp="1"/>
          </p:cNvSpPr>
          <p:nvPr>
            <p:ph type="body" sz="half" idx="2"/>
          </p:nvPr>
        </p:nvSpPr>
        <p:spPr>
          <a:xfrm>
            <a:off x="1136397" y="2442792"/>
            <a:ext cx="4959603" cy="3522569"/>
          </a:xfrm>
        </p:spPr>
        <p:txBody>
          <a:bodyPr vert="horz" lIns="91440" tIns="45720" rIns="91440" bIns="45720" rtlCol="0" anchor="t">
            <a:normAutofit/>
          </a:bodyPr>
          <a:lstStyle/>
          <a:p>
            <a:r>
              <a:rPr lang="en-US" sz="2000"/>
              <a:t>If you already have a folder:</a:t>
            </a:r>
          </a:p>
          <a:p>
            <a:r>
              <a:rPr lang="en-US" sz="2000"/>
              <a:t>Add -&gt; Add Existing Repository (choose folder one above your folder)</a:t>
            </a:r>
          </a:p>
          <a:p>
            <a:endParaRPr lang="en-US" sz="2000"/>
          </a:p>
          <a:p>
            <a:r>
              <a:rPr lang="en-US" sz="2000"/>
              <a:t>If you want to start with a new folder:</a:t>
            </a:r>
          </a:p>
          <a:p>
            <a:r>
              <a:rPr lang="en-US" sz="2000"/>
              <a:t>Add -&gt; Create New Repository</a:t>
            </a:r>
          </a:p>
        </p:txBody>
      </p:sp>
      <p:pic>
        <p:nvPicPr>
          <p:cNvPr id="2050" name="Picture 2" descr="Git">
            <a:extLst>
              <a:ext uri="{FF2B5EF4-FFF2-40B4-BE49-F238E27FC236}">
                <a16:creationId xmlns:a16="http://schemas.microsoft.com/office/drawing/2014/main" id="{C0CC1792-2125-3996-E5C6-1D9724757C9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226152" y="489118"/>
            <a:ext cx="3773602" cy="546600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6C08A4F-8FF9-F72F-0977-A5A7015A33D0}"/>
              </a:ext>
            </a:extLst>
          </p:cNvPr>
          <p:cNvSpPr txBox="1"/>
          <p:nvPr/>
        </p:nvSpPr>
        <p:spPr>
          <a:xfrm>
            <a:off x="9595104" y="5940977"/>
            <a:ext cx="1149995" cy="369332"/>
          </a:xfrm>
          <a:prstGeom prst="rect">
            <a:avLst/>
          </a:prstGeom>
          <a:noFill/>
        </p:spPr>
        <p:txBody>
          <a:bodyPr wrap="none" rtlCol="0">
            <a:spAutoFit/>
          </a:bodyPr>
          <a:lstStyle/>
          <a:p>
            <a:r>
              <a:rPr lang="en-US"/>
              <a:t>xkcd.com</a:t>
            </a:r>
          </a:p>
        </p:txBody>
      </p:sp>
    </p:spTree>
    <p:extLst>
      <p:ext uri="{BB962C8B-B14F-4D97-AF65-F5344CB8AC3E}">
        <p14:creationId xmlns:p14="http://schemas.microsoft.com/office/powerpoint/2010/main" val="1448661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BB9D5-10DC-67E6-0F03-BC19D3594184}"/>
              </a:ext>
            </a:extLst>
          </p:cNvPr>
          <p:cNvSpPr>
            <a:spLocks noGrp="1"/>
          </p:cNvSpPr>
          <p:nvPr>
            <p:ph type="title"/>
          </p:nvPr>
        </p:nvSpPr>
        <p:spPr/>
        <p:txBody>
          <a:bodyPr/>
          <a:lstStyle/>
          <a:p>
            <a:r>
              <a:rPr lang="en-US"/>
              <a:t>Making and pushing new commits</a:t>
            </a:r>
          </a:p>
        </p:txBody>
      </p:sp>
      <p:sp>
        <p:nvSpPr>
          <p:cNvPr id="4" name="Text Placeholder 3">
            <a:extLst>
              <a:ext uri="{FF2B5EF4-FFF2-40B4-BE49-F238E27FC236}">
                <a16:creationId xmlns:a16="http://schemas.microsoft.com/office/drawing/2014/main" id="{F9FDDAFF-B41F-A850-E368-F06C28DB02B4}"/>
              </a:ext>
            </a:extLst>
          </p:cNvPr>
          <p:cNvSpPr>
            <a:spLocks noGrp="1"/>
          </p:cNvSpPr>
          <p:nvPr>
            <p:ph type="body" sz="half" idx="2"/>
          </p:nvPr>
        </p:nvSpPr>
        <p:spPr/>
        <p:txBody>
          <a:bodyPr/>
          <a:lstStyle/>
          <a:p>
            <a:r>
              <a:rPr lang="en-US">
                <a:latin typeface="Consolas" panose="020B0609020204030204" pitchFamily="49" charset="0"/>
                <a:cs typeface="Consolas" panose="020B0609020204030204" pitchFamily="49" charset="0"/>
              </a:rPr>
              <a:t>git pull</a:t>
            </a:r>
          </a:p>
          <a:p>
            <a:r>
              <a:rPr lang="en-US">
                <a:latin typeface="Consolas" panose="020B0609020204030204" pitchFamily="49" charset="0"/>
                <a:cs typeface="Consolas" panose="020B0609020204030204" pitchFamily="49" charset="0"/>
              </a:rPr>
              <a:t>[do some work]</a:t>
            </a:r>
          </a:p>
          <a:p>
            <a:r>
              <a:rPr lang="en-US">
                <a:latin typeface="Consolas" panose="020B0609020204030204" pitchFamily="49" charset="0"/>
                <a:cs typeface="Consolas" panose="020B0609020204030204" pitchFamily="49" charset="0"/>
              </a:rPr>
              <a:t>git status</a:t>
            </a:r>
          </a:p>
          <a:p>
            <a:r>
              <a:rPr lang="en-US">
                <a:latin typeface="Consolas" panose="020B0609020204030204" pitchFamily="49" charset="0"/>
                <a:cs typeface="Consolas" panose="020B0609020204030204" pitchFamily="49" charset="0"/>
              </a:rPr>
              <a:t>git add [files]</a:t>
            </a:r>
          </a:p>
          <a:p>
            <a:r>
              <a:rPr lang="en-US">
                <a:latin typeface="Consolas" panose="020B0609020204030204" pitchFamily="49" charset="0"/>
                <a:cs typeface="Consolas" panose="020B0609020204030204" pitchFamily="49" charset="0"/>
              </a:rPr>
              <a:t>git commit -m “commit message”</a:t>
            </a:r>
          </a:p>
          <a:p>
            <a:r>
              <a:rPr lang="en-US">
                <a:latin typeface="Consolas" panose="020B0609020204030204" pitchFamily="49" charset="0"/>
                <a:cs typeface="Consolas" panose="020B0609020204030204" pitchFamily="49" charset="0"/>
              </a:rPr>
              <a:t>git push</a:t>
            </a:r>
          </a:p>
        </p:txBody>
      </p:sp>
      <p:grpSp>
        <p:nvGrpSpPr>
          <p:cNvPr id="23" name="Group 22">
            <a:extLst>
              <a:ext uri="{FF2B5EF4-FFF2-40B4-BE49-F238E27FC236}">
                <a16:creationId xmlns:a16="http://schemas.microsoft.com/office/drawing/2014/main" id="{C189CCDC-C0BA-B22A-BD41-C29A4C2163CA}"/>
              </a:ext>
            </a:extLst>
          </p:cNvPr>
          <p:cNvGrpSpPr/>
          <p:nvPr/>
        </p:nvGrpSpPr>
        <p:grpSpPr>
          <a:xfrm>
            <a:off x="4442286" y="3286372"/>
            <a:ext cx="3526588" cy="3252486"/>
            <a:chOff x="1833971" y="176514"/>
            <a:chExt cx="3526588" cy="3252486"/>
          </a:xfrm>
        </p:grpSpPr>
        <p:grpSp>
          <p:nvGrpSpPr>
            <p:cNvPr id="6" name="Group 5">
              <a:extLst>
                <a:ext uri="{FF2B5EF4-FFF2-40B4-BE49-F238E27FC236}">
                  <a16:creationId xmlns:a16="http://schemas.microsoft.com/office/drawing/2014/main" id="{D0FA5B56-1E47-715F-1358-11C58C7FD8CF}"/>
                </a:ext>
              </a:extLst>
            </p:cNvPr>
            <p:cNvGrpSpPr/>
            <p:nvPr/>
          </p:nvGrpSpPr>
          <p:grpSpPr>
            <a:xfrm>
              <a:off x="1833971" y="1151532"/>
              <a:ext cx="3526588" cy="2265744"/>
              <a:chOff x="390193" y="583324"/>
              <a:chExt cx="11234249" cy="4695525"/>
            </a:xfrm>
          </p:grpSpPr>
          <p:sp>
            <p:nvSpPr>
              <p:cNvPr id="7" name="Rectangle 6">
                <a:extLst>
                  <a:ext uri="{FF2B5EF4-FFF2-40B4-BE49-F238E27FC236}">
                    <a16:creationId xmlns:a16="http://schemas.microsoft.com/office/drawing/2014/main" id="{BA4A4DCB-9AAE-0D93-CE01-5C594F855908}"/>
                  </a:ext>
                </a:extLst>
              </p:cNvPr>
              <p:cNvSpPr/>
              <p:nvPr/>
            </p:nvSpPr>
            <p:spPr>
              <a:xfrm>
                <a:off x="4435364" y="607001"/>
                <a:ext cx="3074276"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Staging area</a:t>
                </a:r>
              </a:p>
            </p:txBody>
          </p:sp>
          <p:sp>
            <p:nvSpPr>
              <p:cNvPr id="8" name="Rectangle 7">
                <a:extLst>
                  <a:ext uri="{FF2B5EF4-FFF2-40B4-BE49-F238E27FC236}">
                    <a16:creationId xmlns:a16="http://schemas.microsoft.com/office/drawing/2014/main" id="{7FE54D2D-B861-26C6-297A-5B48045F8CB1}"/>
                  </a:ext>
                </a:extLst>
              </p:cNvPr>
              <p:cNvSpPr/>
              <p:nvPr/>
            </p:nvSpPr>
            <p:spPr>
              <a:xfrm>
                <a:off x="390193" y="607229"/>
                <a:ext cx="2778671"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Working directory</a:t>
                </a:r>
              </a:p>
            </p:txBody>
          </p:sp>
          <p:sp>
            <p:nvSpPr>
              <p:cNvPr id="9" name="Rectangle 8">
                <a:extLst>
                  <a:ext uri="{FF2B5EF4-FFF2-40B4-BE49-F238E27FC236}">
                    <a16:creationId xmlns:a16="http://schemas.microsoft.com/office/drawing/2014/main" id="{EF94D3DE-8AFA-AAC6-8B63-52EFB928E30B}"/>
                  </a:ext>
                </a:extLst>
              </p:cNvPr>
              <p:cNvSpPr/>
              <p:nvPr/>
            </p:nvSpPr>
            <p:spPr>
              <a:xfrm>
                <a:off x="8776140" y="583324"/>
                <a:ext cx="2848302"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.git directory</a:t>
                </a:r>
              </a:p>
            </p:txBody>
          </p:sp>
          <p:cxnSp>
            <p:nvCxnSpPr>
              <p:cNvPr id="10" name="Straight Connector 9">
                <a:extLst>
                  <a:ext uri="{FF2B5EF4-FFF2-40B4-BE49-F238E27FC236}">
                    <a16:creationId xmlns:a16="http://schemas.microsoft.com/office/drawing/2014/main" id="{CF89B620-FC16-EBC6-64E2-C5F35DE407D8}"/>
                  </a:ext>
                </a:extLst>
              </p:cNvPr>
              <p:cNvCxnSpPr>
                <a:cxnSpLocks/>
              </p:cNvCxnSpPr>
              <p:nvPr/>
            </p:nvCxnSpPr>
            <p:spPr>
              <a:xfrm>
                <a:off x="1665889" y="1321705"/>
                <a:ext cx="0" cy="395714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D2E97FC-DFF6-59D6-7357-65BBE01EED8E}"/>
                  </a:ext>
                </a:extLst>
              </p:cNvPr>
              <p:cNvCxnSpPr/>
              <p:nvPr/>
            </p:nvCxnSpPr>
            <p:spPr>
              <a:xfrm flipH="1">
                <a:off x="5972503" y="1298028"/>
                <a:ext cx="1" cy="395714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4B24E38-2633-A9BA-84DE-B4ADA4E2CAE9}"/>
                  </a:ext>
                </a:extLst>
              </p:cNvPr>
              <p:cNvCxnSpPr/>
              <p:nvPr/>
            </p:nvCxnSpPr>
            <p:spPr>
              <a:xfrm flipH="1">
                <a:off x="10279116" y="1298028"/>
                <a:ext cx="1" cy="395714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Right Arrow 12">
                <a:extLst>
                  <a:ext uri="{FF2B5EF4-FFF2-40B4-BE49-F238E27FC236}">
                    <a16:creationId xmlns:a16="http://schemas.microsoft.com/office/drawing/2014/main" id="{EE95F6A5-674A-1325-1413-299544D1647F}"/>
                  </a:ext>
                </a:extLst>
              </p:cNvPr>
              <p:cNvSpPr/>
              <p:nvPr/>
            </p:nvSpPr>
            <p:spPr>
              <a:xfrm>
                <a:off x="1665890" y="1602828"/>
                <a:ext cx="4306613" cy="980659"/>
              </a:xfrm>
              <a:prstGeom prst="rightArrow">
                <a:avLst/>
              </a:prstGeom>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add</a:t>
                </a:r>
              </a:p>
            </p:txBody>
          </p:sp>
          <p:sp>
            <p:nvSpPr>
              <p:cNvPr id="14" name="Right Arrow 13">
                <a:extLst>
                  <a:ext uri="{FF2B5EF4-FFF2-40B4-BE49-F238E27FC236}">
                    <a16:creationId xmlns:a16="http://schemas.microsoft.com/office/drawing/2014/main" id="{7EAF528A-71D8-5612-CD71-6FDB0E93B559}"/>
                  </a:ext>
                </a:extLst>
              </p:cNvPr>
              <p:cNvSpPr/>
              <p:nvPr/>
            </p:nvSpPr>
            <p:spPr>
              <a:xfrm>
                <a:off x="5972502" y="2574978"/>
                <a:ext cx="4306614" cy="1090448"/>
              </a:xfrm>
              <a:prstGeom prst="rightArrow">
                <a:avLst/>
              </a:prstGeom>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commit</a:t>
                </a:r>
              </a:p>
            </p:txBody>
          </p:sp>
          <p:sp>
            <p:nvSpPr>
              <p:cNvPr id="15" name="Left Arrow 14">
                <a:extLst>
                  <a:ext uri="{FF2B5EF4-FFF2-40B4-BE49-F238E27FC236}">
                    <a16:creationId xmlns:a16="http://schemas.microsoft.com/office/drawing/2014/main" id="{C4CD4900-579D-BEE1-270A-DD31914245B2}"/>
                  </a:ext>
                </a:extLst>
              </p:cNvPr>
              <p:cNvSpPr/>
              <p:nvPr/>
            </p:nvSpPr>
            <p:spPr>
              <a:xfrm>
                <a:off x="1665889" y="3697357"/>
                <a:ext cx="8613227" cy="980660"/>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Checkout</a:t>
                </a:r>
              </a:p>
            </p:txBody>
          </p:sp>
        </p:grpSp>
        <p:grpSp>
          <p:nvGrpSpPr>
            <p:cNvPr id="16" name="Group 15">
              <a:extLst>
                <a:ext uri="{FF2B5EF4-FFF2-40B4-BE49-F238E27FC236}">
                  <a16:creationId xmlns:a16="http://schemas.microsoft.com/office/drawing/2014/main" id="{E744944C-BEE6-92C1-134E-D2F0469447F5}"/>
                </a:ext>
              </a:extLst>
            </p:cNvPr>
            <p:cNvGrpSpPr/>
            <p:nvPr/>
          </p:nvGrpSpPr>
          <p:grpSpPr>
            <a:xfrm>
              <a:off x="1833971" y="176514"/>
              <a:ext cx="3526588" cy="3252486"/>
              <a:chOff x="1126435" y="2442258"/>
              <a:chExt cx="3526588" cy="3252486"/>
            </a:xfrm>
          </p:grpSpPr>
          <p:sp>
            <p:nvSpPr>
              <p:cNvPr id="17" name="Rectangle 16">
                <a:extLst>
                  <a:ext uri="{FF2B5EF4-FFF2-40B4-BE49-F238E27FC236}">
                    <a16:creationId xmlns:a16="http://schemas.microsoft.com/office/drawing/2014/main" id="{3B1125CD-0AB5-664E-75A9-78F327F13857}"/>
                  </a:ext>
                </a:extLst>
              </p:cNvPr>
              <p:cNvSpPr/>
              <p:nvPr/>
            </p:nvSpPr>
            <p:spPr>
              <a:xfrm>
                <a:off x="1126435" y="2442258"/>
                <a:ext cx="3526588" cy="325248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F2FDB13-DFD6-F9EE-608F-B23FCDB5B919}"/>
                  </a:ext>
                </a:extLst>
              </p:cNvPr>
              <p:cNvSpPr txBox="1"/>
              <p:nvPr/>
            </p:nvSpPr>
            <p:spPr>
              <a:xfrm>
                <a:off x="2083068" y="2649569"/>
                <a:ext cx="1471685" cy="461665"/>
              </a:xfrm>
              <a:prstGeom prst="rect">
                <a:avLst/>
              </a:prstGeom>
              <a:noFill/>
            </p:spPr>
            <p:txBody>
              <a:bodyPr wrap="none" rtlCol="0" anchor="ctr">
                <a:spAutoFit/>
              </a:bodyPr>
              <a:lstStyle/>
              <a:p>
                <a:pPr algn="ctr"/>
                <a:r>
                  <a:rPr lang="en-US" sz="2400" dirty="0"/>
                  <a:t>Local repo</a:t>
                </a:r>
              </a:p>
            </p:txBody>
          </p:sp>
        </p:grpSp>
      </p:grpSp>
      <p:grpSp>
        <p:nvGrpSpPr>
          <p:cNvPr id="24" name="Group 23">
            <a:extLst>
              <a:ext uri="{FF2B5EF4-FFF2-40B4-BE49-F238E27FC236}">
                <a16:creationId xmlns:a16="http://schemas.microsoft.com/office/drawing/2014/main" id="{DDA6B5E2-4DF2-2165-BA63-02C27EFE2BC5}"/>
              </a:ext>
            </a:extLst>
          </p:cNvPr>
          <p:cNvGrpSpPr/>
          <p:nvPr/>
        </p:nvGrpSpPr>
        <p:grpSpPr>
          <a:xfrm>
            <a:off x="9387463" y="535181"/>
            <a:ext cx="2415880" cy="2436311"/>
            <a:chOff x="9099180" y="263752"/>
            <a:chExt cx="2604306" cy="2959300"/>
          </a:xfrm>
        </p:grpSpPr>
        <p:sp>
          <p:nvSpPr>
            <p:cNvPr id="5" name="Rectangle 4">
              <a:extLst>
                <a:ext uri="{FF2B5EF4-FFF2-40B4-BE49-F238E27FC236}">
                  <a16:creationId xmlns:a16="http://schemas.microsoft.com/office/drawing/2014/main" id="{FE18AB3F-B716-262D-7686-C688DA5FBF9D}"/>
                </a:ext>
              </a:extLst>
            </p:cNvPr>
            <p:cNvSpPr/>
            <p:nvPr/>
          </p:nvSpPr>
          <p:spPr>
            <a:xfrm>
              <a:off x="9099180" y="263752"/>
              <a:ext cx="2604305" cy="29508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A black cat with a white circle in the background&#10;&#10;Description automatically generated">
              <a:extLst>
                <a:ext uri="{FF2B5EF4-FFF2-40B4-BE49-F238E27FC236}">
                  <a16:creationId xmlns:a16="http://schemas.microsoft.com/office/drawing/2014/main" id="{2B1380EB-7444-B1C7-7F2C-DE49BF930E7C}"/>
                </a:ext>
              </a:extLst>
            </p:cNvPr>
            <p:cNvPicPr>
              <a:picLocks noChangeAspect="1"/>
            </p:cNvPicPr>
            <p:nvPr/>
          </p:nvPicPr>
          <p:blipFill>
            <a:blip r:embed="rId2"/>
            <a:stretch>
              <a:fillRect/>
            </a:stretch>
          </p:blipFill>
          <p:spPr>
            <a:xfrm>
              <a:off x="9735007" y="1709152"/>
              <a:ext cx="1332653" cy="1303682"/>
            </a:xfrm>
            <a:prstGeom prst="rect">
              <a:avLst/>
            </a:prstGeom>
          </p:spPr>
        </p:pic>
        <p:sp>
          <p:nvSpPr>
            <p:cNvPr id="20" name="Rectangle 19">
              <a:extLst>
                <a:ext uri="{FF2B5EF4-FFF2-40B4-BE49-F238E27FC236}">
                  <a16:creationId xmlns:a16="http://schemas.microsoft.com/office/drawing/2014/main" id="{A990657C-FB5B-FA46-D9F1-11B290287CD2}"/>
                </a:ext>
              </a:extLst>
            </p:cNvPr>
            <p:cNvSpPr/>
            <p:nvPr/>
          </p:nvSpPr>
          <p:spPr>
            <a:xfrm>
              <a:off x="9099182" y="272211"/>
              <a:ext cx="2604304" cy="29508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dirty="0"/>
            </a:p>
            <a:p>
              <a:pPr algn="ctr"/>
              <a:r>
                <a:rPr lang="en-US" dirty="0"/>
                <a:t>Remote</a:t>
              </a:r>
            </a:p>
            <a:p>
              <a:pPr algn="ctr"/>
              <a:r>
                <a:rPr lang="en-US" dirty="0" err="1"/>
                <a:t>Your_name</a:t>
              </a:r>
              <a:r>
                <a:rPr lang="en-US" dirty="0"/>
                <a:t>/repo-name</a:t>
              </a:r>
            </a:p>
          </p:txBody>
        </p:sp>
      </p:grpSp>
      <p:sp>
        <p:nvSpPr>
          <p:cNvPr id="21" name="Right Arrow 20">
            <a:extLst>
              <a:ext uri="{FF2B5EF4-FFF2-40B4-BE49-F238E27FC236}">
                <a16:creationId xmlns:a16="http://schemas.microsoft.com/office/drawing/2014/main" id="{5C5A600E-5262-EF5E-3E4C-707A26EA7B7B}"/>
              </a:ext>
            </a:extLst>
          </p:cNvPr>
          <p:cNvSpPr/>
          <p:nvPr/>
        </p:nvSpPr>
        <p:spPr>
          <a:xfrm rot="19255921">
            <a:off x="7910469" y="3702258"/>
            <a:ext cx="2681997" cy="960848"/>
          </a:xfrm>
          <a:prstGeom prst="rightArrow">
            <a:avLst/>
          </a:prstGeom>
          <a:ln w="762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Backup to remote (git push)</a:t>
            </a:r>
          </a:p>
        </p:txBody>
      </p:sp>
      <p:sp>
        <p:nvSpPr>
          <p:cNvPr id="22" name="Left Arrow 21">
            <a:extLst>
              <a:ext uri="{FF2B5EF4-FFF2-40B4-BE49-F238E27FC236}">
                <a16:creationId xmlns:a16="http://schemas.microsoft.com/office/drawing/2014/main" id="{04566CB0-1DBB-B400-E77D-39BC8BC0CA20}"/>
              </a:ext>
            </a:extLst>
          </p:cNvPr>
          <p:cNvSpPr/>
          <p:nvPr/>
        </p:nvSpPr>
        <p:spPr>
          <a:xfrm rot="19502820">
            <a:off x="6735263" y="2466153"/>
            <a:ext cx="2629468" cy="1010679"/>
          </a:xfrm>
          <a:prstGeom prst="leftArrow">
            <a:avLst/>
          </a:prstGeom>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Retrieve from remote (git pull)</a:t>
            </a:r>
          </a:p>
        </p:txBody>
      </p:sp>
    </p:spTree>
    <p:extLst>
      <p:ext uri="{BB962C8B-B14F-4D97-AF65-F5344CB8AC3E}">
        <p14:creationId xmlns:p14="http://schemas.microsoft.com/office/powerpoint/2010/main" val="16777402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E486C-FDD0-DC42-D1CA-725C2C3450F5}"/>
              </a:ext>
            </a:extLst>
          </p:cNvPr>
          <p:cNvSpPr>
            <a:spLocks noGrp="1"/>
          </p:cNvSpPr>
          <p:nvPr>
            <p:ph type="title"/>
          </p:nvPr>
        </p:nvSpPr>
        <p:spPr>
          <a:xfrm>
            <a:off x="466722" y="586855"/>
            <a:ext cx="3201366" cy="3387497"/>
          </a:xfrm>
        </p:spPr>
        <p:txBody>
          <a:bodyPr anchor="b">
            <a:normAutofit/>
          </a:bodyPr>
          <a:lstStyle/>
          <a:p>
            <a:pPr algn="r"/>
            <a:r>
              <a:rPr lang="en-US" sz="4000"/>
              <a:t>Git takeaways</a:t>
            </a:r>
          </a:p>
        </p:txBody>
      </p:sp>
      <p:sp>
        <p:nvSpPr>
          <p:cNvPr id="3" name="Content Placeholder 2">
            <a:extLst>
              <a:ext uri="{FF2B5EF4-FFF2-40B4-BE49-F238E27FC236}">
                <a16:creationId xmlns:a16="http://schemas.microsoft.com/office/drawing/2014/main" id="{7B597073-E1D4-9DB5-0EE7-31312A699E6B}"/>
              </a:ext>
            </a:extLst>
          </p:cNvPr>
          <p:cNvSpPr>
            <a:spLocks noGrp="1"/>
          </p:cNvSpPr>
          <p:nvPr>
            <p:ph idx="1"/>
          </p:nvPr>
        </p:nvSpPr>
        <p:spPr>
          <a:xfrm>
            <a:off x="4810259" y="649480"/>
            <a:ext cx="6555347" cy="5546047"/>
          </a:xfrm>
        </p:spPr>
        <p:txBody>
          <a:bodyPr anchor="ctr">
            <a:normAutofit/>
          </a:bodyPr>
          <a:lstStyle/>
          <a:p>
            <a:pPr marL="0" indent="0">
              <a:buNone/>
            </a:pPr>
            <a:r>
              <a:rPr lang="en-US" sz="2000"/>
              <a:t>1. </a:t>
            </a:r>
            <a:r>
              <a:rPr lang="en-US" sz="2000" b="1"/>
              <a:t>Commits are NOT automatic</a:t>
            </a:r>
            <a:r>
              <a:rPr lang="en-US" sz="2000"/>
              <a:t>. You have to tell git when and what to commit every time. So do it frequently, or you won't be able to go back to a version that you didn't commit. </a:t>
            </a:r>
          </a:p>
          <a:p>
            <a:pPr marL="0" indent="0">
              <a:buNone/>
            </a:pPr>
            <a:r>
              <a:rPr lang="en-US" sz="2000"/>
              <a:t>2. </a:t>
            </a:r>
            <a:r>
              <a:rPr lang="en-US" sz="2000" b="1"/>
              <a:t>Always pull </a:t>
            </a:r>
            <a:r>
              <a:rPr lang="en-US" sz="2000"/>
              <a:t>to get the latest changes from the remote before you start working on your local version. Again, git does NOT operate automatically at all. Everything is manual. </a:t>
            </a:r>
          </a:p>
          <a:p>
            <a:pPr marL="0" indent="0">
              <a:buNone/>
            </a:pPr>
            <a:r>
              <a:rPr lang="en-US" sz="2000"/>
              <a:t>3. </a:t>
            </a:r>
            <a:r>
              <a:rPr lang="en-US" sz="2000" b="1"/>
              <a:t>Always be aware of what you're committing</a:t>
            </a:r>
            <a:r>
              <a:rPr lang="en-US" sz="2000"/>
              <a:t> as permanently deleting things is annoying</a:t>
            </a:r>
          </a:p>
          <a:p>
            <a:pPr marL="0" indent="0">
              <a:buNone/>
            </a:pPr>
            <a:r>
              <a:rPr lang="en-US" sz="2000"/>
              <a:t>4. Everything is recorded and almost everything can be undone, so </a:t>
            </a:r>
            <a:r>
              <a:rPr lang="en-US" sz="2000" b="1"/>
              <a:t>don’t be afraid</a:t>
            </a:r>
          </a:p>
        </p:txBody>
      </p:sp>
    </p:spTree>
    <p:extLst>
      <p:ext uri="{BB962C8B-B14F-4D97-AF65-F5344CB8AC3E}">
        <p14:creationId xmlns:p14="http://schemas.microsoft.com/office/powerpoint/2010/main" val="6260424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FD17AF1-A3A5-B88A-AC11-6966DD345BBC}"/>
              </a:ext>
            </a:extLst>
          </p:cNvPr>
          <p:cNvSpPr>
            <a:spLocks noGrp="1"/>
          </p:cNvSpPr>
          <p:nvPr>
            <p:ph type="title"/>
          </p:nvPr>
        </p:nvSpPr>
        <p:spPr/>
        <p:txBody>
          <a:bodyPr/>
          <a:lstStyle/>
          <a:p>
            <a:r>
              <a:rPr lang="en-US"/>
              <a:t>Collaborating using GitHub</a:t>
            </a:r>
          </a:p>
        </p:txBody>
      </p:sp>
      <p:sp>
        <p:nvSpPr>
          <p:cNvPr id="5" name="Text Placeholder 4">
            <a:extLst>
              <a:ext uri="{FF2B5EF4-FFF2-40B4-BE49-F238E27FC236}">
                <a16:creationId xmlns:a16="http://schemas.microsoft.com/office/drawing/2014/main" id="{36DF5415-F87C-14FA-642C-EED25F9C6DE2}"/>
              </a:ext>
            </a:extLst>
          </p:cNvPr>
          <p:cNvSpPr>
            <a:spLocks noGrp="1"/>
          </p:cNvSpPr>
          <p:nvPr>
            <p:ph type="body" idx="1"/>
          </p:nvPr>
        </p:nvSpPr>
        <p:spPr/>
        <p:txBody>
          <a:bodyPr/>
          <a:lstStyle/>
          <a:p>
            <a:r>
              <a:rPr lang="en-US"/>
              <a:t>Forks and PRs</a:t>
            </a:r>
          </a:p>
        </p:txBody>
      </p:sp>
    </p:spTree>
    <p:extLst>
      <p:ext uri="{BB962C8B-B14F-4D97-AF65-F5344CB8AC3E}">
        <p14:creationId xmlns:p14="http://schemas.microsoft.com/office/powerpoint/2010/main" val="11200841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DDE7EF-D51A-840C-66BA-6EE8544C5D05}"/>
              </a:ext>
            </a:extLst>
          </p:cNvPr>
          <p:cNvSpPr/>
          <p:nvPr/>
        </p:nvSpPr>
        <p:spPr>
          <a:xfrm>
            <a:off x="7903655" y="472748"/>
            <a:ext cx="2604305" cy="29508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black cat with a white circle in the background&#10;&#10;Description automatically generated">
            <a:extLst>
              <a:ext uri="{FF2B5EF4-FFF2-40B4-BE49-F238E27FC236}">
                <a16:creationId xmlns:a16="http://schemas.microsoft.com/office/drawing/2014/main" id="{B638D541-E82E-854F-F00A-764645F46154}"/>
              </a:ext>
            </a:extLst>
          </p:cNvPr>
          <p:cNvPicPr>
            <a:picLocks noChangeAspect="1"/>
          </p:cNvPicPr>
          <p:nvPr/>
        </p:nvPicPr>
        <p:blipFill>
          <a:blip r:embed="rId3"/>
          <a:stretch>
            <a:fillRect/>
          </a:stretch>
        </p:blipFill>
        <p:spPr>
          <a:xfrm>
            <a:off x="8539482" y="1918148"/>
            <a:ext cx="1332653" cy="1303682"/>
          </a:xfrm>
          <a:prstGeom prst="rect">
            <a:avLst/>
          </a:prstGeom>
        </p:spPr>
      </p:pic>
      <p:sp>
        <p:nvSpPr>
          <p:cNvPr id="4" name="Rectangle 3">
            <a:extLst>
              <a:ext uri="{FF2B5EF4-FFF2-40B4-BE49-F238E27FC236}">
                <a16:creationId xmlns:a16="http://schemas.microsoft.com/office/drawing/2014/main" id="{20CD8438-657D-BFAA-69F4-9CC85F75A6FD}"/>
              </a:ext>
            </a:extLst>
          </p:cNvPr>
          <p:cNvSpPr/>
          <p:nvPr/>
        </p:nvSpPr>
        <p:spPr>
          <a:xfrm>
            <a:off x="7903657" y="481207"/>
            <a:ext cx="2604304" cy="29508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dirty="0"/>
          </a:p>
          <a:p>
            <a:pPr algn="ctr"/>
            <a:r>
              <a:rPr lang="en-US" sz="2400" dirty="0"/>
              <a:t>Remote</a:t>
            </a:r>
          </a:p>
          <a:p>
            <a:pPr algn="ctr"/>
            <a:r>
              <a:rPr lang="en-US" sz="2400" dirty="0" err="1"/>
              <a:t>Your_name</a:t>
            </a:r>
            <a:r>
              <a:rPr lang="en-US" sz="2400" dirty="0"/>
              <a:t>/repo-name</a:t>
            </a:r>
          </a:p>
        </p:txBody>
      </p:sp>
      <p:sp>
        <p:nvSpPr>
          <p:cNvPr id="5" name="Rectangle 4">
            <a:extLst>
              <a:ext uri="{FF2B5EF4-FFF2-40B4-BE49-F238E27FC236}">
                <a16:creationId xmlns:a16="http://schemas.microsoft.com/office/drawing/2014/main" id="{CE5A17AC-877A-CB3A-9FE6-C56724823E08}"/>
              </a:ext>
            </a:extLst>
          </p:cNvPr>
          <p:cNvSpPr/>
          <p:nvPr/>
        </p:nvSpPr>
        <p:spPr>
          <a:xfrm>
            <a:off x="1090236" y="472748"/>
            <a:ext cx="2604305" cy="29508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black cat with a white circle in the background&#10;&#10;Description automatically generated">
            <a:extLst>
              <a:ext uri="{FF2B5EF4-FFF2-40B4-BE49-F238E27FC236}">
                <a16:creationId xmlns:a16="http://schemas.microsoft.com/office/drawing/2014/main" id="{CBFDE5DA-AEAF-47D8-E5AA-A50F9A81B35E}"/>
              </a:ext>
            </a:extLst>
          </p:cNvPr>
          <p:cNvPicPr>
            <a:picLocks noChangeAspect="1"/>
          </p:cNvPicPr>
          <p:nvPr/>
        </p:nvPicPr>
        <p:blipFill>
          <a:blip r:embed="rId3"/>
          <a:stretch>
            <a:fillRect/>
          </a:stretch>
        </p:blipFill>
        <p:spPr>
          <a:xfrm>
            <a:off x="1726063" y="1918148"/>
            <a:ext cx="1332653" cy="1303682"/>
          </a:xfrm>
          <a:prstGeom prst="rect">
            <a:avLst/>
          </a:prstGeom>
        </p:spPr>
      </p:pic>
      <p:sp>
        <p:nvSpPr>
          <p:cNvPr id="7" name="Rectangle 6">
            <a:extLst>
              <a:ext uri="{FF2B5EF4-FFF2-40B4-BE49-F238E27FC236}">
                <a16:creationId xmlns:a16="http://schemas.microsoft.com/office/drawing/2014/main" id="{849FBE31-1B71-481C-007F-2023437EE2E1}"/>
              </a:ext>
            </a:extLst>
          </p:cNvPr>
          <p:cNvSpPr/>
          <p:nvPr/>
        </p:nvSpPr>
        <p:spPr>
          <a:xfrm>
            <a:off x="1090238" y="481207"/>
            <a:ext cx="2604304" cy="29508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dirty="0"/>
          </a:p>
          <a:p>
            <a:pPr algn="ctr"/>
            <a:r>
              <a:rPr lang="en-US" sz="2400" dirty="0"/>
              <a:t>Remote</a:t>
            </a:r>
          </a:p>
          <a:p>
            <a:pPr algn="ctr"/>
            <a:r>
              <a:rPr lang="en-US" sz="2400" dirty="0" err="1"/>
              <a:t>collab</a:t>
            </a:r>
            <a:r>
              <a:rPr lang="en-US" sz="2400" dirty="0"/>
              <a:t>/repo-name</a:t>
            </a:r>
          </a:p>
        </p:txBody>
      </p:sp>
      <p:sp>
        <p:nvSpPr>
          <p:cNvPr id="8" name="Right Arrow 7">
            <a:extLst>
              <a:ext uri="{FF2B5EF4-FFF2-40B4-BE49-F238E27FC236}">
                <a16:creationId xmlns:a16="http://schemas.microsoft.com/office/drawing/2014/main" id="{067BCC86-C8D0-4F9E-B060-F650F19AB780}"/>
              </a:ext>
            </a:extLst>
          </p:cNvPr>
          <p:cNvSpPr/>
          <p:nvPr/>
        </p:nvSpPr>
        <p:spPr>
          <a:xfrm>
            <a:off x="4109696" y="954252"/>
            <a:ext cx="3445201" cy="960848"/>
          </a:xfrm>
          <a:prstGeom prst="rightArrow">
            <a:avLst/>
          </a:prstGeom>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Make copy to account (fork)</a:t>
            </a:r>
          </a:p>
        </p:txBody>
      </p:sp>
      <p:sp>
        <p:nvSpPr>
          <p:cNvPr id="9" name="Left Arrow 8">
            <a:extLst>
              <a:ext uri="{FF2B5EF4-FFF2-40B4-BE49-F238E27FC236}">
                <a16:creationId xmlns:a16="http://schemas.microsoft.com/office/drawing/2014/main" id="{737457A0-42B9-8931-0E8D-B9DEDA22F636}"/>
              </a:ext>
            </a:extLst>
          </p:cNvPr>
          <p:cNvSpPr/>
          <p:nvPr/>
        </p:nvSpPr>
        <p:spPr>
          <a:xfrm>
            <a:off x="4043299" y="2031580"/>
            <a:ext cx="3406717" cy="101067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Update original repo </a:t>
            </a:r>
          </a:p>
          <a:p>
            <a:pPr algn="ctr"/>
            <a:r>
              <a:rPr lang="en-US" dirty="0"/>
              <a:t>(pull request)</a:t>
            </a:r>
          </a:p>
        </p:txBody>
      </p:sp>
      <p:sp>
        <p:nvSpPr>
          <p:cNvPr id="11" name="TextBox 10">
            <a:extLst>
              <a:ext uri="{FF2B5EF4-FFF2-40B4-BE49-F238E27FC236}">
                <a16:creationId xmlns:a16="http://schemas.microsoft.com/office/drawing/2014/main" id="{ED2D2E4E-3E81-8B8D-ACED-4134C9213919}"/>
              </a:ext>
            </a:extLst>
          </p:cNvPr>
          <p:cNvSpPr txBox="1"/>
          <p:nvPr/>
        </p:nvSpPr>
        <p:spPr>
          <a:xfrm>
            <a:off x="8216753" y="4394742"/>
            <a:ext cx="1968649" cy="923330"/>
          </a:xfrm>
          <a:prstGeom prst="rect">
            <a:avLst/>
          </a:prstGeom>
          <a:noFill/>
        </p:spPr>
        <p:txBody>
          <a:bodyPr wrap="square" rtlCol="0">
            <a:spAutoFit/>
          </a:bodyPr>
          <a:lstStyle/>
          <a:p>
            <a:r>
              <a:rPr lang="en-US"/>
              <a:t>Copy to your local computer (git clone)</a:t>
            </a:r>
          </a:p>
        </p:txBody>
      </p:sp>
      <p:grpSp>
        <p:nvGrpSpPr>
          <p:cNvPr id="12" name="Group 11">
            <a:extLst>
              <a:ext uri="{FF2B5EF4-FFF2-40B4-BE49-F238E27FC236}">
                <a16:creationId xmlns:a16="http://schemas.microsoft.com/office/drawing/2014/main" id="{494F91B2-2763-0197-F33E-4621E0A64E15}"/>
              </a:ext>
            </a:extLst>
          </p:cNvPr>
          <p:cNvGrpSpPr/>
          <p:nvPr/>
        </p:nvGrpSpPr>
        <p:grpSpPr>
          <a:xfrm>
            <a:off x="5035296" y="5065286"/>
            <a:ext cx="2600988" cy="1607523"/>
            <a:chOff x="390193" y="583324"/>
            <a:chExt cx="11234249" cy="4695525"/>
          </a:xfrm>
        </p:grpSpPr>
        <p:sp>
          <p:nvSpPr>
            <p:cNvPr id="13" name="Rectangle 12">
              <a:extLst>
                <a:ext uri="{FF2B5EF4-FFF2-40B4-BE49-F238E27FC236}">
                  <a16:creationId xmlns:a16="http://schemas.microsoft.com/office/drawing/2014/main" id="{7B39F9CA-9587-D266-36F9-6F89C443D367}"/>
                </a:ext>
              </a:extLst>
            </p:cNvPr>
            <p:cNvSpPr/>
            <p:nvPr/>
          </p:nvSpPr>
          <p:spPr>
            <a:xfrm>
              <a:off x="4435364" y="607001"/>
              <a:ext cx="3074276"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14" name="Rectangle 13">
              <a:extLst>
                <a:ext uri="{FF2B5EF4-FFF2-40B4-BE49-F238E27FC236}">
                  <a16:creationId xmlns:a16="http://schemas.microsoft.com/office/drawing/2014/main" id="{723FDE6A-5651-3766-EC9C-2DEA6A75B607}"/>
                </a:ext>
              </a:extLst>
            </p:cNvPr>
            <p:cNvSpPr/>
            <p:nvPr/>
          </p:nvSpPr>
          <p:spPr>
            <a:xfrm>
              <a:off x="390193" y="607229"/>
              <a:ext cx="2778671"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15" name="Rectangle 14">
              <a:extLst>
                <a:ext uri="{FF2B5EF4-FFF2-40B4-BE49-F238E27FC236}">
                  <a16:creationId xmlns:a16="http://schemas.microsoft.com/office/drawing/2014/main" id="{A9FF01B9-0E74-46C9-8540-FC2AAD2FDA9B}"/>
                </a:ext>
              </a:extLst>
            </p:cNvPr>
            <p:cNvSpPr/>
            <p:nvPr/>
          </p:nvSpPr>
          <p:spPr>
            <a:xfrm>
              <a:off x="8776140" y="583324"/>
              <a:ext cx="2848302"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cxnSp>
          <p:nvCxnSpPr>
            <p:cNvPr id="16" name="Straight Connector 15">
              <a:extLst>
                <a:ext uri="{FF2B5EF4-FFF2-40B4-BE49-F238E27FC236}">
                  <a16:creationId xmlns:a16="http://schemas.microsoft.com/office/drawing/2014/main" id="{CF7CA63C-7FB9-6BB5-B1F5-E99F5AC9A23B}"/>
                </a:ext>
              </a:extLst>
            </p:cNvPr>
            <p:cNvCxnSpPr>
              <a:cxnSpLocks/>
            </p:cNvCxnSpPr>
            <p:nvPr/>
          </p:nvCxnSpPr>
          <p:spPr>
            <a:xfrm>
              <a:off x="1665889" y="1321705"/>
              <a:ext cx="0" cy="395714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F5DEAE7-C21F-B266-2DAE-2E5E48628A50}"/>
                </a:ext>
              </a:extLst>
            </p:cNvPr>
            <p:cNvCxnSpPr/>
            <p:nvPr/>
          </p:nvCxnSpPr>
          <p:spPr>
            <a:xfrm flipH="1">
              <a:off x="5972503" y="1298028"/>
              <a:ext cx="1" cy="395714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AB41936-AAAD-8B51-1F5D-883F22773B65}"/>
                </a:ext>
              </a:extLst>
            </p:cNvPr>
            <p:cNvCxnSpPr/>
            <p:nvPr/>
          </p:nvCxnSpPr>
          <p:spPr>
            <a:xfrm flipH="1">
              <a:off x="10279116" y="1298028"/>
              <a:ext cx="1" cy="395714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9" name="Right Arrow 18">
              <a:extLst>
                <a:ext uri="{FF2B5EF4-FFF2-40B4-BE49-F238E27FC236}">
                  <a16:creationId xmlns:a16="http://schemas.microsoft.com/office/drawing/2014/main" id="{5175B7AA-68B9-1F69-642A-E81F73F8B636}"/>
                </a:ext>
              </a:extLst>
            </p:cNvPr>
            <p:cNvSpPr/>
            <p:nvPr/>
          </p:nvSpPr>
          <p:spPr>
            <a:xfrm>
              <a:off x="1665889" y="1602828"/>
              <a:ext cx="4306614" cy="980660"/>
            </a:xfrm>
            <a:prstGeom prst="rightArrow">
              <a:avLst/>
            </a:prstGeom>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20" name="Right Arrow 19">
              <a:extLst>
                <a:ext uri="{FF2B5EF4-FFF2-40B4-BE49-F238E27FC236}">
                  <a16:creationId xmlns:a16="http://schemas.microsoft.com/office/drawing/2014/main" id="{5F2316C4-6693-4CC6-60A9-2B730B0B442A}"/>
                </a:ext>
              </a:extLst>
            </p:cNvPr>
            <p:cNvSpPr/>
            <p:nvPr/>
          </p:nvSpPr>
          <p:spPr>
            <a:xfrm>
              <a:off x="5972502" y="2574978"/>
              <a:ext cx="4306614" cy="1090448"/>
            </a:xfrm>
            <a:prstGeom prst="rightArrow">
              <a:avLst/>
            </a:prstGeom>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21" name="Left Arrow 20">
              <a:extLst>
                <a:ext uri="{FF2B5EF4-FFF2-40B4-BE49-F238E27FC236}">
                  <a16:creationId xmlns:a16="http://schemas.microsoft.com/office/drawing/2014/main" id="{ACD7208C-1774-9960-8E74-5299EFBE1EB1}"/>
                </a:ext>
              </a:extLst>
            </p:cNvPr>
            <p:cNvSpPr/>
            <p:nvPr/>
          </p:nvSpPr>
          <p:spPr>
            <a:xfrm>
              <a:off x="1665889" y="3697357"/>
              <a:ext cx="8613227" cy="980660"/>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grpSp>
      <p:grpSp>
        <p:nvGrpSpPr>
          <p:cNvPr id="22" name="Group 21">
            <a:extLst>
              <a:ext uri="{FF2B5EF4-FFF2-40B4-BE49-F238E27FC236}">
                <a16:creationId xmlns:a16="http://schemas.microsoft.com/office/drawing/2014/main" id="{03983F2E-DBC5-42D6-E67D-D7731E670FB4}"/>
              </a:ext>
            </a:extLst>
          </p:cNvPr>
          <p:cNvGrpSpPr/>
          <p:nvPr/>
        </p:nvGrpSpPr>
        <p:grpSpPr>
          <a:xfrm>
            <a:off x="5035296" y="4376928"/>
            <a:ext cx="2600988" cy="2307606"/>
            <a:chOff x="1126435" y="2442258"/>
            <a:chExt cx="3526588" cy="3252486"/>
          </a:xfrm>
        </p:grpSpPr>
        <p:sp>
          <p:nvSpPr>
            <p:cNvPr id="23" name="Rectangle 22">
              <a:extLst>
                <a:ext uri="{FF2B5EF4-FFF2-40B4-BE49-F238E27FC236}">
                  <a16:creationId xmlns:a16="http://schemas.microsoft.com/office/drawing/2014/main" id="{EDD2F984-10B1-4D84-5032-0BEF406673E6}"/>
                </a:ext>
              </a:extLst>
            </p:cNvPr>
            <p:cNvSpPr/>
            <p:nvPr/>
          </p:nvSpPr>
          <p:spPr>
            <a:xfrm>
              <a:off x="1126435" y="2442258"/>
              <a:ext cx="3526588" cy="325248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39592C5-73FC-BFEE-FA60-D2EAED4BB4F8}"/>
                </a:ext>
              </a:extLst>
            </p:cNvPr>
            <p:cNvSpPr txBox="1"/>
            <p:nvPr/>
          </p:nvSpPr>
          <p:spPr>
            <a:xfrm>
              <a:off x="2083068" y="2649569"/>
              <a:ext cx="1471685" cy="461665"/>
            </a:xfrm>
            <a:prstGeom prst="rect">
              <a:avLst/>
            </a:prstGeom>
            <a:noFill/>
          </p:spPr>
          <p:txBody>
            <a:bodyPr wrap="none" rtlCol="0" anchor="ctr">
              <a:spAutoFit/>
            </a:bodyPr>
            <a:lstStyle/>
            <a:p>
              <a:pPr algn="ctr"/>
              <a:r>
                <a:rPr lang="en-US" sz="2400" dirty="0"/>
                <a:t>Local repo</a:t>
              </a:r>
            </a:p>
          </p:txBody>
        </p:sp>
      </p:grpSp>
      <p:cxnSp>
        <p:nvCxnSpPr>
          <p:cNvPr id="26" name="Elbow Connector 25">
            <a:extLst>
              <a:ext uri="{FF2B5EF4-FFF2-40B4-BE49-F238E27FC236}">
                <a16:creationId xmlns:a16="http://schemas.microsoft.com/office/drawing/2014/main" id="{F00ADF1B-6C8B-527A-B8DF-D7DC459FC863}"/>
              </a:ext>
            </a:extLst>
          </p:cNvPr>
          <p:cNvCxnSpPr>
            <a:endCxn id="23" idx="3"/>
          </p:cNvCxnSpPr>
          <p:nvPr/>
        </p:nvCxnSpPr>
        <p:spPr>
          <a:xfrm rot="10800000" flipV="1">
            <a:off x="7636284" y="3535677"/>
            <a:ext cx="2568420" cy="1995053"/>
          </a:xfrm>
          <a:prstGeom prst="bentConnector3">
            <a:avLst>
              <a:gd name="adj1" fmla="val -792"/>
            </a:avLst>
          </a:prstGeom>
          <a:ln w="762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59997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125AC-A2F6-2735-60FC-6D254F391B4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B8E6CA1-86CF-63E5-33D6-681E4C28EE11}"/>
              </a:ext>
            </a:extLst>
          </p:cNvPr>
          <p:cNvSpPr/>
          <p:nvPr/>
        </p:nvSpPr>
        <p:spPr>
          <a:xfrm>
            <a:off x="2210651" y="468118"/>
            <a:ext cx="2062480" cy="24829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35FE34D-4FDE-CFA9-52A5-0A546B74CE66}"/>
              </a:ext>
            </a:extLst>
          </p:cNvPr>
          <p:cNvSpPr/>
          <p:nvPr/>
        </p:nvSpPr>
        <p:spPr>
          <a:xfrm>
            <a:off x="5064760" y="467360"/>
            <a:ext cx="2062480" cy="26123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97DC6D3-B330-82E0-2808-93E9F5F90D76}"/>
              </a:ext>
            </a:extLst>
          </p:cNvPr>
          <p:cNvSpPr/>
          <p:nvPr/>
        </p:nvSpPr>
        <p:spPr>
          <a:xfrm>
            <a:off x="2418931" y="1185499"/>
            <a:ext cx="1656080" cy="1724499"/>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9" name="Rectangle 8">
            <a:extLst>
              <a:ext uri="{FF2B5EF4-FFF2-40B4-BE49-F238E27FC236}">
                <a16:creationId xmlns:a16="http://schemas.microsoft.com/office/drawing/2014/main" id="{008016DF-4E76-E622-485F-01CE7A38AE47}"/>
              </a:ext>
            </a:extLst>
          </p:cNvPr>
          <p:cNvSpPr/>
          <p:nvPr/>
        </p:nvSpPr>
        <p:spPr>
          <a:xfrm>
            <a:off x="5267960" y="1176944"/>
            <a:ext cx="1656080" cy="1853700"/>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22" name="Terminator 21">
            <a:extLst>
              <a:ext uri="{FF2B5EF4-FFF2-40B4-BE49-F238E27FC236}">
                <a16:creationId xmlns:a16="http://schemas.microsoft.com/office/drawing/2014/main" id="{713149C6-A92C-F677-A783-E7A62A40EF1D}"/>
              </a:ext>
            </a:extLst>
          </p:cNvPr>
          <p:cNvSpPr/>
          <p:nvPr/>
        </p:nvSpPr>
        <p:spPr>
          <a:xfrm>
            <a:off x="5389671" y="257766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23" name="Terminator 22">
            <a:extLst>
              <a:ext uri="{FF2B5EF4-FFF2-40B4-BE49-F238E27FC236}">
                <a16:creationId xmlns:a16="http://schemas.microsoft.com/office/drawing/2014/main" id="{E1C91E1E-5BC6-7788-0CD6-0D5FC2AAD348}"/>
              </a:ext>
            </a:extLst>
          </p:cNvPr>
          <p:cNvSpPr/>
          <p:nvPr/>
        </p:nvSpPr>
        <p:spPr>
          <a:xfrm>
            <a:off x="5389671" y="203918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cxnSp>
        <p:nvCxnSpPr>
          <p:cNvPr id="26" name="Straight Connector 25">
            <a:extLst>
              <a:ext uri="{FF2B5EF4-FFF2-40B4-BE49-F238E27FC236}">
                <a16:creationId xmlns:a16="http://schemas.microsoft.com/office/drawing/2014/main" id="{4103D4ED-6D58-FBC7-0479-AA5CAB5A517F}"/>
              </a:ext>
            </a:extLst>
          </p:cNvPr>
          <p:cNvCxnSpPr>
            <a:cxnSpLocks/>
            <a:stCxn id="22" idx="0"/>
            <a:endCxn id="23" idx="2"/>
          </p:cNvCxnSpPr>
          <p:nvPr/>
        </p:nvCxnSpPr>
        <p:spPr>
          <a:xfrm flipV="1">
            <a:off x="6116111" y="2435424"/>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B9ECBD0-9EBB-2FC9-92D4-8C9DBD5BB3AB}"/>
              </a:ext>
            </a:extLst>
          </p:cNvPr>
          <p:cNvSpPr txBox="1"/>
          <p:nvPr/>
        </p:nvSpPr>
        <p:spPr>
          <a:xfrm>
            <a:off x="5267960" y="539168"/>
            <a:ext cx="1633652" cy="646331"/>
          </a:xfrm>
          <a:prstGeom prst="rect">
            <a:avLst/>
          </a:prstGeom>
          <a:noFill/>
        </p:spPr>
        <p:txBody>
          <a:bodyPr wrap="none" rtlCol="0">
            <a:spAutoFit/>
          </a:bodyPr>
          <a:lstStyle/>
          <a:p>
            <a:pPr algn="ctr"/>
            <a:r>
              <a:rPr lang="en-US" dirty="0"/>
              <a:t>GitHub Remote</a:t>
            </a:r>
          </a:p>
          <a:p>
            <a:pPr algn="ctr"/>
            <a:r>
              <a:rPr lang="en-US" dirty="0"/>
              <a:t>(your fork)</a:t>
            </a:r>
          </a:p>
        </p:txBody>
      </p:sp>
      <p:sp>
        <p:nvSpPr>
          <p:cNvPr id="28" name="Terminator 27">
            <a:extLst>
              <a:ext uri="{FF2B5EF4-FFF2-40B4-BE49-F238E27FC236}">
                <a16:creationId xmlns:a16="http://schemas.microsoft.com/office/drawing/2014/main" id="{9127A9D9-9FC4-3251-D130-4D674753AADA}"/>
              </a:ext>
            </a:extLst>
          </p:cNvPr>
          <p:cNvSpPr/>
          <p:nvPr/>
        </p:nvSpPr>
        <p:spPr>
          <a:xfrm>
            <a:off x="2515451" y="2432907"/>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29" name="Terminator 28">
            <a:extLst>
              <a:ext uri="{FF2B5EF4-FFF2-40B4-BE49-F238E27FC236}">
                <a16:creationId xmlns:a16="http://schemas.microsoft.com/office/drawing/2014/main" id="{664B7C3D-5103-08E3-1CEC-BE628DA62CE2}"/>
              </a:ext>
            </a:extLst>
          </p:cNvPr>
          <p:cNvSpPr/>
          <p:nvPr/>
        </p:nvSpPr>
        <p:spPr>
          <a:xfrm>
            <a:off x="2515451" y="1894427"/>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cxnSp>
        <p:nvCxnSpPr>
          <p:cNvPr id="30" name="Straight Connector 29">
            <a:extLst>
              <a:ext uri="{FF2B5EF4-FFF2-40B4-BE49-F238E27FC236}">
                <a16:creationId xmlns:a16="http://schemas.microsoft.com/office/drawing/2014/main" id="{71B1D1D4-5923-A2B2-040E-533A373C5929}"/>
              </a:ext>
            </a:extLst>
          </p:cNvPr>
          <p:cNvCxnSpPr>
            <a:cxnSpLocks/>
            <a:stCxn id="28" idx="0"/>
            <a:endCxn id="29" idx="2"/>
          </p:cNvCxnSpPr>
          <p:nvPr/>
        </p:nvCxnSpPr>
        <p:spPr>
          <a:xfrm flipV="1">
            <a:off x="3241891" y="2290667"/>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04B4DB8-39C5-B749-F9A8-21BDE094E68F}"/>
              </a:ext>
            </a:extLst>
          </p:cNvPr>
          <p:cNvSpPr txBox="1"/>
          <p:nvPr/>
        </p:nvSpPr>
        <p:spPr>
          <a:xfrm>
            <a:off x="2456266" y="569162"/>
            <a:ext cx="1571264" cy="646331"/>
          </a:xfrm>
          <a:prstGeom prst="rect">
            <a:avLst/>
          </a:prstGeom>
          <a:noFill/>
        </p:spPr>
        <p:txBody>
          <a:bodyPr wrap="none" rtlCol="0">
            <a:spAutoFit/>
          </a:bodyPr>
          <a:lstStyle/>
          <a:p>
            <a:pPr algn="ctr"/>
            <a:r>
              <a:rPr lang="en-US" dirty="0"/>
              <a:t>Original Repo </a:t>
            </a:r>
          </a:p>
          <a:p>
            <a:pPr algn="ctr"/>
            <a:r>
              <a:rPr lang="en-US" dirty="0"/>
              <a:t>(lab repo)</a:t>
            </a:r>
          </a:p>
        </p:txBody>
      </p:sp>
      <p:cxnSp>
        <p:nvCxnSpPr>
          <p:cNvPr id="34" name="Straight Arrow Connector 33">
            <a:extLst>
              <a:ext uri="{FF2B5EF4-FFF2-40B4-BE49-F238E27FC236}">
                <a16:creationId xmlns:a16="http://schemas.microsoft.com/office/drawing/2014/main" id="{BDF30E0F-1DDA-B137-C1B0-32FF5FD1D512}"/>
              </a:ext>
            </a:extLst>
          </p:cNvPr>
          <p:cNvCxnSpPr>
            <a:cxnSpLocks/>
            <a:stCxn id="4" idx="3"/>
            <a:endCxn id="5" idx="1"/>
          </p:cNvCxnSpPr>
          <p:nvPr/>
        </p:nvCxnSpPr>
        <p:spPr>
          <a:xfrm>
            <a:off x="4273131" y="1709592"/>
            <a:ext cx="791629" cy="6394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37" name="Picture 36" descr="A black cat with a white circle in the background&#10;&#10;Description automatically generated">
            <a:extLst>
              <a:ext uri="{FF2B5EF4-FFF2-40B4-BE49-F238E27FC236}">
                <a16:creationId xmlns:a16="http://schemas.microsoft.com/office/drawing/2014/main" id="{B0360F09-13A4-A9AB-AC4C-4328BF23A977}"/>
              </a:ext>
            </a:extLst>
          </p:cNvPr>
          <p:cNvPicPr>
            <a:picLocks noChangeAspect="1"/>
          </p:cNvPicPr>
          <p:nvPr/>
        </p:nvPicPr>
        <p:blipFill>
          <a:blip r:embed="rId3">
            <a:alphaModFix/>
          </a:blip>
          <a:stretch>
            <a:fillRect/>
          </a:stretch>
        </p:blipFill>
        <p:spPr>
          <a:xfrm>
            <a:off x="298453" y="520649"/>
            <a:ext cx="1332653" cy="1303682"/>
          </a:xfrm>
          <a:prstGeom prst="rect">
            <a:avLst/>
          </a:prstGeom>
          <a:solidFill>
            <a:schemeClr val="accent1"/>
          </a:solidFill>
        </p:spPr>
      </p:pic>
      <p:pic>
        <p:nvPicPr>
          <p:cNvPr id="38" name="Graphic 37" descr="Laptop with solid fill">
            <a:extLst>
              <a:ext uri="{FF2B5EF4-FFF2-40B4-BE49-F238E27FC236}">
                <a16:creationId xmlns:a16="http://schemas.microsoft.com/office/drawing/2014/main" id="{A976A76B-226D-02AA-013C-E6135B189C6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78" y="4628044"/>
            <a:ext cx="2133917" cy="2133917"/>
          </a:xfrm>
          <a:prstGeom prst="rect">
            <a:avLst/>
          </a:prstGeom>
        </p:spPr>
      </p:pic>
      <p:sp>
        <p:nvSpPr>
          <p:cNvPr id="39" name="TextBox 38">
            <a:extLst>
              <a:ext uri="{FF2B5EF4-FFF2-40B4-BE49-F238E27FC236}">
                <a16:creationId xmlns:a16="http://schemas.microsoft.com/office/drawing/2014/main" id="{AA958B7D-4CE7-9C7C-05EF-3C8E2B09B988}"/>
              </a:ext>
            </a:extLst>
          </p:cNvPr>
          <p:cNvSpPr txBox="1"/>
          <p:nvPr/>
        </p:nvSpPr>
        <p:spPr>
          <a:xfrm rot="408438">
            <a:off x="4340019" y="1306276"/>
            <a:ext cx="691215" cy="369332"/>
          </a:xfrm>
          <a:prstGeom prst="rect">
            <a:avLst/>
          </a:prstGeom>
          <a:noFill/>
        </p:spPr>
        <p:txBody>
          <a:bodyPr wrap="none" rtlCol="0">
            <a:spAutoFit/>
          </a:bodyPr>
          <a:lstStyle/>
          <a:p>
            <a:r>
              <a:rPr lang="en-US">
                <a:highlight>
                  <a:srgbClr val="FFFF00"/>
                </a:highlight>
                <a:latin typeface="Consolas" panose="020B0609020204030204" pitchFamily="49" charset="0"/>
                <a:cs typeface="Consolas" panose="020B0609020204030204" pitchFamily="49" charset="0"/>
              </a:rPr>
              <a:t>fork</a:t>
            </a:r>
          </a:p>
        </p:txBody>
      </p:sp>
    </p:spTree>
    <p:extLst>
      <p:ext uri="{BB962C8B-B14F-4D97-AF65-F5344CB8AC3E}">
        <p14:creationId xmlns:p14="http://schemas.microsoft.com/office/powerpoint/2010/main" val="19164739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5572D-2961-D023-9D9E-DF84B0AA61C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D9B7DE9-091F-1766-3A3B-74C5E3335D4D}"/>
              </a:ext>
            </a:extLst>
          </p:cNvPr>
          <p:cNvSpPr/>
          <p:nvPr/>
        </p:nvSpPr>
        <p:spPr>
          <a:xfrm>
            <a:off x="3095619" y="3600548"/>
            <a:ext cx="2062480" cy="3037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338448F-E44A-7A28-E625-B1CE71B391C5}"/>
              </a:ext>
            </a:extLst>
          </p:cNvPr>
          <p:cNvSpPr/>
          <p:nvPr/>
        </p:nvSpPr>
        <p:spPr>
          <a:xfrm>
            <a:off x="2210651" y="468118"/>
            <a:ext cx="2062480" cy="24829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BDB5D97-AADB-24F5-D447-DE541048E498}"/>
              </a:ext>
            </a:extLst>
          </p:cNvPr>
          <p:cNvSpPr/>
          <p:nvPr/>
        </p:nvSpPr>
        <p:spPr>
          <a:xfrm>
            <a:off x="5064760" y="467360"/>
            <a:ext cx="2062480" cy="26123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7D7707E-B00C-B014-75BE-98958664717F}"/>
              </a:ext>
            </a:extLst>
          </p:cNvPr>
          <p:cNvSpPr/>
          <p:nvPr/>
        </p:nvSpPr>
        <p:spPr>
          <a:xfrm>
            <a:off x="2418931" y="1185499"/>
            <a:ext cx="1656080" cy="1724499"/>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8" name="Rectangle 7">
            <a:extLst>
              <a:ext uri="{FF2B5EF4-FFF2-40B4-BE49-F238E27FC236}">
                <a16:creationId xmlns:a16="http://schemas.microsoft.com/office/drawing/2014/main" id="{1762DC49-D8FA-9C3D-7B32-FACFB2C637E9}"/>
              </a:ext>
            </a:extLst>
          </p:cNvPr>
          <p:cNvSpPr/>
          <p:nvPr/>
        </p:nvSpPr>
        <p:spPr>
          <a:xfrm>
            <a:off x="3318930" y="4620624"/>
            <a:ext cx="1656080" cy="1991191"/>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9" name="Rectangle 8">
            <a:extLst>
              <a:ext uri="{FF2B5EF4-FFF2-40B4-BE49-F238E27FC236}">
                <a16:creationId xmlns:a16="http://schemas.microsoft.com/office/drawing/2014/main" id="{8E3B4378-EEC4-6467-D246-5BDFD6BA7A92}"/>
              </a:ext>
            </a:extLst>
          </p:cNvPr>
          <p:cNvSpPr/>
          <p:nvPr/>
        </p:nvSpPr>
        <p:spPr>
          <a:xfrm>
            <a:off x="5267960" y="1176944"/>
            <a:ext cx="1656080" cy="1853700"/>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10" name="Terminator 9">
            <a:extLst>
              <a:ext uri="{FF2B5EF4-FFF2-40B4-BE49-F238E27FC236}">
                <a16:creationId xmlns:a16="http://schemas.microsoft.com/office/drawing/2014/main" id="{E0BED3D7-EA01-F621-EAC8-DDDB7B88429D}"/>
              </a:ext>
            </a:extLst>
          </p:cNvPr>
          <p:cNvSpPr/>
          <p:nvPr/>
        </p:nvSpPr>
        <p:spPr>
          <a:xfrm>
            <a:off x="3400419" y="612022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11" name="Terminator 10">
            <a:extLst>
              <a:ext uri="{FF2B5EF4-FFF2-40B4-BE49-F238E27FC236}">
                <a16:creationId xmlns:a16="http://schemas.microsoft.com/office/drawing/2014/main" id="{E580C3EB-A0E0-FE67-A26F-B313EFE63785}"/>
              </a:ext>
            </a:extLst>
          </p:cNvPr>
          <p:cNvSpPr/>
          <p:nvPr/>
        </p:nvSpPr>
        <p:spPr>
          <a:xfrm>
            <a:off x="3400419" y="558174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cxnSp>
        <p:nvCxnSpPr>
          <p:cNvPr id="14" name="Straight Connector 13">
            <a:extLst>
              <a:ext uri="{FF2B5EF4-FFF2-40B4-BE49-F238E27FC236}">
                <a16:creationId xmlns:a16="http://schemas.microsoft.com/office/drawing/2014/main" id="{2AEBE599-D1F1-5399-7D21-83FF9F361868}"/>
              </a:ext>
            </a:extLst>
          </p:cNvPr>
          <p:cNvCxnSpPr>
            <a:cxnSpLocks/>
            <a:stCxn id="10" idx="0"/>
            <a:endCxn id="11" idx="2"/>
          </p:cNvCxnSpPr>
          <p:nvPr/>
        </p:nvCxnSpPr>
        <p:spPr>
          <a:xfrm flipV="1">
            <a:off x="4126859" y="5977988"/>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0DF3A8A-9CF5-0A89-9AB1-B15A7F28B29E}"/>
              </a:ext>
            </a:extLst>
          </p:cNvPr>
          <p:cNvSpPr txBox="1"/>
          <p:nvPr/>
        </p:nvSpPr>
        <p:spPr>
          <a:xfrm>
            <a:off x="3135177" y="3600548"/>
            <a:ext cx="1983363" cy="369332"/>
          </a:xfrm>
          <a:prstGeom prst="rect">
            <a:avLst/>
          </a:prstGeom>
          <a:noFill/>
        </p:spPr>
        <p:txBody>
          <a:bodyPr wrap="none" rtlCol="0">
            <a:spAutoFit/>
          </a:bodyPr>
          <a:lstStyle/>
          <a:p>
            <a:r>
              <a:rPr lang="en-US" dirty="0"/>
              <a:t>Personal Computer</a:t>
            </a:r>
          </a:p>
        </p:txBody>
      </p:sp>
      <p:sp>
        <p:nvSpPr>
          <p:cNvPr id="22" name="Terminator 21">
            <a:extLst>
              <a:ext uri="{FF2B5EF4-FFF2-40B4-BE49-F238E27FC236}">
                <a16:creationId xmlns:a16="http://schemas.microsoft.com/office/drawing/2014/main" id="{7B88EE41-FF48-7B5E-8E72-8BAC88EBCC70}"/>
              </a:ext>
            </a:extLst>
          </p:cNvPr>
          <p:cNvSpPr/>
          <p:nvPr/>
        </p:nvSpPr>
        <p:spPr>
          <a:xfrm>
            <a:off x="5389671" y="257766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23" name="Terminator 22">
            <a:extLst>
              <a:ext uri="{FF2B5EF4-FFF2-40B4-BE49-F238E27FC236}">
                <a16:creationId xmlns:a16="http://schemas.microsoft.com/office/drawing/2014/main" id="{57C9BD04-8C6D-AF8E-FB87-630328A8238A}"/>
              </a:ext>
            </a:extLst>
          </p:cNvPr>
          <p:cNvSpPr/>
          <p:nvPr/>
        </p:nvSpPr>
        <p:spPr>
          <a:xfrm>
            <a:off x="5389671" y="203918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cxnSp>
        <p:nvCxnSpPr>
          <p:cNvPr id="26" name="Straight Connector 25">
            <a:extLst>
              <a:ext uri="{FF2B5EF4-FFF2-40B4-BE49-F238E27FC236}">
                <a16:creationId xmlns:a16="http://schemas.microsoft.com/office/drawing/2014/main" id="{6F2D2AED-6BC4-8F47-B7A9-79F8335A31EB}"/>
              </a:ext>
            </a:extLst>
          </p:cNvPr>
          <p:cNvCxnSpPr>
            <a:cxnSpLocks/>
            <a:stCxn id="22" idx="0"/>
            <a:endCxn id="23" idx="2"/>
          </p:cNvCxnSpPr>
          <p:nvPr/>
        </p:nvCxnSpPr>
        <p:spPr>
          <a:xfrm flipV="1">
            <a:off x="6116111" y="2435424"/>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76EB-72B2-8326-08A3-E89DB51687DC}"/>
              </a:ext>
            </a:extLst>
          </p:cNvPr>
          <p:cNvSpPr txBox="1"/>
          <p:nvPr/>
        </p:nvSpPr>
        <p:spPr>
          <a:xfrm>
            <a:off x="5267960" y="539168"/>
            <a:ext cx="1633652" cy="646331"/>
          </a:xfrm>
          <a:prstGeom prst="rect">
            <a:avLst/>
          </a:prstGeom>
          <a:noFill/>
        </p:spPr>
        <p:txBody>
          <a:bodyPr wrap="none" rtlCol="0">
            <a:spAutoFit/>
          </a:bodyPr>
          <a:lstStyle/>
          <a:p>
            <a:pPr algn="ctr"/>
            <a:r>
              <a:rPr lang="en-US" dirty="0"/>
              <a:t>GitHub Remote</a:t>
            </a:r>
          </a:p>
          <a:p>
            <a:pPr algn="ctr"/>
            <a:r>
              <a:rPr lang="en-US" dirty="0"/>
              <a:t>(your fork)</a:t>
            </a:r>
          </a:p>
        </p:txBody>
      </p:sp>
      <p:sp>
        <p:nvSpPr>
          <p:cNvPr id="28" name="Terminator 27">
            <a:extLst>
              <a:ext uri="{FF2B5EF4-FFF2-40B4-BE49-F238E27FC236}">
                <a16:creationId xmlns:a16="http://schemas.microsoft.com/office/drawing/2014/main" id="{1C79E922-BDF1-4553-4FAD-77DF0F3BC632}"/>
              </a:ext>
            </a:extLst>
          </p:cNvPr>
          <p:cNvSpPr/>
          <p:nvPr/>
        </p:nvSpPr>
        <p:spPr>
          <a:xfrm>
            <a:off x="2515451" y="2432907"/>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29" name="Terminator 28">
            <a:extLst>
              <a:ext uri="{FF2B5EF4-FFF2-40B4-BE49-F238E27FC236}">
                <a16:creationId xmlns:a16="http://schemas.microsoft.com/office/drawing/2014/main" id="{60846C56-93A4-C853-2A50-421D991F9E69}"/>
              </a:ext>
            </a:extLst>
          </p:cNvPr>
          <p:cNvSpPr/>
          <p:nvPr/>
        </p:nvSpPr>
        <p:spPr>
          <a:xfrm>
            <a:off x="2515451" y="1894427"/>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cxnSp>
        <p:nvCxnSpPr>
          <p:cNvPr id="30" name="Straight Connector 29">
            <a:extLst>
              <a:ext uri="{FF2B5EF4-FFF2-40B4-BE49-F238E27FC236}">
                <a16:creationId xmlns:a16="http://schemas.microsoft.com/office/drawing/2014/main" id="{0DD2C644-C4E6-A984-F213-23ABC584F005}"/>
              </a:ext>
            </a:extLst>
          </p:cNvPr>
          <p:cNvCxnSpPr>
            <a:cxnSpLocks/>
            <a:stCxn id="28" idx="0"/>
            <a:endCxn id="29" idx="2"/>
          </p:cNvCxnSpPr>
          <p:nvPr/>
        </p:nvCxnSpPr>
        <p:spPr>
          <a:xfrm flipV="1">
            <a:off x="3241891" y="2290667"/>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861A2A3-4661-B9B8-EDEC-2945B8918A3D}"/>
              </a:ext>
            </a:extLst>
          </p:cNvPr>
          <p:cNvSpPr txBox="1"/>
          <p:nvPr/>
        </p:nvSpPr>
        <p:spPr>
          <a:xfrm>
            <a:off x="2456266" y="569162"/>
            <a:ext cx="1571264" cy="646331"/>
          </a:xfrm>
          <a:prstGeom prst="rect">
            <a:avLst/>
          </a:prstGeom>
          <a:noFill/>
        </p:spPr>
        <p:txBody>
          <a:bodyPr wrap="none" rtlCol="0">
            <a:spAutoFit/>
          </a:bodyPr>
          <a:lstStyle/>
          <a:p>
            <a:pPr algn="ctr"/>
            <a:r>
              <a:rPr lang="en-US" dirty="0"/>
              <a:t>Original Repo </a:t>
            </a:r>
          </a:p>
          <a:p>
            <a:pPr algn="ctr"/>
            <a:r>
              <a:rPr lang="en-US" dirty="0"/>
              <a:t>(lab repo)</a:t>
            </a:r>
          </a:p>
        </p:txBody>
      </p:sp>
      <p:cxnSp>
        <p:nvCxnSpPr>
          <p:cNvPr id="32" name="Straight Arrow Connector 31">
            <a:extLst>
              <a:ext uri="{FF2B5EF4-FFF2-40B4-BE49-F238E27FC236}">
                <a16:creationId xmlns:a16="http://schemas.microsoft.com/office/drawing/2014/main" id="{1218D177-E6FF-08FE-4C91-C115D8F97C9E}"/>
              </a:ext>
            </a:extLst>
          </p:cNvPr>
          <p:cNvCxnSpPr>
            <a:cxnSpLocks/>
            <a:stCxn id="15" idx="0"/>
            <a:endCxn id="5" idx="2"/>
          </p:cNvCxnSpPr>
          <p:nvPr/>
        </p:nvCxnSpPr>
        <p:spPr>
          <a:xfrm flipV="1">
            <a:off x="4126859" y="3079708"/>
            <a:ext cx="1969141" cy="520840"/>
          </a:xfrm>
          <a:prstGeom prst="straightConnector1">
            <a:avLst/>
          </a:prstGeom>
          <a:ln w="38100">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2EF5C85-EAD9-48EF-C364-B11465CF40F7}"/>
              </a:ext>
            </a:extLst>
          </p:cNvPr>
          <p:cNvCxnSpPr>
            <a:cxnSpLocks/>
            <a:stCxn id="4" idx="3"/>
            <a:endCxn id="5" idx="1"/>
          </p:cNvCxnSpPr>
          <p:nvPr/>
        </p:nvCxnSpPr>
        <p:spPr>
          <a:xfrm>
            <a:off x="4273131" y="1709592"/>
            <a:ext cx="791629" cy="6394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5" name="Terminator 34">
            <a:extLst>
              <a:ext uri="{FF2B5EF4-FFF2-40B4-BE49-F238E27FC236}">
                <a16:creationId xmlns:a16="http://schemas.microsoft.com/office/drawing/2014/main" id="{AB88AB25-464A-5751-6590-ABFE5CE8B0DE}"/>
              </a:ext>
            </a:extLst>
          </p:cNvPr>
          <p:cNvSpPr/>
          <p:nvPr/>
        </p:nvSpPr>
        <p:spPr>
          <a:xfrm>
            <a:off x="3420530" y="412138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File(s)</a:t>
            </a:r>
          </a:p>
        </p:txBody>
      </p:sp>
      <p:pic>
        <p:nvPicPr>
          <p:cNvPr id="37" name="Picture 36" descr="A black cat with a white circle in the background&#10;&#10;Description automatically generated">
            <a:extLst>
              <a:ext uri="{FF2B5EF4-FFF2-40B4-BE49-F238E27FC236}">
                <a16:creationId xmlns:a16="http://schemas.microsoft.com/office/drawing/2014/main" id="{9A689506-763C-8F24-874C-17B88FF53D82}"/>
              </a:ext>
            </a:extLst>
          </p:cNvPr>
          <p:cNvPicPr>
            <a:picLocks noChangeAspect="1"/>
          </p:cNvPicPr>
          <p:nvPr/>
        </p:nvPicPr>
        <p:blipFill>
          <a:blip r:embed="rId3">
            <a:alphaModFix/>
          </a:blip>
          <a:stretch>
            <a:fillRect/>
          </a:stretch>
        </p:blipFill>
        <p:spPr>
          <a:xfrm>
            <a:off x="298453" y="520649"/>
            <a:ext cx="1332653" cy="1303682"/>
          </a:xfrm>
          <a:prstGeom prst="rect">
            <a:avLst/>
          </a:prstGeom>
          <a:solidFill>
            <a:schemeClr val="accent1"/>
          </a:solidFill>
        </p:spPr>
      </p:pic>
      <p:pic>
        <p:nvPicPr>
          <p:cNvPr id="38" name="Graphic 37" descr="Laptop with solid fill">
            <a:extLst>
              <a:ext uri="{FF2B5EF4-FFF2-40B4-BE49-F238E27FC236}">
                <a16:creationId xmlns:a16="http://schemas.microsoft.com/office/drawing/2014/main" id="{5CFAE920-856A-C17E-F12D-D369CC59DAF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78" y="4628044"/>
            <a:ext cx="2133917" cy="2133917"/>
          </a:xfrm>
          <a:prstGeom prst="rect">
            <a:avLst/>
          </a:prstGeom>
        </p:spPr>
      </p:pic>
      <p:sp>
        <p:nvSpPr>
          <p:cNvPr id="39" name="TextBox 38">
            <a:extLst>
              <a:ext uri="{FF2B5EF4-FFF2-40B4-BE49-F238E27FC236}">
                <a16:creationId xmlns:a16="http://schemas.microsoft.com/office/drawing/2014/main" id="{9B4E1E45-4EFA-04FF-6E58-6758D876709A}"/>
              </a:ext>
            </a:extLst>
          </p:cNvPr>
          <p:cNvSpPr txBox="1"/>
          <p:nvPr/>
        </p:nvSpPr>
        <p:spPr>
          <a:xfrm rot="408438">
            <a:off x="4340019" y="1306276"/>
            <a:ext cx="691215" cy="369332"/>
          </a:xfrm>
          <a:prstGeom prst="rect">
            <a:avLst/>
          </a:prstGeom>
          <a:noFill/>
        </p:spPr>
        <p:txBody>
          <a:bodyPr wrap="none" rtlCol="0">
            <a:spAutoFit/>
          </a:bodyPr>
          <a:lstStyle/>
          <a:p>
            <a:r>
              <a:rPr lang="en-US">
                <a:highlight>
                  <a:srgbClr val="FFFF00"/>
                </a:highlight>
                <a:latin typeface="Consolas" panose="020B0609020204030204" pitchFamily="49" charset="0"/>
                <a:cs typeface="Consolas" panose="020B0609020204030204" pitchFamily="49" charset="0"/>
              </a:rPr>
              <a:t>fork</a:t>
            </a:r>
          </a:p>
        </p:txBody>
      </p:sp>
      <p:sp>
        <p:nvSpPr>
          <p:cNvPr id="40" name="TextBox 39">
            <a:extLst>
              <a:ext uri="{FF2B5EF4-FFF2-40B4-BE49-F238E27FC236}">
                <a16:creationId xmlns:a16="http://schemas.microsoft.com/office/drawing/2014/main" id="{1F4D4051-08C7-D420-3253-FF20B3EA5E32}"/>
              </a:ext>
            </a:extLst>
          </p:cNvPr>
          <p:cNvSpPr txBox="1"/>
          <p:nvPr/>
        </p:nvSpPr>
        <p:spPr>
          <a:xfrm rot="20568121">
            <a:off x="4324858" y="3037282"/>
            <a:ext cx="817853" cy="369332"/>
          </a:xfrm>
          <a:prstGeom prst="rect">
            <a:avLst/>
          </a:prstGeom>
          <a:noFill/>
        </p:spPr>
        <p:txBody>
          <a:bodyPr wrap="none" rtlCol="0">
            <a:spAutoFit/>
          </a:bodyPr>
          <a:lstStyle/>
          <a:p>
            <a:r>
              <a:rPr lang="en-US">
                <a:highlight>
                  <a:srgbClr val="FFFF00"/>
                </a:highlight>
                <a:latin typeface="Consolas" panose="020B0609020204030204" pitchFamily="49" charset="0"/>
                <a:cs typeface="Consolas" panose="020B0609020204030204" pitchFamily="49" charset="0"/>
              </a:rPr>
              <a:t>clone</a:t>
            </a:r>
          </a:p>
        </p:txBody>
      </p:sp>
    </p:spTree>
    <p:extLst>
      <p:ext uri="{BB962C8B-B14F-4D97-AF65-F5344CB8AC3E}">
        <p14:creationId xmlns:p14="http://schemas.microsoft.com/office/powerpoint/2010/main" val="24486929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209BF-E67D-F4DF-0655-D623B606D02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81487F1-5C0B-7D2A-2B0C-DFFC816D4F87}"/>
              </a:ext>
            </a:extLst>
          </p:cNvPr>
          <p:cNvSpPr/>
          <p:nvPr/>
        </p:nvSpPr>
        <p:spPr>
          <a:xfrm>
            <a:off x="7158565" y="3573976"/>
            <a:ext cx="2062480" cy="3037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C7DC834-05C5-50B9-32D2-026CA00456C5}"/>
              </a:ext>
            </a:extLst>
          </p:cNvPr>
          <p:cNvSpPr/>
          <p:nvPr/>
        </p:nvSpPr>
        <p:spPr>
          <a:xfrm>
            <a:off x="3095619" y="3600548"/>
            <a:ext cx="2062480" cy="3037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0F244A0-73E4-2C55-FE95-546ACDD2109C}"/>
              </a:ext>
            </a:extLst>
          </p:cNvPr>
          <p:cNvSpPr/>
          <p:nvPr/>
        </p:nvSpPr>
        <p:spPr>
          <a:xfrm>
            <a:off x="2210651" y="468118"/>
            <a:ext cx="2062480" cy="24829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9E228DE-F930-7A92-7F98-18443DF55E9B}"/>
              </a:ext>
            </a:extLst>
          </p:cNvPr>
          <p:cNvSpPr/>
          <p:nvPr/>
        </p:nvSpPr>
        <p:spPr>
          <a:xfrm>
            <a:off x="5064760" y="467360"/>
            <a:ext cx="2062480" cy="26123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A0C9F9A-C09E-CE2D-8825-C41D39B1276A}"/>
              </a:ext>
            </a:extLst>
          </p:cNvPr>
          <p:cNvSpPr/>
          <p:nvPr/>
        </p:nvSpPr>
        <p:spPr>
          <a:xfrm>
            <a:off x="7361765" y="4620624"/>
            <a:ext cx="1656080" cy="2005818"/>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7" name="Rectangle 6">
            <a:extLst>
              <a:ext uri="{FF2B5EF4-FFF2-40B4-BE49-F238E27FC236}">
                <a16:creationId xmlns:a16="http://schemas.microsoft.com/office/drawing/2014/main" id="{31840B98-4AD3-1204-DC0D-1F83BF919942}"/>
              </a:ext>
            </a:extLst>
          </p:cNvPr>
          <p:cNvSpPr/>
          <p:nvPr/>
        </p:nvSpPr>
        <p:spPr>
          <a:xfrm>
            <a:off x="2418931" y="1185499"/>
            <a:ext cx="1656080" cy="1724499"/>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8" name="Rectangle 7">
            <a:extLst>
              <a:ext uri="{FF2B5EF4-FFF2-40B4-BE49-F238E27FC236}">
                <a16:creationId xmlns:a16="http://schemas.microsoft.com/office/drawing/2014/main" id="{E879A612-1A18-8978-E601-9BB33E6F907A}"/>
              </a:ext>
            </a:extLst>
          </p:cNvPr>
          <p:cNvSpPr/>
          <p:nvPr/>
        </p:nvSpPr>
        <p:spPr>
          <a:xfrm>
            <a:off x="3318930" y="4620624"/>
            <a:ext cx="1656080" cy="1991191"/>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9" name="Rectangle 8">
            <a:extLst>
              <a:ext uri="{FF2B5EF4-FFF2-40B4-BE49-F238E27FC236}">
                <a16:creationId xmlns:a16="http://schemas.microsoft.com/office/drawing/2014/main" id="{B6A2F616-8F84-7BB7-5368-6358D3B71B85}"/>
              </a:ext>
            </a:extLst>
          </p:cNvPr>
          <p:cNvSpPr/>
          <p:nvPr/>
        </p:nvSpPr>
        <p:spPr>
          <a:xfrm>
            <a:off x="5267960" y="1176944"/>
            <a:ext cx="1656080" cy="1853700"/>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10" name="Terminator 9">
            <a:extLst>
              <a:ext uri="{FF2B5EF4-FFF2-40B4-BE49-F238E27FC236}">
                <a16:creationId xmlns:a16="http://schemas.microsoft.com/office/drawing/2014/main" id="{44CA1493-9B9A-4BAB-3807-EFFCA8084DD5}"/>
              </a:ext>
            </a:extLst>
          </p:cNvPr>
          <p:cNvSpPr/>
          <p:nvPr/>
        </p:nvSpPr>
        <p:spPr>
          <a:xfrm>
            <a:off x="3400419" y="612022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11" name="Terminator 10">
            <a:extLst>
              <a:ext uri="{FF2B5EF4-FFF2-40B4-BE49-F238E27FC236}">
                <a16:creationId xmlns:a16="http://schemas.microsoft.com/office/drawing/2014/main" id="{0C6C08FC-A357-A991-0EBC-2C69A5596AB6}"/>
              </a:ext>
            </a:extLst>
          </p:cNvPr>
          <p:cNvSpPr/>
          <p:nvPr/>
        </p:nvSpPr>
        <p:spPr>
          <a:xfrm>
            <a:off x="3400419" y="558174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cxnSp>
        <p:nvCxnSpPr>
          <p:cNvPr id="14" name="Straight Connector 13">
            <a:extLst>
              <a:ext uri="{FF2B5EF4-FFF2-40B4-BE49-F238E27FC236}">
                <a16:creationId xmlns:a16="http://schemas.microsoft.com/office/drawing/2014/main" id="{28AD90DE-0D64-B185-DE55-7EADBF18F8D4}"/>
              </a:ext>
            </a:extLst>
          </p:cNvPr>
          <p:cNvCxnSpPr>
            <a:cxnSpLocks/>
            <a:stCxn id="10" idx="0"/>
            <a:endCxn id="11" idx="2"/>
          </p:cNvCxnSpPr>
          <p:nvPr/>
        </p:nvCxnSpPr>
        <p:spPr>
          <a:xfrm flipV="1">
            <a:off x="4126859" y="5977988"/>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A81484A-3004-1C92-546F-B60A074D4340}"/>
              </a:ext>
            </a:extLst>
          </p:cNvPr>
          <p:cNvSpPr txBox="1"/>
          <p:nvPr/>
        </p:nvSpPr>
        <p:spPr>
          <a:xfrm>
            <a:off x="3135177" y="3600548"/>
            <a:ext cx="1983363" cy="369332"/>
          </a:xfrm>
          <a:prstGeom prst="rect">
            <a:avLst/>
          </a:prstGeom>
          <a:noFill/>
        </p:spPr>
        <p:txBody>
          <a:bodyPr wrap="none" rtlCol="0">
            <a:spAutoFit/>
          </a:bodyPr>
          <a:lstStyle/>
          <a:p>
            <a:r>
              <a:rPr lang="en-US" dirty="0"/>
              <a:t>Personal Computer</a:t>
            </a:r>
          </a:p>
        </p:txBody>
      </p:sp>
      <p:sp>
        <p:nvSpPr>
          <p:cNvPr id="16" name="Terminator 15">
            <a:extLst>
              <a:ext uri="{FF2B5EF4-FFF2-40B4-BE49-F238E27FC236}">
                <a16:creationId xmlns:a16="http://schemas.microsoft.com/office/drawing/2014/main" id="{A9B6EB12-80F2-61A5-936E-D3B016F5C2B0}"/>
              </a:ext>
            </a:extLst>
          </p:cNvPr>
          <p:cNvSpPr/>
          <p:nvPr/>
        </p:nvSpPr>
        <p:spPr>
          <a:xfrm>
            <a:off x="7463365" y="6093656"/>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17" name="Terminator 16">
            <a:extLst>
              <a:ext uri="{FF2B5EF4-FFF2-40B4-BE49-F238E27FC236}">
                <a16:creationId xmlns:a16="http://schemas.microsoft.com/office/drawing/2014/main" id="{0D8EF9C1-A1B4-C327-AE79-C0AA07DCF567}"/>
              </a:ext>
            </a:extLst>
          </p:cNvPr>
          <p:cNvSpPr/>
          <p:nvPr/>
        </p:nvSpPr>
        <p:spPr>
          <a:xfrm>
            <a:off x="7463365" y="5555176"/>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cxnSp>
        <p:nvCxnSpPr>
          <p:cNvPr id="20" name="Straight Connector 19">
            <a:extLst>
              <a:ext uri="{FF2B5EF4-FFF2-40B4-BE49-F238E27FC236}">
                <a16:creationId xmlns:a16="http://schemas.microsoft.com/office/drawing/2014/main" id="{08AD8DE9-65E6-D5E9-3AE0-400BD3C68C8F}"/>
              </a:ext>
            </a:extLst>
          </p:cNvPr>
          <p:cNvCxnSpPr>
            <a:cxnSpLocks/>
            <a:stCxn id="16" idx="0"/>
            <a:endCxn id="17" idx="2"/>
          </p:cNvCxnSpPr>
          <p:nvPr/>
        </p:nvCxnSpPr>
        <p:spPr>
          <a:xfrm flipV="1">
            <a:off x="8189805" y="5951416"/>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D12A82A-0EAB-B6E2-1901-2A8A7059A34B}"/>
              </a:ext>
            </a:extLst>
          </p:cNvPr>
          <p:cNvSpPr txBox="1"/>
          <p:nvPr/>
        </p:nvSpPr>
        <p:spPr>
          <a:xfrm>
            <a:off x="7271701" y="3573976"/>
            <a:ext cx="1836208" cy="369332"/>
          </a:xfrm>
          <a:prstGeom prst="rect">
            <a:avLst/>
          </a:prstGeom>
          <a:noFill/>
        </p:spPr>
        <p:txBody>
          <a:bodyPr wrap="none" rtlCol="0">
            <a:spAutoFit/>
          </a:bodyPr>
          <a:lstStyle/>
          <a:p>
            <a:r>
              <a:rPr lang="en-US" dirty="0"/>
              <a:t>Cluster Computer</a:t>
            </a:r>
          </a:p>
        </p:txBody>
      </p:sp>
      <p:sp>
        <p:nvSpPr>
          <p:cNvPr id="22" name="Terminator 21">
            <a:extLst>
              <a:ext uri="{FF2B5EF4-FFF2-40B4-BE49-F238E27FC236}">
                <a16:creationId xmlns:a16="http://schemas.microsoft.com/office/drawing/2014/main" id="{C3466076-5E02-1E4B-23E6-E0E1A1F946E7}"/>
              </a:ext>
            </a:extLst>
          </p:cNvPr>
          <p:cNvSpPr/>
          <p:nvPr/>
        </p:nvSpPr>
        <p:spPr>
          <a:xfrm>
            <a:off x="5389671" y="257766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23" name="Terminator 22">
            <a:extLst>
              <a:ext uri="{FF2B5EF4-FFF2-40B4-BE49-F238E27FC236}">
                <a16:creationId xmlns:a16="http://schemas.microsoft.com/office/drawing/2014/main" id="{DECD209E-C764-E135-45DE-B4593962C147}"/>
              </a:ext>
            </a:extLst>
          </p:cNvPr>
          <p:cNvSpPr/>
          <p:nvPr/>
        </p:nvSpPr>
        <p:spPr>
          <a:xfrm>
            <a:off x="5389671" y="203918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cxnSp>
        <p:nvCxnSpPr>
          <p:cNvPr id="26" name="Straight Connector 25">
            <a:extLst>
              <a:ext uri="{FF2B5EF4-FFF2-40B4-BE49-F238E27FC236}">
                <a16:creationId xmlns:a16="http://schemas.microsoft.com/office/drawing/2014/main" id="{A54200A5-0886-70E0-FA13-728E031BDD5F}"/>
              </a:ext>
            </a:extLst>
          </p:cNvPr>
          <p:cNvCxnSpPr>
            <a:cxnSpLocks/>
            <a:stCxn id="22" idx="0"/>
            <a:endCxn id="23" idx="2"/>
          </p:cNvCxnSpPr>
          <p:nvPr/>
        </p:nvCxnSpPr>
        <p:spPr>
          <a:xfrm flipV="1">
            <a:off x="6116111" y="2435424"/>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C891E48-1681-BB74-63BA-BDB00F702745}"/>
              </a:ext>
            </a:extLst>
          </p:cNvPr>
          <p:cNvSpPr txBox="1"/>
          <p:nvPr/>
        </p:nvSpPr>
        <p:spPr>
          <a:xfrm>
            <a:off x="5267960" y="539168"/>
            <a:ext cx="1633652" cy="646331"/>
          </a:xfrm>
          <a:prstGeom prst="rect">
            <a:avLst/>
          </a:prstGeom>
          <a:noFill/>
        </p:spPr>
        <p:txBody>
          <a:bodyPr wrap="none" rtlCol="0">
            <a:spAutoFit/>
          </a:bodyPr>
          <a:lstStyle/>
          <a:p>
            <a:pPr algn="ctr"/>
            <a:r>
              <a:rPr lang="en-US" dirty="0"/>
              <a:t>GitHub Remote</a:t>
            </a:r>
          </a:p>
          <a:p>
            <a:pPr algn="ctr"/>
            <a:r>
              <a:rPr lang="en-US" dirty="0"/>
              <a:t>(your fork)</a:t>
            </a:r>
          </a:p>
        </p:txBody>
      </p:sp>
      <p:sp>
        <p:nvSpPr>
          <p:cNvPr id="28" name="Terminator 27">
            <a:extLst>
              <a:ext uri="{FF2B5EF4-FFF2-40B4-BE49-F238E27FC236}">
                <a16:creationId xmlns:a16="http://schemas.microsoft.com/office/drawing/2014/main" id="{4AFBF8C3-46A2-D4D9-6953-F3B79B78519F}"/>
              </a:ext>
            </a:extLst>
          </p:cNvPr>
          <p:cNvSpPr/>
          <p:nvPr/>
        </p:nvSpPr>
        <p:spPr>
          <a:xfrm>
            <a:off x="2515451" y="2432907"/>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29" name="Terminator 28">
            <a:extLst>
              <a:ext uri="{FF2B5EF4-FFF2-40B4-BE49-F238E27FC236}">
                <a16:creationId xmlns:a16="http://schemas.microsoft.com/office/drawing/2014/main" id="{28A80334-57A6-8419-35D5-AAF3BCF74BFF}"/>
              </a:ext>
            </a:extLst>
          </p:cNvPr>
          <p:cNvSpPr/>
          <p:nvPr/>
        </p:nvSpPr>
        <p:spPr>
          <a:xfrm>
            <a:off x="2515451" y="1894427"/>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cxnSp>
        <p:nvCxnSpPr>
          <p:cNvPr id="30" name="Straight Connector 29">
            <a:extLst>
              <a:ext uri="{FF2B5EF4-FFF2-40B4-BE49-F238E27FC236}">
                <a16:creationId xmlns:a16="http://schemas.microsoft.com/office/drawing/2014/main" id="{7FAAB49A-94B4-02BA-B5CB-00C0E45ED07E}"/>
              </a:ext>
            </a:extLst>
          </p:cNvPr>
          <p:cNvCxnSpPr>
            <a:cxnSpLocks/>
            <a:stCxn id="28" idx="0"/>
            <a:endCxn id="29" idx="2"/>
          </p:cNvCxnSpPr>
          <p:nvPr/>
        </p:nvCxnSpPr>
        <p:spPr>
          <a:xfrm flipV="1">
            <a:off x="3241891" y="2290667"/>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8CDE725-9A65-D32D-A70D-6B3B42CC7B71}"/>
              </a:ext>
            </a:extLst>
          </p:cNvPr>
          <p:cNvSpPr txBox="1"/>
          <p:nvPr/>
        </p:nvSpPr>
        <p:spPr>
          <a:xfrm>
            <a:off x="2456266" y="569162"/>
            <a:ext cx="1571264" cy="646331"/>
          </a:xfrm>
          <a:prstGeom prst="rect">
            <a:avLst/>
          </a:prstGeom>
          <a:noFill/>
        </p:spPr>
        <p:txBody>
          <a:bodyPr wrap="none" rtlCol="0">
            <a:spAutoFit/>
          </a:bodyPr>
          <a:lstStyle/>
          <a:p>
            <a:pPr algn="ctr"/>
            <a:r>
              <a:rPr lang="en-US" dirty="0"/>
              <a:t>Original Repo </a:t>
            </a:r>
          </a:p>
          <a:p>
            <a:pPr algn="ctr"/>
            <a:r>
              <a:rPr lang="en-US" dirty="0"/>
              <a:t>(lab repo)</a:t>
            </a:r>
          </a:p>
        </p:txBody>
      </p:sp>
      <p:cxnSp>
        <p:nvCxnSpPr>
          <p:cNvPr id="32" name="Straight Arrow Connector 31">
            <a:extLst>
              <a:ext uri="{FF2B5EF4-FFF2-40B4-BE49-F238E27FC236}">
                <a16:creationId xmlns:a16="http://schemas.microsoft.com/office/drawing/2014/main" id="{CDBDB9F3-6126-2852-AD10-2B390A1A57F9}"/>
              </a:ext>
            </a:extLst>
          </p:cNvPr>
          <p:cNvCxnSpPr>
            <a:cxnSpLocks/>
            <a:stCxn id="15" idx="0"/>
            <a:endCxn id="5" idx="2"/>
          </p:cNvCxnSpPr>
          <p:nvPr/>
        </p:nvCxnSpPr>
        <p:spPr>
          <a:xfrm flipV="1">
            <a:off x="4126859" y="3079708"/>
            <a:ext cx="1969141" cy="520840"/>
          </a:xfrm>
          <a:prstGeom prst="straightConnector1">
            <a:avLst/>
          </a:prstGeom>
          <a:ln w="38100">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88539494-E1BA-C92B-216E-6808D00E3BD8}"/>
              </a:ext>
            </a:extLst>
          </p:cNvPr>
          <p:cNvCxnSpPr>
            <a:cxnSpLocks/>
            <a:stCxn id="21" idx="0"/>
            <a:endCxn id="5" idx="2"/>
          </p:cNvCxnSpPr>
          <p:nvPr/>
        </p:nvCxnSpPr>
        <p:spPr>
          <a:xfrm flipH="1" flipV="1">
            <a:off x="6096000" y="3079708"/>
            <a:ext cx="2093805" cy="494268"/>
          </a:xfrm>
          <a:prstGeom prst="straightConnector1">
            <a:avLst/>
          </a:prstGeom>
          <a:ln w="38100">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F2BCF8E-B137-99B1-2B3B-63B62CF10B74}"/>
              </a:ext>
            </a:extLst>
          </p:cNvPr>
          <p:cNvCxnSpPr>
            <a:cxnSpLocks/>
            <a:stCxn id="4" idx="3"/>
            <a:endCxn id="5" idx="1"/>
          </p:cNvCxnSpPr>
          <p:nvPr/>
        </p:nvCxnSpPr>
        <p:spPr>
          <a:xfrm>
            <a:off x="4273131" y="1709592"/>
            <a:ext cx="791629" cy="6394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5" name="Terminator 34">
            <a:extLst>
              <a:ext uri="{FF2B5EF4-FFF2-40B4-BE49-F238E27FC236}">
                <a16:creationId xmlns:a16="http://schemas.microsoft.com/office/drawing/2014/main" id="{8A344C9F-54FE-E759-ECBF-DDC3EBFD45AD}"/>
              </a:ext>
            </a:extLst>
          </p:cNvPr>
          <p:cNvSpPr/>
          <p:nvPr/>
        </p:nvSpPr>
        <p:spPr>
          <a:xfrm>
            <a:off x="3420530" y="412138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File(s)</a:t>
            </a:r>
          </a:p>
        </p:txBody>
      </p:sp>
      <p:sp>
        <p:nvSpPr>
          <p:cNvPr id="36" name="Terminator 35">
            <a:extLst>
              <a:ext uri="{FF2B5EF4-FFF2-40B4-BE49-F238E27FC236}">
                <a16:creationId xmlns:a16="http://schemas.microsoft.com/office/drawing/2014/main" id="{34487BCD-BB32-9D0E-F673-DBD06BAE531D}"/>
              </a:ext>
            </a:extLst>
          </p:cNvPr>
          <p:cNvSpPr/>
          <p:nvPr/>
        </p:nvSpPr>
        <p:spPr>
          <a:xfrm>
            <a:off x="7465905" y="412138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File(s)</a:t>
            </a:r>
          </a:p>
        </p:txBody>
      </p:sp>
      <p:pic>
        <p:nvPicPr>
          <p:cNvPr id="37" name="Picture 36" descr="A black cat with a white circle in the background&#10;&#10;Description automatically generated">
            <a:extLst>
              <a:ext uri="{FF2B5EF4-FFF2-40B4-BE49-F238E27FC236}">
                <a16:creationId xmlns:a16="http://schemas.microsoft.com/office/drawing/2014/main" id="{F5B164CD-1DA9-117F-007E-A682F780148D}"/>
              </a:ext>
            </a:extLst>
          </p:cNvPr>
          <p:cNvPicPr>
            <a:picLocks noChangeAspect="1"/>
          </p:cNvPicPr>
          <p:nvPr/>
        </p:nvPicPr>
        <p:blipFill>
          <a:blip r:embed="rId3">
            <a:alphaModFix/>
          </a:blip>
          <a:stretch>
            <a:fillRect/>
          </a:stretch>
        </p:blipFill>
        <p:spPr>
          <a:xfrm>
            <a:off x="298453" y="520649"/>
            <a:ext cx="1332653" cy="1303682"/>
          </a:xfrm>
          <a:prstGeom prst="rect">
            <a:avLst/>
          </a:prstGeom>
          <a:solidFill>
            <a:schemeClr val="accent1"/>
          </a:solidFill>
        </p:spPr>
      </p:pic>
      <p:pic>
        <p:nvPicPr>
          <p:cNvPr id="38" name="Graphic 37" descr="Laptop with solid fill">
            <a:extLst>
              <a:ext uri="{FF2B5EF4-FFF2-40B4-BE49-F238E27FC236}">
                <a16:creationId xmlns:a16="http://schemas.microsoft.com/office/drawing/2014/main" id="{A1F8E2DD-FF73-6EA1-8A27-ACA5F895779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78" y="4628044"/>
            <a:ext cx="2133917" cy="2133917"/>
          </a:xfrm>
          <a:prstGeom prst="rect">
            <a:avLst/>
          </a:prstGeom>
        </p:spPr>
      </p:pic>
      <p:sp>
        <p:nvSpPr>
          <p:cNvPr id="39" name="TextBox 38">
            <a:extLst>
              <a:ext uri="{FF2B5EF4-FFF2-40B4-BE49-F238E27FC236}">
                <a16:creationId xmlns:a16="http://schemas.microsoft.com/office/drawing/2014/main" id="{198D1091-BC04-6D13-C365-C78D0EF6B3F8}"/>
              </a:ext>
            </a:extLst>
          </p:cNvPr>
          <p:cNvSpPr txBox="1"/>
          <p:nvPr/>
        </p:nvSpPr>
        <p:spPr>
          <a:xfrm rot="408438">
            <a:off x="4340019" y="1306276"/>
            <a:ext cx="691215" cy="369332"/>
          </a:xfrm>
          <a:prstGeom prst="rect">
            <a:avLst/>
          </a:prstGeom>
          <a:noFill/>
        </p:spPr>
        <p:txBody>
          <a:bodyPr wrap="none" rtlCol="0">
            <a:spAutoFit/>
          </a:bodyPr>
          <a:lstStyle/>
          <a:p>
            <a:r>
              <a:rPr lang="en-US">
                <a:highlight>
                  <a:srgbClr val="FFFF00"/>
                </a:highlight>
                <a:latin typeface="Consolas" panose="020B0609020204030204" pitchFamily="49" charset="0"/>
                <a:cs typeface="Consolas" panose="020B0609020204030204" pitchFamily="49" charset="0"/>
              </a:rPr>
              <a:t>fork</a:t>
            </a:r>
          </a:p>
        </p:txBody>
      </p:sp>
      <p:sp>
        <p:nvSpPr>
          <p:cNvPr id="40" name="TextBox 39">
            <a:extLst>
              <a:ext uri="{FF2B5EF4-FFF2-40B4-BE49-F238E27FC236}">
                <a16:creationId xmlns:a16="http://schemas.microsoft.com/office/drawing/2014/main" id="{5CADB6CB-EB62-65BD-5D7C-C7E2D8BBBA68}"/>
              </a:ext>
            </a:extLst>
          </p:cNvPr>
          <p:cNvSpPr txBox="1"/>
          <p:nvPr/>
        </p:nvSpPr>
        <p:spPr>
          <a:xfrm rot="20568121">
            <a:off x="4324858" y="3037282"/>
            <a:ext cx="817853" cy="369332"/>
          </a:xfrm>
          <a:prstGeom prst="rect">
            <a:avLst/>
          </a:prstGeom>
          <a:noFill/>
        </p:spPr>
        <p:txBody>
          <a:bodyPr wrap="none" rtlCol="0">
            <a:spAutoFit/>
          </a:bodyPr>
          <a:lstStyle/>
          <a:p>
            <a:r>
              <a:rPr lang="en-US">
                <a:highlight>
                  <a:srgbClr val="FFFF00"/>
                </a:highlight>
                <a:latin typeface="Consolas" panose="020B0609020204030204" pitchFamily="49" charset="0"/>
                <a:cs typeface="Consolas" panose="020B0609020204030204" pitchFamily="49" charset="0"/>
              </a:rPr>
              <a:t>clone</a:t>
            </a:r>
          </a:p>
        </p:txBody>
      </p:sp>
      <p:sp>
        <p:nvSpPr>
          <p:cNvPr id="41" name="TextBox 40">
            <a:extLst>
              <a:ext uri="{FF2B5EF4-FFF2-40B4-BE49-F238E27FC236}">
                <a16:creationId xmlns:a16="http://schemas.microsoft.com/office/drawing/2014/main" id="{E9D9884F-A537-F2C3-BC8A-3E22C5371E67}"/>
              </a:ext>
            </a:extLst>
          </p:cNvPr>
          <p:cNvSpPr txBox="1"/>
          <p:nvPr/>
        </p:nvSpPr>
        <p:spPr>
          <a:xfrm rot="807010">
            <a:off x="7196113" y="3050123"/>
            <a:ext cx="817853" cy="369332"/>
          </a:xfrm>
          <a:prstGeom prst="rect">
            <a:avLst/>
          </a:prstGeom>
          <a:noFill/>
        </p:spPr>
        <p:txBody>
          <a:bodyPr wrap="none" rtlCol="0">
            <a:spAutoFit/>
          </a:bodyPr>
          <a:lstStyle/>
          <a:p>
            <a:r>
              <a:rPr lang="en-US">
                <a:highlight>
                  <a:srgbClr val="FFFF00"/>
                </a:highlight>
                <a:latin typeface="Consolas" panose="020B0609020204030204" pitchFamily="49" charset="0"/>
                <a:cs typeface="Consolas" panose="020B0609020204030204" pitchFamily="49" charset="0"/>
              </a:rPr>
              <a:t>clone</a:t>
            </a:r>
          </a:p>
        </p:txBody>
      </p:sp>
    </p:spTree>
    <p:extLst>
      <p:ext uri="{BB962C8B-B14F-4D97-AF65-F5344CB8AC3E}">
        <p14:creationId xmlns:p14="http://schemas.microsoft.com/office/powerpoint/2010/main" val="20519255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53427-876C-5EA8-4E51-50574A44D83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FF80243-2A0C-E976-956A-2AB3846E267B}"/>
              </a:ext>
            </a:extLst>
          </p:cNvPr>
          <p:cNvSpPr/>
          <p:nvPr/>
        </p:nvSpPr>
        <p:spPr>
          <a:xfrm>
            <a:off x="7158565" y="3573976"/>
            <a:ext cx="2062480" cy="3037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4CD63C8-8936-3F35-B2D3-48F48E6B25D5}"/>
              </a:ext>
            </a:extLst>
          </p:cNvPr>
          <p:cNvSpPr/>
          <p:nvPr/>
        </p:nvSpPr>
        <p:spPr>
          <a:xfrm>
            <a:off x="3095619" y="3600548"/>
            <a:ext cx="2062480" cy="3037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E7A58A0-7B41-3EF4-7ECD-00B0D4299B43}"/>
              </a:ext>
            </a:extLst>
          </p:cNvPr>
          <p:cNvSpPr/>
          <p:nvPr/>
        </p:nvSpPr>
        <p:spPr>
          <a:xfrm>
            <a:off x="2210651" y="468118"/>
            <a:ext cx="2062480" cy="24829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4DAA174-0E17-197A-093D-815B5EC13533}"/>
              </a:ext>
            </a:extLst>
          </p:cNvPr>
          <p:cNvSpPr/>
          <p:nvPr/>
        </p:nvSpPr>
        <p:spPr>
          <a:xfrm>
            <a:off x="5064760" y="467360"/>
            <a:ext cx="2062480" cy="26123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706F435-D0C9-BBED-DAD4-EA8AF8986749}"/>
              </a:ext>
            </a:extLst>
          </p:cNvPr>
          <p:cNvSpPr/>
          <p:nvPr/>
        </p:nvSpPr>
        <p:spPr>
          <a:xfrm>
            <a:off x="7361765" y="4620624"/>
            <a:ext cx="1656080" cy="2005818"/>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7" name="Rectangle 6">
            <a:extLst>
              <a:ext uri="{FF2B5EF4-FFF2-40B4-BE49-F238E27FC236}">
                <a16:creationId xmlns:a16="http://schemas.microsoft.com/office/drawing/2014/main" id="{EA94F301-E2DA-EB7D-1F15-5A5F81456AE0}"/>
              </a:ext>
            </a:extLst>
          </p:cNvPr>
          <p:cNvSpPr/>
          <p:nvPr/>
        </p:nvSpPr>
        <p:spPr>
          <a:xfrm>
            <a:off x="2418931" y="1185499"/>
            <a:ext cx="1656080" cy="1724499"/>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8" name="Rectangle 7">
            <a:extLst>
              <a:ext uri="{FF2B5EF4-FFF2-40B4-BE49-F238E27FC236}">
                <a16:creationId xmlns:a16="http://schemas.microsoft.com/office/drawing/2014/main" id="{EF031024-16D6-CE4C-AF63-2988D25BAF09}"/>
              </a:ext>
            </a:extLst>
          </p:cNvPr>
          <p:cNvSpPr/>
          <p:nvPr/>
        </p:nvSpPr>
        <p:spPr>
          <a:xfrm>
            <a:off x="3318930" y="4620624"/>
            <a:ext cx="1656080" cy="1991191"/>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9" name="Rectangle 8">
            <a:extLst>
              <a:ext uri="{FF2B5EF4-FFF2-40B4-BE49-F238E27FC236}">
                <a16:creationId xmlns:a16="http://schemas.microsoft.com/office/drawing/2014/main" id="{AB1E8E25-A9AC-283D-319C-6BF5EB00BE41}"/>
              </a:ext>
            </a:extLst>
          </p:cNvPr>
          <p:cNvSpPr/>
          <p:nvPr/>
        </p:nvSpPr>
        <p:spPr>
          <a:xfrm>
            <a:off x="5267960" y="1176944"/>
            <a:ext cx="1656080" cy="1853700"/>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10" name="Terminator 9">
            <a:extLst>
              <a:ext uri="{FF2B5EF4-FFF2-40B4-BE49-F238E27FC236}">
                <a16:creationId xmlns:a16="http://schemas.microsoft.com/office/drawing/2014/main" id="{1DDCF75B-036A-B091-7194-F10E1AD3D309}"/>
              </a:ext>
            </a:extLst>
          </p:cNvPr>
          <p:cNvSpPr/>
          <p:nvPr/>
        </p:nvSpPr>
        <p:spPr>
          <a:xfrm>
            <a:off x="3400419" y="612022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11" name="Terminator 10">
            <a:extLst>
              <a:ext uri="{FF2B5EF4-FFF2-40B4-BE49-F238E27FC236}">
                <a16:creationId xmlns:a16="http://schemas.microsoft.com/office/drawing/2014/main" id="{022566BA-0C54-627C-5E3A-91409E847363}"/>
              </a:ext>
            </a:extLst>
          </p:cNvPr>
          <p:cNvSpPr/>
          <p:nvPr/>
        </p:nvSpPr>
        <p:spPr>
          <a:xfrm>
            <a:off x="3400419" y="558174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sp>
        <p:nvSpPr>
          <p:cNvPr id="12" name="Terminator 11">
            <a:extLst>
              <a:ext uri="{FF2B5EF4-FFF2-40B4-BE49-F238E27FC236}">
                <a16:creationId xmlns:a16="http://schemas.microsoft.com/office/drawing/2014/main" id="{6D9B63CF-AE95-95EF-9380-35E95C95D45A}"/>
              </a:ext>
            </a:extLst>
          </p:cNvPr>
          <p:cNvSpPr/>
          <p:nvPr/>
        </p:nvSpPr>
        <p:spPr>
          <a:xfrm>
            <a:off x="3400419" y="504326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Commit 3</a:t>
            </a:r>
          </a:p>
        </p:txBody>
      </p:sp>
      <p:cxnSp>
        <p:nvCxnSpPr>
          <p:cNvPr id="13" name="Straight Connector 12">
            <a:extLst>
              <a:ext uri="{FF2B5EF4-FFF2-40B4-BE49-F238E27FC236}">
                <a16:creationId xmlns:a16="http://schemas.microsoft.com/office/drawing/2014/main" id="{006884A4-CA7E-F430-B506-1707915EA827}"/>
              </a:ext>
            </a:extLst>
          </p:cNvPr>
          <p:cNvCxnSpPr>
            <a:cxnSpLocks/>
            <a:stCxn id="12" idx="2"/>
            <a:endCxn id="11" idx="0"/>
          </p:cNvCxnSpPr>
          <p:nvPr/>
        </p:nvCxnSpPr>
        <p:spPr>
          <a:xfrm>
            <a:off x="4126859" y="5439508"/>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2290F9D-61DB-7D76-4AAB-3E85B19D2599}"/>
              </a:ext>
            </a:extLst>
          </p:cNvPr>
          <p:cNvCxnSpPr>
            <a:cxnSpLocks/>
            <a:stCxn id="10" idx="0"/>
            <a:endCxn id="11" idx="2"/>
          </p:cNvCxnSpPr>
          <p:nvPr/>
        </p:nvCxnSpPr>
        <p:spPr>
          <a:xfrm flipV="1">
            <a:off x="4126859" y="5977988"/>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0B14787-F21E-9A5B-ABE1-91B497E3B967}"/>
              </a:ext>
            </a:extLst>
          </p:cNvPr>
          <p:cNvSpPr txBox="1"/>
          <p:nvPr/>
        </p:nvSpPr>
        <p:spPr>
          <a:xfrm>
            <a:off x="3135177" y="3600548"/>
            <a:ext cx="1983363" cy="369332"/>
          </a:xfrm>
          <a:prstGeom prst="rect">
            <a:avLst/>
          </a:prstGeom>
          <a:noFill/>
        </p:spPr>
        <p:txBody>
          <a:bodyPr wrap="none" rtlCol="0">
            <a:spAutoFit/>
          </a:bodyPr>
          <a:lstStyle/>
          <a:p>
            <a:r>
              <a:rPr lang="en-US" dirty="0"/>
              <a:t>Personal Computer</a:t>
            </a:r>
          </a:p>
        </p:txBody>
      </p:sp>
      <p:sp>
        <p:nvSpPr>
          <p:cNvPr id="16" name="Terminator 15">
            <a:extLst>
              <a:ext uri="{FF2B5EF4-FFF2-40B4-BE49-F238E27FC236}">
                <a16:creationId xmlns:a16="http://schemas.microsoft.com/office/drawing/2014/main" id="{ADA846DB-5B77-B455-5E57-63ED59190CFF}"/>
              </a:ext>
            </a:extLst>
          </p:cNvPr>
          <p:cNvSpPr/>
          <p:nvPr/>
        </p:nvSpPr>
        <p:spPr>
          <a:xfrm>
            <a:off x="7463365" y="6093656"/>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17" name="Terminator 16">
            <a:extLst>
              <a:ext uri="{FF2B5EF4-FFF2-40B4-BE49-F238E27FC236}">
                <a16:creationId xmlns:a16="http://schemas.microsoft.com/office/drawing/2014/main" id="{D22F6C53-CE4E-4267-DA58-2C3B1A3BF87D}"/>
              </a:ext>
            </a:extLst>
          </p:cNvPr>
          <p:cNvSpPr/>
          <p:nvPr/>
        </p:nvSpPr>
        <p:spPr>
          <a:xfrm>
            <a:off x="7463365" y="5555176"/>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cxnSp>
        <p:nvCxnSpPr>
          <p:cNvPr id="20" name="Straight Connector 19">
            <a:extLst>
              <a:ext uri="{FF2B5EF4-FFF2-40B4-BE49-F238E27FC236}">
                <a16:creationId xmlns:a16="http://schemas.microsoft.com/office/drawing/2014/main" id="{753417F8-0406-24E2-1984-B48662EDF0E0}"/>
              </a:ext>
            </a:extLst>
          </p:cNvPr>
          <p:cNvCxnSpPr>
            <a:cxnSpLocks/>
            <a:stCxn id="16" idx="0"/>
            <a:endCxn id="17" idx="2"/>
          </p:cNvCxnSpPr>
          <p:nvPr/>
        </p:nvCxnSpPr>
        <p:spPr>
          <a:xfrm flipV="1">
            <a:off x="8189805" y="5951416"/>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1AF0385-79C4-CEDF-9F4A-6902AC89E465}"/>
              </a:ext>
            </a:extLst>
          </p:cNvPr>
          <p:cNvSpPr txBox="1"/>
          <p:nvPr/>
        </p:nvSpPr>
        <p:spPr>
          <a:xfrm>
            <a:off x="7271701" y="3573976"/>
            <a:ext cx="1836208" cy="369332"/>
          </a:xfrm>
          <a:prstGeom prst="rect">
            <a:avLst/>
          </a:prstGeom>
          <a:noFill/>
        </p:spPr>
        <p:txBody>
          <a:bodyPr wrap="none" rtlCol="0">
            <a:spAutoFit/>
          </a:bodyPr>
          <a:lstStyle/>
          <a:p>
            <a:r>
              <a:rPr lang="en-US" dirty="0"/>
              <a:t>Cluster Computer</a:t>
            </a:r>
          </a:p>
        </p:txBody>
      </p:sp>
      <p:sp>
        <p:nvSpPr>
          <p:cNvPr id="22" name="Terminator 21">
            <a:extLst>
              <a:ext uri="{FF2B5EF4-FFF2-40B4-BE49-F238E27FC236}">
                <a16:creationId xmlns:a16="http://schemas.microsoft.com/office/drawing/2014/main" id="{2410838F-D10F-71E8-1120-B6212DB49A96}"/>
              </a:ext>
            </a:extLst>
          </p:cNvPr>
          <p:cNvSpPr/>
          <p:nvPr/>
        </p:nvSpPr>
        <p:spPr>
          <a:xfrm>
            <a:off x="5389671" y="257766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23" name="Terminator 22">
            <a:extLst>
              <a:ext uri="{FF2B5EF4-FFF2-40B4-BE49-F238E27FC236}">
                <a16:creationId xmlns:a16="http://schemas.microsoft.com/office/drawing/2014/main" id="{510104C5-67FF-EB9C-E1F9-91EDB1A65FF7}"/>
              </a:ext>
            </a:extLst>
          </p:cNvPr>
          <p:cNvSpPr/>
          <p:nvPr/>
        </p:nvSpPr>
        <p:spPr>
          <a:xfrm>
            <a:off x="5389671" y="203918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cxnSp>
        <p:nvCxnSpPr>
          <p:cNvPr id="26" name="Straight Connector 25">
            <a:extLst>
              <a:ext uri="{FF2B5EF4-FFF2-40B4-BE49-F238E27FC236}">
                <a16:creationId xmlns:a16="http://schemas.microsoft.com/office/drawing/2014/main" id="{4303581F-317C-15FD-1144-34F176C331E5}"/>
              </a:ext>
            </a:extLst>
          </p:cNvPr>
          <p:cNvCxnSpPr>
            <a:cxnSpLocks/>
            <a:stCxn id="22" idx="0"/>
            <a:endCxn id="23" idx="2"/>
          </p:cNvCxnSpPr>
          <p:nvPr/>
        </p:nvCxnSpPr>
        <p:spPr>
          <a:xfrm flipV="1">
            <a:off x="6116111" y="2435424"/>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AB3BDC0-F8BB-89C7-A06A-433D72650B44}"/>
              </a:ext>
            </a:extLst>
          </p:cNvPr>
          <p:cNvSpPr txBox="1"/>
          <p:nvPr/>
        </p:nvSpPr>
        <p:spPr>
          <a:xfrm>
            <a:off x="5267960" y="539168"/>
            <a:ext cx="1633652" cy="646331"/>
          </a:xfrm>
          <a:prstGeom prst="rect">
            <a:avLst/>
          </a:prstGeom>
          <a:noFill/>
        </p:spPr>
        <p:txBody>
          <a:bodyPr wrap="none" rtlCol="0">
            <a:spAutoFit/>
          </a:bodyPr>
          <a:lstStyle/>
          <a:p>
            <a:pPr algn="ctr"/>
            <a:r>
              <a:rPr lang="en-US" dirty="0"/>
              <a:t>GitHub Remote</a:t>
            </a:r>
          </a:p>
          <a:p>
            <a:pPr algn="ctr"/>
            <a:r>
              <a:rPr lang="en-US" dirty="0"/>
              <a:t>(your fork)</a:t>
            </a:r>
          </a:p>
        </p:txBody>
      </p:sp>
      <p:sp>
        <p:nvSpPr>
          <p:cNvPr id="28" name="Terminator 27">
            <a:extLst>
              <a:ext uri="{FF2B5EF4-FFF2-40B4-BE49-F238E27FC236}">
                <a16:creationId xmlns:a16="http://schemas.microsoft.com/office/drawing/2014/main" id="{75ABAE38-E17E-344F-ACB8-CD4065B2D94C}"/>
              </a:ext>
            </a:extLst>
          </p:cNvPr>
          <p:cNvSpPr/>
          <p:nvPr/>
        </p:nvSpPr>
        <p:spPr>
          <a:xfrm>
            <a:off x="2515451" y="2432907"/>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29" name="Terminator 28">
            <a:extLst>
              <a:ext uri="{FF2B5EF4-FFF2-40B4-BE49-F238E27FC236}">
                <a16:creationId xmlns:a16="http://schemas.microsoft.com/office/drawing/2014/main" id="{D446D23E-1D54-787C-68A0-ED147E0E63EF}"/>
              </a:ext>
            </a:extLst>
          </p:cNvPr>
          <p:cNvSpPr/>
          <p:nvPr/>
        </p:nvSpPr>
        <p:spPr>
          <a:xfrm>
            <a:off x="2515451" y="1894427"/>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cxnSp>
        <p:nvCxnSpPr>
          <p:cNvPr id="30" name="Straight Connector 29">
            <a:extLst>
              <a:ext uri="{FF2B5EF4-FFF2-40B4-BE49-F238E27FC236}">
                <a16:creationId xmlns:a16="http://schemas.microsoft.com/office/drawing/2014/main" id="{8896EE52-18EE-B422-71FD-A400D9BA0DCC}"/>
              </a:ext>
            </a:extLst>
          </p:cNvPr>
          <p:cNvCxnSpPr>
            <a:cxnSpLocks/>
            <a:stCxn id="28" idx="0"/>
            <a:endCxn id="29" idx="2"/>
          </p:cNvCxnSpPr>
          <p:nvPr/>
        </p:nvCxnSpPr>
        <p:spPr>
          <a:xfrm flipV="1">
            <a:off x="3241891" y="2290667"/>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D14F301-7505-ECE5-B03E-C73658198888}"/>
              </a:ext>
            </a:extLst>
          </p:cNvPr>
          <p:cNvSpPr txBox="1"/>
          <p:nvPr/>
        </p:nvSpPr>
        <p:spPr>
          <a:xfrm>
            <a:off x="2456266" y="569162"/>
            <a:ext cx="1571264" cy="646331"/>
          </a:xfrm>
          <a:prstGeom prst="rect">
            <a:avLst/>
          </a:prstGeom>
          <a:noFill/>
        </p:spPr>
        <p:txBody>
          <a:bodyPr wrap="none" rtlCol="0">
            <a:spAutoFit/>
          </a:bodyPr>
          <a:lstStyle/>
          <a:p>
            <a:pPr algn="ctr"/>
            <a:r>
              <a:rPr lang="en-US" dirty="0"/>
              <a:t>Original Repo </a:t>
            </a:r>
          </a:p>
          <a:p>
            <a:pPr algn="ctr"/>
            <a:r>
              <a:rPr lang="en-US" dirty="0"/>
              <a:t>(lab repo)</a:t>
            </a:r>
          </a:p>
        </p:txBody>
      </p:sp>
      <p:sp>
        <p:nvSpPr>
          <p:cNvPr id="35" name="Terminator 34">
            <a:extLst>
              <a:ext uri="{FF2B5EF4-FFF2-40B4-BE49-F238E27FC236}">
                <a16:creationId xmlns:a16="http://schemas.microsoft.com/office/drawing/2014/main" id="{F06DEDD2-C068-A836-867F-F0AAC3B0A49A}"/>
              </a:ext>
            </a:extLst>
          </p:cNvPr>
          <p:cNvSpPr/>
          <p:nvPr/>
        </p:nvSpPr>
        <p:spPr>
          <a:xfrm>
            <a:off x="3420530" y="412138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File(s)</a:t>
            </a:r>
          </a:p>
        </p:txBody>
      </p:sp>
      <p:sp>
        <p:nvSpPr>
          <p:cNvPr id="36" name="Terminator 35">
            <a:extLst>
              <a:ext uri="{FF2B5EF4-FFF2-40B4-BE49-F238E27FC236}">
                <a16:creationId xmlns:a16="http://schemas.microsoft.com/office/drawing/2014/main" id="{0627761C-11C5-F7D5-EDE8-5C5153A0362A}"/>
              </a:ext>
            </a:extLst>
          </p:cNvPr>
          <p:cNvSpPr/>
          <p:nvPr/>
        </p:nvSpPr>
        <p:spPr>
          <a:xfrm>
            <a:off x="7465905" y="412138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File(s)</a:t>
            </a:r>
          </a:p>
        </p:txBody>
      </p:sp>
      <p:pic>
        <p:nvPicPr>
          <p:cNvPr id="37" name="Picture 36" descr="A black cat with a white circle in the background&#10;&#10;Description automatically generated">
            <a:extLst>
              <a:ext uri="{FF2B5EF4-FFF2-40B4-BE49-F238E27FC236}">
                <a16:creationId xmlns:a16="http://schemas.microsoft.com/office/drawing/2014/main" id="{4847D9B0-00D7-1262-0806-D2F8D0E7810A}"/>
              </a:ext>
            </a:extLst>
          </p:cNvPr>
          <p:cNvPicPr>
            <a:picLocks noChangeAspect="1"/>
          </p:cNvPicPr>
          <p:nvPr/>
        </p:nvPicPr>
        <p:blipFill>
          <a:blip r:embed="rId3">
            <a:alphaModFix/>
          </a:blip>
          <a:stretch>
            <a:fillRect/>
          </a:stretch>
        </p:blipFill>
        <p:spPr>
          <a:xfrm>
            <a:off x="298453" y="520649"/>
            <a:ext cx="1332653" cy="1303682"/>
          </a:xfrm>
          <a:prstGeom prst="rect">
            <a:avLst/>
          </a:prstGeom>
          <a:solidFill>
            <a:schemeClr val="accent1"/>
          </a:solidFill>
        </p:spPr>
      </p:pic>
      <p:pic>
        <p:nvPicPr>
          <p:cNvPr id="38" name="Graphic 37" descr="Laptop with solid fill">
            <a:extLst>
              <a:ext uri="{FF2B5EF4-FFF2-40B4-BE49-F238E27FC236}">
                <a16:creationId xmlns:a16="http://schemas.microsoft.com/office/drawing/2014/main" id="{740FDDA1-C112-CA82-A3DD-D421C46C510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78" y="4628044"/>
            <a:ext cx="2133917" cy="2133917"/>
          </a:xfrm>
          <a:prstGeom prst="rect">
            <a:avLst/>
          </a:prstGeom>
        </p:spPr>
      </p:pic>
    </p:spTree>
    <p:extLst>
      <p:ext uri="{BB962C8B-B14F-4D97-AF65-F5344CB8AC3E}">
        <p14:creationId xmlns:p14="http://schemas.microsoft.com/office/powerpoint/2010/main" val="2149465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EEBA8-8C5C-0961-46C4-14AE31B94AD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E4D91E-8876-A35B-4ABB-08166F3E8FF1}"/>
              </a:ext>
            </a:extLst>
          </p:cNvPr>
          <p:cNvSpPr/>
          <p:nvPr/>
        </p:nvSpPr>
        <p:spPr>
          <a:xfrm>
            <a:off x="7158565" y="3573976"/>
            <a:ext cx="2062480" cy="3037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4532473-907C-E1A3-9146-565748696F41}"/>
              </a:ext>
            </a:extLst>
          </p:cNvPr>
          <p:cNvSpPr/>
          <p:nvPr/>
        </p:nvSpPr>
        <p:spPr>
          <a:xfrm>
            <a:off x="3095619" y="3600548"/>
            <a:ext cx="2062480" cy="3037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2E32AC3-9EE3-4B3C-7236-083F962F3369}"/>
              </a:ext>
            </a:extLst>
          </p:cNvPr>
          <p:cNvSpPr/>
          <p:nvPr/>
        </p:nvSpPr>
        <p:spPr>
          <a:xfrm>
            <a:off x="2210651" y="468118"/>
            <a:ext cx="2062480" cy="24829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DA113FC-E8E4-AFF7-81DC-050EC524380B}"/>
              </a:ext>
            </a:extLst>
          </p:cNvPr>
          <p:cNvSpPr/>
          <p:nvPr/>
        </p:nvSpPr>
        <p:spPr>
          <a:xfrm>
            <a:off x="5064760" y="467360"/>
            <a:ext cx="2062480" cy="26123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1362DD6-8933-4C39-9813-73768A56F90D}"/>
              </a:ext>
            </a:extLst>
          </p:cNvPr>
          <p:cNvSpPr/>
          <p:nvPr/>
        </p:nvSpPr>
        <p:spPr>
          <a:xfrm>
            <a:off x="7361765" y="4620624"/>
            <a:ext cx="1656080" cy="2005818"/>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7" name="Rectangle 6">
            <a:extLst>
              <a:ext uri="{FF2B5EF4-FFF2-40B4-BE49-F238E27FC236}">
                <a16:creationId xmlns:a16="http://schemas.microsoft.com/office/drawing/2014/main" id="{C8EC5D0C-CE52-EE23-A923-6F92F1F70E62}"/>
              </a:ext>
            </a:extLst>
          </p:cNvPr>
          <p:cNvSpPr/>
          <p:nvPr/>
        </p:nvSpPr>
        <p:spPr>
          <a:xfrm>
            <a:off x="2418931" y="1185499"/>
            <a:ext cx="1656080" cy="1724499"/>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8" name="Rectangle 7">
            <a:extLst>
              <a:ext uri="{FF2B5EF4-FFF2-40B4-BE49-F238E27FC236}">
                <a16:creationId xmlns:a16="http://schemas.microsoft.com/office/drawing/2014/main" id="{7DB16D26-A66F-A048-D22F-C3F3D4687A22}"/>
              </a:ext>
            </a:extLst>
          </p:cNvPr>
          <p:cNvSpPr/>
          <p:nvPr/>
        </p:nvSpPr>
        <p:spPr>
          <a:xfrm>
            <a:off x="3318930" y="4620624"/>
            <a:ext cx="1656080" cy="1991191"/>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9" name="Rectangle 8">
            <a:extLst>
              <a:ext uri="{FF2B5EF4-FFF2-40B4-BE49-F238E27FC236}">
                <a16:creationId xmlns:a16="http://schemas.microsoft.com/office/drawing/2014/main" id="{91A4B91D-B841-2009-EF19-DC1AB35031C6}"/>
              </a:ext>
            </a:extLst>
          </p:cNvPr>
          <p:cNvSpPr/>
          <p:nvPr/>
        </p:nvSpPr>
        <p:spPr>
          <a:xfrm>
            <a:off x="5267960" y="1176944"/>
            <a:ext cx="1656080" cy="1853700"/>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10" name="Terminator 9">
            <a:extLst>
              <a:ext uri="{FF2B5EF4-FFF2-40B4-BE49-F238E27FC236}">
                <a16:creationId xmlns:a16="http://schemas.microsoft.com/office/drawing/2014/main" id="{1D150406-3BC5-F93D-C9D4-39FC41DBCD35}"/>
              </a:ext>
            </a:extLst>
          </p:cNvPr>
          <p:cNvSpPr/>
          <p:nvPr/>
        </p:nvSpPr>
        <p:spPr>
          <a:xfrm>
            <a:off x="3400419" y="612022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11" name="Terminator 10">
            <a:extLst>
              <a:ext uri="{FF2B5EF4-FFF2-40B4-BE49-F238E27FC236}">
                <a16:creationId xmlns:a16="http://schemas.microsoft.com/office/drawing/2014/main" id="{5D979440-72E3-08AF-7585-5F9D809F2F0A}"/>
              </a:ext>
            </a:extLst>
          </p:cNvPr>
          <p:cNvSpPr/>
          <p:nvPr/>
        </p:nvSpPr>
        <p:spPr>
          <a:xfrm>
            <a:off x="3400419" y="558174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sp>
        <p:nvSpPr>
          <p:cNvPr id="12" name="Terminator 11">
            <a:extLst>
              <a:ext uri="{FF2B5EF4-FFF2-40B4-BE49-F238E27FC236}">
                <a16:creationId xmlns:a16="http://schemas.microsoft.com/office/drawing/2014/main" id="{C4FAA550-B629-FAF7-36B0-8655ABB8A059}"/>
              </a:ext>
            </a:extLst>
          </p:cNvPr>
          <p:cNvSpPr/>
          <p:nvPr/>
        </p:nvSpPr>
        <p:spPr>
          <a:xfrm>
            <a:off x="3400419" y="504326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Commit 3</a:t>
            </a:r>
          </a:p>
        </p:txBody>
      </p:sp>
      <p:cxnSp>
        <p:nvCxnSpPr>
          <p:cNvPr id="13" name="Straight Connector 12">
            <a:extLst>
              <a:ext uri="{FF2B5EF4-FFF2-40B4-BE49-F238E27FC236}">
                <a16:creationId xmlns:a16="http://schemas.microsoft.com/office/drawing/2014/main" id="{7A0C7783-4534-0424-2DC1-7B829C19B5BA}"/>
              </a:ext>
            </a:extLst>
          </p:cNvPr>
          <p:cNvCxnSpPr>
            <a:cxnSpLocks/>
            <a:stCxn id="12" idx="2"/>
            <a:endCxn id="11" idx="0"/>
          </p:cNvCxnSpPr>
          <p:nvPr/>
        </p:nvCxnSpPr>
        <p:spPr>
          <a:xfrm>
            <a:off x="4126859" y="5439508"/>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8BCF3D8-08F0-8605-93F3-23A07A252F9B}"/>
              </a:ext>
            </a:extLst>
          </p:cNvPr>
          <p:cNvCxnSpPr>
            <a:cxnSpLocks/>
            <a:stCxn id="10" idx="0"/>
            <a:endCxn id="11" idx="2"/>
          </p:cNvCxnSpPr>
          <p:nvPr/>
        </p:nvCxnSpPr>
        <p:spPr>
          <a:xfrm flipV="1">
            <a:off x="4126859" y="5977988"/>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C06B90B-1A2E-619D-1B06-190D313CE1F2}"/>
              </a:ext>
            </a:extLst>
          </p:cNvPr>
          <p:cNvSpPr txBox="1"/>
          <p:nvPr/>
        </p:nvSpPr>
        <p:spPr>
          <a:xfrm>
            <a:off x="3135177" y="3600548"/>
            <a:ext cx="1983363" cy="369332"/>
          </a:xfrm>
          <a:prstGeom prst="rect">
            <a:avLst/>
          </a:prstGeom>
          <a:noFill/>
        </p:spPr>
        <p:txBody>
          <a:bodyPr wrap="none" rtlCol="0">
            <a:spAutoFit/>
          </a:bodyPr>
          <a:lstStyle/>
          <a:p>
            <a:r>
              <a:rPr lang="en-US" dirty="0"/>
              <a:t>Personal Computer</a:t>
            </a:r>
          </a:p>
        </p:txBody>
      </p:sp>
      <p:sp>
        <p:nvSpPr>
          <p:cNvPr id="16" name="Terminator 15">
            <a:extLst>
              <a:ext uri="{FF2B5EF4-FFF2-40B4-BE49-F238E27FC236}">
                <a16:creationId xmlns:a16="http://schemas.microsoft.com/office/drawing/2014/main" id="{01F30EC1-B6FB-5D4E-82B9-2C3797AA432F}"/>
              </a:ext>
            </a:extLst>
          </p:cNvPr>
          <p:cNvSpPr/>
          <p:nvPr/>
        </p:nvSpPr>
        <p:spPr>
          <a:xfrm>
            <a:off x="7463365" y="6093656"/>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17" name="Terminator 16">
            <a:extLst>
              <a:ext uri="{FF2B5EF4-FFF2-40B4-BE49-F238E27FC236}">
                <a16:creationId xmlns:a16="http://schemas.microsoft.com/office/drawing/2014/main" id="{E8E2CDEF-1AB9-78B1-7FF8-C541845B059A}"/>
              </a:ext>
            </a:extLst>
          </p:cNvPr>
          <p:cNvSpPr/>
          <p:nvPr/>
        </p:nvSpPr>
        <p:spPr>
          <a:xfrm>
            <a:off x="7463365" y="5555176"/>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cxnSp>
        <p:nvCxnSpPr>
          <p:cNvPr id="20" name="Straight Connector 19">
            <a:extLst>
              <a:ext uri="{FF2B5EF4-FFF2-40B4-BE49-F238E27FC236}">
                <a16:creationId xmlns:a16="http://schemas.microsoft.com/office/drawing/2014/main" id="{1EA9DD92-7912-11F9-4989-069873D3428E}"/>
              </a:ext>
            </a:extLst>
          </p:cNvPr>
          <p:cNvCxnSpPr>
            <a:cxnSpLocks/>
            <a:stCxn id="16" idx="0"/>
            <a:endCxn id="17" idx="2"/>
          </p:cNvCxnSpPr>
          <p:nvPr/>
        </p:nvCxnSpPr>
        <p:spPr>
          <a:xfrm flipV="1">
            <a:off x="8189805" y="5951416"/>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C53D5AE-BF8C-9B86-D6A5-625A03B80240}"/>
              </a:ext>
            </a:extLst>
          </p:cNvPr>
          <p:cNvSpPr txBox="1"/>
          <p:nvPr/>
        </p:nvSpPr>
        <p:spPr>
          <a:xfrm>
            <a:off x="7271701" y="3573976"/>
            <a:ext cx="1836208" cy="369332"/>
          </a:xfrm>
          <a:prstGeom prst="rect">
            <a:avLst/>
          </a:prstGeom>
          <a:noFill/>
        </p:spPr>
        <p:txBody>
          <a:bodyPr wrap="none" rtlCol="0">
            <a:spAutoFit/>
          </a:bodyPr>
          <a:lstStyle/>
          <a:p>
            <a:r>
              <a:rPr lang="en-US" dirty="0"/>
              <a:t>Cluster Computer</a:t>
            </a:r>
          </a:p>
        </p:txBody>
      </p:sp>
      <p:sp>
        <p:nvSpPr>
          <p:cNvPr id="22" name="Terminator 21">
            <a:extLst>
              <a:ext uri="{FF2B5EF4-FFF2-40B4-BE49-F238E27FC236}">
                <a16:creationId xmlns:a16="http://schemas.microsoft.com/office/drawing/2014/main" id="{BD0D9DDB-E002-1E8D-112E-1FBC6BFAF4D0}"/>
              </a:ext>
            </a:extLst>
          </p:cNvPr>
          <p:cNvSpPr/>
          <p:nvPr/>
        </p:nvSpPr>
        <p:spPr>
          <a:xfrm>
            <a:off x="5389671" y="257766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23" name="Terminator 22">
            <a:extLst>
              <a:ext uri="{FF2B5EF4-FFF2-40B4-BE49-F238E27FC236}">
                <a16:creationId xmlns:a16="http://schemas.microsoft.com/office/drawing/2014/main" id="{8153144D-453C-1348-B8F5-77373071DF84}"/>
              </a:ext>
            </a:extLst>
          </p:cNvPr>
          <p:cNvSpPr/>
          <p:nvPr/>
        </p:nvSpPr>
        <p:spPr>
          <a:xfrm>
            <a:off x="5389671" y="203918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sp>
        <p:nvSpPr>
          <p:cNvPr id="24" name="Terminator 23">
            <a:extLst>
              <a:ext uri="{FF2B5EF4-FFF2-40B4-BE49-F238E27FC236}">
                <a16:creationId xmlns:a16="http://schemas.microsoft.com/office/drawing/2014/main" id="{38A78A22-CF31-466F-8A4B-7B4A38052291}"/>
              </a:ext>
            </a:extLst>
          </p:cNvPr>
          <p:cNvSpPr/>
          <p:nvPr/>
        </p:nvSpPr>
        <p:spPr>
          <a:xfrm>
            <a:off x="5389671" y="1500704"/>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Commit 3</a:t>
            </a:r>
          </a:p>
        </p:txBody>
      </p:sp>
      <p:cxnSp>
        <p:nvCxnSpPr>
          <p:cNvPr id="25" name="Straight Connector 24">
            <a:extLst>
              <a:ext uri="{FF2B5EF4-FFF2-40B4-BE49-F238E27FC236}">
                <a16:creationId xmlns:a16="http://schemas.microsoft.com/office/drawing/2014/main" id="{EBDBDA7C-2ED0-6A40-3720-1D4FCF989F20}"/>
              </a:ext>
            </a:extLst>
          </p:cNvPr>
          <p:cNvCxnSpPr>
            <a:cxnSpLocks/>
            <a:stCxn id="24" idx="2"/>
            <a:endCxn id="23" idx="0"/>
          </p:cNvCxnSpPr>
          <p:nvPr/>
        </p:nvCxnSpPr>
        <p:spPr>
          <a:xfrm>
            <a:off x="6116111" y="1896944"/>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447611F-BA18-A00A-4142-F8FDB023E67B}"/>
              </a:ext>
            </a:extLst>
          </p:cNvPr>
          <p:cNvCxnSpPr>
            <a:cxnSpLocks/>
            <a:stCxn id="22" idx="0"/>
            <a:endCxn id="23" idx="2"/>
          </p:cNvCxnSpPr>
          <p:nvPr/>
        </p:nvCxnSpPr>
        <p:spPr>
          <a:xfrm flipV="1">
            <a:off x="6116111" y="2435424"/>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A3FD32F-A9C3-F1C2-C2A1-3544BCE0E747}"/>
              </a:ext>
            </a:extLst>
          </p:cNvPr>
          <p:cNvSpPr txBox="1"/>
          <p:nvPr/>
        </p:nvSpPr>
        <p:spPr>
          <a:xfrm>
            <a:off x="5267960" y="539168"/>
            <a:ext cx="1633652" cy="646331"/>
          </a:xfrm>
          <a:prstGeom prst="rect">
            <a:avLst/>
          </a:prstGeom>
          <a:noFill/>
        </p:spPr>
        <p:txBody>
          <a:bodyPr wrap="none" rtlCol="0">
            <a:spAutoFit/>
          </a:bodyPr>
          <a:lstStyle/>
          <a:p>
            <a:pPr algn="ctr"/>
            <a:r>
              <a:rPr lang="en-US" dirty="0"/>
              <a:t>GitHub Remote</a:t>
            </a:r>
          </a:p>
          <a:p>
            <a:pPr algn="ctr"/>
            <a:r>
              <a:rPr lang="en-US" dirty="0"/>
              <a:t>(your fork)</a:t>
            </a:r>
          </a:p>
        </p:txBody>
      </p:sp>
      <p:sp>
        <p:nvSpPr>
          <p:cNvPr id="28" name="Terminator 27">
            <a:extLst>
              <a:ext uri="{FF2B5EF4-FFF2-40B4-BE49-F238E27FC236}">
                <a16:creationId xmlns:a16="http://schemas.microsoft.com/office/drawing/2014/main" id="{76C6407C-E186-1DCB-6A73-AAD6D1EBFED7}"/>
              </a:ext>
            </a:extLst>
          </p:cNvPr>
          <p:cNvSpPr/>
          <p:nvPr/>
        </p:nvSpPr>
        <p:spPr>
          <a:xfrm>
            <a:off x="2515451" y="2432907"/>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29" name="Terminator 28">
            <a:extLst>
              <a:ext uri="{FF2B5EF4-FFF2-40B4-BE49-F238E27FC236}">
                <a16:creationId xmlns:a16="http://schemas.microsoft.com/office/drawing/2014/main" id="{0C21D409-9397-7C3B-C42B-8FEADC57E88A}"/>
              </a:ext>
            </a:extLst>
          </p:cNvPr>
          <p:cNvSpPr/>
          <p:nvPr/>
        </p:nvSpPr>
        <p:spPr>
          <a:xfrm>
            <a:off x="2515451" y="1894427"/>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cxnSp>
        <p:nvCxnSpPr>
          <p:cNvPr id="30" name="Straight Connector 29">
            <a:extLst>
              <a:ext uri="{FF2B5EF4-FFF2-40B4-BE49-F238E27FC236}">
                <a16:creationId xmlns:a16="http://schemas.microsoft.com/office/drawing/2014/main" id="{58BE161C-DB91-DD6A-47FB-440E2DDB2796}"/>
              </a:ext>
            </a:extLst>
          </p:cNvPr>
          <p:cNvCxnSpPr>
            <a:cxnSpLocks/>
            <a:stCxn id="28" idx="0"/>
            <a:endCxn id="29" idx="2"/>
          </p:cNvCxnSpPr>
          <p:nvPr/>
        </p:nvCxnSpPr>
        <p:spPr>
          <a:xfrm flipV="1">
            <a:off x="3241891" y="2290667"/>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C34D2DBE-D97A-4D68-CCCD-67E066836818}"/>
              </a:ext>
            </a:extLst>
          </p:cNvPr>
          <p:cNvSpPr txBox="1"/>
          <p:nvPr/>
        </p:nvSpPr>
        <p:spPr>
          <a:xfrm>
            <a:off x="2456266" y="569162"/>
            <a:ext cx="1571264" cy="646331"/>
          </a:xfrm>
          <a:prstGeom prst="rect">
            <a:avLst/>
          </a:prstGeom>
          <a:noFill/>
        </p:spPr>
        <p:txBody>
          <a:bodyPr wrap="none" rtlCol="0">
            <a:spAutoFit/>
          </a:bodyPr>
          <a:lstStyle/>
          <a:p>
            <a:pPr algn="ctr"/>
            <a:r>
              <a:rPr lang="en-US" dirty="0"/>
              <a:t>Original Repo </a:t>
            </a:r>
          </a:p>
          <a:p>
            <a:pPr algn="ctr"/>
            <a:r>
              <a:rPr lang="en-US" dirty="0"/>
              <a:t>(lab repo)</a:t>
            </a:r>
          </a:p>
        </p:txBody>
      </p:sp>
      <p:cxnSp>
        <p:nvCxnSpPr>
          <p:cNvPr id="32" name="Straight Arrow Connector 31">
            <a:extLst>
              <a:ext uri="{FF2B5EF4-FFF2-40B4-BE49-F238E27FC236}">
                <a16:creationId xmlns:a16="http://schemas.microsoft.com/office/drawing/2014/main" id="{155AABE7-8E24-A37D-2725-285232991193}"/>
              </a:ext>
            </a:extLst>
          </p:cNvPr>
          <p:cNvCxnSpPr>
            <a:cxnSpLocks/>
            <a:stCxn id="15" idx="0"/>
            <a:endCxn id="5" idx="2"/>
          </p:cNvCxnSpPr>
          <p:nvPr/>
        </p:nvCxnSpPr>
        <p:spPr>
          <a:xfrm flipV="1">
            <a:off x="4126859" y="3079708"/>
            <a:ext cx="1969141" cy="520840"/>
          </a:xfrm>
          <a:prstGeom prst="straightConnector1">
            <a:avLst/>
          </a:prstGeom>
          <a:ln w="381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5" name="Terminator 34">
            <a:extLst>
              <a:ext uri="{FF2B5EF4-FFF2-40B4-BE49-F238E27FC236}">
                <a16:creationId xmlns:a16="http://schemas.microsoft.com/office/drawing/2014/main" id="{F81D7F85-8151-7806-75A0-F260DB5CFACA}"/>
              </a:ext>
            </a:extLst>
          </p:cNvPr>
          <p:cNvSpPr/>
          <p:nvPr/>
        </p:nvSpPr>
        <p:spPr>
          <a:xfrm>
            <a:off x="3420530" y="412138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File(s)</a:t>
            </a:r>
          </a:p>
        </p:txBody>
      </p:sp>
      <p:sp>
        <p:nvSpPr>
          <p:cNvPr id="36" name="Terminator 35">
            <a:extLst>
              <a:ext uri="{FF2B5EF4-FFF2-40B4-BE49-F238E27FC236}">
                <a16:creationId xmlns:a16="http://schemas.microsoft.com/office/drawing/2014/main" id="{5B268271-BF3B-B55C-23E6-4C2ED25C289A}"/>
              </a:ext>
            </a:extLst>
          </p:cNvPr>
          <p:cNvSpPr/>
          <p:nvPr/>
        </p:nvSpPr>
        <p:spPr>
          <a:xfrm>
            <a:off x="7465905" y="412138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File(s)</a:t>
            </a:r>
          </a:p>
        </p:txBody>
      </p:sp>
      <p:pic>
        <p:nvPicPr>
          <p:cNvPr id="37" name="Picture 36" descr="A black cat with a white circle in the background&#10;&#10;Description automatically generated">
            <a:extLst>
              <a:ext uri="{FF2B5EF4-FFF2-40B4-BE49-F238E27FC236}">
                <a16:creationId xmlns:a16="http://schemas.microsoft.com/office/drawing/2014/main" id="{F1806C43-1AA8-FCCD-0B68-DEC7CFCC4856}"/>
              </a:ext>
            </a:extLst>
          </p:cNvPr>
          <p:cNvPicPr>
            <a:picLocks noChangeAspect="1"/>
          </p:cNvPicPr>
          <p:nvPr/>
        </p:nvPicPr>
        <p:blipFill>
          <a:blip r:embed="rId3">
            <a:alphaModFix/>
          </a:blip>
          <a:stretch>
            <a:fillRect/>
          </a:stretch>
        </p:blipFill>
        <p:spPr>
          <a:xfrm>
            <a:off x="298453" y="520649"/>
            <a:ext cx="1332653" cy="1303682"/>
          </a:xfrm>
          <a:prstGeom prst="rect">
            <a:avLst/>
          </a:prstGeom>
          <a:solidFill>
            <a:schemeClr val="accent1"/>
          </a:solidFill>
        </p:spPr>
      </p:pic>
      <p:pic>
        <p:nvPicPr>
          <p:cNvPr id="38" name="Graphic 37" descr="Laptop with solid fill">
            <a:extLst>
              <a:ext uri="{FF2B5EF4-FFF2-40B4-BE49-F238E27FC236}">
                <a16:creationId xmlns:a16="http://schemas.microsoft.com/office/drawing/2014/main" id="{D986F337-E645-6DC6-C43C-F8D7051CBA9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78" y="4628044"/>
            <a:ext cx="2133917" cy="2133917"/>
          </a:xfrm>
          <a:prstGeom prst="rect">
            <a:avLst/>
          </a:prstGeom>
        </p:spPr>
      </p:pic>
      <p:sp>
        <p:nvSpPr>
          <p:cNvPr id="39" name="TextBox 38">
            <a:extLst>
              <a:ext uri="{FF2B5EF4-FFF2-40B4-BE49-F238E27FC236}">
                <a16:creationId xmlns:a16="http://schemas.microsoft.com/office/drawing/2014/main" id="{7C8B5E07-4576-A23D-1632-2C13E58CD111}"/>
              </a:ext>
            </a:extLst>
          </p:cNvPr>
          <p:cNvSpPr txBox="1"/>
          <p:nvPr/>
        </p:nvSpPr>
        <p:spPr>
          <a:xfrm rot="20562351">
            <a:off x="4276348" y="3072785"/>
            <a:ext cx="691215" cy="369332"/>
          </a:xfrm>
          <a:prstGeom prst="rect">
            <a:avLst/>
          </a:prstGeom>
          <a:noFill/>
        </p:spPr>
        <p:txBody>
          <a:bodyPr wrap="none" rtlCol="0">
            <a:spAutoFit/>
          </a:bodyPr>
          <a:lstStyle/>
          <a:p>
            <a:r>
              <a:rPr lang="en-US">
                <a:highlight>
                  <a:srgbClr val="FFFF00"/>
                </a:highlight>
                <a:latin typeface="Consolas" panose="020B0609020204030204" pitchFamily="49" charset="0"/>
                <a:cs typeface="Consolas" panose="020B0609020204030204" pitchFamily="49" charset="0"/>
              </a:rPr>
              <a:t>push</a:t>
            </a:r>
          </a:p>
        </p:txBody>
      </p:sp>
    </p:spTree>
    <p:extLst>
      <p:ext uri="{BB962C8B-B14F-4D97-AF65-F5344CB8AC3E}">
        <p14:creationId xmlns:p14="http://schemas.microsoft.com/office/powerpoint/2010/main" val="38962789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094D5-CBCD-8CC5-BCA4-B22C7E0FE60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81430D3-F244-3F17-C558-EF9D83C7EE10}"/>
              </a:ext>
            </a:extLst>
          </p:cNvPr>
          <p:cNvSpPr/>
          <p:nvPr/>
        </p:nvSpPr>
        <p:spPr>
          <a:xfrm>
            <a:off x="7158565" y="3573976"/>
            <a:ext cx="2062480" cy="3037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50F0567-832B-74BF-D040-36AF65A9129F}"/>
              </a:ext>
            </a:extLst>
          </p:cNvPr>
          <p:cNvSpPr/>
          <p:nvPr/>
        </p:nvSpPr>
        <p:spPr>
          <a:xfrm>
            <a:off x="3095619" y="3600548"/>
            <a:ext cx="2062480" cy="3037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2E2869F-DAA8-42DC-4DB3-60EC3AC84EDF}"/>
              </a:ext>
            </a:extLst>
          </p:cNvPr>
          <p:cNvSpPr/>
          <p:nvPr/>
        </p:nvSpPr>
        <p:spPr>
          <a:xfrm>
            <a:off x="2210651" y="468118"/>
            <a:ext cx="2062480" cy="24829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0996AE5-9C92-DBD3-95D2-4E5F307EB719}"/>
              </a:ext>
            </a:extLst>
          </p:cNvPr>
          <p:cNvSpPr/>
          <p:nvPr/>
        </p:nvSpPr>
        <p:spPr>
          <a:xfrm>
            <a:off x="5064760" y="467360"/>
            <a:ext cx="2062480" cy="26123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F4066DC-A892-6F9F-AE9D-D28AD3DF4DF0}"/>
              </a:ext>
            </a:extLst>
          </p:cNvPr>
          <p:cNvSpPr/>
          <p:nvPr/>
        </p:nvSpPr>
        <p:spPr>
          <a:xfrm>
            <a:off x="7361765" y="4620624"/>
            <a:ext cx="1656080" cy="2005818"/>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7" name="Rectangle 6">
            <a:extLst>
              <a:ext uri="{FF2B5EF4-FFF2-40B4-BE49-F238E27FC236}">
                <a16:creationId xmlns:a16="http://schemas.microsoft.com/office/drawing/2014/main" id="{66FBF893-A7D2-8F47-096F-F72CBD9A54EC}"/>
              </a:ext>
            </a:extLst>
          </p:cNvPr>
          <p:cNvSpPr/>
          <p:nvPr/>
        </p:nvSpPr>
        <p:spPr>
          <a:xfrm>
            <a:off x="2418931" y="1185499"/>
            <a:ext cx="1656080" cy="1724499"/>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8" name="Rectangle 7">
            <a:extLst>
              <a:ext uri="{FF2B5EF4-FFF2-40B4-BE49-F238E27FC236}">
                <a16:creationId xmlns:a16="http://schemas.microsoft.com/office/drawing/2014/main" id="{E980AAA2-5F10-F979-3229-DD5D70651A37}"/>
              </a:ext>
            </a:extLst>
          </p:cNvPr>
          <p:cNvSpPr/>
          <p:nvPr/>
        </p:nvSpPr>
        <p:spPr>
          <a:xfrm>
            <a:off x="3318930" y="4620624"/>
            <a:ext cx="1656080" cy="1991191"/>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9" name="Rectangle 8">
            <a:extLst>
              <a:ext uri="{FF2B5EF4-FFF2-40B4-BE49-F238E27FC236}">
                <a16:creationId xmlns:a16="http://schemas.microsoft.com/office/drawing/2014/main" id="{5067553A-E849-805A-4121-ABA23483A39C}"/>
              </a:ext>
            </a:extLst>
          </p:cNvPr>
          <p:cNvSpPr/>
          <p:nvPr/>
        </p:nvSpPr>
        <p:spPr>
          <a:xfrm>
            <a:off x="5267960" y="1176944"/>
            <a:ext cx="1656080" cy="1853700"/>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10" name="Terminator 9">
            <a:extLst>
              <a:ext uri="{FF2B5EF4-FFF2-40B4-BE49-F238E27FC236}">
                <a16:creationId xmlns:a16="http://schemas.microsoft.com/office/drawing/2014/main" id="{1FC938A9-8A73-1FB9-2D98-C421DD9ABF27}"/>
              </a:ext>
            </a:extLst>
          </p:cNvPr>
          <p:cNvSpPr/>
          <p:nvPr/>
        </p:nvSpPr>
        <p:spPr>
          <a:xfrm>
            <a:off x="3400419" y="612022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11" name="Terminator 10">
            <a:extLst>
              <a:ext uri="{FF2B5EF4-FFF2-40B4-BE49-F238E27FC236}">
                <a16:creationId xmlns:a16="http://schemas.microsoft.com/office/drawing/2014/main" id="{3A34AF48-7B63-ED55-4D85-62FC9F3DFD97}"/>
              </a:ext>
            </a:extLst>
          </p:cNvPr>
          <p:cNvSpPr/>
          <p:nvPr/>
        </p:nvSpPr>
        <p:spPr>
          <a:xfrm>
            <a:off x="3400419" y="558174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sp>
        <p:nvSpPr>
          <p:cNvPr id="12" name="Terminator 11">
            <a:extLst>
              <a:ext uri="{FF2B5EF4-FFF2-40B4-BE49-F238E27FC236}">
                <a16:creationId xmlns:a16="http://schemas.microsoft.com/office/drawing/2014/main" id="{9A66AF4C-7C8B-37B9-9841-170A6342BE0A}"/>
              </a:ext>
            </a:extLst>
          </p:cNvPr>
          <p:cNvSpPr/>
          <p:nvPr/>
        </p:nvSpPr>
        <p:spPr>
          <a:xfrm>
            <a:off x="3400419" y="504326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Commit 3</a:t>
            </a:r>
          </a:p>
        </p:txBody>
      </p:sp>
      <p:cxnSp>
        <p:nvCxnSpPr>
          <p:cNvPr id="13" name="Straight Connector 12">
            <a:extLst>
              <a:ext uri="{FF2B5EF4-FFF2-40B4-BE49-F238E27FC236}">
                <a16:creationId xmlns:a16="http://schemas.microsoft.com/office/drawing/2014/main" id="{2286E039-02CE-4E81-1E7A-DE691EE8D675}"/>
              </a:ext>
            </a:extLst>
          </p:cNvPr>
          <p:cNvCxnSpPr>
            <a:cxnSpLocks/>
            <a:stCxn id="12" idx="2"/>
            <a:endCxn id="11" idx="0"/>
          </p:cNvCxnSpPr>
          <p:nvPr/>
        </p:nvCxnSpPr>
        <p:spPr>
          <a:xfrm>
            <a:off x="4126859" y="5439508"/>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9A3126-CB45-E876-51AE-0791B83AD12D}"/>
              </a:ext>
            </a:extLst>
          </p:cNvPr>
          <p:cNvCxnSpPr>
            <a:cxnSpLocks/>
            <a:stCxn id="10" idx="0"/>
            <a:endCxn id="11" idx="2"/>
          </p:cNvCxnSpPr>
          <p:nvPr/>
        </p:nvCxnSpPr>
        <p:spPr>
          <a:xfrm flipV="1">
            <a:off x="4126859" y="5977988"/>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0398AAD-3EAB-01E8-7026-677B9D002CB9}"/>
              </a:ext>
            </a:extLst>
          </p:cNvPr>
          <p:cNvSpPr txBox="1"/>
          <p:nvPr/>
        </p:nvSpPr>
        <p:spPr>
          <a:xfrm>
            <a:off x="3135177" y="3600548"/>
            <a:ext cx="1983363" cy="369332"/>
          </a:xfrm>
          <a:prstGeom prst="rect">
            <a:avLst/>
          </a:prstGeom>
          <a:noFill/>
        </p:spPr>
        <p:txBody>
          <a:bodyPr wrap="none" rtlCol="0">
            <a:spAutoFit/>
          </a:bodyPr>
          <a:lstStyle/>
          <a:p>
            <a:r>
              <a:rPr lang="en-US" dirty="0"/>
              <a:t>Personal Computer</a:t>
            </a:r>
          </a:p>
        </p:txBody>
      </p:sp>
      <p:sp>
        <p:nvSpPr>
          <p:cNvPr id="16" name="Terminator 15">
            <a:extLst>
              <a:ext uri="{FF2B5EF4-FFF2-40B4-BE49-F238E27FC236}">
                <a16:creationId xmlns:a16="http://schemas.microsoft.com/office/drawing/2014/main" id="{47E0552E-1644-41EC-2F3D-F304A935EB02}"/>
              </a:ext>
            </a:extLst>
          </p:cNvPr>
          <p:cNvSpPr/>
          <p:nvPr/>
        </p:nvSpPr>
        <p:spPr>
          <a:xfrm>
            <a:off x="7463365" y="6093656"/>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17" name="Terminator 16">
            <a:extLst>
              <a:ext uri="{FF2B5EF4-FFF2-40B4-BE49-F238E27FC236}">
                <a16:creationId xmlns:a16="http://schemas.microsoft.com/office/drawing/2014/main" id="{805C3988-E51F-F300-E418-294D323DE490}"/>
              </a:ext>
            </a:extLst>
          </p:cNvPr>
          <p:cNvSpPr/>
          <p:nvPr/>
        </p:nvSpPr>
        <p:spPr>
          <a:xfrm>
            <a:off x="7463365" y="5555176"/>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sp>
        <p:nvSpPr>
          <p:cNvPr id="18" name="Terminator 17">
            <a:extLst>
              <a:ext uri="{FF2B5EF4-FFF2-40B4-BE49-F238E27FC236}">
                <a16:creationId xmlns:a16="http://schemas.microsoft.com/office/drawing/2014/main" id="{FC3C1BA5-AE1B-6B73-9822-6D5CF1391A57}"/>
              </a:ext>
            </a:extLst>
          </p:cNvPr>
          <p:cNvSpPr/>
          <p:nvPr/>
        </p:nvSpPr>
        <p:spPr>
          <a:xfrm>
            <a:off x="7463365" y="5016696"/>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Commit 3</a:t>
            </a:r>
          </a:p>
        </p:txBody>
      </p:sp>
      <p:cxnSp>
        <p:nvCxnSpPr>
          <p:cNvPr id="19" name="Straight Connector 18">
            <a:extLst>
              <a:ext uri="{FF2B5EF4-FFF2-40B4-BE49-F238E27FC236}">
                <a16:creationId xmlns:a16="http://schemas.microsoft.com/office/drawing/2014/main" id="{638CD68D-F821-069C-6116-84B24C16750E}"/>
              </a:ext>
            </a:extLst>
          </p:cNvPr>
          <p:cNvCxnSpPr>
            <a:cxnSpLocks/>
            <a:stCxn id="18" idx="2"/>
            <a:endCxn id="17" idx="0"/>
          </p:cNvCxnSpPr>
          <p:nvPr/>
        </p:nvCxnSpPr>
        <p:spPr>
          <a:xfrm>
            <a:off x="8189805" y="5412936"/>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B3B599A-50AA-454F-98E8-D81E4255451A}"/>
              </a:ext>
            </a:extLst>
          </p:cNvPr>
          <p:cNvCxnSpPr>
            <a:cxnSpLocks/>
            <a:stCxn id="16" idx="0"/>
            <a:endCxn id="17" idx="2"/>
          </p:cNvCxnSpPr>
          <p:nvPr/>
        </p:nvCxnSpPr>
        <p:spPr>
          <a:xfrm flipV="1">
            <a:off x="8189805" y="5951416"/>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5D88EC0-52AB-8E87-BA30-F5EB91497F2C}"/>
              </a:ext>
            </a:extLst>
          </p:cNvPr>
          <p:cNvSpPr txBox="1"/>
          <p:nvPr/>
        </p:nvSpPr>
        <p:spPr>
          <a:xfrm>
            <a:off x="7271701" y="3573976"/>
            <a:ext cx="1836208" cy="369332"/>
          </a:xfrm>
          <a:prstGeom prst="rect">
            <a:avLst/>
          </a:prstGeom>
          <a:noFill/>
        </p:spPr>
        <p:txBody>
          <a:bodyPr wrap="none" rtlCol="0">
            <a:spAutoFit/>
          </a:bodyPr>
          <a:lstStyle/>
          <a:p>
            <a:r>
              <a:rPr lang="en-US" dirty="0"/>
              <a:t>Cluster Computer</a:t>
            </a:r>
          </a:p>
        </p:txBody>
      </p:sp>
      <p:sp>
        <p:nvSpPr>
          <p:cNvPr id="22" name="Terminator 21">
            <a:extLst>
              <a:ext uri="{FF2B5EF4-FFF2-40B4-BE49-F238E27FC236}">
                <a16:creationId xmlns:a16="http://schemas.microsoft.com/office/drawing/2014/main" id="{364AB25F-DF34-8005-2858-8B425138C74C}"/>
              </a:ext>
            </a:extLst>
          </p:cNvPr>
          <p:cNvSpPr/>
          <p:nvPr/>
        </p:nvSpPr>
        <p:spPr>
          <a:xfrm>
            <a:off x="5389671" y="257766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23" name="Terminator 22">
            <a:extLst>
              <a:ext uri="{FF2B5EF4-FFF2-40B4-BE49-F238E27FC236}">
                <a16:creationId xmlns:a16="http://schemas.microsoft.com/office/drawing/2014/main" id="{4BEC1E42-5E54-D2CB-7992-E46DACA5142C}"/>
              </a:ext>
            </a:extLst>
          </p:cNvPr>
          <p:cNvSpPr/>
          <p:nvPr/>
        </p:nvSpPr>
        <p:spPr>
          <a:xfrm>
            <a:off x="5389671" y="203918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sp>
        <p:nvSpPr>
          <p:cNvPr id="24" name="Terminator 23">
            <a:extLst>
              <a:ext uri="{FF2B5EF4-FFF2-40B4-BE49-F238E27FC236}">
                <a16:creationId xmlns:a16="http://schemas.microsoft.com/office/drawing/2014/main" id="{7DFD0BCB-5A38-A65C-76FD-39E87B5A3F54}"/>
              </a:ext>
            </a:extLst>
          </p:cNvPr>
          <p:cNvSpPr/>
          <p:nvPr/>
        </p:nvSpPr>
        <p:spPr>
          <a:xfrm>
            <a:off x="5389671" y="1500704"/>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Commit 3</a:t>
            </a:r>
          </a:p>
        </p:txBody>
      </p:sp>
      <p:cxnSp>
        <p:nvCxnSpPr>
          <p:cNvPr id="25" name="Straight Connector 24">
            <a:extLst>
              <a:ext uri="{FF2B5EF4-FFF2-40B4-BE49-F238E27FC236}">
                <a16:creationId xmlns:a16="http://schemas.microsoft.com/office/drawing/2014/main" id="{CC1642D6-37EB-6BF4-7CFB-379404B835EF}"/>
              </a:ext>
            </a:extLst>
          </p:cNvPr>
          <p:cNvCxnSpPr>
            <a:cxnSpLocks/>
            <a:stCxn id="24" idx="2"/>
            <a:endCxn id="23" idx="0"/>
          </p:cNvCxnSpPr>
          <p:nvPr/>
        </p:nvCxnSpPr>
        <p:spPr>
          <a:xfrm>
            <a:off x="6116111" y="1896944"/>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7C61E1-15CC-D9AE-EAFF-4CD3A6A9A8DF}"/>
              </a:ext>
            </a:extLst>
          </p:cNvPr>
          <p:cNvCxnSpPr>
            <a:cxnSpLocks/>
            <a:stCxn id="22" idx="0"/>
            <a:endCxn id="23" idx="2"/>
          </p:cNvCxnSpPr>
          <p:nvPr/>
        </p:nvCxnSpPr>
        <p:spPr>
          <a:xfrm flipV="1">
            <a:off x="6116111" y="2435424"/>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7D320227-1867-7362-5404-8FB9B8B4C10D}"/>
              </a:ext>
            </a:extLst>
          </p:cNvPr>
          <p:cNvSpPr txBox="1"/>
          <p:nvPr/>
        </p:nvSpPr>
        <p:spPr>
          <a:xfrm>
            <a:off x="5267960" y="539168"/>
            <a:ext cx="1633652" cy="646331"/>
          </a:xfrm>
          <a:prstGeom prst="rect">
            <a:avLst/>
          </a:prstGeom>
          <a:noFill/>
        </p:spPr>
        <p:txBody>
          <a:bodyPr wrap="none" rtlCol="0">
            <a:spAutoFit/>
          </a:bodyPr>
          <a:lstStyle/>
          <a:p>
            <a:pPr algn="ctr"/>
            <a:r>
              <a:rPr lang="en-US" dirty="0"/>
              <a:t>GitHub Remote</a:t>
            </a:r>
          </a:p>
          <a:p>
            <a:pPr algn="ctr"/>
            <a:r>
              <a:rPr lang="en-US" dirty="0"/>
              <a:t>(your fork)</a:t>
            </a:r>
          </a:p>
        </p:txBody>
      </p:sp>
      <p:sp>
        <p:nvSpPr>
          <p:cNvPr id="28" name="Terminator 27">
            <a:extLst>
              <a:ext uri="{FF2B5EF4-FFF2-40B4-BE49-F238E27FC236}">
                <a16:creationId xmlns:a16="http://schemas.microsoft.com/office/drawing/2014/main" id="{9C7D1E45-7032-AC99-2FDB-BDA7D4E04F28}"/>
              </a:ext>
            </a:extLst>
          </p:cNvPr>
          <p:cNvSpPr/>
          <p:nvPr/>
        </p:nvSpPr>
        <p:spPr>
          <a:xfrm>
            <a:off x="2515451" y="2432907"/>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29" name="Terminator 28">
            <a:extLst>
              <a:ext uri="{FF2B5EF4-FFF2-40B4-BE49-F238E27FC236}">
                <a16:creationId xmlns:a16="http://schemas.microsoft.com/office/drawing/2014/main" id="{BB77BFDB-E2FE-449D-71D9-8993761D6F25}"/>
              </a:ext>
            </a:extLst>
          </p:cNvPr>
          <p:cNvSpPr/>
          <p:nvPr/>
        </p:nvSpPr>
        <p:spPr>
          <a:xfrm>
            <a:off x="2515451" y="1894427"/>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cxnSp>
        <p:nvCxnSpPr>
          <p:cNvPr id="30" name="Straight Connector 29">
            <a:extLst>
              <a:ext uri="{FF2B5EF4-FFF2-40B4-BE49-F238E27FC236}">
                <a16:creationId xmlns:a16="http://schemas.microsoft.com/office/drawing/2014/main" id="{D3CDA352-BDEA-A240-DDA7-57255B8C76D8}"/>
              </a:ext>
            </a:extLst>
          </p:cNvPr>
          <p:cNvCxnSpPr>
            <a:cxnSpLocks/>
            <a:stCxn id="28" idx="0"/>
            <a:endCxn id="29" idx="2"/>
          </p:cNvCxnSpPr>
          <p:nvPr/>
        </p:nvCxnSpPr>
        <p:spPr>
          <a:xfrm flipV="1">
            <a:off x="3241891" y="2290667"/>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7F2AE8A-CC1B-26FE-C17F-A0AFB22E301E}"/>
              </a:ext>
            </a:extLst>
          </p:cNvPr>
          <p:cNvSpPr txBox="1"/>
          <p:nvPr/>
        </p:nvSpPr>
        <p:spPr>
          <a:xfrm>
            <a:off x="2456266" y="569162"/>
            <a:ext cx="1571264" cy="646331"/>
          </a:xfrm>
          <a:prstGeom prst="rect">
            <a:avLst/>
          </a:prstGeom>
          <a:noFill/>
        </p:spPr>
        <p:txBody>
          <a:bodyPr wrap="none" rtlCol="0">
            <a:spAutoFit/>
          </a:bodyPr>
          <a:lstStyle/>
          <a:p>
            <a:pPr algn="ctr"/>
            <a:r>
              <a:rPr lang="en-US" dirty="0"/>
              <a:t>Original Repo </a:t>
            </a:r>
          </a:p>
          <a:p>
            <a:pPr algn="ctr"/>
            <a:r>
              <a:rPr lang="en-US" dirty="0"/>
              <a:t>(lab repo)</a:t>
            </a:r>
          </a:p>
        </p:txBody>
      </p:sp>
      <p:cxnSp>
        <p:nvCxnSpPr>
          <p:cNvPr id="33" name="Straight Arrow Connector 32">
            <a:extLst>
              <a:ext uri="{FF2B5EF4-FFF2-40B4-BE49-F238E27FC236}">
                <a16:creationId xmlns:a16="http://schemas.microsoft.com/office/drawing/2014/main" id="{C388079E-8CC9-7DDB-5F8B-443514A3595E}"/>
              </a:ext>
            </a:extLst>
          </p:cNvPr>
          <p:cNvCxnSpPr>
            <a:cxnSpLocks/>
            <a:stCxn id="21" idx="0"/>
            <a:endCxn id="5" idx="2"/>
          </p:cNvCxnSpPr>
          <p:nvPr/>
        </p:nvCxnSpPr>
        <p:spPr>
          <a:xfrm flipH="1" flipV="1">
            <a:off x="6096000" y="3079708"/>
            <a:ext cx="2093805" cy="494268"/>
          </a:xfrm>
          <a:prstGeom prst="straightConnector1">
            <a:avLst/>
          </a:prstGeom>
          <a:ln w="38100">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5" name="Terminator 34">
            <a:extLst>
              <a:ext uri="{FF2B5EF4-FFF2-40B4-BE49-F238E27FC236}">
                <a16:creationId xmlns:a16="http://schemas.microsoft.com/office/drawing/2014/main" id="{B47BBD02-E63C-4673-F3AD-BA6BAAA37936}"/>
              </a:ext>
            </a:extLst>
          </p:cNvPr>
          <p:cNvSpPr/>
          <p:nvPr/>
        </p:nvSpPr>
        <p:spPr>
          <a:xfrm>
            <a:off x="3420530" y="412138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File(s)</a:t>
            </a:r>
          </a:p>
        </p:txBody>
      </p:sp>
      <p:sp>
        <p:nvSpPr>
          <p:cNvPr id="36" name="Terminator 35">
            <a:extLst>
              <a:ext uri="{FF2B5EF4-FFF2-40B4-BE49-F238E27FC236}">
                <a16:creationId xmlns:a16="http://schemas.microsoft.com/office/drawing/2014/main" id="{92DE398E-7658-5B34-26D8-469681337140}"/>
              </a:ext>
            </a:extLst>
          </p:cNvPr>
          <p:cNvSpPr/>
          <p:nvPr/>
        </p:nvSpPr>
        <p:spPr>
          <a:xfrm>
            <a:off x="7465905" y="412138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File(s)</a:t>
            </a:r>
          </a:p>
        </p:txBody>
      </p:sp>
      <p:pic>
        <p:nvPicPr>
          <p:cNvPr id="37" name="Picture 36" descr="A black cat with a white circle in the background&#10;&#10;Description automatically generated">
            <a:extLst>
              <a:ext uri="{FF2B5EF4-FFF2-40B4-BE49-F238E27FC236}">
                <a16:creationId xmlns:a16="http://schemas.microsoft.com/office/drawing/2014/main" id="{F33F32D5-E9E0-C1B0-7224-0A0ECE395C44}"/>
              </a:ext>
            </a:extLst>
          </p:cNvPr>
          <p:cNvPicPr>
            <a:picLocks noChangeAspect="1"/>
          </p:cNvPicPr>
          <p:nvPr/>
        </p:nvPicPr>
        <p:blipFill>
          <a:blip r:embed="rId3">
            <a:alphaModFix/>
          </a:blip>
          <a:stretch>
            <a:fillRect/>
          </a:stretch>
        </p:blipFill>
        <p:spPr>
          <a:xfrm>
            <a:off x="298453" y="520649"/>
            <a:ext cx="1332653" cy="1303682"/>
          </a:xfrm>
          <a:prstGeom prst="rect">
            <a:avLst/>
          </a:prstGeom>
          <a:solidFill>
            <a:schemeClr val="accent1"/>
          </a:solidFill>
        </p:spPr>
      </p:pic>
      <p:pic>
        <p:nvPicPr>
          <p:cNvPr id="38" name="Graphic 37" descr="Laptop with solid fill">
            <a:extLst>
              <a:ext uri="{FF2B5EF4-FFF2-40B4-BE49-F238E27FC236}">
                <a16:creationId xmlns:a16="http://schemas.microsoft.com/office/drawing/2014/main" id="{6D49662D-6C04-3073-C51B-FB57A07EDE0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78" y="4628044"/>
            <a:ext cx="2133917" cy="2133917"/>
          </a:xfrm>
          <a:prstGeom prst="rect">
            <a:avLst/>
          </a:prstGeom>
        </p:spPr>
      </p:pic>
      <p:sp>
        <p:nvSpPr>
          <p:cNvPr id="39" name="TextBox 38">
            <a:extLst>
              <a:ext uri="{FF2B5EF4-FFF2-40B4-BE49-F238E27FC236}">
                <a16:creationId xmlns:a16="http://schemas.microsoft.com/office/drawing/2014/main" id="{0F46598B-AED5-15D6-243E-ABB3481AC5C0}"/>
              </a:ext>
            </a:extLst>
          </p:cNvPr>
          <p:cNvSpPr txBox="1"/>
          <p:nvPr/>
        </p:nvSpPr>
        <p:spPr>
          <a:xfrm rot="933119">
            <a:off x="7297253" y="3069037"/>
            <a:ext cx="691215" cy="369332"/>
          </a:xfrm>
          <a:prstGeom prst="rect">
            <a:avLst/>
          </a:prstGeom>
          <a:noFill/>
        </p:spPr>
        <p:txBody>
          <a:bodyPr wrap="none" rtlCol="0">
            <a:spAutoFit/>
          </a:bodyPr>
          <a:lstStyle/>
          <a:p>
            <a:r>
              <a:rPr lang="en-US">
                <a:highlight>
                  <a:srgbClr val="FFFF00"/>
                </a:highlight>
                <a:latin typeface="Consolas" panose="020B0609020204030204" pitchFamily="49" charset="0"/>
                <a:cs typeface="Consolas" panose="020B0609020204030204" pitchFamily="49" charset="0"/>
              </a:rPr>
              <a:t>pull</a:t>
            </a:r>
          </a:p>
        </p:txBody>
      </p:sp>
    </p:spTree>
    <p:extLst>
      <p:ext uri="{BB962C8B-B14F-4D97-AF65-F5344CB8AC3E}">
        <p14:creationId xmlns:p14="http://schemas.microsoft.com/office/powerpoint/2010/main" val="13779413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B31F4-BA85-EDD5-65ED-7D7F4444FCC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EA96E8F-A16B-055A-7321-4BCA74D814B3}"/>
              </a:ext>
            </a:extLst>
          </p:cNvPr>
          <p:cNvSpPr/>
          <p:nvPr/>
        </p:nvSpPr>
        <p:spPr>
          <a:xfrm>
            <a:off x="7158565" y="3573976"/>
            <a:ext cx="2062480" cy="3037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1BBC56A-22BF-E116-2C2D-499BAC642606}"/>
              </a:ext>
            </a:extLst>
          </p:cNvPr>
          <p:cNvSpPr/>
          <p:nvPr/>
        </p:nvSpPr>
        <p:spPr>
          <a:xfrm>
            <a:off x="3095619" y="3600548"/>
            <a:ext cx="2062480" cy="3037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F50D46E-94CA-973F-7B99-D06EB78E7F53}"/>
              </a:ext>
            </a:extLst>
          </p:cNvPr>
          <p:cNvSpPr/>
          <p:nvPr/>
        </p:nvSpPr>
        <p:spPr>
          <a:xfrm>
            <a:off x="2210651" y="468118"/>
            <a:ext cx="2062480" cy="24829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52474E6-635A-8D23-6120-4E4949E00B82}"/>
              </a:ext>
            </a:extLst>
          </p:cNvPr>
          <p:cNvSpPr/>
          <p:nvPr/>
        </p:nvSpPr>
        <p:spPr>
          <a:xfrm>
            <a:off x="5064760" y="467360"/>
            <a:ext cx="2062480" cy="26123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DBC0284-A8E6-644C-ED6A-4DF2E4989AEB}"/>
              </a:ext>
            </a:extLst>
          </p:cNvPr>
          <p:cNvSpPr/>
          <p:nvPr/>
        </p:nvSpPr>
        <p:spPr>
          <a:xfrm>
            <a:off x="7361765" y="4620624"/>
            <a:ext cx="1656080" cy="2005818"/>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7" name="Rectangle 6">
            <a:extLst>
              <a:ext uri="{FF2B5EF4-FFF2-40B4-BE49-F238E27FC236}">
                <a16:creationId xmlns:a16="http://schemas.microsoft.com/office/drawing/2014/main" id="{981723B6-D65E-1897-B3EF-BFCCBE7F9F8B}"/>
              </a:ext>
            </a:extLst>
          </p:cNvPr>
          <p:cNvSpPr/>
          <p:nvPr/>
        </p:nvSpPr>
        <p:spPr>
          <a:xfrm>
            <a:off x="2418931" y="1185499"/>
            <a:ext cx="1656080" cy="1724499"/>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8" name="Rectangle 7">
            <a:extLst>
              <a:ext uri="{FF2B5EF4-FFF2-40B4-BE49-F238E27FC236}">
                <a16:creationId xmlns:a16="http://schemas.microsoft.com/office/drawing/2014/main" id="{48CD7BBA-F580-BDC9-6907-6A7C8A8040C3}"/>
              </a:ext>
            </a:extLst>
          </p:cNvPr>
          <p:cNvSpPr/>
          <p:nvPr/>
        </p:nvSpPr>
        <p:spPr>
          <a:xfrm>
            <a:off x="3318930" y="4620624"/>
            <a:ext cx="1656080" cy="1991191"/>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9" name="Rectangle 8">
            <a:extLst>
              <a:ext uri="{FF2B5EF4-FFF2-40B4-BE49-F238E27FC236}">
                <a16:creationId xmlns:a16="http://schemas.microsoft.com/office/drawing/2014/main" id="{72D32F78-9618-DBFF-A1A3-064EE5A51D71}"/>
              </a:ext>
            </a:extLst>
          </p:cNvPr>
          <p:cNvSpPr/>
          <p:nvPr/>
        </p:nvSpPr>
        <p:spPr>
          <a:xfrm>
            <a:off x="5267960" y="1176944"/>
            <a:ext cx="1656080" cy="1853700"/>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10" name="Terminator 9">
            <a:extLst>
              <a:ext uri="{FF2B5EF4-FFF2-40B4-BE49-F238E27FC236}">
                <a16:creationId xmlns:a16="http://schemas.microsoft.com/office/drawing/2014/main" id="{0CDC1979-5EB0-9AFA-2D22-0F39D62AB317}"/>
              </a:ext>
            </a:extLst>
          </p:cNvPr>
          <p:cNvSpPr/>
          <p:nvPr/>
        </p:nvSpPr>
        <p:spPr>
          <a:xfrm>
            <a:off x="3400419" y="612022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11" name="Terminator 10">
            <a:extLst>
              <a:ext uri="{FF2B5EF4-FFF2-40B4-BE49-F238E27FC236}">
                <a16:creationId xmlns:a16="http://schemas.microsoft.com/office/drawing/2014/main" id="{83A5D552-AB04-F0AA-2338-D1BBCF5A0C05}"/>
              </a:ext>
            </a:extLst>
          </p:cNvPr>
          <p:cNvSpPr/>
          <p:nvPr/>
        </p:nvSpPr>
        <p:spPr>
          <a:xfrm>
            <a:off x="3400419" y="558174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sp>
        <p:nvSpPr>
          <p:cNvPr id="12" name="Terminator 11">
            <a:extLst>
              <a:ext uri="{FF2B5EF4-FFF2-40B4-BE49-F238E27FC236}">
                <a16:creationId xmlns:a16="http://schemas.microsoft.com/office/drawing/2014/main" id="{624456DE-B681-0857-D27D-04484FC3E000}"/>
              </a:ext>
            </a:extLst>
          </p:cNvPr>
          <p:cNvSpPr/>
          <p:nvPr/>
        </p:nvSpPr>
        <p:spPr>
          <a:xfrm>
            <a:off x="3400419" y="504326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Commit 3</a:t>
            </a:r>
          </a:p>
        </p:txBody>
      </p:sp>
      <p:cxnSp>
        <p:nvCxnSpPr>
          <p:cNvPr id="13" name="Straight Connector 12">
            <a:extLst>
              <a:ext uri="{FF2B5EF4-FFF2-40B4-BE49-F238E27FC236}">
                <a16:creationId xmlns:a16="http://schemas.microsoft.com/office/drawing/2014/main" id="{4934CF47-2B25-CDE5-AC7B-BA58AE4A1DF3}"/>
              </a:ext>
            </a:extLst>
          </p:cNvPr>
          <p:cNvCxnSpPr>
            <a:cxnSpLocks/>
            <a:stCxn id="12" idx="2"/>
            <a:endCxn id="11" idx="0"/>
          </p:cNvCxnSpPr>
          <p:nvPr/>
        </p:nvCxnSpPr>
        <p:spPr>
          <a:xfrm>
            <a:off x="4126859" y="5439508"/>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48D3443-06EE-EE55-B07A-7C01626CE50D}"/>
              </a:ext>
            </a:extLst>
          </p:cNvPr>
          <p:cNvCxnSpPr>
            <a:cxnSpLocks/>
            <a:stCxn id="10" idx="0"/>
            <a:endCxn id="11" idx="2"/>
          </p:cNvCxnSpPr>
          <p:nvPr/>
        </p:nvCxnSpPr>
        <p:spPr>
          <a:xfrm flipV="1">
            <a:off x="4126859" y="5977988"/>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9C81D45-5CFC-3020-EEE8-412D27AC637E}"/>
              </a:ext>
            </a:extLst>
          </p:cNvPr>
          <p:cNvSpPr txBox="1"/>
          <p:nvPr/>
        </p:nvSpPr>
        <p:spPr>
          <a:xfrm>
            <a:off x="3135177" y="3600548"/>
            <a:ext cx="1983363" cy="369332"/>
          </a:xfrm>
          <a:prstGeom prst="rect">
            <a:avLst/>
          </a:prstGeom>
          <a:noFill/>
        </p:spPr>
        <p:txBody>
          <a:bodyPr wrap="none" rtlCol="0">
            <a:spAutoFit/>
          </a:bodyPr>
          <a:lstStyle/>
          <a:p>
            <a:r>
              <a:rPr lang="en-US" dirty="0"/>
              <a:t>Personal Computer</a:t>
            </a:r>
          </a:p>
        </p:txBody>
      </p:sp>
      <p:sp>
        <p:nvSpPr>
          <p:cNvPr id="16" name="Terminator 15">
            <a:extLst>
              <a:ext uri="{FF2B5EF4-FFF2-40B4-BE49-F238E27FC236}">
                <a16:creationId xmlns:a16="http://schemas.microsoft.com/office/drawing/2014/main" id="{52F616B4-AFA0-7B1C-7EC5-7183312CC2A1}"/>
              </a:ext>
            </a:extLst>
          </p:cNvPr>
          <p:cNvSpPr/>
          <p:nvPr/>
        </p:nvSpPr>
        <p:spPr>
          <a:xfrm>
            <a:off x="7463365" y="6093656"/>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17" name="Terminator 16">
            <a:extLst>
              <a:ext uri="{FF2B5EF4-FFF2-40B4-BE49-F238E27FC236}">
                <a16:creationId xmlns:a16="http://schemas.microsoft.com/office/drawing/2014/main" id="{089DE566-0F8C-EA97-395A-F8C5236BE7B2}"/>
              </a:ext>
            </a:extLst>
          </p:cNvPr>
          <p:cNvSpPr/>
          <p:nvPr/>
        </p:nvSpPr>
        <p:spPr>
          <a:xfrm>
            <a:off x="7463365" y="5555176"/>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sp>
        <p:nvSpPr>
          <p:cNvPr id="18" name="Terminator 17">
            <a:extLst>
              <a:ext uri="{FF2B5EF4-FFF2-40B4-BE49-F238E27FC236}">
                <a16:creationId xmlns:a16="http://schemas.microsoft.com/office/drawing/2014/main" id="{E7A8CAFA-33D6-3231-3957-8A8586FE5242}"/>
              </a:ext>
            </a:extLst>
          </p:cNvPr>
          <p:cNvSpPr/>
          <p:nvPr/>
        </p:nvSpPr>
        <p:spPr>
          <a:xfrm>
            <a:off x="7463365" y="5016696"/>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Commit 3</a:t>
            </a:r>
          </a:p>
        </p:txBody>
      </p:sp>
      <p:cxnSp>
        <p:nvCxnSpPr>
          <p:cNvPr id="19" name="Straight Connector 18">
            <a:extLst>
              <a:ext uri="{FF2B5EF4-FFF2-40B4-BE49-F238E27FC236}">
                <a16:creationId xmlns:a16="http://schemas.microsoft.com/office/drawing/2014/main" id="{82081CDC-31EE-65A1-4231-78E1FE2716A6}"/>
              </a:ext>
            </a:extLst>
          </p:cNvPr>
          <p:cNvCxnSpPr>
            <a:cxnSpLocks/>
            <a:stCxn id="18" idx="2"/>
            <a:endCxn id="17" idx="0"/>
          </p:cNvCxnSpPr>
          <p:nvPr/>
        </p:nvCxnSpPr>
        <p:spPr>
          <a:xfrm>
            <a:off x="8189805" y="5412936"/>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CE50112-B137-C195-C011-4EC4851AD787}"/>
              </a:ext>
            </a:extLst>
          </p:cNvPr>
          <p:cNvCxnSpPr>
            <a:cxnSpLocks/>
            <a:stCxn id="16" idx="0"/>
            <a:endCxn id="17" idx="2"/>
          </p:cNvCxnSpPr>
          <p:nvPr/>
        </p:nvCxnSpPr>
        <p:spPr>
          <a:xfrm flipV="1">
            <a:off x="8189805" y="5951416"/>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0D964F5-64B9-7F01-DD67-C84C09285E03}"/>
              </a:ext>
            </a:extLst>
          </p:cNvPr>
          <p:cNvSpPr txBox="1"/>
          <p:nvPr/>
        </p:nvSpPr>
        <p:spPr>
          <a:xfrm>
            <a:off x="7271701" y="3573976"/>
            <a:ext cx="1836208" cy="369332"/>
          </a:xfrm>
          <a:prstGeom prst="rect">
            <a:avLst/>
          </a:prstGeom>
          <a:noFill/>
        </p:spPr>
        <p:txBody>
          <a:bodyPr wrap="none" rtlCol="0">
            <a:spAutoFit/>
          </a:bodyPr>
          <a:lstStyle/>
          <a:p>
            <a:r>
              <a:rPr lang="en-US" dirty="0"/>
              <a:t>Cluster Computer</a:t>
            </a:r>
          </a:p>
        </p:txBody>
      </p:sp>
      <p:sp>
        <p:nvSpPr>
          <p:cNvPr id="22" name="Terminator 21">
            <a:extLst>
              <a:ext uri="{FF2B5EF4-FFF2-40B4-BE49-F238E27FC236}">
                <a16:creationId xmlns:a16="http://schemas.microsoft.com/office/drawing/2014/main" id="{70AA1CD7-2BCB-4346-BC2F-15FA0BC544A2}"/>
              </a:ext>
            </a:extLst>
          </p:cNvPr>
          <p:cNvSpPr/>
          <p:nvPr/>
        </p:nvSpPr>
        <p:spPr>
          <a:xfrm>
            <a:off x="5389671" y="257766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23" name="Terminator 22">
            <a:extLst>
              <a:ext uri="{FF2B5EF4-FFF2-40B4-BE49-F238E27FC236}">
                <a16:creationId xmlns:a16="http://schemas.microsoft.com/office/drawing/2014/main" id="{8C90B9DD-F933-B91B-BBD0-B2F8B1C8CCBF}"/>
              </a:ext>
            </a:extLst>
          </p:cNvPr>
          <p:cNvSpPr/>
          <p:nvPr/>
        </p:nvSpPr>
        <p:spPr>
          <a:xfrm>
            <a:off x="5389671" y="203918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sp>
        <p:nvSpPr>
          <p:cNvPr id="24" name="Terminator 23">
            <a:extLst>
              <a:ext uri="{FF2B5EF4-FFF2-40B4-BE49-F238E27FC236}">
                <a16:creationId xmlns:a16="http://schemas.microsoft.com/office/drawing/2014/main" id="{86D705DD-7B1B-E773-FAA6-A13100BFE4BD}"/>
              </a:ext>
            </a:extLst>
          </p:cNvPr>
          <p:cNvSpPr/>
          <p:nvPr/>
        </p:nvSpPr>
        <p:spPr>
          <a:xfrm>
            <a:off x="5389671" y="1500704"/>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Commit 3</a:t>
            </a:r>
          </a:p>
        </p:txBody>
      </p:sp>
      <p:cxnSp>
        <p:nvCxnSpPr>
          <p:cNvPr id="25" name="Straight Connector 24">
            <a:extLst>
              <a:ext uri="{FF2B5EF4-FFF2-40B4-BE49-F238E27FC236}">
                <a16:creationId xmlns:a16="http://schemas.microsoft.com/office/drawing/2014/main" id="{54BCD181-ECEA-2668-7049-AE67967EED79}"/>
              </a:ext>
            </a:extLst>
          </p:cNvPr>
          <p:cNvCxnSpPr>
            <a:cxnSpLocks/>
            <a:stCxn id="24" idx="2"/>
            <a:endCxn id="23" idx="0"/>
          </p:cNvCxnSpPr>
          <p:nvPr/>
        </p:nvCxnSpPr>
        <p:spPr>
          <a:xfrm>
            <a:off x="6116111" y="1896944"/>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12AB1C5-1F4C-64FF-9113-697B48C09E21}"/>
              </a:ext>
            </a:extLst>
          </p:cNvPr>
          <p:cNvCxnSpPr>
            <a:cxnSpLocks/>
            <a:stCxn id="22" idx="0"/>
            <a:endCxn id="23" idx="2"/>
          </p:cNvCxnSpPr>
          <p:nvPr/>
        </p:nvCxnSpPr>
        <p:spPr>
          <a:xfrm flipV="1">
            <a:off x="6116111" y="2435424"/>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3ACA1EF-707D-6854-875F-A2B4433C4420}"/>
              </a:ext>
            </a:extLst>
          </p:cNvPr>
          <p:cNvSpPr txBox="1"/>
          <p:nvPr/>
        </p:nvSpPr>
        <p:spPr>
          <a:xfrm>
            <a:off x="5267960" y="539168"/>
            <a:ext cx="1633652" cy="646331"/>
          </a:xfrm>
          <a:prstGeom prst="rect">
            <a:avLst/>
          </a:prstGeom>
          <a:noFill/>
        </p:spPr>
        <p:txBody>
          <a:bodyPr wrap="none" rtlCol="0">
            <a:spAutoFit/>
          </a:bodyPr>
          <a:lstStyle/>
          <a:p>
            <a:pPr algn="ctr"/>
            <a:r>
              <a:rPr lang="en-US" dirty="0"/>
              <a:t>GitHub Remote</a:t>
            </a:r>
          </a:p>
          <a:p>
            <a:pPr algn="ctr"/>
            <a:r>
              <a:rPr lang="en-US" dirty="0"/>
              <a:t>(your fork)</a:t>
            </a:r>
          </a:p>
        </p:txBody>
      </p:sp>
      <p:sp>
        <p:nvSpPr>
          <p:cNvPr id="28" name="Terminator 27">
            <a:extLst>
              <a:ext uri="{FF2B5EF4-FFF2-40B4-BE49-F238E27FC236}">
                <a16:creationId xmlns:a16="http://schemas.microsoft.com/office/drawing/2014/main" id="{F2A4A4B8-41D1-8F24-B6EA-E03A82F18D1C}"/>
              </a:ext>
            </a:extLst>
          </p:cNvPr>
          <p:cNvSpPr/>
          <p:nvPr/>
        </p:nvSpPr>
        <p:spPr>
          <a:xfrm>
            <a:off x="2515451" y="2432907"/>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29" name="Terminator 28">
            <a:extLst>
              <a:ext uri="{FF2B5EF4-FFF2-40B4-BE49-F238E27FC236}">
                <a16:creationId xmlns:a16="http://schemas.microsoft.com/office/drawing/2014/main" id="{2D7DC03A-40AD-E49C-9C07-80E957FD48B2}"/>
              </a:ext>
            </a:extLst>
          </p:cNvPr>
          <p:cNvSpPr/>
          <p:nvPr/>
        </p:nvSpPr>
        <p:spPr>
          <a:xfrm>
            <a:off x="2515451" y="1894427"/>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cxnSp>
        <p:nvCxnSpPr>
          <p:cNvPr id="30" name="Straight Connector 29">
            <a:extLst>
              <a:ext uri="{FF2B5EF4-FFF2-40B4-BE49-F238E27FC236}">
                <a16:creationId xmlns:a16="http://schemas.microsoft.com/office/drawing/2014/main" id="{7725DCBF-7B2A-714D-CE89-771DD7509475}"/>
              </a:ext>
            </a:extLst>
          </p:cNvPr>
          <p:cNvCxnSpPr>
            <a:cxnSpLocks/>
            <a:stCxn id="28" idx="0"/>
            <a:endCxn id="29" idx="2"/>
          </p:cNvCxnSpPr>
          <p:nvPr/>
        </p:nvCxnSpPr>
        <p:spPr>
          <a:xfrm flipV="1">
            <a:off x="3241891" y="2290667"/>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7AB3D77B-A798-6C2D-B3D1-E6DF4620EC28}"/>
              </a:ext>
            </a:extLst>
          </p:cNvPr>
          <p:cNvSpPr txBox="1"/>
          <p:nvPr/>
        </p:nvSpPr>
        <p:spPr>
          <a:xfrm>
            <a:off x="2456266" y="569162"/>
            <a:ext cx="1571264" cy="646331"/>
          </a:xfrm>
          <a:prstGeom prst="rect">
            <a:avLst/>
          </a:prstGeom>
          <a:noFill/>
        </p:spPr>
        <p:txBody>
          <a:bodyPr wrap="none" rtlCol="0">
            <a:spAutoFit/>
          </a:bodyPr>
          <a:lstStyle/>
          <a:p>
            <a:pPr algn="ctr"/>
            <a:r>
              <a:rPr lang="en-US" dirty="0"/>
              <a:t>Original Repo </a:t>
            </a:r>
          </a:p>
          <a:p>
            <a:pPr algn="ctr"/>
            <a:r>
              <a:rPr lang="en-US" dirty="0"/>
              <a:t>(lab repo)</a:t>
            </a:r>
          </a:p>
        </p:txBody>
      </p:sp>
      <p:cxnSp>
        <p:nvCxnSpPr>
          <p:cNvPr id="34" name="Straight Arrow Connector 33">
            <a:extLst>
              <a:ext uri="{FF2B5EF4-FFF2-40B4-BE49-F238E27FC236}">
                <a16:creationId xmlns:a16="http://schemas.microsoft.com/office/drawing/2014/main" id="{76DBD880-9515-E80D-A8FD-937AA7EFCA67}"/>
              </a:ext>
            </a:extLst>
          </p:cNvPr>
          <p:cNvCxnSpPr>
            <a:cxnSpLocks/>
            <a:stCxn id="4" idx="3"/>
            <a:endCxn id="5" idx="1"/>
          </p:cNvCxnSpPr>
          <p:nvPr/>
        </p:nvCxnSpPr>
        <p:spPr>
          <a:xfrm>
            <a:off x="4273131" y="1709592"/>
            <a:ext cx="791629" cy="63942"/>
          </a:xfrm>
          <a:prstGeom prst="straightConnector1">
            <a:avLst/>
          </a:prstGeom>
          <a:ln w="38100">
            <a:headEnd type="triangle"/>
            <a:tailEnd type="none"/>
          </a:ln>
        </p:spPr>
        <p:style>
          <a:lnRef idx="1">
            <a:schemeClr val="accent1"/>
          </a:lnRef>
          <a:fillRef idx="0">
            <a:schemeClr val="accent1"/>
          </a:fillRef>
          <a:effectRef idx="0">
            <a:schemeClr val="accent1"/>
          </a:effectRef>
          <a:fontRef idx="minor">
            <a:schemeClr val="tx1"/>
          </a:fontRef>
        </p:style>
      </p:cxnSp>
      <p:sp>
        <p:nvSpPr>
          <p:cNvPr id="35" name="Terminator 34">
            <a:extLst>
              <a:ext uri="{FF2B5EF4-FFF2-40B4-BE49-F238E27FC236}">
                <a16:creationId xmlns:a16="http://schemas.microsoft.com/office/drawing/2014/main" id="{4F2BBE3A-9566-B643-0751-FAAF11E932F7}"/>
              </a:ext>
            </a:extLst>
          </p:cNvPr>
          <p:cNvSpPr/>
          <p:nvPr/>
        </p:nvSpPr>
        <p:spPr>
          <a:xfrm>
            <a:off x="3420530" y="412138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File(s)</a:t>
            </a:r>
          </a:p>
        </p:txBody>
      </p:sp>
      <p:sp>
        <p:nvSpPr>
          <p:cNvPr id="36" name="Terminator 35">
            <a:extLst>
              <a:ext uri="{FF2B5EF4-FFF2-40B4-BE49-F238E27FC236}">
                <a16:creationId xmlns:a16="http://schemas.microsoft.com/office/drawing/2014/main" id="{CA853E31-B630-F0A2-278D-5D2975764668}"/>
              </a:ext>
            </a:extLst>
          </p:cNvPr>
          <p:cNvSpPr/>
          <p:nvPr/>
        </p:nvSpPr>
        <p:spPr>
          <a:xfrm>
            <a:off x="7465905" y="412138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File(s)</a:t>
            </a:r>
          </a:p>
        </p:txBody>
      </p:sp>
      <p:pic>
        <p:nvPicPr>
          <p:cNvPr id="37" name="Picture 36" descr="A black cat with a white circle in the background&#10;&#10;Description automatically generated">
            <a:extLst>
              <a:ext uri="{FF2B5EF4-FFF2-40B4-BE49-F238E27FC236}">
                <a16:creationId xmlns:a16="http://schemas.microsoft.com/office/drawing/2014/main" id="{52FD0E79-3F97-3F0B-8BE3-ED3F15614C54}"/>
              </a:ext>
            </a:extLst>
          </p:cNvPr>
          <p:cNvPicPr>
            <a:picLocks noChangeAspect="1"/>
          </p:cNvPicPr>
          <p:nvPr/>
        </p:nvPicPr>
        <p:blipFill>
          <a:blip r:embed="rId3">
            <a:alphaModFix/>
          </a:blip>
          <a:stretch>
            <a:fillRect/>
          </a:stretch>
        </p:blipFill>
        <p:spPr>
          <a:xfrm>
            <a:off x="298453" y="520649"/>
            <a:ext cx="1332653" cy="1303682"/>
          </a:xfrm>
          <a:prstGeom prst="rect">
            <a:avLst/>
          </a:prstGeom>
          <a:solidFill>
            <a:schemeClr val="accent1"/>
          </a:solidFill>
        </p:spPr>
      </p:pic>
      <p:pic>
        <p:nvPicPr>
          <p:cNvPr id="38" name="Graphic 37" descr="Laptop with solid fill">
            <a:extLst>
              <a:ext uri="{FF2B5EF4-FFF2-40B4-BE49-F238E27FC236}">
                <a16:creationId xmlns:a16="http://schemas.microsoft.com/office/drawing/2014/main" id="{A2D14938-D7FE-FD26-D466-880C8BA2449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78" y="4628044"/>
            <a:ext cx="2133917" cy="2133917"/>
          </a:xfrm>
          <a:prstGeom prst="rect">
            <a:avLst/>
          </a:prstGeom>
        </p:spPr>
      </p:pic>
      <p:sp>
        <p:nvSpPr>
          <p:cNvPr id="39" name="TextBox 38">
            <a:extLst>
              <a:ext uri="{FF2B5EF4-FFF2-40B4-BE49-F238E27FC236}">
                <a16:creationId xmlns:a16="http://schemas.microsoft.com/office/drawing/2014/main" id="{00EC81CC-A030-7E66-896B-28626CDE5E95}"/>
              </a:ext>
            </a:extLst>
          </p:cNvPr>
          <p:cNvSpPr txBox="1"/>
          <p:nvPr/>
        </p:nvSpPr>
        <p:spPr>
          <a:xfrm rot="273068">
            <a:off x="3980297" y="1878080"/>
            <a:ext cx="1704313" cy="369332"/>
          </a:xfrm>
          <a:prstGeom prst="rect">
            <a:avLst/>
          </a:prstGeom>
          <a:noFill/>
        </p:spPr>
        <p:txBody>
          <a:bodyPr wrap="none" rtlCol="0">
            <a:spAutoFit/>
          </a:bodyPr>
          <a:lstStyle/>
          <a:p>
            <a:r>
              <a:rPr lang="en-US">
                <a:highlight>
                  <a:srgbClr val="FFFF00"/>
                </a:highlight>
                <a:latin typeface="Consolas" panose="020B0609020204030204" pitchFamily="49" charset="0"/>
                <a:cs typeface="Consolas" panose="020B0609020204030204" pitchFamily="49" charset="0"/>
              </a:rPr>
              <a:t>pull request</a:t>
            </a:r>
          </a:p>
        </p:txBody>
      </p:sp>
      <p:sp>
        <p:nvSpPr>
          <p:cNvPr id="40" name="Terminator 39">
            <a:extLst>
              <a:ext uri="{FF2B5EF4-FFF2-40B4-BE49-F238E27FC236}">
                <a16:creationId xmlns:a16="http://schemas.microsoft.com/office/drawing/2014/main" id="{5A14495D-0748-0DDB-CA5F-474B89D83327}"/>
              </a:ext>
            </a:extLst>
          </p:cNvPr>
          <p:cNvSpPr/>
          <p:nvPr/>
        </p:nvSpPr>
        <p:spPr>
          <a:xfrm>
            <a:off x="2489626" y="1454385"/>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Commit 3</a:t>
            </a:r>
          </a:p>
        </p:txBody>
      </p:sp>
      <p:cxnSp>
        <p:nvCxnSpPr>
          <p:cNvPr id="41" name="Straight Connector 40">
            <a:extLst>
              <a:ext uri="{FF2B5EF4-FFF2-40B4-BE49-F238E27FC236}">
                <a16:creationId xmlns:a16="http://schemas.microsoft.com/office/drawing/2014/main" id="{EA004E90-7ABF-B6E3-EA58-DDB9E4406591}"/>
              </a:ext>
            </a:extLst>
          </p:cNvPr>
          <p:cNvCxnSpPr>
            <a:cxnSpLocks/>
            <a:stCxn id="40" idx="2"/>
          </p:cNvCxnSpPr>
          <p:nvPr/>
        </p:nvCxnSpPr>
        <p:spPr>
          <a:xfrm>
            <a:off x="3216066" y="1850625"/>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48290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pic>
        <p:nvPicPr>
          <p:cNvPr id="6" name="Picture 5" descr="A black cat with a white circle in the background&#10;&#10;Description automatically generated">
            <a:extLst>
              <a:ext uri="{FF2B5EF4-FFF2-40B4-BE49-F238E27FC236}">
                <a16:creationId xmlns:a16="http://schemas.microsoft.com/office/drawing/2014/main" id="{8C7671D0-06AA-0A96-BDF1-94CE9EFA26D3}"/>
              </a:ext>
            </a:extLst>
          </p:cNvPr>
          <p:cNvPicPr>
            <a:picLocks noChangeAspect="1"/>
          </p:cNvPicPr>
          <p:nvPr/>
        </p:nvPicPr>
        <p:blipFill>
          <a:blip r:embed="rId3"/>
          <a:stretch>
            <a:fillRect/>
          </a:stretch>
        </p:blipFill>
        <p:spPr>
          <a:xfrm>
            <a:off x="1005800" y="1733459"/>
            <a:ext cx="1332653" cy="1303682"/>
          </a:xfrm>
          <a:prstGeom prst="rect">
            <a:avLst/>
          </a:prstGeom>
        </p:spPr>
      </p:pic>
      <p:sp>
        <p:nvSpPr>
          <p:cNvPr id="7" name="Rectangle 6">
            <a:extLst>
              <a:ext uri="{FF2B5EF4-FFF2-40B4-BE49-F238E27FC236}">
                <a16:creationId xmlns:a16="http://schemas.microsoft.com/office/drawing/2014/main" id="{8F8AA35F-10E4-5B9A-447F-0597E0A5EC0C}"/>
              </a:ext>
            </a:extLst>
          </p:cNvPr>
          <p:cNvSpPr/>
          <p:nvPr/>
        </p:nvSpPr>
        <p:spPr>
          <a:xfrm>
            <a:off x="369975" y="296518"/>
            <a:ext cx="2604304" cy="29508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Original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Informatics/github-intro</a:t>
            </a:r>
          </a:p>
        </p:txBody>
      </p:sp>
      <p:pic>
        <p:nvPicPr>
          <p:cNvPr id="8" name="Picture 7" descr="A black cat with a white circle in the background&#10;&#10;Description automatically generated">
            <a:extLst>
              <a:ext uri="{FF2B5EF4-FFF2-40B4-BE49-F238E27FC236}">
                <a16:creationId xmlns:a16="http://schemas.microsoft.com/office/drawing/2014/main" id="{85796DBC-759A-B542-49C1-F8BB5F9F68D5}"/>
              </a:ext>
            </a:extLst>
          </p:cNvPr>
          <p:cNvPicPr>
            <a:picLocks noChangeAspect="1"/>
          </p:cNvPicPr>
          <p:nvPr/>
        </p:nvPicPr>
        <p:blipFill>
          <a:blip r:embed="rId3"/>
          <a:stretch>
            <a:fillRect/>
          </a:stretch>
        </p:blipFill>
        <p:spPr>
          <a:xfrm>
            <a:off x="5429673" y="3180302"/>
            <a:ext cx="1332653" cy="1303682"/>
          </a:xfrm>
          <a:prstGeom prst="rect">
            <a:avLst/>
          </a:prstGeom>
        </p:spPr>
      </p:pic>
      <p:sp>
        <p:nvSpPr>
          <p:cNvPr id="9" name="Rectangle 8">
            <a:extLst>
              <a:ext uri="{FF2B5EF4-FFF2-40B4-BE49-F238E27FC236}">
                <a16:creationId xmlns:a16="http://schemas.microsoft.com/office/drawing/2014/main" id="{28ED92F5-D46D-7678-758A-B3B28FB4ACC6}"/>
              </a:ext>
            </a:extLst>
          </p:cNvPr>
          <p:cNvSpPr/>
          <p:nvPr/>
        </p:nvSpPr>
        <p:spPr>
          <a:xfrm>
            <a:off x="4793848" y="1743361"/>
            <a:ext cx="2604304" cy="29508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Remote fork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Your_name</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/github-intro</a:t>
            </a:r>
          </a:p>
        </p:txBody>
      </p:sp>
      <p:sp>
        <p:nvSpPr>
          <p:cNvPr id="11" name="Rectangle 10">
            <a:extLst>
              <a:ext uri="{FF2B5EF4-FFF2-40B4-BE49-F238E27FC236}">
                <a16:creationId xmlns:a16="http://schemas.microsoft.com/office/drawing/2014/main" id="{83F96294-7A48-B3E1-724F-E0C13DD3D294}"/>
              </a:ext>
            </a:extLst>
          </p:cNvPr>
          <p:cNvSpPr/>
          <p:nvPr/>
        </p:nvSpPr>
        <p:spPr>
          <a:xfrm>
            <a:off x="9430652" y="2757044"/>
            <a:ext cx="2604304" cy="29508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/path/github-intro</a:t>
            </a:r>
          </a:p>
        </p:txBody>
      </p:sp>
      <p:pic>
        <p:nvPicPr>
          <p:cNvPr id="13" name="Graphic 12" descr="Laptop with solid fill">
            <a:extLst>
              <a:ext uri="{FF2B5EF4-FFF2-40B4-BE49-F238E27FC236}">
                <a16:creationId xmlns:a16="http://schemas.microsoft.com/office/drawing/2014/main" id="{C702C10F-E83F-0083-95E8-371102DD495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614292" y="3859926"/>
            <a:ext cx="2133917" cy="2133917"/>
          </a:xfrm>
          <a:prstGeom prst="rect">
            <a:avLst/>
          </a:prstGeom>
        </p:spPr>
      </p:pic>
      <p:sp>
        <p:nvSpPr>
          <p:cNvPr id="16" name="Right Arrow 15">
            <a:extLst>
              <a:ext uri="{FF2B5EF4-FFF2-40B4-BE49-F238E27FC236}">
                <a16:creationId xmlns:a16="http://schemas.microsoft.com/office/drawing/2014/main" id="{4213A0DC-9979-1F77-8ECA-8CA3701AD760}"/>
              </a:ext>
            </a:extLst>
          </p:cNvPr>
          <p:cNvSpPr/>
          <p:nvPr/>
        </p:nvSpPr>
        <p:spPr>
          <a:xfrm>
            <a:off x="3021014" y="1501045"/>
            <a:ext cx="1772834"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110004020202020204"/>
                <a:ea typeface="+mn-ea"/>
                <a:cs typeface="+mn-cs"/>
              </a:rPr>
              <a:t>1. Fork</a:t>
            </a:r>
          </a:p>
        </p:txBody>
      </p:sp>
      <p:sp>
        <p:nvSpPr>
          <p:cNvPr id="17" name="Right Arrow 16">
            <a:extLst>
              <a:ext uri="{FF2B5EF4-FFF2-40B4-BE49-F238E27FC236}">
                <a16:creationId xmlns:a16="http://schemas.microsoft.com/office/drawing/2014/main" id="{A7339CFC-621F-60D0-012D-159CD7EA2014}"/>
              </a:ext>
            </a:extLst>
          </p:cNvPr>
          <p:cNvSpPr/>
          <p:nvPr/>
        </p:nvSpPr>
        <p:spPr>
          <a:xfrm>
            <a:off x="7491178" y="2914572"/>
            <a:ext cx="1900976" cy="6655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110004020202020204"/>
                <a:ea typeface="+mn-ea"/>
                <a:cs typeface="+mn-cs"/>
              </a:rPr>
              <a:t>2. clone</a:t>
            </a:r>
          </a:p>
        </p:txBody>
      </p:sp>
      <p:sp>
        <p:nvSpPr>
          <p:cNvPr id="18" name="Cross 17">
            <a:extLst>
              <a:ext uri="{FF2B5EF4-FFF2-40B4-BE49-F238E27FC236}">
                <a16:creationId xmlns:a16="http://schemas.microsoft.com/office/drawing/2014/main" id="{2AA956E0-0565-819C-A497-CF2FA1234426}"/>
              </a:ext>
            </a:extLst>
          </p:cNvPr>
          <p:cNvSpPr/>
          <p:nvPr/>
        </p:nvSpPr>
        <p:spPr>
          <a:xfrm>
            <a:off x="10027980" y="1546987"/>
            <a:ext cx="1342112" cy="1142754"/>
          </a:xfrm>
          <a:prstGeom prst="plus">
            <a:avLst>
              <a:gd name="adj" fmla="val 3284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110004020202020204"/>
                <a:ea typeface="+mn-ea"/>
                <a:cs typeface="+mn-cs"/>
              </a:rPr>
              <a:t>4-5. add, commit</a:t>
            </a:r>
          </a:p>
        </p:txBody>
      </p:sp>
      <p:sp>
        <p:nvSpPr>
          <p:cNvPr id="19" name="Left Arrow 18">
            <a:extLst>
              <a:ext uri="{FF2B5EF4-FFF2-40B4-BE49-F238E27FC236}">
                <a16:creationId xmlns:a16="http://schemas.microsoft.com/office/drawing/2014/main" id="{78E8FA98-3B72-4F7E-78D8-8656B18A1A86}"/>
              </a:ext>
            </a:extLst>
          </p:cNvPr>
          <p:cNvSpPr/>
          <p:nvPr/>
        </p:nvSpPr>
        <p:spPr>
          <a:xfrm>
            <a:off x="7398151" y="3499579"/>
            <a:ext cx="1957260" cy="66512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110004020202020204"/>
                <a:ea typeface="+mn-ea"/>
                <a:cs typeface="+mn-cs"/>
              </a:rPr>
              <a:t>6. push</a:t>
            </a:r>
          </a:p>
        </p:txBody>
      </p:sp>
      <p:sp>
        <p:nvSpPr>
          <p:cNvPr id="20" name="Left Arrow 19">
            <a:extLst>
              <a:ext uri="{FF2B5EF4-FFF2-40B4-BE49-F238E27FC236}">
                <a16:creationId xmlns:a16="http://schemas.microsoft.com/office/drawing/2014/main" id="{EA474B0C-3EA1-941E-2A23-9CEB552F6777}"/>
              </a:ext>
            </a:extLst>
          </p:cNvPr>
          <p:cNvSpPr/>
          <p:nvPr/>
        </p:nvSpPr>
        <p:spPr>
          <a:xfrm>
            <a:off x="2761348" y="2004398"/>
            <a:ext cx="2199692" cy="66512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110004020202020204"/>
                <a:ea typeface="+mn-ea"/>
                <a:cs typeface="+mn-cs"/>
              </a:rPr>
              <a:t>7-8. pull request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110004020202020204"/>
                <a:ea typeface="+mn-ea"/>
                <a:cs typeface="+mn-cs"/>
              </a:rPr>
              <a:t>merge</a:t>
            </a:r>
          </a:p>
        </p:txBody>
      </p:sp>
      <p:sp>
        <p:nvSpPr>
          <p:cNvPr id="21" name="Right Arrow 20">
            <a:extLst>
              <a:ext uri="{FF2B5EF4-FFF2-40B4-BE49-F238E27FC236}">
                <a16:creationId xmlns:a16="http://schemas.microsoft.com/office/drawing/2014/main" id="{7568C571-05E2-30E3-A071-2534B63A088A}"/>
              </a:ext>
            </a:extLst>
          </p:cNvPr>
          <p:cNvSpPr/>
          <p:nvPr/>
        </p:nvSpPr>
        <p:spPr>
          <a:xfrm>
            <a:off x="3007233" y="2757044"/>
            <a:ext cx="1693589" cy="5601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110004020202020204"/>
                <a:ea typeface="+mn-ea"/>
                <a:cs typeface="+mn-cs"/>
              </a:rPr>
              <a:t>9. sync</a:t>
            </a:r>
          </a:p>
        </p:txBody>
      </p:sp>
      <p:sp>
        <p:nvSpPr>
          <p:cNvPr id="22" name="Right Arrow 21">
            <a:extLst>
              <a:ext uri="{FF2B5EF4-FFF2-40B4-BE49-F238E27FC236}">
                <a16:creationId xmlns:a16="http://schemas.microsoft.com/office/drawing/2014/main" id="{A158AA4C-41FA-450F-B922-45D5B4BE321E}"/>
              </a:ext>
            </a:extLst>
          </p:cNvPr>
          <p:cNvSpPr/>
          <p:nvPr/>
        </p:nvSpPr>
        <p:spPr>
          <a:xfrm>
            <a:off x="7473393" y="4205631"/>
            <a:ext cx="1871938" cy="6651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110004020202020204"/>
                <a:ea typeface="+mn-ea"/>
                <a:cs typeface="+mn-cs"/>
              </a:rPr>
              <a:t>9. pull</a:t>
            </a:r>
          </a:p>
        </p:txBody>
      </p:sp>
      <p:sp>
        <p:nvSpPr>
          <p:cNvPr id="23" name="TextBox 22">
            <a:extLst>
              <a:ext uri="{FF2B5EF4-FFF2-40B4-BE49-F238E27FC236}">
                <a16:creationId xmlns:a16="http://schemas.microsoft.com/office/drawing/2014/main" id="{F9DCE609-9B29-2D4A-6157-87A699A4BDAB}"/>
              </a:ext>
            </a:extLst>
          </p:cNvPr>
          <p:cNvSpPr txBox="1"/>
          <p:nvPr/>
        </p:nvSpPr>
        <p:spPr>
          <a:xfrm>
            <a:off x="771525" y="5929313"/>
            <a:ext cx="546226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https://github.com/harvardinformatics/github-intro  </a:t>
            </a:r>
          </a:p>
        </p:txBody>
      </p:sp>
    </p:spTree>
    <p:extLst>
      <p:ext uri="{BB962C8B-B14F-4D97-AF65-F5344CB8AC3E}">
        <p14:creationId xmlns:p14="http://schemas.microsoft.com/office/powerpoint/2010/main" val="15255639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E0945-2200-59AA-20BF-0FDD02ACD28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886F860-F40E-9627-CB50-29AEEEDA24BC}"/>
              </a:ext>
            </a:extLst>
          </p:cNvPr>
          <p:cNvSpPr>
            <a:spLocks noGrp="1"/>
          </p:cNvSpPr>
          <p:nvPr>
            <p:ph type="title"/>
          </p:nvPr>
        </p:nvSpPr>
        <p:spPr/>
        <p:txBody>
          <a:bodyPr/>
          <a:lstStyle/>
          <a:p>
            <a:r>
              <a:rPr lang="en-US"/>
              <a:t>Branching, merging, and conflicts</a:t>
            </a:r>
          </a:p>
        </p:txBody>
      </p:sp>
      <p:sp>
        <p:nvSpPr>
          <p:cNvPr id="5" name="Text Placeholder 4">
            <a:extLst>
              <a:ext uri="{FF2B5EF4-FFF2-40B4-BE49-F238E27FC236}">
                <a16:creationId xmlns:a16="http://schemas.microsoft.com/office/drawing/2014/main" id="{95253199-824B-251E-F1CF-D53300782FD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409591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A2A2D-5393-BC97-7A45-6E146D9381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293A04-D77D-8845-5FEA-38C10F3549CD}"/>
              </a:ext>
            </a:extLst>
          </p:cNvPr>
          <p:cNvSpPr>
            <a:spLocks noGrp="1"/>
          </p:cNvSpPr>
          <p:nvPr>
            <p:ph type="title"/>
          </p:nvPr>
        </p:nvSpPr>
        <p:spPr/>
        <p:txBody>
          <a:bodyPr/>
          <a:lstStyle/>
          <a:p>
            <a:r>
              <a:rPr lang="en-US"/>
              <a:t>Branching, merging, and conflicts</a:t>
            </a:r>
          </a:p>
        </p:txBody>
      </p:sp>
      <p:pic>
        <p:nvPicPr>
          <p:cNvPr id="5" name="Content Placeholder 4">
            <a:extLst>
              <a:ext uri="{FF2B5EF4-FFF2-40B4-BE49-F238E27FC236}">
                <a16:creationId xmlns:a16="http://schemas.microsoft.com/office/drawing/2014/main" id="{855DCE71-6D93-DC9E-AEFE-22F3C00EB98C}"/>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838200" y="2014506"/>
            <a:ext cx="3784600" cy="3632200"/>
          </a:xfrm>
        </p:spPr>
      </p:pic>
      <p:sp>
        <p:nvSpPr>
          <p:cNvPr id="6" name="TextBox 5">
            <a:extLst>
              <a:ext uri="{FF2B5EF4-FFF2-40B4-BE49-F238E27FC236}">
                <a16:creationId xmlns:a16="http://schemas.microsoft.com/office/drawing/2014/main" id="{8AD4BB62-B5ED-CAA0-B5BE-8CE9CEB391B5}"/>
              </a:ext>
            </a:extLst>
          </p:cNvPr>
          <p:cNvSpPr txBox="1"/>
          <p:nvPr/>
        </p:nvSpPr>
        <p:spPr>
          <a:xfrm>
            <a:off x="978321" y="5785858"/>
            <a:ext cx="3390031"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Edits to different lines: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no conflict, automatically merge</a:t>
            </a:r>
          </a:p>
        </p:txBody>
      </p:sp>
      <p:pic>
        <p:nvPicPr>
          <p:cNvPr id="7" name="Content Placeholder 4">
            <a:extLst>
              <a:ext uri="{FF2B5EF4-FFF2-40B4-BE49-F238E27FC236}">
                <a16:creationId xmlns:a16="http://schemas.microsoft.com/office/drawing/2014/main" id="{70869D66-F784-76B0-2D50-2E0726A6C3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76902" y="2014506"/>
            <a:ext cx="3784600" cy="3632200"/>
          </a:xfrm>
          <a:prstGeom prst="rect">
            <a:avLst/>
          </a:prstGeom>
        </p:spPr>
      </p:pic>
      <p:pic>
        <p:nvPicPr>
          <p:cNvPr id="9" name="Content Placeholder 4">
            <a:extLst>
              <a:ext uri="{FF2B5EF4-FFF2-40B4-BE49-F238E27FC236}">
                <a16:creationId xmlns:a16="http://schemas.microsoft.com/office/drawing/2014/main" id="{158CA5D8-C447-0076-FD04-484BF17E99F6}"/>
              </a:ext>
            </a:extLst>
          </p:cNvPr>
          <p:cNvPicPr>
            <a:picLocks noChangeAspect="1"/>
          </p:cNvPicPr>
          <p:nvPr/>
        </p:nvPicPr>
        <p:blipFill>
          <a:blip r:embed="rId2">
            <a:extLst>
              <a:ext uri="{96DAC541-7B7A-43D3-8B79-37D633B846F1}">
                <asvg:svgBlip xmlns:asvg="http://schemas.microsoft.com/office/drawing/2016/SVG/main" r:embed="rId3"/>
              </a:ext>
            </a:extLst>
          </a:blip>
          <a:srcRect l="6265" t="7671" r="64205" b="49905"/>
          <a:stretch/>
        </p:blipFill>
        <p:spPr>
          <a:xfrm>
            <a:off x="5909733" y="3987800"/>
            <a:ext cx="1117600" cy="1540933"/>
          </a:xfrm>
          <a:prstGeom prst="rect">
            <a:avLst/>
          </a:prstGeom>
        </p:spPr>
      </p:pic>
      <p:sp>
        <p:nvSpPr>
          <p:cNvPr id="11" name="Rectangle 10">
            <a:extLst>
              <a:ext uri="{FF2B5EF4-FFF2-40B4-BE49-F238E27FC236}">
                <a16:creationId xmlns:a16="http://schemas.microsoft.com/office/drawing/2014/main" id="{AEA328DB-4E71-849A-81D4-FC5C3162F5B1}"/>
              </a:ext>
            </a:extLst>
          </p:cNvPr>
          <p:cNvSpPr/>
          <p:nvPr/>
        </p:nvSpPr>
        <p:spPr>
          <a:xfrm>
            <a:off x="7141635" y="3830606"/>
            <a:ext cx="855133" cy="2312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0" name="Content Placeholder 4">
            <a:extLst>
              <a:ext uri="{FF2B5EF4-FFF2-40B4-BE49-F238E27FC236}">
                <a16:creationId xmlns:a16="http://schemas.microsoft.com/office/drawing/2014/main" id="{F067E048-6D32-FBA5-FA54-8EB50BA3055E}"/>
              </a:ext>
            </a:extLst>
          </p:cNvPr>
          <p:cNvPicPr>
            <a:picLocks noChangeAspect="1"/>
          </p:cNvPicPr>
          <p:nvPr/>
        </p:nvPicPr>
        <p:blipFill>
          <a:blip r:embed="rId4">
            <a:extLst>
              <a:ext uri="{96DAC541-7B7A-43D3-8B79-37D633B846F1}">
                <asvg:svgBlip xmlns:asvg="http://schemas.microsoft.com/office/drawing/2016/SVG/main" r:embed="rId5"/>
              </a:ext>
            </a:extLst>
          </a:blip>
          <a:srcRect l="38256" t="37974" r="37136" b="52236"/>
          <a:stretch/>
        </p:blipFill>
        <p:spPr>
          <a:xfrm>
            <a:off x="7103534" y="3884051"/>
            <a:ext cx="931333" cy="355600"/>
          </a:xfrm>
          <a:prstGeom prst="rect">
            <a:avLst/>
          </a:prstGeom>
        </p:spPr>
      </p:pic>
      <p:pic>
        <p:nvPicPr>
          <p:cNvPr id="12" name="Content Placeholder 4">
            <a:extLst>
              <a:ext uri="{FF2B5EF4-FFF2-40B4-BE49-F238E27FC236}">
                <a16:creationId xmlns:a16="http://schemas.microsoft.com/office/drawing/2014/main" id="{016F03B9-06C3-0762-B607-2372C1E26B9E}"/>
              </a:ext>
            </a:extLst>
          </p:cNvPr>
          <p:cNvPicPr>
            <a:picLocks noChangeAspect="1"/>
          </p:cNvPicPr>
          <p:nvPr/>
        </p:nvPicPr>
        <p:blipFill>
          <a:blip r:embed="rId4">
            <a:extLst>
              <a:ext uri="{96DAC541-7B7A-43D3-8B79-37D633B846F1}">
                <asvg:svgBlip xmlns:asvg="http://schemas.microsoft.com/office/drawing/2016/SVG/main" r:embed="rId5"/>
              </a:ext>
            </a:extLst>
          </a:blip>
          <a:srcRect l="38256" t="37974" r="37136" b="52236"/>
          <a:stretch/>
        </p:blipFill>
        <p:spPr>
          <a:xfrm>
            <a:off x="6019774" y="4273700"/>
            <a:ext cx="931333" cy="355600"/>
          </a:xfrm>
          <a:prstGeom prst="rect">
            <a:avLst/>
          </a:prstGeom>
        </p:spPr>
      </p:pic>
      <p:sp>
        <p:nvSpPr>
          <p:cNvPr id="13" name="&quot;No&quot; Symbol 12">
            <a:extLst>
              <a:ext uri="{FF2B5EF4-FFF2-40B4-BE49-F238E27FC236}">
                <a16:creationId xmlns:a16="http://schemas.microsoft.com/office/drawing/2014/main" id="{0635BFEC-A31C-99A4-76FB-40D84170D716}"/>
              </a:ext>
            </a:extLst>
          </p:cNvPr>
          <p:cNvSpPr/>
          <p:nvPr/>
        </p:nvSpPr>
        <p:spPr>
          <a:xfrm>
            <a:off x="8232758" y="3301111"/>
            <a:ext cx="856211" cy="972589"/>
          </a:xfrm>
          <a:prstGeom prst="noSmoking">
            <a:avLst/>
          </a:prstGeom>
          <a:solidFill>
            <a:srgbClr val="D8DAE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TextBox 13">
            <a:extLst>
              <a:ext uri="{FF2B5EF4-FFF2-40B4-BE49-F238E27FC236}">
                <a16:creationId xmlns:a16="http://schemas.microsoft.com/office/drawing/2014/main" id="{F88F286D-3D0B-F880-3534-EFFE1BB2871F}"/>
              </a:ext>
            </a:extLst>
          </p:cNvPr>
          <p:cNvSpPr txBox="1"/>
          <p:nvPr/>
        </p:nvSpPr>
        <p:spPr>
          <a:xfrm>
            <a:off x="5929829" y="5787102"/>
            <a:ext cx="242361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Edits to the same line: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conflict, cannot merge</a:t>
            </a:r>
          </a:p>
        </p:txBody>
      </p:sp>
    </p:spTree>
    <p:extLst>
      <p:ext uri="{BB962C8B-B14F-4D97-AF65-F5344CB8AC3E}">
        <p14:creationId xmlns:p14="http://schemas.microsoft.com/office/powerpoint/2010/main" val="28684325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6B2EE-ACB2-0A1E-84C0-290225E648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8AE0AE-91EA-16AF-96BE-D946F0F82ABD}"/>
              </a:ext>
            </a:extLst>
          </p:cNvPr>
          <p:cNvSpPr>
            <a:spLocks noGrp="1"/>
          </p:cNvSpPr>
          <p:nvPr>
            <p:ph type="title"/>
          </p:nvPr>
        </p:nvSpPr>
        <p:spPr/>
        <p:txBody>
          <a:bodyPr/>
          <a:lstStyle/>
          <a:p>
            <a:r>
              <a:rPr lang="en-US"/>
              <a:t>visual demo of branching</a:t>
            </a:r>
          </a:p>
        </p:txBody>
      </p:sp>
      <p:sp>
        <p:nvSpPr>
          <p:cNvPr id="3" name="Content Placeholder 2">
            <a:extLst>
              <a:ext uri="{FF2B5EF4-FFF2-40B4-BE49-F238E27FC236}">
                <a16:creationId xmlns:a16="http://schemas.microsoft.com/office/drawing/2014/main" id="{3D849B0C-A8CC-FB14-B6C1-5FC3B93C0679}"/>
              </a:ext>
            </a:extLst>
          </p:cNvPr>
          <p:cNvSpPr>
            <a:spLocks noGrp="1"/>
          </p:cNvSpPr>
          <p:nvPr>
            <p:ph idx="1"/>
          </p:nvPr>
        </p:nvSpPr>
        <p:spPr>
          <a:solidFill>
            <a:schemeClr val="accent1">
              <a:lumMod val="50000"/>
            </a:schemeClr>
          </a:solidFill>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prstClr val="white"/>
                </a:solidFill>
                <a:effectLst/>
                <a:uLnTx/>
                <a:uFillTx/>
                <a:latin typeface="Calibri" panose="020F0502020204030204"/>
                <a:ea typeface="+mn-ea"/>
                <a:cs typeface="+mn-cs"/>
              </a:rPr>
              <a:t>Demo on </a:t>
            </a:r>
            <a:r>
              <a:rPr kumimoji="0" lang="en-US" sz="2800" b="0" i="0" u="none" strike="noStrike" kern="1200" cap="none" spc="0" normalizeH="0" baseline="0" noProof="0">
                <a:ln>
                  <a:noFill/>
                </a:ln>
                <a:solidFill>
                  <a:prstClr val="white"/>
                </a:solidFill>
                <a:effectLst/>
                <a:uLnTx/>
                <a:uFillTx/>
                <a:latin typeface="Calibri" panose="020F0502020204030204"/>
                <a:ea typeface="+mn-ea"/>
                <a:cs typeface="+mn-cs"/>
                <a:hlinkClick r:id="rId2"/>
              </a:rPr>
              <a:t>learngitbranching</a:t>
            </a:r>
            <a:r>
              <a:rPr kumimoji="0" lang="en-US" sz="2800" b="0" i="0" u="none" strike="noStrike" kern="1200" cap="none" spc="0" normalizeH="0" baseline="0" noProof="0">
                <a:ln>
                  <a:noFill/>
                </a:ln>
                <a:solidFill>
                  <a:prstClr val="white"/>
                </a:solidFill>
                <a:effectLst/>
                <a:uLnTx/>
                <a:uFillTx/>
                <a:latin typeface="Calibri" panose="020F0502020204030204"/>
                <a:ea typeface="+mn-ea"/>
                <a:cs typeface="+mn-cs"/>
              </a:rPr>
              <a:t> : </a:t>
            </a:r>
            <a:r>
              <a:rPr kumimoji="0" lang="en-US" sz="2800" b="0" i="0" u="sng" strike="noStrike" kern="1200" cap="none" spc="0" normalizeH="0" baseline="0" noProof="0">
                <a:ln>
                  <a:noFill/>
                </a:ln>
                <a:solidFill>
                  <a:srgbClr val="D4D4D4"/>
                </a:solidFill>
                <a:effectLst/>
                <a:uLnTx/>
                <a:uFillTx/>
                <a:latin typeface="Menlo" panose="020B0609030804020204" pitchFamily="49" charset="0"/>
                <a:ea typeface="+mn-ea"/>
                <a:cs typeface="+mn-cs"/>
              </a:rPr>
              <a:t>https://learngitbranching.js.org/</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600" b="0" i="0" u="none" strike="noStrike" kern="1200" cap="none" spc="0" normalizeH="0" baseline="0" noProof="0">
                <a:ln>
                  <a:noFill/>
                </a:ln>
                <a:solidFill>
                  <a:srgbClr val="DCDCAA"/>
                </a:solidFill>
                <a:effectLst/>
                <a:uLnTx/>
                <a:uFillTx/>
                <a:latin typeface="Menlo" panose="020B0609030804020204" pitchFamily="49" charset="0"/>
                <a:ea typeface="+mn-ea"/>
                <a:cs typeface="+mn-cs"/>
              </a:rPr>
              <a:t>git</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CE9178"/>
                </a:solidFill>
                <a:effectLst/>
                <a:uLnTx/>
                <a:uFillTx/>
                <a:latin typeface="Menlo" panose="020B0609030804020204" pitchFamily="49" charset="0"/>
                <a:ea typeface="+mn-ea"/>
                <a:cs typeface="+mn-cs"/>
              </a:rPr>
              <a:t>switch</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569CD6"/>
                </a:solidFill>
                <a:effectLst/>
                <a:uLnTx/>
                <a:uFillTx/>
                <a:latin typeface="Menlo" panose="020B0609030804020204" pitchFamily="49" charset="0"/>
                <a:ea typeface="+mn-ea"/>
                <a:cs typeface="+mn-cs"/>
              </a:rPr>
              <a:t>-c</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CE9178"/>
                </a:solidFill>
                <a:effectLst/>
                <a:uLnTx/>
                <a:uFillTx/>
                <a:latin typeface="Menlo" panose="020B0609030804020204" pitchFamily="49" charset="0"/>
                <a:ea typeface="+mn-ea"/>
                <a:cs typeface="+mn-cs"/>
              </a:rPr>
              <a:t>bugfix</a:t>
            </a:r>
            <a:endPar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600" b="0" i="0" u="none" strike="noStrike" kern="1200" cap="none" spc="0" normalizeH="0" baseline="0" noProof="0">
                <a:ln>
                  <a:noFill/>
                </a:ln>
                <a:solidFill>
                  <a:srgbClr val="DCDCAA"/>
                </a:solidFill>
                <a:effectLst/>
                <a:uLnTx/>
                <a:uFillTx/>
                <a:latin typeface="Menlo" panose="020B0609030804020204" pitchFamily="49" charset="0"/>
                <a:ea typeface="+mn-ea"/>
                <a:cs typeface="+mn-cs"/>
              </a:rPr>
              <a:t>git</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CE9178"/>
                </a:solidFill>
                <a:effectLst/>
                <a:uLnTx/>
                <a:uFillTx/>
                <a:latin typeface="Menlo" panose="020B0609030804020204" pitchFamily="49" charset="0"/>
                <a:ea typeface="+mn-ea"/>
                <a:cs typeface="+mn-cs"/>
              </a:rPr>
              <a:t>commit</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600" b="0" i="0" u="none" strike="noStrike" kern="1200" cap="none" spc="0" normalizeH="0" baseline="0" noProof="0">
                <a:ln>
                  <a:noFill/>
                </a:ln>
                <a:solidFill>
                  <a:srgbClr val="DCDCAA"/>
                </a:solidFill>
                <a:effectLst/>
                <a:uLnTx/>
                <a:uFillTx/>
                <a:latin typeface="Menlo" panose="020B0609030804020204" pitchFamily="49" charset="0"/>
                <a:ea typeface="+mn-ea"/>
                <a:cs typeface="+mn-cs"/>
              </a:rPr>
              <a:t>git</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CE9178"/>
                </a:solidFill>
                <a:effectLst/>
                <a:uLnTx/>
                <a:uFillTx/>
                <a:latin typeface="Menlo" panose="020B0609030804020204" pitchFamily="49" charset="0"/>
                <a:ea typeface="+mn-ea"/>
                <a:cs typeface="+mn-cs"/>
              </a:rPr>
              <a:t>switch</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CE9178"/>
                </a:solidFill>
                <a:effectLst/>
                <a:uLnTx/>
                <a:uFillTx/>
                <a:latin typeface="Menlo" panose="020B0609030804020204" pitchFamily="49" charset="0"/>
                <a:ea typeface="+mn-ea"/>
                <a:cs typeface="+mn-cs"/>
              </a:rPr>
              <a:t>main</a:t>
            </a:r>
            <a:endPar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600" b="0" i="0" u="none" strike="noStrike" kern="1200" cap="none" spc="0" normalizeH="0" baseline="0" noProof="0">
                <a:ln>
                  <a:noFill/>
                </a:ln>
                <a:solidFill>
                  <a:srgbClr val="DCDCAA"/>
                </a:solidFill>
                <a:effectLst/>
                <a:uLnTx/>
                <a:uFillTx/>
                <a:latin typeface="Menlo" panose="020B0609030804020204" pitchFamily="49" charset="0"/>
                <a:ea typeface="+mn-ea"/>
                <a:cs typeface="+mn-cs"/>
              </a:rPr>
              <a:t>git</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CE9178"/>
                </a:solidFill>
                <a:effectLst/>
                <a:uLnTx/>
                <a:uFillTx/>
                <a:latin typeface="Menlo" panose="020B0609030804020204" pitchFamily="49" charset="0"/>
                <a:ea typeface="+mn-ea"/>
                <a:cs typeface="+mn-cs"/>
              </a:rPr>
              <a:t>commit</a:t>
            </a:r>
            <a:endPar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600" b="0" i="0" u="none" strike="noStrike" kern="1200" cap="none" spc="0" normalizeH="0" baseline="0" noProof="0">
                <a:ln>
                  <a:noFill/>
                </a:ln>
                <a:solidFill>
                  <a:srgbClr val="DCDCAA"/>
                </a:solidFill>
                <a:effectLst/>
                <a:uLnTx/>
                <a:uFillTx/>
                <a:latin typeface="Menlo" panose="020B0609030804020204" pitchFamily="49" charset="0"/>
                <a:ea typeface="+mn-ea"/>
                <a:cs typeface="+mn-cs"/>
              </a:rPr>
              <a:t>git</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CE9178"/>
                </a:solidFill>
                <a:effectLst/>
                <a:uLnTx/>
                <a:uFillTx/>
                <a:latin typeface="Menlo" panose="020B0609030804020204" pitchFamily="49" charset="0"/>
                <a:ea typeface="+mn-ea"/>
                <a:cs typeface="+mn-cs"/>
              </a:rPr>
              <a:t>merge</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CE9178"/>
                </a:solidFill>
                <a:effectLst/>
                <a:uLnTx/>
                <a:uFillTx/>
                <a:latin typeface="Menlo" panose="020B0609030804020204" pitchFamily="49" charset="0"/>
                <a:ea typeface="+mn-ea"/>
                <a:cs typeface="+mn-cs"/>
              </a:rPr>
              <a:t>bugFix</a:t>
            </a:r>
            <a:endPar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600" b="0" i="0" u="none" strike="noStrike" kern="1200" cap="none" spc="0" normalizeH="0" baseline="0" noProof="0">
                <a:ln>
                  <a:noFill/>
                </a:ln>
                <a:solidFill>
                  <a:srgbClr val="DCDCAA"/>
                </a:solidFill>
                <a:effectLst/>
                <a:uLnTx/>
                <a:uFillTx/>
                <a:latin typeface="Menlo" panose="020B0609030804020204" pitchFamily="49" charset="0"/>
                <a:ea typeface="+mn-ea"/>
                <a:cs typeface="+mn-cs"/>
              </a:rPr>
              <a:t>git</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CE9178"/>
                </a:solidFill>
                <a:effectLst/>
                <a:uLnTx/>
                <a:uFillTx/>
                <a:latin typeface="Menlo" panose="020B0609030804020204" pitchFamily="49" charset="0"/>
                <a:ea typeface="+mn-ea"/>
                <a:cs typeface="+mn-cs"/>
              </a:rPr>
              <a:t>branch</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569CD6"/>
                </a:solidFill>
                <a:effectLst/>
                <a:uLnTx/>
                <a:uFillTx/>
                <a:latin typeface="Menlo" panose="020B0609030804020204" pitchFamily="49" charset="0"/>
                <a:ea typeface="+mn-ea"/>
                <a:cs typeface="+mn-cs"/>
              </a:rPr>
              <a:t>-d</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CE9178"/>
                </a:solidFill>
                <a:effectLst/>
                <a:uLnTx/>
                <a:uFillTx/>
                <a:latin typeface="Menlo" panose="020B0609030804020204" pitchFamily="49" charset="0"/>
                <a:ea typeface="+mn-ea"/>
                <a:cs typeface="+mn-cs"/>
              </a:rPr>
              <a:t>bugFix</a:t>
            </a:r>
            <a:endParaRPr kumimoji="0" lang="en-US" sz="2800" b="0" i="0" u="none" strike="noStrike" kern="1200" cap="none" spc="0" normalizeH="0" baseline="0" noProof="0">
              <a:ln>
                <a:noFill/>
              </a:ln>
              <a:solidFill>
                <a:srgbClr val="D4D4D4"/>
              </a:solidFill>
              <a:effectLst/>
              <a:uLnTx/>
              <a:uFillTx/>
              <a:latin typeface="Menlo" panose="020B0609030804020204" pitchFamily="49" charset="0"/>
              <a:ea typeface="+mn-ea"/>
              <a:cs typeface="+mn-cs"/>
            </a:endParaRPr>
          </a:p>
        </p:txBody>
      </p:sp>
    </p:spTree>
    <p:extLst>
      <p:ext uri="{BB962C8B-B14F-4D97-AF65-F5344CB8AC3E}">
        <p14:creationId xmlns:p14="http://schemas.microsoft.com/office/powerpoint/2010/main" val="42706788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12D8FC9A-FD30-06AD-1398-CCD53D82C912}"/>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5476C03E-DE75-B538-C01F-22FD35103D41}"/>
              </a:ext>
            </a:extLst>
          </p:cNvPr>
          <p:cNvSpPr>
            <a:spLocks noChangeAspect="1"/>
          </p:cNvSpPr>
          <p:nvPr/>
        </p:nvSpPr>
        <p:spPr>
          <a:xfrm>
            <a:off x="2714625" y="1891954"/>
            <a:ext cx="622853" cy="6228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c1</a:t>
            </a:r>
          </a:p>
        </p:txBody>
      </p:sp>
      <p:sp>
        <p:nvSpPr>
          <p:cNvPr id="5" name="Rounded Rectangle 4">
            <a:extLst>
              <a:ext uri="{FF2B5EF4-FFF2-40B4-BE49-F238E27FC236}">
                <a16:creationId xmlns:a16="http://schemas.microsoft.com/office/drawing/2014/main" id="{C4203639-8DC9-1300-8875-FE0FC5182359}"/>
              </a:ext>
            </a:extLst>
          </p:cNvPr>
          <p:cNvSpPr/>
          <p:nvPr/>
        </p:nvSpPr>
        <p:spPr>
          <a:xfrm>
            <a:off x="544063" y="1829006"/>
            <a:ext cx="1214437" cy="5199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prstClr val="white"/>
                </a:solidFill>
                <a:effectLst/>
                <a:uLnTx/>
                <a:uFillTx/>
                <a:latin typeface="Aptos" panose="02110004020202020204"/>
                <a:ea typeface="+mn-ea"/>
                <a:cs typeface="+mn-cs"/>
              </a:rPr>
              <a:t>main</a:t>
            </a:r>
          </a:p>
        </p:txBody>
      </p:sp>
      <p:sp>
        <p:nvSpPr>
          <p:cNvPr id="6" name="Rounded Rectangle 5">
            <a:extLst>
              <a:ext uri="{FF2B5EF4-FFF2-40B4-BE49-F238E27FC236}">
                <a16:creationId xmlns:a16="http://schemas.microsoft.com/office/drawing/2014/main" id="{D609D336-AC0D-263E-B729-51DBB75C22A4}"/>
              </a:ext>
            </a:extLst>
          </p:cNvPr>
          <p:cNvSpPr/>
          <p:nvPr/>
        </p:nvSpPr>
        <p:spPr>
          <a:xfrm>
            <a:off x="474747" y="3563488"/>
            <a:ext cx="1701327" cy="510417"/>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haiku-test</a:t>
            </a:r>
          </a:p>
        </p:txBody>
      </p:sp>
      <p:sp>
        <p:nvSpPr>
          <p:cNvPr id="7" name="TextBox 6">
            <a:extLst>
              <a:ext uri="{FF2B5EF4-FFF2-40B4-BE49-F238E27FC236}">
                <a16:creationId xmlns:a16="http://schemas.microsoft.com/office/drawing/2014/main" id="{F5E5F3DC-57D0-81A9-22B9-45C77D5B2E8C}"/>
              </a:ext>
            </a:extLst>
          </p:cNvPr>
          <p:cNvSpPr txBox="1"/>
          <p:nvPr/>
        </p:nvSpPr>
        <p:spPr>
          <a:xfrm rot="-2700000">
            <a:off x="3018836" y="783539"/>
            <a:ext cx="1609643"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ptos" panose="02110004020202020204"/>
                <a:ea typeface="+mn-ea"/>
                <a:cs typeface="+mn-cs"/>
              </a:rPr>
              <a:t>1. add empty haiku.md</a:t>
            </a:r>
          </a:p>
        </p:txBody>
      </p:sp>
      <p:sp>
        <p:nvSpPr>
          <p:cNvPr id="8" name="Oval 7">
            <a:extLst>
              <a:ext uri="{FF2B5EF4-FFF2-40B4-BE49-F238E27FC236}">
                <a16:creationId xmlns:a16="http://schemas.microsoft.com/office/drawing/2014/main" id="{87837D38-1A6C-4D7B-2E0A-6B7DEB33E026}"/>
              </a:ext>
            </a:extLst>
          </p:cNvPr>
          <p:cNvSpPr>
            <a:spLocks noChangeAspect="1"/>
          </p:cNvSpPr>
          <p:nvPr/>
        </p:nvSpPr>
        <p:spPr>
          <a:xfrm>
            <a:off x="3817860" y="3563488"/>
            <a:ext cx="622853" cy="622853"/>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c2</a:t>
            </a:r>
          </a:p>
        </p:txBody>
      </p:sp>
      <p:cxnSp>
        <p:nvCxnSpPr>
          <p:cNvPr id="10" name="Elbow Connector 9">
            <a:extLst>
              <a:ext uri="{FF2B5EF4-FFF2-40B4-BE49-F238E27FC236}">
                <a16:creationId xmlns:a16="http://schemas.microsoft.com/office/drawing/2014/main" id="{94C6B59F-46BA-258D-E782-2B5AB32E154F}"/>
              </a:ext>
            </a:extLst>
          </p:cNvPr>
          <p:cNvCxnSpPr>
            <a:stCxn id="4" idx="4"/>
            <a:endCxn id="8" idx="2"/>
          </p:cNvCxnSpPr>
          <p:nvPr/>
        </p:nvCxnSpPr>
        <p:spPr>
          <a:xfrm rot="16200000" flipH="1">
            <a:off x="2741902" y="2798957"/>
            <a:ext cx="1360108" cy="791808"/>
          </a:xfrm>
          <a:prstGeom prst="bentConnector2">
            <a:avLst/>
          </a:prstGeom>
          <a:ln w="76200"/>
        </p:spPr>
        <p:style>
          <a:lnRef idx="1">
            <a:schemeClr val="accent4"/>
          </a:lnRef>
          <a:fillRef idx="0">
            <a:schemeClr val="accent4"/>
          </a:fillRef>
          <a:effectRef idx="0">
            <a:schemeClr val="accent4"/>
          </a:effectRef>
          <a:fontRef idx="minor">
            <a:schemeClr val="tx1"/>
          </a:fontRef>
        </p:style>
      </p:cxnSp>
      <p:sp>
        <p:nvSpPr>
          <p:cNvPr id="11" name="TextBox 10">
            <a:extLst>
              <a:ext uri="{FF2B5EF4-FFF2-40B4-BE49-F238E27FC236}">
                <a16:creationId xmlns:a16="http://schemas.microsoft.com/office/drawing/2014/main" id="{072B679E-7994-12F2-FC71-23181BB6847D}"/>
              </a:ext>
            </a:extLst>
          </p:cNvPr>
          <p:cNvSpPr txBox="1"/>
          <p:nvPr/>
        </p:nvSpPr>
        <p:spPr>
          <a:xfrm rot="-2700000">
            <a:off x="1784010" y="4200806"/>
            <a:ext cx="160964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Aptos" panose="02110004020202020204"/>
                <a:ea typeface="+mn-ea"/>
                <a:cs typeface="+mn-cs"/>
              </a:rPr>
              <a:t>2. </a:t>
            </a:r>
            <a:r>
              <a:rPr kumimoji="0" lang="en-US" sz="1600" b="1"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git checkout -b  haiku-test</a:t>
            </a:r>
          </a:p>
        </p:txBody>
      </p:sp>
      <p:sp>
        <p:nvSpPr>
          <p:cNvPr id="12" name="TextBox 11">
            <a:extLst>
              <a:ext uri="{FF2B5EF4-FFF2-40B4-BE49-F238E27FC236}">
                <a16:creationId xmlns:a16="http://schemas.microsoft.com/office/drawing/2014/main" id="{2183BE37-90AF-78F5-8DC5-B6783D7B94EA}"/>
              </a:ext>
            </a:extLst>
          </p:cNvPr>
          <p:cNvSpPr txBox="1"/>
          <p:nvPr/>
        </p:nvSpPr>
        <p:spPr>
          <a:xfrm rot="-2700000">
            <a:off x="3100487" y="4517569"/>
            <a:ext cx="1609643"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ptos" panose="02110004020202020204"/>
                <a:ea typeface="+mn-ea"/>
                <a:cs typeface="+mn-cs"/>
              </a:rPr>
              <a:t>3. add haiku lines &amp; push</a:t>
            </a:r>
          </a:p>
        </p:txBody>
      </p:sp>
      <p:sp>
        <p:nvSpPr>
          <p:cNvPr id="13" name="Oval 12">
            <a:extLst>
              <a:ext uri="{FF2B5EF4-FFF2-40B4-BE49-F238E27FC236}">
                <a16:creationId xmlns:a16="http://schemas.microsoft.com/office/drawing/2014/main" id="{19811383-B229-A90C-DD43-189BCAD8E42B}"/>
              </a:ext>
            </a:extLst>
          </p:cNvPr>
          <p:cNvSpPr>
            <a:spLocks noChangeAspect="1"/>
          </p:cNvSpPr>
          <p:nvPr/>
        </p:nvSpPr>
        <p:spPr>
          <a:xfrm>
            <a:off x="5784573" y="1909346"/>
            <a:ext cx="622853" cy="6228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c3</a:t>
            </a:r>
          </a:p>
        </p:txBody>
      </p:sp>
      <p:cxnSp>
        <p:nvCxnSpPr>
          <p:cNvPr id="15" name="Straight Connector 14">
            <a:extLst>
              <a:ext uri="{FF2B5EF4-FFF2-40B4-BE49-F238E27FC236}">
                <a16:creationId xmlns:a16="http://schemas.microsoft.com/office/drawing/2014/main" id="{EEE3CCEE-4384-2262-2F85-6F4732DF73F8}"/>
              </a:ext>
            </a:extLst>
          </p:cNvPr>
          <p:cNvCxnSpPr>
            <a:stCxn id="4" idx="6"/>
            <a:endCxn id="13" idx="2"/>
          </p:cNvCxnSpPr>
          <p:nvPr/>
        </p:nvCxnSpPr>
        <p:spPr>
          <a:xfrm>
            <a:off x="3337478" y="2203381"/>
            <a:ext cx="2447095" cy="17392"/>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FEFBD80-69A0-1BAB-0C61-74FCF5C651BE}"/>
              </a:ext>
            </a:extLst>
          </p:cNvPr>
          <p:cNvSpPr txBox="1"/>
          <p:nvPr/>
        </p:nvSpPr>
        <p:spPr>
          <a:xfrm rot="-2700000">
            <a:off x="5783156" y="793914"/>
            <a:ext cx="1609643"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ptos" panose="02110004020202020204"/>
                <a:ea typeface="+mn-ea"/>
                <a:cs typeface="+mn-cs"/>
              </a:rPr>
              <a:t>5. add haiku lines &amp; push</a:t>
            </a:r>
          </a:p>
        </p:txBody>
      </p:sp>
      <p:sp>
        <p:nvSpPr>
          <p:cNvPr id="17" name="TextBox 16">
            <a:extLst>
              <a:ext uri="{FF2B5EF4-FFF2-40B4-BE49-F238E27FC236}">
                <a16:creationId xmlns:a16="http://schemas.microsoft.com/office/drawing/2014/main" id="{E4C983E4-0E03-01D7-7FE2-1D8EFFB5872C}"/>
              </a:ext>
            </a:extLst>
          </p:cNvPr>
          <p:cNvSpPr txBox="1"/>
          <p:nvPr/>
        </p:nvSpPr>
        <p:spPr>
          <a:xfrm rot="-2700000">
            <a:off x="4395199" y="783538"/>
            <a:ext cx="1609643"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ptos" panose="02110004020202020204"/>
                <a:ea typeface="+mn-ea"/>
                <a:cs typeface="+mn-cs"/>
              </a:rPr>
              <a:t>4. g</a:t>
            </a:r>
            <a:r>
              <a:rPr kumimoji="0" lang="en-US" sz="2000" b="1"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it switch main</a:t>
            </a:r>
          </a:p>
        </p:txBody>
      </p:sp>
      <p:sp>
        <p:nvSpPr>
          <p:cNvPr id="18" name="Frame 17">
            <a:extLst>
              <a:ext uri="{FF2B5EF4-FFF2-40B4-BE49-F238E27FC236}">
                <a16:creationId xmlns:a16="http://schemas.microsoft.com/office/drawing/2014/main" id="{941CAB9C-D4DC-5CC0-D7CC-0DA5E63A8864}"/>
              </a:ext>
            </a:extLst>
          </p:cNvPr>
          <p:cNvSpPr/>
          <p:nvPr/>
        </p:nvSpPr>
        <p:spPr>
          <a:xfrm>
            <a:off x="7160936" y="1854836"/>
            <a:ext cx="729715" cy="697087"/>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20" name="Elbow Connector 19">
            <a:extLst>
              <a:ext uri="{FF2B5EF4-FFF2-40B4-BE49-F238E27FC236}">
                <a16:creationId xmlns:a16="http://schemas.microsoft.com/office/drawing/2014/main" id="{3C9B2244-EAAB-19E7-9A21-09AC6EDF3658}"/>
              </a:ext>
            </a:extLst>
          </p:cNvPr>
          <p:cNvCxnSpPr>
            <a:stCxn id="8" idx="6"/>
            <a:endCxn id="18" idx="2"/>
          </p:cNvCxnSpPr>
          <p:nvPr/>
        </p:nvCxnSpPr>
        <p:spPr>
          <a:xfrm flipV="1">
            <a:off x="4440713" y="2551923"/>
            <a:ext cx="3085081" cy="1322992"/>
          </a:xfrm>
          <a:prstGeom prst="bentConnector2">
            <a:avLst/>
          </a:prstGeom>
          <a:ln w="76200"/>
        </p:spPr>
        <p:style>
          <a:lnRef idx="1">
            <a:schemeClr val="accent4"/>
          </a:lnRef>
          <a:fillRef idx="0">
            <a:schemeClr val="accent4"/>
          </a:fillRef>
          <a:effectRef idx="0">
            <a:schemeClr val="accent4"/>
          </a:effectRef>
          <a:fontRef idx="minor">
            <a:schemeClr val="tx1"/>
          </a:fontRef>
        </p:style>
      </p:cxnSp>
      <p:cxnSp>
        <p:nvCxnSpPr>
          <p:cNvPr id="22" name="Straight Connector 21">
            <a:extLst>
              <a:ext uri="{FF2B5EF4-FFF2-40B4-BE49-F238E27FC236}">
                <a16:creationId xmlns:a16="http://schemas.microsoft.com/office/drawing/2014/main" id="{267B1F50-2DEB-2718-7AE4-7892408BC076}"/>
              </a:ext>
            </a:extLst>
          </p:cNvPr>
          <p:cNvCxnSpPr>
            <a:stCxn id="13" idx="6"/>
            <a:endCxn id="18" idx="1"/>
          </p:cNvCxnSpPr>
          <p:nvPr/>
        </p:nvCxnSpPr>
        <p:spPr>
          <a:xfrm flipV="1">
            <a:off x="6407426" y="2203380"/>
            <a:ext cx="753510" cy="17393"/>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37AE545-596B-CE1E-FB48-5205160D5603}"/>
              </a:ext>
            </a:extLst>
          </p:cNvPr>
          <p:cNvSpPr txBox="1"/>
          <p:nvPr/>
        </p:nvSpPr>
        <p:spPr>
          <a:xfrm rot="-2700000">
            <a:off x="7672394" y="410862"/>
            <a:ext cx="1609643" cy="16312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ptos" panose="02110004020202020204"/>
                <a:ea typeface="+mn-ea"/>
                <a:cs typeface="+mn-cs"/>
              </a:rPr>
              <a:t>6. pull request, merge,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ptos" panose="02110004020202020204"/>
                <a:ea typeface="+mn-ea"/>
                <a:cs typeface="+mn-cs"/>
              </a:rPr>
              <a:t>resolve conflict</a:t>
            </a:r>
          </a:p>
        </p:txBody>
      </p:sp>
      <p:sp>
        <p:nvSpPr>
          <p:cNvPr id="26" name="TextBox 25">
            <a:extLst>
              <a:ext uri="{FF2B5EF4-FFF2-40B4-BE49-F238E27FC236}">
                <a16:creationId xmlns:a16="http://schemas.microsoft.com/office/drawing/2014/main" id="{44C5B928-FC74-F41A-F9BF-33F1A7614393}"/>
              </a:ext>
            </a:extLst>
          </p:cNvPr>
          <p:cNvSpPr txBox="1"/>
          <p:nvPr/>
        </p:nvSpPr>
        <p:spPr>
          <a:xfrm>
            <a:off x="474747" y="6348468"/>
            <a:ext cx="532921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https://github.com/harvardinformatics/github-intro  </a:t>
            </a:r>
          </a:p>
        </p:txBody>
      </p:sp>
      <p:pic>
        <p:nvPicPr>
          <p:cNvPr id="27" name="Graphic 26" descr="Laptop with solid fill">
            <a:extLst>
              <a:ext uri="{FF2B5EF4-FFF2-40B4-BE49-F238E27FC236}">
                <a16:creationId xmlns:a16="http://schemas.microsoft.com/office/drawing/2014/main" id="{8EECDA98-8216-1EF7-A559-B587F0993FA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10256" y="2731559"/>
            <a:ext cx="2133917" cy="2133917"/>
          </a:xfrm>
          <a:prstGeom prst="rect">
            <a:avLst/>
          </a:prstGeom>
        </p:spPr>
      </p:pic>
      <p:pic>
        <p:nvPicPr>
          <p:cNvPr id="28" name="Picture 27" descr="A black cat with a white circle in the background&#10;&#10;Description automatically generated">
            <a:extLst>
              <a:ext uri="{FF2B5EF4-FFF2-40B4-BE49-F238E27FC236}">
                <a16:creationId xmlns:a16="http://schemas.microsoft.com/office/drawing/2014/main" id="{7594C36F-B2D8-A25F-9849-AA85A3C24CAC}"/>
              </a:ext>
            </a:extLst>
          </p:cNvPr>
          <p:cNvPicPr>
            <a:picLocks noChangeAspect="1"/>
          </p:cNvPicPr>
          <p:nvPr/>
        </p:nvPicPr>
        <p:blipFill>
          <a:blip r:embed="rId4"/>
          <a:stretch>
            <a:fillRect/>
          </a:stretch>
        </p:blipFill>
        <p:spPr>
          <a:xfrm>
            <a:off x="10622564" y="4606926"/>
            <a:ext cx="1150674" cy="1125659"/>
          </a:xfrm>
          <a:prstGeom prst="rect">
            <a:avLst/>
          </a:prstGeom>
        </p:spPr>
      </p:pic>
      <p:sp>
        <p:nvSpPr>
          <p:cNvPr id="29" name="Rectangle 28">
            <a:extLst>
              <a:ext uri="{FF2B5EF4-FFF2-40B4-BE49-F238E27FC236}">
                <a16:creationId xmlns:a16="http://schemas.microsoft.com/office/drawing/2014/main" id="{A43A2F60-A473-558D-3040-FDF63BE2CF86}"/>
              </a:ext>
            </a:extLst>
          </p:cNvPr>
          <p:cNvSpPr/>
          <p:nvPr/>
        </p:nvSpPr>
        <p:spPr>
          <a:xfrm>
            <a:off x="10088042" y="3443287"/>
            <a:ext cx="2141708" cy="25478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Remote</a:t>
            </a:r>
          </a:p>
        </p:txBody>
      </p:sp>
      <p:sp>
        <p:nvSpPr>
          <p:cNvPr id="30" name="Up-Down Arrow 29">
            <a:extLst>
              <a:ext uri="{FF2B5EF4-FFF2-40B4-BE49-F238E27FC236}">
                <a16:creationId xmlns:a16="http://schemas.microsoft.com/office/drawing/2014/main" id="{8895CD90-7B28-A8A0-54C5-350C14ADC6B1}"/>
              </a:ext>
            </a:extLst>
          </p:cNvPr>
          <p:cNvSpPr/>
          <p:nvPr/>
        </p:nvSpPr>
        <p:spPr>
          <a:xfrm rot="-2700000">
            <a:off x="9587301" y="3836675"/>
            <a:ext cx="718470" cy="1874739"/>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push/pull</a:t>
            </a:r>
          </a:p>
        </p:txBody>
      </p:sp>
    </p:spTree>
    <p:extLst>
      <p:ext uri="{BB962C8B-B14F-4D97-AF65-F5344CB8AC3E}">
        <p14:creationId xmlns:p14="http://schemas.microsoft.com/office/powerpoint/2010/main" val="23436892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9C86C-D93C-C959-697C-283F3E6C1756}"/>
            </a:ext>
          </a:extLst>
        </p:cNvPr>
        <p:cNvGrpSpPr/>
        <p:nvPr/>
      </p:nvGrpSpPr>
      <p:grpSpPr>
        <a:xfrm>
          <a:off x="0" y="0"/>
          <a:ext cx="0" cy="0"/>
          <a:chOff x="0" y="0"/>
          <a:chExt cx="0" cy="0"/>
        </a:xfrm>
      </p:grpSpPr>
      <p:graphicFrame>
        <p:nvGraphicFramePr>
          <p:cNvPr id="2" name="Content Placeholder 3">
            <a:extLst>
              <a:ext uri="{FF2B5EF4-FFF2-40B4-BE49-F238E27FC236}">
                <a16:creationId xmlns:a16="http://schemas.microsoft.com/office/drawing/2014/main" id="{3E11B227-1822-102A-930E-6AA0E6782831}"/>
              </a:ext>
            </a:extLst>
          </p:cNvPr>
          <p:cNvGraphicFramePr>
            <a:graphicFrameLocks/>
          </p:cNvGraphicFramePr>
          <p:nvPr>
            <p:extLst>
              <p:ext uri="{D42A27DB-BD31-4B8C-83A1-F6EECF244321}">
                <p14:modId xmlns:p14="http://schemas.microsoft.com/office/powerpoint/2010/main" val="1303226275"/>
              </p:ext>
            </p:extLst>
          </p:nvPr>
        </p:nvGraphicFramePr>
        <p:xfrm>
          <a:off x="838200" y="1492237"/>
          <a:ext cx="10515600" cy="5161280"/>
        </p:xfrm>
        <a:graphic>
          <a:graphicData uri="http://schemas.openxmlformats.org/drawingml/2006/table">
            <a:tbl>
              <a:tblPr firstRow="1" bandRow="1">
                <a:tableStyleId>{5C22544A-7EE6-4342-B048-85BDC9FD1C3A}</a:tableStyleId>
              </a:tblPr>
              <a:tblGrid>
                <a:gridCol w="1978572">
                  <a:extLst>
                    <a:ext uri="{9D8B030D-6E8A-4147-A177-3AD203B41FA5}">
                      <a16:colId xmlns:a16="http://schemas.microsoft.com/office/drawing/2014/main" val="2568585776"/>
                    </a:ext>
                  </a:extLst>
                </a:gridCol>
                <a:gridCol w="8537028">
                  <a:extLst>
                    <a:ext uri="{9D8B030D-6E8A-4147-A177-3AD203B41FA5}">
                      <a16:colId xmlns:a16="http://schemas.microsoft.com/office/drawing/2014/main" val="2358434205"/>
                    </a:ext>
                  </a:extLst>
                </a:gridCol>
              </a:tblGrid>
              <a:tr h="370840">
                <a:tc>
                  <a:txBody>
                    <a:bodyPr/>
                    <a:lstStyle/>
                    <a:p>
                      <a:r>
                        <a:rPr lang="en-US"/>
                        <a:t>Term</a:t>
                      </a:r>
                    </a:p>
                  </a:txBody>
                  <a:tcPr/>
                </a:tc>
                <a:tc>
                  <a:txBody>
                    <a:bodyPr/>
                    <a:lstStyle/>
                    <a:p>
                      <a:r>
                        <a:rPr lang="en-US"/>
                        <a:t>Definition</a:t>
                      </a:r>
                    </a:p>
                  </a:txBody>
                  <a:tcPr/>
                </a:tc>
                <a:extLst>
                  <a:ext uri="{0D108BD9-81ED-4DB2-BD59-A6C34878D82A}">
                    <a16:rowId xmlns:a16="http://schemas.microsoft.com/office/drawing/2014/main" val="1673741691"/>
                  </a:ext>
                </a:extLst>
              </a:tr>
              <a:tr h="370840">
                <a:tc>
                  <a:txBody>
                    <a:bodyPr/>
                    <a:lstStyle/>
                    <a:p>
                      <a:r>
                        <a:rPr lang="en-US" b="1"/>
                        <a:t>fork</a:t>
                      </a:r>
                    </a:p>
                  </a:txBody>
                  <a:tcPr/>
                </a:tc>
                <a:tc>
                  <a:txBody>
                    <a:bodyPr/>
                    <a:lstStyle/>
                    <a:p>
                      <a:r>
                        <a:rPr lang="en-US"/>
                        <a:t>copy someone else’s repo into your own account/</a:t>
                      </a:r>
                    </a:p>
                    <a:p>
                      <a:r>
                        <a:rPr lang="en-US"/>
                        <a:t>“your fork” refers to your copy of some other owner’s repo</a:t>
                      </a:r>
                    </a:p>
                  </a:txBody>
                  <a:tcPr/>
                </a:tc>
                <a:extLst>
                  <a:ext uri="{0D108BD9-81ED-4DB2-BD59-A6C34878D82A}">
                    <a16:rowId xmlns:a16="http://schemas.microsoft.com/office/drawing/2014/main" val="3834734102"/>
                  </a:ext>
                </a:extLst>
              </a:tr>
              <a:tr h="370840">
                <a:tc>
                  <a:txBody>
                    <a:bodyPr/>
                    <a:lstStyle/>
                    <a:p>
                      <a:r>
                        <a:rPr lang="en-US" b="1"/>
                        <a:t>branch</a:t>
                      </a:r>
                    </a:p>
                  </a:txBody>
                  <a:tcPr/>
                </a:tc>
                <a:tc>
                  <a:txBody>
                    <a:bodyPr/>
                    <a:lstStyle/>
                    <a:p>
                      <a:r>
                        <a:rPr lang="en-US"/>
                        <a:t>and isolated development path that was diverted from the main line at a specific commit</a:t>
                      </a:r>
                    </a:p>
                  </a:txBody>
                  <a:tcPr/>
                </a:tc>
                <a:extLst>
                  <a:ext uri="{0D108BD9-81ED-4DB2-BD59-A6C34878D82A}">
                    <a16:rowId xmlns:a16="http://schemas.microsoft.com/office/drawing/2014/main" val="295643167"/>
                  </a:ext>
                </a:extLst>
              </a:tr>
              <a:tr h="370840">
                <a:tc>
                  <a:txBody>
                    <a:bodyPr/>
                    <a:lstStyle/>
                    <a:p>
                      <a:r>
                        <a:rPr lang="en-US" b="0"/>
                        <a:t>upstream</a:t>
                      </a:r>
                    </a:p>
                  </a:txBody>
                  <a:tcPr/>
                </a:tc>
                <a:tc>
                  <a:txBody>
                    <a:bodyPr/>
                    <a:lstStyle/>
                    <a:p>
                      <a:r>
                        <a:rPr lang="en-US"/>
                        <a:t>on a fork, refers to the parent repo</a:t>
                      </a:r>
                    </a:p>
                  </a:txBody>
                  <a:tcPr/>
                </a:tc>
                <a:extLst>
                  <a:ext uri="{0D108BD9-81ED-4DB2-BD59-A6C34878D82A}">
                    <a16:rowId xmlns:a16="http://schemas.microsoft.com/office/drawing/2014/main" val="1883509595"/>
                  </a:ext>
                </a:extLst>
              </a:tr>
              <a:tr h="370840">
                <a:tc>
                  <a:txBody>
                    <a:bodyPr/>
                    <a:lstStyle/>
                    <a:p>
                      <a:r>
                        <a:rPr lang="en-US" b="0"/>
                        <a:t>pull request</a:t>
                      </a:r>
                    </a:p>
                  </a:txBody>
                  <a:tcPr/>
                </a:tc>
                <a:tc>
                  <a:txBody>
                    <a:bodyPr/>
                    <a:lstStyle/>
                    <a:p>
                      <a:r>
                        <a:rPr lang="en-US"/>
                        <a:t>proposal to merge code changes from one stream to another</a:t>
                      </a:r>
                    </a:p>
                    <a:p>
                      <a:pPr marL="285750" indent="-285750">
                        <a:buFontTx/>
                        <a:buChar char="-"/>
                      </a:pPr>
                      <a:r>
                        <a:rPr lang="en-US"/>
                        <a:t>can be branch to branch in a single repo</a:t>
                      </a:r>
                    </a:p>
                    <a:p>
                      <a:pPr marL="285750" indent="-285750">
                        <a:buFontTx/>
                        <a:buChar char="-"/>
                      </a:pPr>
                      <a:r>
                        <a:rPr lang="en-US"/>
                        <a:t>can be fork to upstream</a:t>
                      </a:r>
                    </a:p>
                  </a:txBody>
                  <a:tcPr/>
                </a:tc>
                <a:extLst>
                  <a:ext uri="{0D108BD9-81ED-4DB2-BD59-A6C34878D82A}">
                    <a16:rowId xmlns:a16="http://schemas.microsoft.com/office/drawing/2014/main" val="3590404162"/>
                  </a:ext>
                </a:extLst>
              </a:tr>
              <a:tr h="370840">
                <a:tc>
                  <a:txBody>
                    <a:bodyPr/>
                    <a:lstStyle/>
                    <a:p>
                      <a:endParaRPr lang="en-US" b="1"/>
                    </a:p>
                  </a:txBody>
                  <a:tcPr/>
                </a:tc>
                <a:tc>
                  <a:txBody>
                    <a:bodyPr/>
                    <a:lstStyle/>
                    <a:p>
                      <a:endParaRPr lang="en-US"/>
                    </a:p>
                  </a:txBody>
                  <a:tcPr/>
                </a:tc>
                <a:extLst>
                  <a:ext uri="{0D108BD9-81ED-4DB2-BD59-A6C34878D82A}">
                    <a16:rowId xmlns:a16="http://schemas.microsoft.com/office/drawing/2014/main" val="73513012"/>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2609831263"/>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2623257424"/>
                  </a:ext>
                </a:extLst>
              </a:tr>
              <a:tr h="370840">
                <a:tc>
                  <a:txBody>
                    <a:bodyPr/>
                    <a:lstStyle/>
                    <a:p>
                      <a:endParaRPr lang="en-US" b="1"/>
                    </a:p>
                  </a:txBody>
                  <a:tcPr/>
                </a:tc>
                <a:tc>
                  <a:txBody>
                    <a:bodyPr/>
                    <a:lstStyle/>
                    <a:p>
                      <a:endParaRPr lang="en-US"/>
                    </a:p>
                  </a:txBody>
                  <a:tcPr/>
                </a:tc>
                <a:extLst>
                  <a:ext uri="{0D108BD9-81ED-4DB2-BD59-A6C34878D82A}">
                    <a16:rowId xmlns:a16="http://schemas.microsoft.com/office/drawing/2014/main" val="3009278457"/>
                  </a:ext>
                </a:extLst>
              </a:tr>
              <a:tr h="370840">
                <a:tc>
                  <a:txBody>
                    <a:bodyPr/>
                    <a:lstStyle/>
                    <a:p>
                      <a:endParaRPr lang="en-US" b="1"/>
                    </a:p>
                  </a:txBody>
                  <a:tcPr/>
                </a:tc>
                <a:tc>
                  <a:txBody>
                    <a:bodyPr/>
                    <a:lstStyle/>
                    <a:p>
                      <a:endParaRPr lang="en-US"/>
                    </a:p>
                  </a:txBody>
                  <a:tcPr/>
                </a:tc>
                <a:extLst>
                  <a:ext uri="{0D108BD9-81ED-4DB2-BD59-A6C34878D82A}">
                    <a16:rowId xmlns:a16="http://schemas.microsoft.com/office/drawing/2014/main" val="585666054"/>
                  </a:ext>
                </a:extLst>
              </a:tr>
              <a:tr h="370840">
                <a:tc>
                  <a:txBody>
                    <a:bodyPr/>
                    <a:lstStyle/>
                    <a:p>
                      <a:endParaRPr lang="en-US" b="1"/>
                    </a:p>
                  </a:txBody>
                  <a:tcPr/>
                </a:tc>
                <a:tc>
                  <a:txBody>
                    <a:bodyPr/>
                    <a:lstStyle/>
                    <a:p>
                      <a:endParaRPr lang="en-US"/>
                    </a:p>
                  </a:txBody>
                  <a:tcPr/>
                </a:tc>
                <a:extLst>
                  <a:ext uri="{0D108BD9-81ED-4DB2-BD59-A6C34878D82A}">
                    <a16:rowId xmlns:a16="http://schemas.microsoft.com/office/drawing/2014/main" val="2196574469"/>
                  </a:ext>
                </a:extLst>
              </a:tr>
            </a:tbl>
          </a:graphicData>
        </a:graphic>
      </p:graphicFrame>
      <p:sp>
        <p:nvSpPr>
          <p:cNvPr id="3" name="Title 5">
            <a:extLst>
              <a:ext uri="{FF2B5EF4-FFF2-40B4-BE49-F238E27FC236}">
                <a16:creationId xmlns:a16="http://schemas.microsoft.com/office/drawing/2014/main" id="{6B0C28EC-6E3D-FD6D-AF30-B9776526C41D}"/>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git terminology part 2</a:t>
            </a:r>
          </a:p>
        </p:txBody>
      </p:sp>
    </p:spTree>
    <p:extLst>
      <p:ext uri="{BB962C8B-B14F-4D97-AF65-F5344CB8AC3E}">
        <p14:creationId xmlns:p14="http://schemas.microsoft.com/office/powerpoint/2010/main" val="2009006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2686</TotalTime>
  <Words>4803</Words>
  <Application>Microsoft Macintosh PowerPoint</Application>
  <PresentationFormat>Widescreen</PresentationFormat>
  <Paragraphs>489</Paragraphs>
  <Slides>36</Slides>
  <Notes>25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36</vt:i4>
      </vt:variant>
    </vt:vector>
  </HeadingPairs>
  <TitlesOfParts>
    <vt:vector size="45" baseType="lpstr">
      <vt:lpstr>Aptos</vt:lpstr>
      <vt:lpstr>Aptos Display</vt:lpstr>
      <vt:lpstr>Arial</vt:lpstr>
      <vt:lpstr>Calibri</vt:lpstr>
      <vt:lpstr>Consolas</vt:lpstr>
      <vt:lpstr>Menlo</vt:lpstr>
      <vt:lpstr>Wingdings</vt:lpstr>
      <vt:lpstr>Office Theme</vt:lpstr>
      <vt:lpstr>1_Office Theme</vt:lpstr>
      <vt:lpstr>$ Command line 101: $ git/GitHub on the cluster &amp; your computer</vt:lpstr>
      <vt:lpstr>PowerPoint Presentation</vt:lpstr>
      <vt:lpstr>Steps to participate in hands on workshop</vt:lpstr>
      <vt:lpstr>Connecting to the cluster</vt:lpstr>
      <vt:lpstr>Create conda env for gh CLI</vt:lpstr>
      <vt:lpstr>Changing file names is not version control</vt:lpstr>
      <vt:lpstr>Git is manual version control</vt:lpstr>
      <vt:lpstr>Why use git over Google Drive, Word, etc?</vt:lpstr>
      <vt:lpstr>What is git?</vt:lpstr>
      <vt:lpstr>PowerPoint Presentation</vt:lpstr>
      <vt:lpstr>PowerPoint Presentation</vt:lpstr>
      <vt:lpstr>PowerPoint Presentation</vt:lpstr>
      <vt:lpstr>PowerPoint Presentation</vt:lpstr>
      <vt:lpstr>PowerPoint Presentation</vt:lpstr>
      <vt:lpstr>What to upload</vt:lpstr>
      <vt:lpstr>Steps to create a repo on GitHub using git and gh cli</vt:lpstr>
      <vt:lpstr>Steps to create a repo on GitHub using git and gh cli</vt:lpstr>
      <vt:lpstr>Steps to create a repo on GitHub using git and gh cli</vt:lpstr>
      <vt:lpstr>Steps to create a repo on GitHub using GitHub Desktop</vt:lpstr>
      <vt:lpstr>Making and pushing new commits</vt:lpstr>
      <vt:lpstr>Git takeaways</vt:lpstr>
      <vt:lpstr>Collaborating using GitHub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Branching, merging, and conflicts</vt:lpstr>
      <vt:lpstr>Branching, merging, and conflicts</vt:lpstr>
      <vt:lpstr>visual demo of branching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 Lei</dc:creator>
  <cp:lastModifiedBy>Ma, Lei</cp:lastModifiedBy>
  <cp:revision>10</cp:revision>
  <dcterms:created xsi:type="dcterms:W3CDTF">2026-02-24T19:12:55Z</dcterms:created>
  <dcterms:modified xsi:type="dcterms:W3CDTF">2026-02-26T15:59:12Z</dcterms:modified>
</cp:coreProperties>
</file>