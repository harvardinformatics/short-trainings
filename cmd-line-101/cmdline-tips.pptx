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280" r:id="rId2"/>
    <p:sldId id="306" r:id="rId3"/>
    <p:sldId id="308" r:id="rId4"/>
    <p:sldId id="307" r:id="rId5"/>
    <p:sldId id="305" r:id="rId6"/>
    <p:sldId id="304" r:id="rId7"/>
    <p:sldId id="315" r:id="rId8"/>
    <p:sldId id="281" r:id="rId9"/>
    <p:sldId id="283" r:id="rId10"/>
    <p:sldId id="282" r:id="rId11"/>
    <p:sldId id="284" r:id="rId12"/>
    <p:sldId id="286" r:id="rId13"/>
    <p:sldId id="288" r:id="rId14"/>
    <p:sldId id="285" r:id="rId15"/>
    <p:sldId id="287" r:id="rId16"/>
    <p:sldId id="318" r:id="rId17"/>
    <p:sldId id="317" r:id="rId18"/>
    <p:sldId id="316" r:id="rId19"/>
    <p:sldId id="289" r:id="rId20"/>
    <p:sldId id="319" r:id="rId21"/>
    <p:sldId id="290" r:id="rId22"/>
    <p:sldId id="291" r:id="rId23"/>
    <p:sldId id="292" r:id="rId24"/>
    <p:sldId id="293" r:id="rId25"/>
    <p:sldId id="294" r:id="rId26"/>
    <p:sldId id="295" r:id="rId27"/>
    <p:sldId id="321" r:id="rId28"/>
    <p:sldId id="320" r:id="rId29"/>
    <p:sldId id="323" r:id="rId30"/>
    <p:sldId id="322" r:id="rId31"/>
    <p:sldId id="324" r:id="rId32"/>
    <p:sldId id="325" r:id="rId33"/>
    <p:sldId id="326" r:id="rId34"/>
    <p:sldId id="297" r:id="rId35"/>
    <p:sldId id="327" r:id="rId36"/>
    <p:sldId id="298" r:id="rId37"/>
    <p:sldId id="262" r:id="rId38"/>
    <p:sldId id="328" r:id="rId39"/>
    <p:sldId id="300" r:id="rId40"/>
    <p:sldId id="301" r:id="rId41"/>
    <p:sldId id="352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1C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2385"/>
  </p:normalViewPr>
  <p:slideViewPr>
    <p:cSldViewPr snapToGrid="0">
      <p:cViewPr varScale="1">
        <p:scale>
          <a:sx n="143" d="100"/>
          <a:sy n="143" d="100"/>
        </p:scale>
        <p:origin x="86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CD55E8-6712-47A9-BBFF-A75E8B596925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037BD4-6423-49A6-98B3-CA2A05F2F9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7942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105D6-7458-19D0-D9B7-93BB86931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8C2620-DF61-95CF-357E-375A839B52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0BBBFC-E1F5-626D-C4D2-6A691B7A03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command prompt and not to use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5C2254-C1D9-AA6A-2D2B-6CAAD7DC34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8203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69141-792F-00CB-B514-C154CD699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239462-9DB8-8BA2-0714-155676F71C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B2CD0A-A81D-843B-0BC1-23475D7A6D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command prompt and not to use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40599E-3A57-0F32-8A12-4CB702F024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6431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1A125-996F-960D-F03A-4C079BB2D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2ECC47-7A0E-F9AF-3B29-F1D92789EA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FF803C-13DE-E6AA-81F7-75B830F396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command prompt and not to use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55239B-1A21-E0B2-61D1-4597287AA6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2533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0F95A-12A8-B7B0-BECC-282EA9E84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E0716A-996D-D941-F1EE-A8AC052ED0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C8845F-EE87-4069-55A7-17FDEE52A3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command prompt and not to use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9D4BD4-5D40-21B7-2314-795FE26D02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8983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FDF73-4BEC-278D-44DB-B9C860FB9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4148A9-15D9-1C64-C091-4DDD8B9532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AF0C67-A704-2D3B-BE49-89747C9443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command prompt and not to use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1FD140-AAA3-F542-6FA0-11686767DB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6499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D1B81-F718-6ADF-957C-47F517E0C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1CF9E7-72BF-59B7-4277-0B2A01F0CF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C66184-DF00-D324-5832-051D5229C9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command prompt and not to use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A5BF3C-DC9C-AB63-631D-85FBA8C4A4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4061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8E5D6-855C-C142-83DA-3A5144FE1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8DDCB1-879D-A6CF-C204-977F50EBD4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7A505C-5A8C-2A49-B26E-97B20A9C30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Think of a path like a human readable address for a file on a computer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EA1BC4-403A-F5D2-9B78-B7C9E990F7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3876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58214-C141-F6B9-AA1D-746E9DB0C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A5CC9E-DBEF-1AF0-E2B7-8F689EB23A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A2D70F-0420-16C4-436B-0864550749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Think of a path like a human readable address for a file on a computer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7E2D50-52BD-9496-D4A5-337033A9A1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9092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CC260-65D6-5C66-2390-CB1BD438A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AE21B5-46FE-E895-6AD1-85CBF9BB25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49C58A-0CFA-0547-646B-26D4D8B830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Think of a path like a human readable address for a file on a computer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650597-6EBF-E40A-6DB8-80F488FE68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7905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3C42A-3694-A63E-DA70-6339A9463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72D647-94E1-8896-CAC6-CAB1B97DB0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C04F5F-80F6-6EC3-C110-4F56522A2E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command prompt and not to use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A919FD-5C58-879C-0860-4BD81516EE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6220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A5ABD-E82C-59CD-C8B8-5F95CCFAE6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66FBDE-E490-9051-0488-2BCE3C290F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575AB8-C384-CC8C-53D5-7A4B27BC7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6B4F0-C34F-B24F-B974-1303EBE688C1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6D80DB-A9B6-E2A7-1072-D8D408B57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686396-4434-4D8A-CFA7-CA2EBD86A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37D7D-1841-EF41-B2DF-EFB50B148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745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C6859-33F6-C900-4E03-3F5E547FB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FF45A-3C14-92E2-623E-04E6A4629D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CF3F03-C7C7-62C2-1FD8-03D8726C5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6B4F0-C34F-B24F-B974-1303EBE688C1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AB880F-7B62-74CE-D9D8-6A684CF40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101E11-A33E-9A37-67C2-895FF48CB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37D7D-1841-EF41-B2DF-EFB50B148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1635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BA2EA-5E54-470E-BA15-081108FC3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872DD8-67C0-3A4E-BAD6-8B336F8F01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BEFA3A-54D4-11B3-3A2A-B53A98E9E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6B4F0-C34F-B24F-B974-1303EBE688C1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9CC61F-D6AA-80D4-C737-69A19AEEB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002F7A-2F4D-AFF7-4C73-EC5DFF6E5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37D7D-1841-EF41-B2DF-EFB50B148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462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BC53E-CEAD-D721-EF70-5EBC91AEE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717C37-3A26-80D5-2CC2-8F490F1C87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C60C9B-317D-213F-3B4A-ED9EC40AB0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1A39D7-3E65-A6EF-4FFD-40138FCC5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6B4F0-C34F-B24F-B974-1303EBE688C1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13E6C6-1831-6052-12BF-449E3A755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0EDA9D-015C-0DF5-1357-3072A2C3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37D7D-1841-EF41-B2DF-EFB50B148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740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978AE-F36E-8AE7-1694-4E04FDC8D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D8DBB1-185D-A22E-8745-7D283678E7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F1EA6F-B95F-FEC3-B0F6-D395C1080A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9EBC9B-EB4F-9763-8290-97F255265B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1F0D9E-A68A-07B5-5E84-2DE96FF8F6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8F6FF0-E8A1-8A7E-E8CC-633F5C304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6B4F0-C34F-B24F-B974-1303EBE688C1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51F1DD-12AC-1940-F2BD-BD69442DE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9F6481-953F-D02F-8F1F-30E69D57F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37D7D-1841-EF41-B2DF-EFB50B148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928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9DCB5-9418-1825-A301-65D6110E5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37E2B2-54CA-60D4-63CE-7CD895E10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6B4F0-C34F-B24F-B974-1303EBE688C1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DF3ED3-CAEC-1033-5E54-3D15BA084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0DAB57-B8EF-030E-701F-5E6E02EF1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37D7D-1841-EF41-B2DF-EFB50B148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762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D22928-E561-F379-5F87-224A12E87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6B4F0-C34F-B24F-B974-1303EBE688C1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6A1192-E9E1-AEDD-FD49-B80FEC72A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2B9D94-6DEF-A729-630E-BD84F974F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37D7D-1841-EF41-B2DF-EFB50B148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33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2E4E3-878E-AA98-E784-D919AA0B2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FDBDA-E71A-7995-21B6-3F67DA8B83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A8D8F9-683D-BD5E-B2F6-6EEC88C6AD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07B41C-B2C8-4C36-A4DA-A40FF20C4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6B4F0-C34F-B24F-B974-1303EBE688C1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659ADB-B437-2F30-7B7A-6BE5FAC6D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08DA0B-B7CA-07B5-226F-30A8C9391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37D7D-1841-EF41-B2DF-EFB50B148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074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AD5DF-7D8E-E754-EFA9-B8AEE8831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DD0004-08D4-BB3F-7CC1-D7AE5F63B9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C8F891-7B42-3CDD-FEF1-979FA71799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4300A6-D60D-1D21-8C27-68A7966BB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6B4F0-C34F-B24F-B974-1303EBE688C1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5AE8C9-C3C4-6CF7-68C0-F44D6B3A8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9BE6F7-4D77-355B-CC19-5C220E083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37D7D-1841-EF41-B2DF-EFB50B148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780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8B3F4-204E-9969-A0A7-E268A8A5F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866B9F-872C-F0B2-7FE0-1CF9320912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7E964E-D686-AE68-59B6-11B6418FF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6B4F0-C34F-B24F-B974-1303EBE688C1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2C5D64-3C1A-4B81-D6D8-456A40E33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485934-D424-8DFB-0D76-F3980F5D3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37D7D-1841-EF41-B2DF-EFB50B148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800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3A1495-FA61-AAD3-D324-BAEAAD3DA4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37F685-A5D4-B227-4F2F-7FB667163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883D8A-CF94-6C0F-3BC7-5004674EB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6B4F0-C34F-B24F-B974-1303EBE688C1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FDA85D-391B-27A2-EF6B-B90AD426F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42548B-6AB7-E782-45AD-AC8F0D749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37D7D-1841-EF41-B2DF-EFB50B148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670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E90F4A-3FF2-3112-9E5D-5677617B2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CE6300-3497-8032-F077-AE4E08B01B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C2D7CA-538A-D7E9-37D6-68280D6B96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86B4F0-C34F-B24F-B974-1303EBE688C1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6E1F64-2284-FE40-4F66-D3281111FB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E336C8-488F-9F99-B67C-46E419258D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A37D7D-1841-EF41-B2DF-EFB50B148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317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informatics.fas.harvard.edu/resources/glossary/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emf"/><Relationship Id="rId5" Type="http://schemas.openxmlformats.org/officeDocument/2006/relationships/image" Target="../media/image2.jpeg"/><Relationship Id="rId4" Type="http://schemas.openxmlformats.org/officeDocument/2006/relationships/image" Target="../media/image10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emf"/><Relationship Id="rId5" Type="http://schemas.openxmlformats.org/officeDocument/2006/relationships/image" Target="../media/image2.jpeg"/><Relationship Id="rId4" Type="http://schemas.openxmlformats.org/officeDocument/2006/relationships/image" Target="../media/image10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2.jpeg"/><Relationship Id="rId4" Type="http://schemas.openxmlformats.org/officeDocument/2006/relationships/image" Target="../media/image10.sv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svg"/><Relationship Id="rId4" Type="http://schemas.openxmlformats.org/officeDocument/2006/relationships/image" Target="../media/image2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svg"/><Relationship Id="rId4" Type="http://schemas.openxmlformats.org/officeDocument/2006/relationships/image" Target="../media/image24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svg"/><Relationship Id="rId7" Type="http://schemas.openxmlformats.org/officeDocument/2006/relationships/image" Target="../media/image27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svg"/><Relationship Id="rId4" Type="http://schemas.openxmlformats.org/officeDocument/2006/relationships/image" Target="../media/image24.png"/><Relationship Id="rId9" Type="http://schemas.openxmlformats.org/officeDocument/2006/relationships/image" Target="../media/image29.sv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svg"/><Relationship Id="rId7" Type="http://schemas.openxmlformats.org/officeDocument/2006/relationships/image" Target="../media/image27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svg"/><Relationship Id="rId4" Type="http://schemas.openxmlformats.org/officeDocument/2006/relationships/image" Target="../media/image24.png"/><Relationship Id="rId9" Type="http://schemas.openxmlformats.org/officeDocument/2006/relationships/image" Target="../media/image29.sv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svg"/><Relationship Id="rId7" Type="http://schemas.openxmlformats.org/officeDocument/2006/relationships/image" Target="../media/image27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svg"/><Relationship Id="rId4" Type="http://schemas.openxmlformats.org/officeDocument/2006/relationships/image" Target="../media/image24.png"/><Relationship Id="rId9" Type="http://schemas.openxmlformats.org/officeDocument/2006/relationships/image" Target="../media/image29.sv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svg"/><Relationship Id="rId7" Type="http://schemas.openxmlformats.org/officeDocument/2006/relationships/image" Target="../media/image27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svg"/><Relationship Id="rId4" Type="http://schemas.openxmlformats.org/officeDocument/2006/relationships/image" Target="../media/image24.png"/><Relationship Id="rId9" Type="http://schemas.openxmlformats.org/officeDocument/2006/relationships/image" Target="../media/image29.sv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svg"/><Relationship Id="rId7" Type="http://schemas.openxmlformats.org/officeDocument/2006/relationships/image" Target="../media/image27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svg"/><Relationship Id="rId4" Type="http://schemas.openxmlformats.org/officeDocument/2006/relationships/image" Target="../media/image24.png"/><Relationship Id="rId9" Type="http://schemas.openxmlformats.org/officeDocument/2006/relationships/image" Target="../media/image29.sv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svg"/><Relationship Id="rId7" Type="http://schemas.openxmlformats.org/officeDocument/2006/relationships/image" Target="../media/image27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svg"/><Relationship Id="rId4" Type="http://schemas.openxmlformats.org/officeDocument/2006/relationships/image" Target="../media/image24.png"/><Relationship Id="rId9" Type="http://schemas.openxmlformats.org/officeDocument/2006/relationships/image" Target="../media/image29.sv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svg"/><Relationship Id="rId7" Type="http://schemas.openxmlformats.org/officeDocument/2006/relationships/image" Target="../media/image27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svg"/><Relationship Id="rId4" Type="http://schemas.openxmlformats.org/officeDocument/2006/relationships/image" Target="../media/image24.png"/><Relationship Id="rId9" Type="http://schemas.openxmlformats.org/officeDocument/2006/relationships/image" Target="../media/image29.sv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svg"/><Relationship Id="rId7" Type="http://schemas.openxmlformats.org/officeDocument/2006/relationships/image" Target="../media/image27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11" Type="http://schemas.openxmlformats.org/officeDocument/2006/relationships/image" Target="../media/image35.svg"/><Relationship Id="rId5" Type="http://schemas.openxmlformats.org/officeDocument/2006/relationships/image" Target="../media/image25.svg"/><Relationship Id="rId10" Type="http://schemas.openxmlformats.org/officeDocument/2006/relationships/image" Target="../media/image34.png"/><Relationship Id="rId4" Type="http://schemas.openxmlformats.org/officeDocument/2006/relationships/image" Target="../media/image24.png"/><Relationship Id="rId9" Type="http://schemas.openxmlformats.org/officeDocument/2006/relationships/image" Target="../media/image29.sv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58677DF-0627-BDC6-9C23-C3EBC33F697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8D15E9-D3C5-4D56-EC73-260C90963F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426314"/>
            <a:ext cx="12192000" cy="1204913"/>
          </a:xfrm>
        </p:spPr>
        <p:txBody>
          <a:bodyPr>
            <a:normAutofit fontScale="90000"/>
          </a:bodyPr>
          <a:lstStyle/>
          <a:p>
            <a:pPr algn="l"/>
            <a:r>
              <a:rPr lang="en-US" sz="4000" dirty="0">
                <a:solidFill>
                  <a:srgbClr val="33FF33"/>
                </a:solidFill>
                <a:latin typeface="Consolas" panose="020B0609020204030204" pitchFamily="49" charset="0"/>
              </a:rPr>
              <a:t>$</a:t>
            </a:r>
            <a:r>
              <a:rPr lang="en-US" sz="2400" dirty="0">
                <a:solidFill>
                  <a:srgbClr val="33FF33"/>
                </a:solidFill>
                <a:latin typeface="Consolas" panose="020B0609020204030204" pitchFamily="49" charset="0"/>
              </a:rPr>
              <a:t> </a:t>
            </a:r>
            <a:r>
              <a:rPr lang="en-US" sz="4000" dirty="0">
                <a:solidFill>
                  <a:srgbClr val="33FF33"/>
                </a:solidFill>
                <a:latin typeface="Consolas" panose="020B0609020204030204" pitchFamily="49" charset="0"/>
              </a:rPr>
              <a:t>Command line 101:</a:t>
            </a:r>
            <a:br>
              <a:rPr lang="en-US" sz="4000" dirty="0">
                <a:solidFill>
                  <a:srgbClr val="33FF33"/>
                </a:solidFill>
                <a:latin typeface="Consolas" panose="020B0609020204030204" pitchFamily="49" charset="0"/>
              </a:rPr>
            </a:br>
            <a:r>
              <a:rPr lang="en-US" sz="4000" dirty="0">
                <a:solidFill>
                  <a:srgbClr val="33FF33"/>
                </a:solidFill>
                <a:latin typeface="Consolas" panose="020B0609020204030204" pitchFamily="49" charset="0"/>
              </a:rPr>
              <a:t>$</a:t>
            </a:r>
            <a:r>
              <a:rPr lang="en-US" sz="2400" dirty="0">
                <a:solidFill>
                  <a:srgbClr val="33FF33"/>
                </a:solidFill>
                <a:latin typeface="Consolas" panose="020B0609020204030204" pitchFamily="49" charset="0"/>
              </a:rPr>
              <a:t> </a:t>
            </a:r>
            <a:r>
              <a:rPr lang="en-US" sz="4000" dirty="0">
                <a:solidFill>
                  <a:srgbClr val="33FF33"/>
                </a:solidFill>
                <a:latin typeface="Consolas" panose="020B0609020204030204" pitchFamily="49" charset="0"/>
              </a:rPr>
              <a:t>Tips &amp; tricks for aspiring power users</a:t>
            </a:r>
            <a:br>
              <a:rPr lang="en-US" sz="4000" dirty="0">
                <a:solidFill>
                  <a:srgbClr val="33FF33"/>
                </a:solidFill>
                <a:latin typeface="Consolas" panose="020B0609020204030204" pitchFamily="49" charset="0"/>
              </a:rPr>
            </a:br>
            <a:r>
              <a:rPr lang="en-US" sz="4000" dirty="0">
                <a:solidFill>
                  <a:srgbClr val="33FF33"/>
                </a:solidFill>
                <a:latin typeface="Consolas" panose="020B0609020204030204" pitchFamily="49" charset="0"/>
              </a:rPr>
              <a:t>$ Work smarter not harder &amp; type less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F930FF-0D52-8019-4787-F80035CFA7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631226"/>
            <a:ext cx="10668000" cy="2573337"/>
          </a:xfrm>
        </p:spPr>
        <p:txBody>
          <a:bodyPr>
            <a:normAutofit/>
          </a:bodyPr>
          <a:lstStyle/>
          <a:p>
            <a:pPr algn="l"/>
            <a:r>
              <a:rPr lang="en-US" sz="4000" dirty="0">
                <a:solidFill>
                  <a:srgbClr val="33FF33"/>
                </a:solidFill>
                <a:latin typeface="Consolas" panose="020B0609020204030204" pitchFamily="49" charset="0"/>
              </a:rPr>
              <a:t>$</a:t>
            </a:r>
            <a:r>
              <a:rPr lang="en-US" dirty="0">
                <a:solidFill>
                  <a:srgbClr val="33FF33"/>
                </a:solidFill>
                <a:latin typeface="Consolas" panose="020B0609020204030204" pitchFamily="49" charset="0"/>
              </a:rPr>
              <a:t> Harvard FAS Informatics virtual training</a:t>
            </a:r>
          </a:p>
          <a:p>
            <a:pPr algn="l"/>
            <a:r>
              <a:rPr lang="en-US" sz="4000" dirty="0">
                <a:solidFill>
                  <a:srgbClr val="33FF33"/>
                </a:solidFill>
                <a:latin typeface="Consolas" panose="020B0609020204030204" pitchFamily="49" charset="0"/>
              </a:rPr>
              <a:t>$</a:t>
            </a:r>
            <a:r>
              <a:rPr lang="en-US" dirty="0">
                <a:solidFill>
                  <a:srgbClr val="33FF33"/>
                </a:solidFill>
                <a:latin typeface="Consolas" panose="020B0609020204030204" pitchFamily="49" charset="0"/>
              </a:rPr>
              <a:t> Thursday, February 12, 2026</a:t>
            </a:r>
          </a:p>
          <a:p>
            <a:pPr algn="l"/>
            <a:r>
              <a:rPr lang="en-US" sz="4000" dirty="0">
                <a:solidFill>
                  <a:srgbClr val="33FF33"/>
                </a:solidFill>
                <a:latin typeface="Consolas" panose="020B0609020204030204" pitchFamily="49" charset="0"/>
              </a:rPr>
              <a:t>$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F140393-AEA2-A958-0E1D-DBF9A848BC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050" y="2998064"/>
            <a:ext cx="584200" cy="58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8609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8DF18-BF00-6D3D-42FA-C3F455574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69A37-D430-1B50-20EE-37B20EC5C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374" y="159716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/>
              <a:t>File systems</a:t>
            </a:r>
            <a:r>
              <a:rPr lang="en-US" dirty="0"/>
              <a:t> are user-facing ways to organize information on a computer</a:t>
            </a:r>
            <a:endParaRPr lang="en-US" b="1" dirty="0"/>
          </a:p>
        </p:txBody>
      </p:sp>
      <p:pic>
        <p:nvPicPr>
          <p:cNvPr id="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DD5E9CB5-81F9-350D-F4B0-4E4A60AF9B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169732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BF44787-35CC-320D-28C1-9BF462C205D6}"/>
              </a:ext>
            </a:extLst>
          </p:cNvPr>
          <p:cNvSpPr txBox="1"/>
          <p:nvPr/>
        </p:nvSpPr>
        <p:spPr>
          <a:xfrm>
            <a:off x="1739486" y="1956767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A06DD786-CC68-5358-344C-980EECE4C1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25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8D195BB9-4E1A-248A-2B39-8E4E072E81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71F9305D-AA9C-5A80-D6E7-D59DCB8815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C8362AA1-9ACD-7CBA-2B7B-33E8E53012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9619CDA7-F14A-6F78-044D-97D5C070B2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86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7F0CAB1-05B8-80A5-5FA5-1AF216EAD1EF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52393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AEE4145-AFD6-DD2A-6307-B7A1DA124A39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126323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EA3CADD-5E79-DD08-7F59-7C5A4A568BC7}"/>
              </a:ext>
            </a:extLst>
          </p:cNvPr>
          <p:cNvCxnSpPr>
            <a:cxnSpLocks/>
          </p:cNvCxnSpPr>
          <p:nvPr/>
        </p:nvCxnSpPr>
        <p:spPr>
          <a:xfrm flipV="1">
            <a:off x="2216876" y="2585543"/>
            <a:ext cx="0" cy="3351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F8B1246-347A-5E7B-DA27-5581C4145F19}"/>
              </a:ext>
            </a:extLst>
          </p:cNvPr>
          <p:cNvCxnSpPr>
            <a:cxnSpLocks/>
          </p:cNvCxnSpPr>
          <p:nvPr/>
        </p:nvCxnSpPr>
        <p:spPr>
          <a:xfrm>
            <a:off x="253641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84B546B-8E95-3474-237D-2D59EF7BEB6B}"/>
              </a:ext>
            </a:extLst>
          </p:cNvPr>
          <p:cNvCxnSpPr>
            <a:cxnSpLocks/>
          </p:cNvCxnSpPr>
          <p:nvPr/>
        </p:nvCxnSpPr>
        <p:spPr>
          <a:xfrm>
            <a:off x="269198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62C56D2-030C-6F43-0913-5E59B64F2802}"/>
              </a:ext>
            </a:extLst>
          </p:cNvPr>
          <p:cNvSpPr txBox="1"/>
          <p:nvPr/>
        </p:nvSpPr>
        <p:spPr>
          <a:xfrm>
            <a:off x="78698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var/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AADD5C0-7D09-CB5D-0050-E9A0DEE78147}"/>
              </a:ext>
            </a:extLst>
          </p:cNvPr>
          <p:cNvSpPr txBox="1"/>
          <p:nvPr/>
        </p:nvSpPr>
        <p:spPr>
          <a:xfrm>
            <a:off x="269516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etc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EB6128F-CE4B-F28F-CFC4-FD0D107C2898}"/>
              </a:ext>
            </a:extLst>
          </p:cNvPr>
          <p:cNvSpPr txBox="1"/>
          <p:nvPr/>
        </p:nvSpPr>
        <p:spPr>
          <a:xfrm>
            <a:off x="3431288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usr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84370B9-29B1-5A53-4941-1C6074C723E7}"/>
              </a:ext>
            </a:extLst>
          </p:cNvPr>
          <p:cNvSpPr txBox="1"/>
          <p:nvPr/>
        </p:nvSpPr>
        <p:spPr>
          <a:xfrm>
            <a:off x="174266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home/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C7F1C0E-4308-4D78-0B26-5BD3FBD6DAB8}"/>
              </a:ext>
            </a:extLst>
          </p:cNvPr>
          <p:cNvCxnSpPr>
            <a:cxnSpLocks/>
          </p:cNvCxnSpPr>
          <p:nvPr/>
        </p:nvCxnSpPr>
        <p:spPr>
          <a:xfrm flipV="1">
            <a:off x="530560" y="3435720"/>
            <a:ext cx="0" cy="1214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B9F0CD4-76F1-83C9-4B4F-D99224CC782A}"/>
              </a:ext>
            </a:extLst>
          </p:cNvPr>
          <p:cNvCxnSpPr>
            <a:cxnSpLocks/>
          </p:cNvCxnSpPr>
          <p:nvPr/>
        </p:nvCxnSpPr>
        <p:spPr>
          <a:xfrm>
            <a:off x="610320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95283B2-6F69-31B5-62B0-DD1279F36BBA}"/>
              </a:ext>
            </a:extLst>
          </p:cNvPr>
          <p:cNvCxnSpPr>
            <a:cxnSpLocks/>
          </p:cNvCxnSpPr>
          <p:nvPr/>
        </p:nvCxnSpPr>
        <p:spPr>
          <a:xfrm flipV="1">
            <a:off x="327075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68DF875-B6B0-6D6A-0D70-D8D4A3A5BA0B}"/>
              </a:ext>
            </a:extLst>
          </p:cNvPr>
          <p:cNvCxnSpPr>
            <a:cxnSpLocks/>
          </p:cNvCxnSpPr>
          <p:nvPr/>
        </p:nvCxnSpPr>
        <p:spPr>
          <a:xfrm flipV="1">
            <a:off x="1256043" y="3441742"/>
            <a:ext cx="0" cy="1398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36BE638-6A39-13B7-3B1E-73898088C9CC}"/>
              </a:ext>
            </a:extLst>
          </p:cNvPr>
          <p:cNvCxnSpPr>
            <a:cxnSpLocks/>
          </p:cNvCxnSpPr>
          <p:nvPr/>
        </p:nvCxnSpPr>
        <p:spPr>
          <a:xfrm>
            <a:off x="1335803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2273A76-F058-F7CF-141B-D2F306011E5D}"/>
              </a:ext>
            </a:extLst>
          </p:cNvPr>
          <p:cNvCxnSpPr>
            <a:cxnSpLocks/>
          </p:cNvCxnSpPr>
          <p:nvPr/>
        </p:nvCxnSpPr>
        <p:spPr>
          <a:xfrm flipV="1">
            <a:off x="1052558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8760E51-74EF-9017-87AC-CD49DEA486EC}"/>
              </a:ext>
            </a:extLst>
          </p:cNvPr>
          <p:cNvCxnSpPr>
            <a:cxnSpLocks/>
          </p:cNvCxnSpPr>
          <p:nvPr/>
        </p:nvCxnSpPr>
        <p:spPr>
          <a:xfrm flipV="1">
            <a:off x="3181694" y="3429522"/>
            <a:ext cx="0" cy="14753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8355766-68BD-546D-3D7F-04F92966DD9E}"/>
              </a:ext>
            </a:extLst>
          </p:cNvPr>
          <p:cNvCxnSpPr>
            <a:cxnSpLocks/>
          </p:cNvCxnSpPr>
          <p:nvPr/>
        </p:nvCxnSpPr>
        <p:spPr>
          <a:xfrm>
            <a:off x="3261454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1E2D8EB-C901-B59C-A731-9E09384B6A5D}"/>
              </a:ext>
            </a:extLst>
          </p:cNvPr>
          <p:cNvCxnSpPr>
            <a:cxnSpLocks/>
          </p:cNvCxnSpPr>
          <p:nvPr/>
        </p:nvCxnSpPr>
        <p:spPr>
          <a:xfrm flipV="1">
            <a:off x="2978209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106D1FE-C0C6-D951-3146-30623BE88ADD}"/>
              </a:ext>
            </a:extLst>
          </p:cNvPr>
          <p:cNvCxnSpPr>
            <a:cxnSpLocks/>
          </p:cNvCxnSpPr>
          <p:nvPr/>
        </p:nvCxnSpPr>
        <p:spPr>
          <a:xfrm flipV="1">
            <a:off x="3920996" y="3429522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9389529-A780-4A08-1850-6C1E2454F4DE}"/>
              </a:ext>
            </a:extLst>
          </p:cNvPr>
          <p:cNvCxnSpPr>
            <a:cxnSpLocks/>
          </p:cNvCxnSpPr>
          <p:nvPr/>
        </p:nvCxnSpPr>
        <p:spPr>
          <a:xfrm>
            <a:off x="4000756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062C9BF-6B86-AC39-0EDC-12AD7AC05ABE}"/>
              </a:ext>
            </a:extLst>
          </p:cNvPr>
          <p:cNvCxnSpPr>
            <a:cxnSpLocks/>
          </p:cNvCxnSpPr>
          <p:nvPr/>
        </p:nvCxnSpPr>
        <p:spPr>
          <a:xfrm flipV="1">
            <a:off x="3717511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9D07F6A8-8BFC-CAEA-9AA9-10C54A9D7B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D59B689F-4B06-5300-1DE9-2E5CF431BCCC}"/>
              </a:ext>
            </a:extLst>
          </p:cNvPr>
          <p:cNvSpPr txBox="1"/>
          <p:nvPr/>
        </p:nvSpPr>
        <p:spPr>
          <a:xfrm>
            <a:off x="176461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gregg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5" name="Picture 4" descr="Beige Folder Icon for Mac | Customizable and High-Quality">
            <a:extLst>
              <a:ext uri="{FF2B5EF4-FFF2-40B4-BE49-F238E27FC236}">
                <a16:creationId xmlns:a16="http://schemas.microsoft.com/office/drawing/2014/main" id="{775705B3-D489-ABDB-AD60-D627768D36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391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3BE3BAF3-7428-0936-2EF8-0894D80322E4}"/>
              </a:ext>
            </a:extLst>
          </p:cNvPr>
          <p:cNvSpPr txBox="1"/>
          <p:nvPr/>
        </p:nvSpPr>
        <p:spPr>
          <a:xfrm>
            <a:off x="279966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tim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FD07670A-2109-DAD2-8D68-0786768653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039" y="389223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887C4630-E808-DE5C-67C5-E74D9172018F}"/>
              </a:ext>
            </a:extLst>
          </p:cNvPr>
          <p:cNvSpPr txBox="1"/>
          <p:nvPr/>
        </p:nvSpPr>
        <p:spPr>
          <a:xfrm>
            <a:off x="751788" y="4164828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lei/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4FD55048-1877-3CBE-1465-ABBB4996F5E6}"/>
              </a:ext>
            </a:extLst>
          </p:cNvPr>
          <p:cNvCxnSpPr>
            <a:cxnSpLocks/>
          </p:cNvCxnSpPr>
          <p:nvPr/>
        </p:nvCxnSpPr>
        <p:spPr>
          <a:xfrm flipH="1" flipV="1">
            <a:off x="2214013" y="3557127"/>
            <a:ext cx="2863" cy="4650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6291DE0-7577-B3C5-6CB3-6030A6E39DE9}"/>
              </a:ext>
            </a:extLst>
          </p:cNvPr>
          <p:cNvCxnSpPr>
            <a:cxnSpLocks/>
          </p:cNvCxnSpPr>
          <p:nvPr/>
        </p:nvCxnSpPr>
        <p:spPr>
          <a:xfrm flipV="1">
            <a:off x="1205616" y="3544907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FBC7D58-FFF5-1B62-DE80-DC7CC75C53EC}"/>
              </a:ext>
            </a:extLst>
          </p:cNvPr>
          <p:cNvCxnSpPr>
            <a:cxnSpLocks/>
          </p:cNvCxnSpPr>
          <p:nvPr/>
        </p:nvCxnSpPr>
        <p:spPr>
          <a:xfrm>
            <a:off x="2574511" y="3509289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CB1C3E09-B4EB-8394-7B50-18987243B6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4266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EC684EBF-3536-3391-CDF9-2F360740B9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7274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9E2D4B3B-99FF-3F3D-7E90-5B36125F8A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58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692C7D63-1C11-4FFE-5C2D-43DA850B0717}"/>
              </a:ext>
            </a:extLst>
          </p:cNvPr>
          <p:cNvCxnSpPr>
            <a:cxnSpLocks/>
          </p:cNvCxnSpPr>
          <p:nvPr/>
        </p:nvCxnSpPr>
        <p:spPr>
          <a:xfrm flipH="1" flipV="1">
            <a:off x="2229418" y="4647296"/>
            <a:ext cx="2863" cy="4650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EB529DF-2AD8-C9C7-F894-3DB2D856EFF6}"/>
              </a:ext>
            </a:extLst>
          </p:cNvPr>
          <p:cNvCxnSpPr>
            <a:cxnSpLocks/>
          </p:cNvCxnSpPr>
          <p:nvPr/>
        </p:nvCxnSpPr>
        <p:spPr>
          <a:xfrm flipV="1">
            <a:off x="1221021" y="4635076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BD8A9FF2-5F67-D897-D68E-6F98EA6165B8}"/>
              </a:ext>
            </a:extLst>
          </p:cNvPr>
          <p:cNvCxnSpPr>
            <a:cxnSpLocks/>
          </p:cNvCxnSpPr>
          <p:nvPr/>
        </p:nvCxnSpPr>
        <p:spPr>
          <a:xfrm>
            <a:off x="2589916" y="4599458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9D7DDAFC-166E-B825-399C-B9554BC91159}"/>
              </a:ext>
            </a:extLst>
          </p:cNvPr>
          <p:cNvSpPr txBox="1"/>
          <p:nvPr/>
        </p:nvSpPr>
        <p:spPr>
          <a:xfrm>
            <a:off x="1753168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documents/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8566075-37B2-8F2C-7048-570CC115198F}"/>
              </a:ext>
            </a:extLst>
          </p:cNvPr>
          <p:cNvSpPr txBox="1"/>
          <p:nvPr/>
        </p:nvSpPr>
        <p:spPr>
          <a:xfrm>
            <a:off x="2837024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music/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8A8E275-6BC0-1582-0C18-9AD7EABBFFA4}"/>
              </a:ext>
            </a:extLst>
          </p:cNvPr>
          <p:cNvSpPr txBox="1"/>
          <p:nvPr/>
        </p:nvSpPr>
        <p:spPr>
          <a:xfrm>
            <a:off x="706451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Desktop/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56BEC7B-E560-9B4B-ACA9-60007687ACB0}"/>
              </a:ext>
            </a:extLst>
          </p:cNvPr>
          <p:cNvCxnSpPr>
            <a:cxnSpLocks/>
          </p:cNvCxnSpPr>
          <p:nvPr/>
        </p:nvCxnSpPr>
        <p:spPr>
          <a:xfrm flipV="1">
            <a:off x="1208998" y="4599458"/>
            <a:ext cx="0" cy="157656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07C756AD-BC6E-AE12-1534-D48F954BEF3D}"/>
              </a:ext>
            </a:extLst>
          </p:cNvPr>
          <p:cNvCxnSpPr>
            <a:cxnSpLocks/>
          </p:cNvCxnSpPr>
          <p:nvPr/>
        </p:nvCxnSpPr>
        <p:spPr>
          <a:xfrm>
            <a:off x="1288758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CEB087D9-5808-E822-794C-D74B223F77C2}"/>
              </a:ext>
            </a:extLst>
          </p:cNvPr>
          <p:cNvCxnSpPr>
            <a:cxnSpLocks/>
          </p:cNvCxnSpPr>
          <p:nvPr/>
        </p:nvCxnSpPr>
        <p:spPr>
          <a:xfrm flipV="1">
            <a:off x="1005513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D34F7369-8DDE-9AB9-6EB6-1C1059A9B3F9}"/>
              </a:ext>
            </a:extLst>
          </p:cNvPr>
          <p:cNvCxnSpPr>
            <a:cxnSpLocks/>
          </p:cNvCxnSpPr>
          <p:nvPr/>
        </p:nvCxnSpPr>
        <p:spPr>
          <a:xfrm flipV="1">
            <a:off x="3243052" y="4641729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8A851419-8F88-09DB-A8D4-7FE017E99B9C}"/>
              </a:ext>
            </a:extLst>
          </p:cNvPr>
          <p:cNvCxnSpPr>
            <a:cxnSpLocks/>
          </p:cNvCxnSpPr>
          <p:nvPr/>
        </p:nvCxnSpPr>
        <p:spPr>
          <a:xfrm>
            <a:off x="3322812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6D90C789-96BC-B45D-2F31-94788C2A23C0}"/>
              </a:ext>
            </a:extLst>
          </p:cNvPr>
          <p:cNvCxnSpPr>
            <a:cxnSpLocks/>
          </p:cNvCxnSpPr>
          <p:nvPr/>
        </p:nvCxnSpPr>
        <p:spPr>
          <a:xfrm flipV="1">
            <a:off x="3039567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94D6FF2-EDD1-8954-A5CB-DB42A2D77369}"/>
              </a:ext>
            </a:extLst>
          </p:cNvPr>
          <p:cNvCxnSpPr>
            <a:cxnSpLocks/>
          </p:cNvCxnSpPr>
          <p:nvPr/>
        </p:nvCxnSpPr>
        <p:spPr>
          <a:xfrm flipV="1">
            <a:off x="3322812" y="5767010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606344A4-E97F-985F-81A1-FDBF05DF95F9}"/>
              </a:ext>
            </a:extLst>
          </p:cNvPr>
          <p:cNvCxnSpPr>
            <a:cxnSpLocks/>
          </p:cNvCxnSpPr>
          <p:nvPr/>
        </p:nvCxnSpPr>
        <p:spPr>
          <a:xfrm>
            <a:off x="3402572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FCD28834-1116-61F4-E836-000666A4E85D}"/>
              </a:ext>
            </a:extLst>
          </p:cNvPr>
          <p:cNvCxnSpPr>
            <a:cxnSpLocks/>
          </p:cNvCxnSpPr>
          <p:nvPr/>
        </p:nvCxnSpPr>
        <p:spPr>
          <a:xfrm flipV="1">
            <a:off x="3119327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02C7E01B-3AA0-8651-D13D-964DDDFF28E3}"/>
              </a:ext>
            </a:extLst>
          </p:cNvPr>
          <p:cNvCxnSpPr>
            <a:cxnSpLocks/>
          </p:cNvCxnSpPr>
          <p:nvPr/>
        </p:nvCxnSpPr>
        <p:spPr>
          <a:xfrm flipV="1">
            <a:off x="2229418" y="5780928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115B1CE-0E51-1498-3A13-6DAFCD200B59}"/>
              </a:ext>
            </a:extLst>
          </p:cNvPr>
          <p:cNvCxnSpPr>
            <a:cxnSpLocks/>
          </p:cNvCxnSpPr>
          <p:nvPr/>
        </p:nvCxnSpPr>
        <p:spPr>
          <a:xfrm>
            <a:off x="2309178" y="5761651"/>
            <a:ext cx="103641" cy="13466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9832B683-5057-8D95-BD76-FE9B896356FE}"/>
              </a:ext>
            </a:extLst>
          </p:cNvPr>
          <p:cNvCxnSpPr>
            <a:cxnSpLocks/>
          </p:cNvCxnSpPr>
          <p:nvPr/>
        </p:nvCxnSpPr>
        <p:spPr>
          <a:xfrm flipV="1">
            <a:off x="2025933" y="576165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9669E537-1E2E-69BC-ECAE-0C84E03F42FA}"/>
              </a:ext>
            </a:extLst>
          </p:cNvPr>
          <p:cNvCxnSpPr>
            <a:cxnSpLocks/>
          </p:cNvCxnSpPr>
          <p:nvPr/>
        </p:nvCxnSpPr>
        <p:spPr>
          <a:xfrm flipV="1">
            <a:off x="1205616" y="5761651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D3FF2CD8-5129-8138-64C3-CDFAA3B7CABF}"/>
              </a:ext>
            </a:extLst>
          </p:cNvPr>
          <p:cNvCxnSpPr>
            <a:cxnSpLocks/>
          </p:cNvCxnSpPr>
          <p:nvPr/>
        </p:nvCxnSpPr>
        <p:spPr>
          <a:xfrm>
            <a:off x="1285376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564E71B5-8B5E-545E-8087-76665D8CA2AE}"/>
              </a:ext>
            </a:extLst>
          </p:cNvPr>
          <p:cNvCxnSpPr>
            <a:cxnSpLocks/>
          </p:cNvCxnSpPr>
          <p:nvPr/>
        </p:nvCxnSpPr>
        <p:spPr>
          <a:xfrm flipV="1">
            <a:off x="1002131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6" name="Picture 65">
            <a:extLst>
              <a:ext uri="{FF2B5EF4-FFF2-40B4-BE49-F238E27FC236}">
                <a16:creationId xmlns:a16="http://schemas.microsoft.com/office/drawing/2014/main" id="{73AF139A-8A8C-E947-2D61-BE6BDE7898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5288" y="5924942"/>
            <a:ext cx="270449" cy="270450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B688A8BC-81D0-A8AD-B905-80A95D7CAE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161" y="5924942"/>
            <a:ext cx="270449" cy="270450"/>
          </a:xfrm>
          <a:prstGeom prst="rect">
            <a:avLst/>
          </a:prstGeom>
        </p:spPr>
      </p:pic>
      <p:pic>
        <p:nvPicPr>
          <p:cNvPr id="6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1B503BB3-59F2-7519-A046-DE1BF5E290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6576" y="5874884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96934ED8-EC31-5CF8-42BE-50C43245D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361" y="5894528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00FCA9D4-E4C1-E7C7-5378-B4CA2E3FA47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8502" y="5942980"/>
            <a:ext cx="270449" cy="270450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154CCB21-6B66-F60E-F48D-B952C8ADBB6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5621" y="5960300"/>
            <a:ext cx="253129" cy="253130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9A4169A0-38FD-2F7A-97C3-113D2C722FE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1763" y="5942980"/>
            <a:ext cx="270450" cy="270450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541A1790-A96C-7284-0DE2-7024FA48E69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2614" y="5951081"/>
            <a:ext cx="270450" cy="270450"/>
          </a:xfrm>
          <a:prstGeom prst="rect">
            <a:avLst/>
          </a:prstGeom>
        </p:spPr>
      </p:pic>
      <p:pic>
        <p:nvPicPr>
          <p:cNvPr id="7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9FC26284-B555-391D-DA61-1E5723AFCB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751" y="5888132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3163498-B604-05F5-8E00-34E4CDA5292A}"/>
              </a:ext>
            </a:extLst>
          </p:cNvPr>
          <p:cNvSpPr txBox="1"/>
          <p:nvPr/>
        </p:nvSpPr>
        <p:spPr>
          <a:xfrm>
            <a:off x="54310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bin/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63540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73106-F554-3EDD-6699-42A090B65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5F349-D1B2-ABBE-FE9D-B50201840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374" y="159716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You can interact with the file system of a computer through </a:t>
            </a:r>
            <a:r>
              <a:rPr lang="en-US" b="1" dirty="0"/>
              <a:t>text</a:t>
            </a:r>
            <a:r>
              <a:rPr lang="en-US" dirty="0"/>
              <a:t> interfaces called </a:t>
            </a:r>
            <a:r>
              <a:rPr lang="en-US" b="1" dirty="0"/>
              <a:t>command lines</a:t>
            </a:r>
            <a:r>
              <a:rPr lang="en-US" dirty="0"/>
              <a:t>*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B2F400-7CB2-7720-B734-27739747E7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0404" y="3489796"/>
            <a:ext cx="5115368" cy="959690"/>
          </a:xfrm>
          <a:prstGeom prst="rect">
            <a:avLst/>
          </a:prstGeom>
        </p:spPr>
      </p:pic>
      <p:sp>
        <p:nvSpPr>
          <p:cNvPr id="77" name="TextBox 76">
            <a:extLst>
              <a:ext uri="{FF2B5EF4-FFF2-40B4-BE49-F238E27FC236}">
                <a16:creationId xmlns:a16="http://schemas.microsoft.com/office/drawing/2014/main" id="{2B187478-3FC8-124E-90EA-48F4DE004D84}"/>
              </a:ext>
            </a:extLst>
          </p:cNvPr>
          <p:cNvSpPr txBox="1"/>
          <p:nvPr/>
        </p:nvSpPr>
        <p:spPr>
          <a:xfrm>
            <a:off x="2854997" y="6454003"/>
            <a:ext cx="60971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/>
              <a:t>* </a:t>
            </a:r>
            <a:r>
              <a:rPr lang="en-US" sz="1400" dirty="0">
                <a:hlinkClick r:id="rId4"/>
              </a:rPr>
              <a:t>https://informatics.fas.harvard.edu/resources/glossary/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33577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68F9D-A670-2424-C289-D2FE30496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D6FE0-78A7-1EA3-35FB-662534F02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374" y="159716"/>
            <a:ext cx="10515600" cy="1325563"/>
          </a:xfrm>
        </p:spPr>
        <p:txBody>
          <a:bodyPr/>
          <a:lstStyle/>
          <a:p>
            <a:r>
              <a:rPr lang="en-US" dirty="0"/>
              <a:t>How does our concept of file systems translate to text-based computing?</a:t>
            </a:r>
          </a:p>
        </p:txBody>
      </p:sp>
      <p:pic>
        <p:nvPicPr>
          <p:cNvPr id="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E9BB6659-FB5B-7E8F-068D-C3A2A5CABC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169732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559F2D8-6818-3CCC-B754-3667D6D90DEE}"/>
              </a:ext>
            </a:extLst>
          </p:cNvPr>
          <p:cNvSpPr txBox="1"/>
          <p:nvPr/>
        </p:nvSpPr>
        <p:spPr>
          <a:xfrm>
            <a:off x="1739486" y="1956767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48E7332A-209B-CC33-5C31-43510CF064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25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33D09D09-F746-AC6D-CDAD-38C0C18CA9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F00B655D-1C9E-0EC0-BC2E-505A9D123D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B9628A36-30D0-21A3-939B-3E54A6638A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61AF52EB-C24D-F858-955E-8FEEE90927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86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DD9F284-E0B9-29DF-1FF5-DF2F9FCF00BF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52393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5D21412-48B8-C75A-FD77-B469F162C0CD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126323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DD91D27-D11A-E007-0673-FC758C33AC6C}"/>
              </a:ext>
            </a:extLst>
          </p:cNvPr>
          <p:cNvCxnSpPr>
            <a:cxnSpLocks/>
          </p:cNvCxnSpPr>
          <p:nvPr/>
        </p:nvCxnSpPr>
        <p:spPr>
          <a:xfrm flipV="1">
            <a:off x="2216876" y="2585543"/>
            <a:ext cx="0" cy="3351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4E7ED28-5F3B-71D4-EF94-220EAB2A2AB0}"/>
              </a:ext>
            </a:extLst>
          </p:cNvPr>
          <p:cNvCxnSpPr>
            <a:cxnSpLocks/>
          </p:cNvCxnSpPr>
          <p:nvPr/>
        </p:nvCxnSpPr>
        <p:spPr>
          <a:xfrm>
            <a:off x="253641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3CBAF5D-198D-B196-8A89-F470D1B863EC}"/>
              </a:ext>
            </a:extLst>
          </p:cNvPr>
          <p:cNvCxnSpPr>
            <a:cxnSpLocks/>
          </p:cNvCxnSpPr>
          <p:nvPr/>
        </p:nvCxnSpPr>
        <p:spPr>
          <a:xfrm>
            <a:off x="269198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624B918-EEBA-865B-8EA4-C6B97F89E570}"/>
              </a:ext>
            </a:extLst>
          </p:cNvPr>
          <p:cNvSpPr txBox="1"/>
          <p:nvPr/>
        </p:nvSpPr>
        <p:spPr>
          <a:xfrm>
            <a:off x="78698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var/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558F826-A648-91FB-FA76-C14B9E7BC832}"/>
              </a:ext>
            </a:extLst>
          </p:cNvPr>
          <p:cNvSpPr txBox="1"/>
          <p:nvPr/>
        </p:nvSpPr>
        <p:spPr>
          <a:xfrm>
            <a:off x="269516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etc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6C4517F-050C-D3A3-64BD-987E9DB62332}"/>
              </a:ext>
            </a:extLst>
          </p:cNvPr>
          <p:cNvSpPr txBox="1"/>
          <p:nvPr/>
        </p:nvSpPr>
        <p:spPr>
          <a:xfrm>
            <a:off x="3431288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usr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C331C86-CE9A-C6F8-1D0E-D5FBC41B30E3}"/>
              </a:ext>
            </a:extLst>
          </p:cNvPr>
          <p:cNvSpPr txBox="1"/>
          <p:nvPr/>
        </p:nvSpPr>
        <p:spPr>
          <a:xfrm>
            <a:off x="174266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home/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2900821-ACFF-25FE-0702-71AA0F0EA860}"/>
              </a:ext>
            </a:extLst>
          </p:cNvPr>
          <p:cNvCxnSpPr>
            <a:cxnSpLocks/>
          </p:cNvCxnSpPr>
          <p:nvPr/>
        </p:nvCxnSpPr>
        <p:spPr>
          <a:xfrm flipV="1">
            <a:off x="530560" y="3435720"/>
            <a:ext cx="0" cy="1214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4812EDB-2509-CCD2-3B51-E88AEE9A441C}"/>
              </a:ext>
            </a:extLst>
          </p:cNvPr>
          <p:cNvCxnSpPr>
            <a:cxnSpLocks/>
          </p:cNvCxnSpPr>
          <p:nvPr/>
        </p:nvCxnSpPr>
        <p:spPr>
          <a:xfrm>
            <a:off x="610320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440871C-C657-8B96-1AC2-FF91744B11C3}"/>
              </a:ext>
            </a:extLst>
          </p:cNvPr>
          <p:cNvCxnSpPr>
            <a:cxnSpLocks/>
          </p:cNvCxnSpPr>
          <p:nvPr/>
        </p:nvCxnSpPr>
        <p:spPr>
          <a:xfrm flipV="1">
            <a:off x="327075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B411CC5-90B3-5726-9E0B-4D556A9952CC}"/>
              </a:ext>
            </a:extLst>
          </p:cNvPr>
          <p:cNvCxnSpPr>
            <a:cxnSpLocks/>
          </p:cNvCxnSpPr>
          <p:nvPr/>
        </p:nvCxnSpPr>
        <p:spPr>
          <a:xfrm flipV="1">
            <a:off x="1256043" y="3441742"/>
            <a:ext cx="0" cy="1398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CAF8614-08E5-79FE-61FC-859295D1AF18}"/>
              </a:ext>
            </a:extLst>
          </p:cNvPr>
          <p:cNvCxnSpPr>
            <a:cxnSpLocks/>
          </p:cNvCxnSpPr>
          <p:nvPr/>
        </p:nvCxnSpPr>
        <p:spPr>
          <a:xfrm>
            <a:off x="1335803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A0558AC-221E-A023-70A5-1289178361D0}"/>
              </a:ext>
            </a:extLst>
          </p:cNvPr>
          <p:cNvCxnSpPr>
            <a:cxnSpLocks/>
          </p:cNvCxnSpPr>
          <p:nvPr/>
        </p:nvCxnSpPr>
        <p:spPr>
          <a:xfrm flipV="1">
            <a:off x="1052558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76588AA-B7D9-3FA6-B81B-BAB7434DDBE9}"/>
              </a:ext>
            </a:extLst>
          </p:cNvPr>
          <p:cNvCxnSpPr>
            <a:cxnSpLocks/>
          </p:cNvCxnSpPr>
          <p:nvPr/>
        </p:nvCxnSpPr>
        <p:spPr>
          <a:xfrm flipV="1">
            <a:off x="3181694" y="3429522"/>
            <a:ext cx="0" cy="14753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35F35CC-7D8A-080C-69A2-E6FB63779CCC}"/>
              </a:ext>
            </a:extLst>
          </p:cNvPr>
          <p:cNvCxnSpPr>
            <a:cxnSpLocks/>
          </p:cNvCxnSpPr>
          <p:nvPr/>
        </p:nvCxnSpPr>
        <p:spPr>
          <a:xfrm>
            <a:off x="3261454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B450109-E9DA-87A8-99DE-7BE6FAD3C132}"/>
              </a:ext>
            </a:extLst>
          </p:cNvPr>
          <p:cNvCxnSpPr>
            <a:cxnSpLocks/>
          </p:cNvCxnSpPr>
          <p:nvPr/>
        </p:nvCxnSpPr>
        <p:spPr>
          <a:xfrm flipV="1">
            <a:off x="2978209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F340CA5-2EDC-981D-235D-C5C31AFD059D}"/>
              </a:ext>
            </a:extLst>
          </p:cNvPr>
          <p:cNvCxnSpPr>
            <a:cxnSpLocks/>
          </p:cNvCxnSpPr>
          <p:nvPr/>
        </p:nvCxnSpPr>
        <p:spPr>
          <a:xfrm flipV="1">
            <a:off x="3920996" y="3429522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51CDEA2-D006-4FDE-477C-52A2982E52CA}"/>
              </a:ext>
            </a:extLst>
          </p:cNvPr>
          <p:cNvCxnSpPr>
            <a:cxnSpLocks/>
          </p:cNvCxnSpPr>
          <p:nvPr/>
        </p:nvCxnSpPr>
        <p:spPr>
          <a:xfrm>
            <a:off x="4000756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F4B7BE4-91D1-3147-4A52-7A4D32838480}"/>
              </a:ext>
            </a:extLst>
          </p:cNvPr>
          <p:cNvCxnSpPr>
            <a:cxnSpLocks/>
          </p:cNvCxnSpPr>
          <p:nvPr/>
        </p:nvCxnSpPr>
        <p:spPr>
          <a:xfrm flipV="1">
            <a:off x="3717511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104D3BEA-775E-731A-1037-325CA3A73E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55967E40-112C-F30A-C75D-A528A3D1A962}"/>
              </a:ext>
            </a:extLst>
          </p:cNvPr>
          <p:cNvSpPr txBox="1"/>
          <p:nvPr/>
        </p:nvSpPr>
        <p:spPr>
          <a:xfrm>
            <a:off x="176461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gregg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5" name="Picture 4" descr="Beige Folder Icon for Mac | Customizable and High-Quality">
            <a:extLst>
              <a:ext uri="{FF2B5EF4-FFF2-40B4-BE49-F238E27FC236}">
                <a16:creationId xmlns:a16="http://schemas.microsoft.com/office/drawing/2014/main" id="{3B723EEC-CCCA-D5B8-E019-8A3DA811FA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391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696073AC-D7FF-D6A3-1E5D-434C9840C49E}"/>
              </a:ext>
            </a:extLst>
          </p:cNvPr>
          <p:cNvSpPr txBox="1"/>
          <p:nvPr/>
        </p:nvSpPr>
        <p:spPr>
          <a:xfrm>
            <a:off x="279966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tim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6544C95D-A7C1-B0AB-7EFE-64B3D5E068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039" y="389223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7389A248-C774-8332-B060-78B8E7D55D0C}"/>
              </a:ext>
            </a:extLst>
          </p:cNvPr>
          <p:cNvSpPr txBox="1"/>
          <p:nvPr/>
        </p:nvSpPr>
        <p:spPr>
          <a:xfrm>
            <a:off x="751788" y="4164828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lei/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5F6D9DF-6A7E-9547-2469-52C1C8BA7846}"/>
              </a:ext>
            </a:extLst>
          </p:cNvPr>
          <p:cNvCxnSpPr>
            <a:cxnSpLocks/>
          </p:cNvCxnSpPr>
          <p:nvPr/>
        </p:nvCxnSpPr>
        <p:spPr>
          <a:xfrm flipH="1" flipV="1">
            <a:off x="2214013" y="3557127"/>
            <a:ext cx="2863" cy="4650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35E08B2-B4E5-203B-5D62-70F21F86BEB5}"/>
              </a:ext>
            </a:extLst>
          </p:cNvPr>
          <p:cNvCxnSpPr>
            <a:cxnSpLocks/>
          </p:cNvCxnSpPr>
          <p:nvPr/>
        </p:nvCxnSpPr>
        <p:spPr>
          <a:xfrm flipV="1">
            <a:off x="1205616" y="3544907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7C73E73-18F8-FF3E-19CD-20226686BA79}"/>
              </a:ext>
            </a:extLst>
          </p:cNvPr>
          <p:cNvCxnSpPr>
            <a:cxnSpLocks/>
          </p:cNvCxnSpPr>
          <p:nvPr/>
        </p:nvCxnSpPr>
        <p:spPr>
          <a:xfrm>
            <a:off x="2574511" y="3509289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29598B89-F014-845D-F5E7-138B9E5B08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4266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AA6AD2FA-63BE-6289-633C-1334A10E93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7274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A79D6D56-31F5-E406-F6F9-728E781C92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58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5BA3A49-8A51-BBBA-CF8E-B5A82316CF9E}"/>
              </a:ext>
            </a:extLst>
          </p:cNvPr>
          <p:cNvCxnSpPr>
            <a:cxnSpLocks/>
          </p:cNvCxnSpPr>
          <p:nvPr/>
        </p:nvCxnSpPr>
        <p:spPr>
          <a:xfrm flipH="1" flipV="1">
            <a:off x="2229418" y="4647296"/>
            <a:ext cx="2863" cy="4650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ACE7726A-950C-B0BA-7096-0478C6EFD562}"/>
              </a:ext>
            </a:extLst>
          </p:cNvPr>
          <p:cNvCxnSpPr>
            <a:cxnSpLocks/>
          </p:cNvCxnSpPr>
          <p:nvPr/>
        </p:nvCxnSpPr>
        <p:spPr>
          <a:xfrm flipV="1">
            <a:off x="1221021" y="4635076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F3A5B3D-60B3-4746-AF39-817A1EAB6AD9}"/>
              </a:ext>
            </a:extLst>
          </p:cNvPr>
          <p:cNvCxnSpPr>
            <a:cxnSpLocks/>
          </p:cNvCxnSpPr>
          <p:nvPr/>
        </p:nvCxnSpPr>
        <p:spPr>
          <a:xfrm>
            <a:off x="2589916" y="4599458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155F7B48-8ACE-6D84-90E5-CAD7A04402A1}"/>
              </a:ext>
            </a:extLst>
          </p:cNvPr>
          <p:cNvSpPr txBox="1"/>
          <p:nvPr/>
        </p:nvSpPr>
        <p:spPr>
          <a:xfrm>
            <a:off x="1753168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documents/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8DF0F85-114C-6F84-275E-B17C0CA747C8}"/>
              </a:ext>
            </a:extLst>
          </p:cNvPr>
          <p:cNvSpPr txBox="1"/>
          <p:nvPr/>
        </p:nvSpPr>
        <p:spPr>
          <a:xfrm>
            <a:off x="2837024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music/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69164F3-7DC5-61A6-3E07-0D5D7EC406A1}"/>
              </a:ext>
            </a:extLst>
          </p:cNvPr>
          <p:cNvSpPr txBox="1"/>
          <p:nvPr/>
        </p:nvSpPr>
        <p:spPr>
          <a:xfrm>
            <a:off x="706451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Desktop/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FE0B18DE-1496-27F5-5D18-5331DB8EEC5B}"/>
              </a:ext>
            </a:extLst>
          </p:cNvPr>
          <p:cNvCxnSpPr>
            <a:cxnSpLocks/>
          </p:cNvCxnSpPr>
          <p:nvPr/>
        </p:nvCxnSpPr>
        <p:spPr>
          <a:xfrm flipV="1">
            <a:off x="1208998" y="4599458"/>
            <a:ext cx="0" cy="157656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F7A48D5E-AFD0-97E8-FDC6-725B51522046}"/>
              </a:ext>
            </a:extLst>
          </p:cNvPr>
          <p:cNvCxnSpPr>
            <a:cxnSpLocks/>
          </p:cNvCxnSpPr>
          <p:nvPr/>
        </p:nvCxnSpPr>
        <p:spPr>
          <a:xfrm>
            <a:off x="1288758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3D4515D-7A9D-E2A3-A123-1E37F9F86513}"/>
              </a:ext>
            </a:extLst>
          </p:cNvPr>
          <p:cNvCxnSpPr>
            <a:cxnSpLocks/>
          </p:cNvCxnSpPr>
          <p:nvPr/>
        </p:nvCxnSpPr>
        <p:spPr>
          <a:xfrm flipV="1">
            <a:off x="1005513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B28D6B9C-B3BD-B45E-D9C7-4E2ADBEAEDB7}"/>
              </a:ext>
            </a:extLst>
          </p:cNvPr>
          <p:cNvCxnSpPr>
            <a:cxnSpLocks/>
          </p:cNvCxnSpPr>
          <p:nvPr/>
        </p:nvCxnSpPr>
        <p:spPr>
          <a:xfrm flipV="1">
            <a:off x="3243052" y="4641729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21A3B60E-E114-FB78-58AF-4D460FB44AA8}"/>
              </a:ext>
            </a:extLst>
          </p:cNvPr>
          <p:cNvCxnSpPr>
            <a:cxnSpLocks/>
          </p:cNvCxnSpPr>
          <p:nvPr/>
        </p:nvCxnSpPr>
        <p:spPr>
          <a:xfrm>
            <a:off x="3322812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93A333A7-AD56-0366-E547-B576E662F649}"/>
              </a:ext>
            </a:extLst>
          </p:cNvPr>
          <p:cNvCxnSpPr>
            <a:cxnSpLocks/>
          </p:cNvCxnSpPr>
          <p:nvPr/>
        </p:nvCxnSpPr>
        <p:spPr>
          <a:xfrm flipV="1">
            <a:off x="3039567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48CF53F7-DB67-768A-D03B-971E24A2172E}"/>
              </a:ext>
            </a:extLst>
          </p:cNvPr>
          <p:cNvCxnSpPr>
            <a:cxnSpLocks/>
          </p:cNvCxnSpPr>
          <p:nvPr/>
        </p:nvCxnSpPr>
        <p:spPr>
          <a:xfrm flipV="1">
            <a:off x="3322812" y="5767010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33D0121B-DF61-B243-E196-9A1EFC44919D}"/>
              </a:ext>
            </a:extLst>
          </p:cNvPr>
          <p:cNvCxnSpPr>
            <a:cxnSpLocks/>
          </p:cNvCxnSpPr>
          <p:nvPr/>
        </p:nvCxnSpPr>
        <p:spPr>
          <a:xfrm>
            <a:off x="3402572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15B8DC1C-94E8-15BE-0FF8-FB55F35C5CCB}"/>
              </a:ext>
            </a:extLst>
          </p:cNvPr>
          <p:cNvCxnSpPr>
            <a:cxnSpLocks/>
          </p:cNvCxnSpPr>
          <p:nvPr/>
        </p:nvCxnSpPr>
        <p:spPr>
          <a:xfrm flipV="1">
            <a:off x="3119327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9FD04EA8-D8C2-D422-980F-D2AFB107CEF8}"/>
              </a:ext>
            </a:extLst>
          </p:cNvPr>
          <p:cNvCxnSpPr>
            <a:cxnSpLocks/>
          </p:cNvCxnSpPr>
          <p:nvPr/>
        </p:nvCxnSpPr>
        <p:spPr>
          <a:xfrm flipV="1">
            <a:off x="2229418" y="5780928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D2F4C5B8-226D-DC7A-10D9-38846BDD07B1}"/>
              </a:ext>
            </a:extLst>
          </p:cNvPr>
          <p:cNvCxnSpPr>
            <a:cxnSpLocks/>
          </p:cNvCxnSpPr>
          <p:nvPr/>
        </p:nvCxnSpPr>
        <p:spPr>
          <a:xfrm>
            <a:off x="2309178" y="5761651"/>
            <a:ext cx="103641" cy="13466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3385BAF3-F65A-86E8-9D23-D5341AAEB97E}"/>
              </a:ext>
            </a:extLst>
          </p:cNvPr>
          <p:cNvCxnSpPr>
            <a:cxnSpLocks/>
          </p:cNvCxnSpPr>
          <p:nvPr/>
        </p:nvCxnSpPr>
        <p:spPr>
          <a:xfrm flipV="1">
            <a:off x="2025933" y="576165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D0BAB912-680C-D2EC-5C97-567749B5B898}"/>
              </a:ext>
            </a:extLst>
          </p:cNvPr>
          <p:cNvCxnSpPr>
            <a:cxnSpLocks/>
          </p:cNvCxnSpPr>
          <p:nvPr/>
        </p:nvCxnSpPr>
        <p:spPr>
          <a:xfrm flipV="1">
            <a:off x="1205616" y="5761651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DDF4B908-96B2-A30B-E318-22921CD10046}"/>
              </a:ext>
            </a:extLst>
          </p:cNvPr>
          <p:cNvCxnSpPr>
            <a:cxnSpLocks/>
          </p:cNvCxnSpPr>
          <p:nvPr/>
        </p:nvCxnSpPr>
        <p:spPr>
          <a:xfrm>
            <a:off x="1285376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3C019AE3-BFE8-2576-5514-2F22C0ECCAD8}"/>
              </a:ext>
            </a:extLst>
          </p:cNvPr>
          <p:cNvCxnSpPr>
            <a:cxnSpLocks/>
          </p:cNvCxnSpPr>
          <p:nvPr/>
        </p:nvCxnSpPr>
        <p:spPr>
          <a:xfrm flipV="1">
            <a:off x="1002131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6" name="Picture 65">
            <a:extLst>
              <a:ext uri="{FF2B5EF4-FFF2-40B4-BE49-F238E27FC236}">
                <a16:creationId xmlns:a16="http://schemas.microsoft.com/office/drawing/2014/main" id="{68EBF5AD-9CF5-C45D-D779-FE793CC1FC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5288" y="5924942"/>
            <a:ext cx="270449" cy="270450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B4B7D911-7818-C631-39BA-960A55F21A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161" y="5924942"/>
            <a:ext cx="270449" cy="270450"/>
          </a:xfrm>
          <a:prstGeom prst="rect">
            <a:avLst/>
          </a:prstGeom>
        </p:spPr>
      </p:pic>
      <p:pic>
        <p:nvPicPr>
          <p:cNvPr id="6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0897225C-E1DC-8913-8A95-4CD685D6BF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6576" y="5874884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42A72231-8F50-81E0-2FB3-9EA48866B3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361" y="5894528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E8574CCA-AE1C-2B22-7537-CBBB2A73612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8502" y="5942980"/>
            <a:ext cx="270449" cy="270450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E1E12C88-0A3B-D685-9F8A-31919221F7F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5621" y="5960300"/>
            <a:ext cx="253129" cy="253130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D629AEE3-02AC-11F8-E63F-FEF6E0A2978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1763" y="5942980"/>
            <a:ext cx="270450" cy="270450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1C51F2E2-3722-114F-53AE-BABA0814407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2614" y="5951081"/>
            <a:ext cx="270450" cy="270450"/>
          </a:xfrm>
          <a:prstGeom prst="rect">
            <a:avLst/>
          </a:prstGeom>
        </p:spPr>
      </p:pic>
      <p:pic>
        <p:nvPicPr>
          <p:cNvPr id="7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FF1F4CD9-F0AB-ADC2-6C8F-CA14047324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751" y="5888132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5" name="Arrow: Right 74">
            <a:extLst>
              <a:ext uri="{FF2B5EF4-FFF2-40B4-BE49-F238E27FC236}">
                <a16:creationId xmlns:a16="http://schemas.microsoft.com/office/drawing/2014/main" id="{1D296D60-4BE5-4A09-CD1B-F8CA891AA617}"/>
              </a:ext>
            </a:extLst>
          </p:cNvPr>
          <p:cNvSpPr/>
          <p:nvPr/>
        </p:nvSpPr>
        <p:spPr>
          <a:xfrm>
            <a:off x="4720604" y="3826693"/>
            <a:ext cx="1823140" cy="390939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4F43A1-D103-C81A-E9CE-4E2751DC40B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80404" y="3489796"/>
            <a:ext cx="5115368" cy="95969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C12E7CA-E05A-0F50-7314-A633AB525E5D}"/>
              </a:ext>
            </a:extLst>
          </p:cNvPr>
          <p:cNvSpPr txBox="1"/>
          <p:nvPr/>
        </p:nvSpPr>
        <p:spPr>
          <a:xfrm>
            <a:off x="54310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bin/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02251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8CF13-268E-8274-9B78-A23057C9C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38090-CBD6-D292-74E0-04671A4EF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374" y="159716"/>
            <a:ext cx="10515600" cy="1325563"/>
          </a:xfrm>
        </p:spPr>
        <p:txBody>
          <a:bodyPr/>
          <a:lstStyle/>
          <a:p>
            <a:r>
              <a:rPr lang="en-US" dirty="0"/>
              <a:t>How does our concept of file systems translate to text-based computing?</a:t>
            </a:r>
          </a:p>
        </p:txBody>
      </p:sp>
      <p:pic>
        <p:nvPicPr>
          <p:cNvPr id="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1A260758-8E64-33F4-8733-3EADDB2DD1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169732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45AEA83-D32A-E723-097F-261154BD4D9F}"/>
              </a:ext>
            </a:extLst>
          </p:cNvPr>
          <p:cNvSpPr txBox="1"/>
          <p:nvPr/>
        </p:nvSpPr>
        <p:spPr>
          <a:xfrm>
            <a:off x="1739486" y="1956767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08C3194C-BEF1-0BD8-3316-4136928DDF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25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14D96F3D-9424-86E2-045F-06C73EA9A8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34D26E39-F7FB-01E0-8A4F-B2509AB6D3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0109ABD8-AC13-142C-2922-9A35EFB4E6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DD72B17E-D806-BB50-6BEE-452A3E5D89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86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BBB91AD-09FC-F95B-54B2-732F1B7EB932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52393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578BAFF-3A54-C68F-080F-5FB3465F8C18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126323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0111C39-BC82-30EE-8ABB-6895C48CBEEF}"/>
              </a:ext>
            </a:extLst>
          </p:cNvPr>
          <p:cNvCxnSpPr>
            <a:cxnSpLocks/>
          </p:cNvCxnSpPr>
          <p:nvPr/>
        </p:nvCxnSpPr>
        <p:spPr>
          <a:xfrm flipV="1">
            <a:off x="2216876" y="2585543"/>
            <a:ext cx="0" cy="3351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F1D9165-C054-3828-A005-296D53DF3148}"/>
              </a:ext>
            </a:extLst>
          </p:cNvPr>
          <p:cNvCxnSpPr>
            <a:cxnSpLocks/>
          </p:cNvCxnSpPr>
          <p:nvPr/>
        </p:nvCxnSpPr>
        <p:spPr>
          <a:xfrm>
            <a:off x="253641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FA96434-A390-B88D-7D28-3DADC9A8759D}"/>
              </a:ext>
            </a:extLst>
          </p:cNvPr>
          <p:cNvCxnSpPr>
            <a:cxnSpLocks/>
          </p:cNvCxnSpPr>
          <p:nvPr/>
        </p:nvCxnSpPr>
        <p:spPr>
          <a:xfrm>
            <a:off x="269198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5A80DEF-3484-2FFE-B235-5D7E05BB08C1}"/>
              </a:ext>
            </a:extLst>
          </p:cNvPr>
          <p:cNvSpPr txBox="1"/>
          <p:nvPr/>
        </p:nvSpPr>
        <p:spPr>
          <a:xfrm>
            <a:off x="78698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var/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A7DBAA5-C64B-7F01-8A32-13AA82F042C0}"/>
              </a:ext>
            </a:extLst>
          </p:cNvPr>
          <p:cNvSpPr txBox="1"/>
          <p:nvPr/>
        </p:nvSpPr>
        <p:spPr>
          <a:xfrm>
            <a:off x="269516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etc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3DCC83C-FA4F-B53B-CED3-8A2AD3387610}"/>
              </a:ext>
            </a:extLst>
          </p:cNvPr>
          <p:cNvSpPr txBox="1"/>
          <p:nvPr/>
        </p:nvSpPr>
        <p:spPr>
          <a:xfrm>
            <a:off x="3431288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usr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A9EA6FC-59A4-3685-AAAB-8EC569680D62}"/>
              </a:ext>
            </a:extLst>
          </p:cNvPr>
          <p:cNvSpPr txBox="1"/>
          <p:nvPr/>
        </p:nvSpPr>
        <p:spPr>
          <a:xfrm>
            <a:off x="174266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home/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832CDD0-3F4E-87CA-A948-71D8DEFBBABA}"/>
              </a:ext>
            </a:extLst>
          </p:cNvPr>
          <p:cNvCxnSpPr>
            <a:cxnSpLocks/>
          </p:cNvCxnSpPr>
          <p:nvPr/>
        </p:nvCxnSpPr>
        <p:spPr>
          <a:xfrm flipV="1">
            <a:off x="530560" y="3435720"/>
            <a:ext cx="0" cy="1214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121B1D0-4435-C250-E91C-C1F1E412BFB5}"/>
              </a:ext>
            </a:extLst>
          </p:cNvPr>
          <p:cNvCxnSpPr>
            <a:cxnSpLocks/>
          </p:cNvCxnSpPr>
          <p:nvPr/>
        </p:nvCxnSpPr>
        <p:spPr>
          <a:xfrm>
            <a:off x="610320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96071E5-3922-ADF1-0104-3560AB916D12}"/>
              </a:ext>
            </a:extLst>
          </p:cNvPr>
          <p:cNvCxnSpPr>
            <a:cxnSpLocks/>
          </p:cNvCxnSpPr>
          <p:nvPr/>
        </p:nvCxnSpPr>
        <p:spPr>
          <a:xfrm flipV="1">
            <a:off x="327075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23297AB-8A64-F662-599C-77129BF15E54}"/>
              </a:ext>
            </a:extLst>
          </p:cNvPr>
          <p:cNvCxnSpPr>
            <a:cxnSpLocks/>
          </p:cNvCxnSpPr>
          <p:nvPr/>
        </p:nvCxnSpPr>
        <p:spPr>
          <a:xfrm flipV="1">
            <a:off x="1256043" y="3441742"/>
            <a:ext cx="0" cy="1398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6278C6C-D69E-3CD6-CA98-EC3E93170E3E}"/>
              </a:ext>
            </a:extLst>
          </p:cNvPr>
          <p:cNvCxnSpPr>
            <a:cxnSpLocks/>
          </p:cNvCxnSpPr>
          <p:nvPr/>
        </p:nvCxnSpPr>
        <p:spPr>
          <a:xfrm>
            <a:off x="1335803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7693C0D-CB0A-F3AB-5E90-97E8190CEC32}"/>
              </a:ext>
            </a:extLst>
          </p:cNvPr>
          <p:cNvCxnSpPr>
            <a:cxnSpLocks/>
          </p:cNvCxnSpPr>
          <p:nvPr/>
        </p:nvCxnSpPr>
        <p:spPr>
          <a:xfrm flipV="1">
            <a:off x="1052558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004D0AA-64FD-4D0C-3B2E-01A680E67266}"/>
              </a:ext>
            </a:extLst>
          </p:cNvPr>
          <p:cNvCxnSpPr>
            <a:cxnSpLocks/>
          </p:cNvCxnSpPr>
          <p:nvPr/>
        </p:nvCxnSpPr>
        <p:spPr>
          <a:xfrm flipV="1">
            <a:off x="3181694" y="3429522"/>
            <a:ext cx="0" cy="14753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A4F25D0-5DF8-522C-59F1-0E1CF8248A97}"/>
              </a:ext>
            </a:extLst>
          </p:cNvPr>
          <p:cNvCxnSpPr>
            <a:cxnSpLocks/>
          </p:cNvCxnSpPr>
          <p:nvPr/>
        </p:nvCxnSpPr>
        <p:spPr>
          <a:xfrm>
            <a:off x="3261454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40905ED-3F5B-7857-4BD3-D0AB616AFE6E}"/>
              </a:ext>
            </a:extLst>
          </p:cNvPr>
          <p:cNvCxnSpPr>
            <a:cxnSpLocks/>
          </p:cNvCxnSpPr>
          <p:nvPr/>
        </p:nvCxnSpPr>
        <p:spPr>
          <a:xfrm flipV="1">
            <a:off x="2978209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56EF038-3285-F7A5-311E-A1E06A171E61}"/>
              </a:ext>
            </a:extLst>
          </p:cNvPr>
          <p:cNvCxnSpPr>
            <a:cxnSpLocks/>
          </p:cNvCxnSpPr>
          <p:nvPr/>
        </p:nvCxnSpPr>
        <p:spPr>
          <a:xfrm flipV="1">
            <a:off x="3920996" y="3429522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E0B8A08-3C0D-D548-C627-5B77E01D4F62}"/>
              </a:ext>
            </a:extLst>
          </p:cNvPr>
          <p:cNvCxnSpPr>
            <a:cxnSpLocks/>
          </p:cNvCxnSpPr>
          <p:nvPr/>
        </p:nvCxnSpPr>
        <p:spPr>
          <a:xfrm>
            <a:off x="4000756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B860100-AAB0-35D1-62E8-8F2608BEABBA}"/>
              </a:ext>
            </a:extLst>
          </p:cNvPr>
          <p:cNvCxnSpPr>
            <a:cxnSpLocks/>
          </p:cNvCxnSpPr>
          <p:nvPr/>
        </p:nvCxnSpPr>
        <p:spPr>
          <a:xfrm flipV="1">
            <a:off x="3717511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67E485CD-600C-43ED-ABEC-E11AE84606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DD2EB90A-1DD0-4287-8639-4771BBA20F34}"/>
              </a:ext>
            </a:extLst>
          </p:cNvPr>
          <p:cNvSpPr txBox="1"/>
          <p:nvPr/>
        </p:nvSpPr>
        <p:spPr>
          <a:xfrm>
            <a:off x="176461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gregg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5" name="Picture 4" descr="Beige Folder Icon for Mac | Customizable and High-Quality">
            <a:extLst>
              <a:ext uri="{FF2B5EF4-FFF2-40B4-BE49-F238E27FC236}">
                <a16:creationId xmlns:a16="http://schemas.microsoft.com/office/drawing/2014/main" id="{B2C6509F-16E0-F0AC-DEE6-4A31C4E2AD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391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C83355BD-274E-7321-E212-7FFFEA4578A3}"/>
              </a:ext>
            </a:extLst>
          </p:cNvPr>
          <p:cNvSpPr txBox="1"/>
          <p:nvPr/>
        </p:nvSpPr>
        <p:spPr>
          <a:xfrm>
            <a:off x="279966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tim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1A32858E-915E-5173-ADF4-11EDA3D2A1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039" y="389223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DF5BC819-57E2-A1A1-B891-4DCCF8567519}"/>
              </a:ext>
            </a:extLst>
          </p:cNvPr>
          <p:cNvSpPr txBox="1"/>
          <p:nvPr/>
        </p:nvSpPr>
        <p:spPr>
          <a:xfrm>
            <a:off x="751788" y="4164828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lei/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69C3517-FEAB-E1BE-5C37-62CB9B09DAA7}"/>
              </a:ext>
            </a:extLst>
          </p:cNvPr>
          <p:cNvCxnSpPr>
            <a:cxnSpLocks/>
          </p:cNvCxnSpPr>
          <p:nvPr/>
        </p:nvCxnSpPr>
        <p:spPr>
          <a:xfrm flipH="1" flipV="1">
            <a:off x="2214013" y="3557127"/>
            <a:ext cx="2863" cy="4650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7CC381C-CA03-C7DD-357D-B11E0883A18C}"/>
              </a:ext>
            </a:extLst>
          </p:cNvPr>
          <p:cNvCxnSpPr>
            <a:cxnSpLocks/>
          </p:cNvCxnSpPr>
          <p:nvPr/>
        </p:nvCxnSpPr>
        <p:spPr>
          <a:xfrm flipV="1">
            <a:off x="1205616" y="3544907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3A252284-E977-025F-50E4-6150FCDD633A}"/>
              </a:ext>
            </a:extLst>
          </p:cNvPr>
          <p:cNvCxnSpPr>
            <a:cxnSpLocks/>
          </p:cNvCxnSpPr>
          <p:nvPr/>
        </p:nvCxnSpPr>
        <p:spPr>
          <a:xfrm>
            <a:off x="2574511" y="3509289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3B227CB6-B53C-D97E-E4C3-87B1B3214F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4266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0B166BC5-F319-1DBB-7302-20AA3F1642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7274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A2902878-5F5B-00CD-EC28-7167B62810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58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3C89D40-9E43-AFD4-E46E-8F62D7CEB971}"/>
              </a:ext>
            </a:extLst>
          </p:cNvPr>
          <p:cNvCxnSpPr>
            <a:cxnSpLocks/>
          </p:cNvCxnSpPr>
          <p:nvPr/>
        </p:nvCxnSpPr>
        <p:spPr>
          <a:xfrm flipH="1" flipV="1">
            <a:off x="2229418" y="4647296"/>
            <a:ext cx="2863" cy="4650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DC9AE424-AFE0-2CB9-EF49-617614016D26}"/>
              </a:ext>
            </a:extLst>
          </p:cNvPr>
          <p:cNvCxnSpPr>
            <a:cxnSpLocks/>
          </p:cNvCxnSpPr>
          <p:nvPr/>
        </p:nvCxnSpPr>
        <p:spPr>
          <a:xfrm flipV="1">
            <a:off x="1221021" y="4635076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13C00730-9CF7-6FF3-94D5-F59371363A85}"/>
              </a:ext>
            </a:extLst>
          </p:cNvPr>
          <p:cNvCxnSpPr>
            <a:cxnSpLocks/>
          </p:cNvCxnSpPr>
          <p:nvPr/>
        </p:nvCxnSpPr>
        <p:spPr>
          <a:xfrm>
            <a:off x="2589916" y="4599458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BDA7AC43-16D0-01DA-5E4D-BE6ADCD527FC}"/>
              </a:ext>
            </a:extLst>
          </p:cNvPr>
          <p:cNvSpPr txBox="1"/>
          <p:nvPr/>
        </p:nvSpPr>
        <p:spPr>
          <a:xfrm>
            <a:off x="1753168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documents/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96F781E-0FB0-673D-87BC-7AB08AF8A970}"/>
              </a:ext>
            </a:extLst>
          </p:cNvPr>
          <p:cNvSpPr txBox="1"/>
          <p:nvPr/>
        </p:nvSpPr>
        <p:spPr>
          <a:xfrm>
            <a:off x="2837024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music/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A1795F3-0ED3-98F5-42E5-F85F2315394A}"/>
              </a:ext>
            </a:extLst>
          </p:cNvPr>
          <p:cNvSpPr txBox="1"/>
          <p:nvPr/>
        </p:nvSpPr>
        <p:spPr>
          <a:xfrm>
            <a:off x="706451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Desktop/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26023C4E-3A3F-7FA0-E969-CC108FF78290}"/>
              </a:ext>
            </a:extLst>
          </p:cNvPr>
          <p:cNvCxnSpPr>
            <a:cxnSpLocks/>
          </p:cNvCxnSpPr>
          <p:nvPr/>
        </p:nvCxnSpPr>
        <p:spPr>
          <a:xfrm flipV="1">
            <a:off x="1208998" y="4599458"/>
            <a:ext cx="0" cy="157656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223B5D21-083D-7CF4-8DE8-56C63EF74332}"/>
              </a:ext>
            </a:extLst>
          </p:cNvPr>
          <p:cNvCxnSpPr>
            <a:cxnSpLocks/>
          </p:cNvCxnSpPr>
          <p:nvPr/>
        </p:nvCxnSpPr>
        <p:spPr>
          <a:xfrm>
            <a:off x="1288758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CF2210A0-0773-B307-C371-3E1711F94A17}"/>
              </a:ext>
            </a:extLst>
          </p:cNvPr>
          <p:cNvCxnSpPr>
            <a:cxnSpLocks/>
          </p:cNvCxnSpPr>
          <p:nvPr/>
        </p:nvCxnSpPr>
        <p:spPr>
          <a:xfrm flipV="1">
            <a:off x="1005513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18491EE0-01DE-8817-54E2-EF15A6BF506C}"/>
              </a:ext>
            </a:extLst>
          </p:cNvPr>
          <p:cNvCxnSpPr>
            <a:cxnSpLocks/>
          </p:cNvCxnSpPr>
          <p:nvPr/>
        </p:nvCxnSpPr>
        <p:spPr>
          <a:xfrm flipV="1">
            <a:off x="3243052" y="4641729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E291CC52-2E29-E0EF-FF1E-FCC988B03CB9}"/>
              </a:ext>
            </a:extLst>
          </p:cNvPr>
          <p:cNvCxnSpPr>
            <a:cxnSpLocks/>
          </p:cNvCxnSpPr>
          <p:nvPr/>
        </p:nvCxnSpPr>
        <p:spPr>
          <a:xfrm>
            <a:off x="3322812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264B9F5E-D91F-ABDF-D5C0-8B7602454F5F}"/>
              </a:ext>
            </a:extLst>
          </p:cNvPr>
          <p:cNvCxnSpPr>
            <a:cxnSpLocks/>
          </p:cNvCxnSpPr>
          <p:nvPr/>
        </p:nvCxnSpPr>
        <p:spPr>
          <a:xfrm flipV="1">
            <a:off x="3039567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44F429A-D348-F053-64C3-F8C91AACBAF5}"/>
              </a:ext>
            </a:extLst>
          </p:cNvPr>
          <p:cNvCxnSpPr>
            <a:cxnSpLocks/>
          </p:cNvCxnSpPr>
          <p:nvPr/>
        </p:nvCxnSpPr>
        <p:spPr>
          <a:xfrm flipV="1">
            <a:off x="3322812" y="5767010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560CB5C1-02DC-E251-C568-70993301BC49}"/>
              </a:ext>
            </a:extLst>
          </p:cNvPr>
          <p:cNvCxnSpPr>
            <a:cxnSpLocks/>
          </p:cNvCxnSpPr>
          <p:nvPr/>
        </p:nvCxnSpPr>
        <p:spPr>
          <a:xfrm>
            <a:off x="3402572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F3BF21D4-722D-E3F3-12BF-09F5EACC79F6}"/>
              </a:ext>
            </a:extLst>
          </p:cNvPr>
          <p:cNvCxnSpPr>
            <a:cxnSpLocks/>
          </p:cNvCxnSpPr>
          <p:nvPr/>
        </p:nvCxnSpPr>
        <p:spPr>
          <a:xfrm flipV="1">
            <a:off x="3119327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5D49F5C8-6171-6D93-2FAD-F07B90F05D59}"/>
              </a:ext>
            </a:extLst>
          </p:cNvPr>
          <p:cNvCxnSpPr>
            <a:cxnSpLocks/>
          </p:cNvCxnSpPr>
          <p:nvPr/>
        </p:nvCxnSpPr>
        <p:spPr>
          <a:xfrm flipV="1">
            <a:off x="2229418" y="5780928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3BFCBE02-356B-FAF6-302D-D10131781A43}"/>
              </a:ext>
            </a:extLst>
          </p:cNvPr>
          <p:cNvCxnSpPr>
            <a:cxnSpLocks/>
          </p:cNvCxnSpPr>
          <p:nvPr/>
        </p:nvCxnSpPr>
        <p:spPr>
          <a:xfrm>
            <a:off x="2309178" y="5761651"/>
            <a:ext cx="103641" cy="13466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824A0D2C-1203-0BD9-1708-DEA922B84111}"/>
              </a:ext>
            </a:extLst>
          </p:cNvPr>
          <p:cNvCxnSpPr>
            <a:cxnSpLocks/>
          </p:cNvCxnSpPr>
          <p:nvPr/>
        </p:nvCxnSpPr>
        <p:spPr>
          <a:xfrm flipV="1">
            <a:off x="2025933" y="576165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815FF1AA-D044-E78B-4718-3386511F3C0E}"/>
              </a:ext>
            </a:extLst>
          </p:cNvPr>
          <p:cNvCxnSpPr>
            <a:cxnSpLocks/>
          </p:cNvCxnSpPr>
          <p:nvPr/>
        </p:nvCxnSpPr>
        <p:spPr>
          <a:xfrm flipV="1">
            <a:off x="1205616" y="5761651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59BCF00F-E38B-DC38-85B5-AFAB763DB648}"/>
              </a:ext>
            </a:extLst>
          </p:cNvPr>
          <p:cNvCxnSpPr>
            <a:cxnSpLocks/>
          </p:cNvCxnSpPr>
          <p:nvPr/>
        </p:nvCxnSpPr>
        <p:spPr>
          <a:xfrm>
            <a:off x="1285376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4357A3AC-7932-42F6-10FE-A0A8CB7AE2D8}"/>
              </a:ext>
            </a:extLst>
          </p:cNvPr>
          <p:cNvCxnSpPr>
            <a:cxnSpLocks/>
          </p:cNvCxnSpPr>
          <p:nvPr/>
        </p:nvCxnSpPr>
        <p:spPr>
          <a:xfrm flipV="1">
            <a:off x="1002131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6" name="Picture 65">
            <a:extLst>
              <a:ext uri="{FF2B5EF4-FFF2-40B4-BE49-F238E27FC236}">
                <a16:creationId xmlns:a16="http://schemas.microsoft.com/office/drawing/2014/main" id="{C8B4C539-06E4-A6A5-C44E-76B9B32F28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5288" y="5924942"/>
            <a:ext cx="270449" cy="270450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D523AB53-2122-D7B0-B873-3107056A6C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161" y="5924942"/>
            <a:ext cx="270449" cy="270450"/>
          </a:xfrm>
          <a:prstGeom prst="rect">
            <a:avLst/>
          </a:prstGeom>
        </p:spPr>
      </p:pic>
      <p:pic>
        <p:nvPicPr>
          <p:cNvPr id="6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0BF3A4F1-CF2D-D93D-3FB8-4C5F2E6A23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6576" y="5874884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0BEE8717-33D7-7E5B-CF82-507EDE3E10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361" y="5894528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34CDA38A-E767-395B-A7A8-CD0786FCE82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8502" y="5942980"/>
            <a:ext cx="270449" cy="270450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E849D47C-58FA-EC0A-1A91-E2DC52EEE2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5621" y="5960300"/>
            <a:ext cx="253129" cy="253130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69E8E300-CAC3-A51C-C729-31EC68DF36E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1763" y="5942980"/>
            <a:ext cx="270450" cy="270450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7C589693-C8E2-F245-09B5-383DC8BB574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2614" y="5951081"/>
            <a:ext cx="270450" cy="270450"/>
          </a:xfrm>
          <a:prstGeom prst="rect">
            <a:avLst/>
          </a:prstGeom>
        </p:spPr>
      </p:pic>
      <p:pic>
        <p:nvPicPr>
          <p:cNvPr id="7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3C6A7B17-63E6-BF06-F4E0-23ED550A18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751" y="5888132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5" name="Arrow: Right 74">
            <a:extLst>
              <a:ext uri="{FF2B5EF4-FFF2-40B4-BE49-F238E27FC236}">
                <a16:creationId xmlns:a16="http://schemas.microsoft.com/office/drawing/2014/main" id="{A153BECD-8DC9-5957-C3D5-DDAF5DFD22AE}"/>
              </a:ext>
            </a:extLst>
          </p:cNvPr>
          <p:cNvSpPr/>
          <p:nvPr/>
        </p:nvSpPr>
        <p:spPr>
          <a:xfrm>
            <a:off x="4720604" y="3826693"/>
            <a:ext cx="1823140" cy="390939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46827F8-1EA2-9084-8F73-2090FB338EDB}"/>
              </a:ext>
            </a:extLst>
          </p:cNvPr>
          <p:cNvSpPr txBox="1"/>
          <p:nvPr/>
        </p:nvSpPr>
        <p:spPr>
          <a:xfrm>
            <a:off x="8424138" y="3010543"/>
            <a:ext cx="1827900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5400"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With </a:t>
            </a:r>
            <a:r>
              <a:rPr lang="en-US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commands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2ABC33-FA4D-7993-2EA4-85C7FDE409C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80404" y="3489796"/>
            <a:ext cx="5115368" cy="95969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2C5F433-4E71-7D08-B872-2CD9FA0388B3}"/>
              </a:ext>
            </a:extLst>
          </p:cNvPr>
          <p:cNvSpPr txBox="1"/>
          <p:nvPr/>
        </p:nvSpPr>
        <p:spPr>
          <a:xfrm>
            <a:off x="54310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bin/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5804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F8E83-083B-7E6A-1144-009289D3D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1F2D8-DC86-F7D8-0737-AE0073E5C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374" y="159716"/>
            <a:ext cx="10515600" cy="1325563"/>
          </a:xfrm>
        </p:spPr>
        <p:txBody>
          <a:bodyPr/>
          <a:lstStyle/>
          <a:p>
            <a:r>
              <a:rPr lang="en-US" dirty="0"/>
              <a:t>How does our concept of file systems translate to text-based computing?</a:t>
            </a:r>
          </a:p>
        </p:txBody>
      </p:sp>
      <p:pic>
        <p:nvPicPr>
          <p:cNvPr id="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27A80224-A355-9AF1-E797-D8CD26AAA5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169732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1CBD2A7-F964-ECBF-BF3C-299B2437C3AC}"/>
              </a:ext>
            </a:extLst>
          </p:cNvPr>
          <p:cNvSpPr txBox="1"/>
          <p:nvPr/>
        </p:nvSpPr>
        <p:spPr>
          <a:xfrm>
            <a:off x="1739486" y="1956767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D016FC18-EEF4-D58C-22D2-2CC62FF140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25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CF7E6C4F-691B-4ACE-F136-3B74BDCE47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E9957B24-5F28-7AAA-C942-69C01EA7D2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0FBE282B-C78E-EA85-9E82-D4C43E9143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6B7CE92E-65F3-1E9A-3577-A6004A51FD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86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674C3E6-A1FC-FB0E-37D4-B46D413969E7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52393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C5A9F11-0F3E-5D52-9CFB-5B67A2208A58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126323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D5C94E6-6CA6-18F4-9C9C-DD3DF2A56375}"/>
              </a:ext>
            </a:extLst>
          </p:cNvPr>
          <p:cNvCxnSpPr>
            <a:cxnSpLocks/>
          </p:cNvCxnSpPr>
          <p:nvPr/>
        </p:nvCxnSpPr>
        <p:spPr>
          <a:xfrm flipV="1">
            <a:off x="2216876" y="2585543"/>
            <a:ext cx="0" cy="3351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A679913-93E3-6D3F-5FC2-74B992E9318E}"/>
              </a:ext>
            </a:extLst>
          </p:cNvPr>
          <p:cNvCxnSpPr>
            <a:cxnSpLocks/>
          </p:cNvCxnSpPr>
          <p:nvPr/>
        </p:nvCxnSpPr>
        <p:spPr>
          <a:xfrm>
            <a:off x="253641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C3B2B39-40FE-9138-E5C1-1B58D5C64991}"/>
              </a:ext>
            </a:extLst>
          </p:cNvPr>
          <p:cNvCxnSpPr>
            <a:cxnSpLocks/>
          </p:cNvCxnSpPr>
          <p:nvPr/>
        </p:nvCxnSpPr>
        <p:spPr>
          <a:xfrm>
            <a:off x="269198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35FAA3F-0D4D-2B1D-B4EB-03475C2799E1}"/>
              </a:ext>
            </a:extLst>
          </p:cNvPr>
          <p:cNvSpPr txBox="1"/>
          <p:nvPr/>
        </p:nvSpPr>
        <p:spPr>
          <a:xfrm>
            <a:off x="78698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var/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951489-8839-B49F-2225-F5BB563A6A1E}"/>
              </a:ext>
            </a:extLst>
          </p:cNvPr>
          <p:cNvSpPr txBox="1"/>
          <p:nvPr/>
        </p:nvSpPr>
        <p:spPr>
          <a:xfrm>
            <a:off x="269516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etc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1483837-0FBC-14DB-F311-62AB0AAC9646}"/>
              </a:ext>
            </a:extLst>
          </p:cNvPr>
          <p:cNvSpPr txBox="1"/>
          <p:nvPr/>
        </p:nvSpPr>
        <p:spPr>
          <a:xfrm>
            <a:off x="3431288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usr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BAAB140-5802-27D5-D38B-040F424C13C5}"/>
              </a:ext>
            </a:extLst>
          </p:cNvPr>
          <p:cNvSpPr txBox="1"/>
          <p:nvPr/>
        </p:nvSpPr>
        <p:spPr>
          <a:xfrm>
            <a:off x="174266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home/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CCFBBEE-F2EE-FC22-C783-B27F06F78B67}"/>
              </a:ext>
            </a:extLst>
          </p:cNvPr>
          <p:cNvCxnSpPr>
            <a:cxnSpLocks/>
          </p:cNvCxnSpPr>
          <p:nvPr/>
        </p:nvCxnSpPr>
        <p:spPr>
          <a:xfrm flipV="1">
            <a:off x="530560" y="3435720"/>
            <a:ext cx="0" cy="1214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0854478-5280-938E-54F1-E6C76CA8C8AA}"/>
              </a:ext>
            </a:extLst>
          </p:cNvPr>
          <p:cNvCxnSpPr>
            <a:cxnSpLocks/>
          </p:cNvCxnSpPr>
          <p:nvPr/>
        </p:nvCxnSpPr>
        <p:spPr>
          <a:xfrm>
            <a:off x="610320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A72749F-2ADB-6DF2-71B1-3360314BDB47}"/>
              </a:ext>
            </a:extLst>
          </p:cNvPr>
          <p:cNvCxnSpPr>
            <a:cxnSpLocks/>
          </p:cNvCxnSpPr>
          <p:nvPr/>
        </p:nvCxnSpPr>
        <p:spPr>
          <a:xfrm flipV="1">
            <a:off x="327075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D2C58FE-8FB1-B84D-33BD-E979E7E47534}"/>
              </a:ext>
            </a:extLst>
          </p:cNvPr>
          <p:cNvCxnSpPr>
            <a:cxnSpLocks/>
          </p:cNvCxnSpPr>
          <p:nvPr/>
        </p:nvCxnSpPr>
        <p:spPr>
          <a:xfrm flipV="1">
            <a:off x="1256043" y="3441742"/>
            <a:ext cx="0" cy="1398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B8BD85E-A2B1-C21E-5CC6-F4AA1023146A}"/>
              </a:ext>
            </a:extLst>
          </p:cNvPr>
          <p:cNvCxnSpPr>
            <a:cxnSpLocks/>
          </p:cNvCxnSpPr>
          <p:nvPr/>
        </p:nvCxnSpPr>
        <p:spPr>
          <a:xfrm>
            <a:off x="1335803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D01E82E-F43B-9760-199E-65BA31A01BEE}"/>
              </a:ext>
            </a:extLst>
          </p:cNvPr>
          <p:cNvCxnSpPr>
            <a:cxnSpLocks/>
          </p:cNvCxnSpPr>
          <p:nvPr/>
        </p:nvCxnSpPr>
        <p:spPr>
          <a:xfrm flipV="1">
            <a:off x="1052558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E34455E-4BB2-BD98-74E8-E24038745517}"/>
              </a:ext>
            </a:extLst>
          </p:cNvPr>
          <p:cNvCxnSpPr>
            <a:cxnSpLocks/>
          </p:cNvCxnSpPr>
          <p:nvPr/>
        </p:nvCxnSpPr>
        <p:spPr>
          <a:xfrm flipV="1">
            <a:off x="3181694" y="3429522"/>
            <a:ext cx="0" cy="14753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F6B20FA-0782-D694-5F27-5D345360790E}"/>
              </a:ext>
            </a:extLst>
          </p:cNvPr>
          <p:cNvCxnSpPr>
            <a:cxnSpLocks/>
          </p:cNvCxnSpPr>
          <p:nvPr/>
        </p:nvCxnSpPr>
        <p:spPr>
          <a:xfrm>
            <a:off x="3261454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380E6F3-E3D9-6989-4AB9-339FFC27C02B}"/>
              </a:ext>
            </a:extLst>
          </p:cNvPr>
          <p:cNvCxnSpPr>
            <a:cxnSpLocks/>
          </p:cNvCxnSpPr>
          <p:nvPr/>
        </p:nvCxnSpPr>
        <p:spPr>
          <a:xfrm flipV="1">
            <a:off x="2978209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5320A94-A1F7-1812-B45F-5C7F0B4F94D1}"/>
              </a:ext>
            </a:extLst>
          </p:cNvPr>
          <p:cNvCxnSpPr>
            <a:cxnSpLocks/>
          </p:cNvCxnSpPr>
          <p:nvPr/>
        </p:nvCxnSpPr>
        <p:spPr>
          <a:xfrm flipV="1">
            <a:off x="3920996" y="3429522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2005ED6-BAA3-FBFD-129F-39B7A0700145}"/>
              </a:ext>
            </a:extLst>
          </p:cNvPr>
          <p:cNvCxnSpPr>
            <a:cxnSpLocks/>
          </p:cNvCxnSpPr>
          <p:nvPr/>
        </p:nvCxnSpPr>
        <p:spPr>
          <a:xfrm>
            <a:off x="4000756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A9DB4AE-AC9F-CC9E-CD56-176A7C173270}"/>
              </a:ext>
            </a:extLst>
          </p:cNvPr>
          <p:cNvCxnSpPr>
            <a:cxnSpLocks/>
          </p:cNvCxnSpPr>
          <p:nvPr/>
        </p:nvCxnSpPr>
        <p:spPr>
          <a:xfrm flipV="1">
            <a:off x="3717511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588F5670-92FD-463A-16DC-019FC2987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9833E3F3-E36F-7161-1E79-B2DCDA3485EC}"/>
              </a:ext>
            </a:extLst>
          </p:cNvPr>
          <p:cNvSpPr txBox="1"/>
          <p:nvPr/>
        </p:nvSpPr>
        <p:spPr>
          <a:xfrm>
            <a:off x="176461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gregg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5" name="Picture 4" descr="Beige Folder Icon for Mac | Customizable and High-Quality">
            <a:extLst>
              <a:ext uri="{FF2B5EF4-FFF2-40B4-BE49-F238E27FC236}">
                <a16:creationId xmlns:a16="http://schemas.microsoft.com/office/drawing/2014/main" id="{27DC7F39-1202-B330-8CDD-F96EFA9DE2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391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C238EC83-48E1-0BE8-538B-279B94D29C94}"/>
              </a:ext>
            </a:extLst>
          </p:cNvPr>
          <p:cNvSpPr txBox="1"/>
          <p:nvPr/>
        </p:nvSpPr>
        <p:spPr>
          <a:xfrm>
            <a:off x="279966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tim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6B3BD09B-93D7-F07C-37F5-A49253477D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039" y="389223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65434DAD-466E-E129-00B0-36ED81119A46}"/>
              </a:ext>
            </a:extLst>
          </p:cNvPr>
          <p:cNvSpPr txBox="1"/>
          <p:nvPr/>
        </p:nvSpPr>
        <p:spPr>
          <a:xfrm>
            <a:off x="751788" y="4164828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lei/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8A91447-00BE-42C3-41E4-3A6FAF3C3A08}"/>
              </a:ext>
            </a:extLst>
          </p:cNvPr>
          <p:cNvCxnSpPr>
            <a:cxnSpLocks/>
          </p:cNvCxnSpPr>
          <p:nvPr/>
        </p:nvCxnSpPr>
        <p:spPr>
          <a:xfrm flipH="1" flipV="1">
            <a:off x="2214013" y="3557127"/>
            <a:ext cx="2863" cy="4650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0177BB2-8D1B-4017-0EDB-67B78E6B20B7}"/>
              </a:ext>
            </a:extLst>
          </p:cNvPr>
          <p:cNvCxnSpPr>
            <a:cxnSpLocks/>
          </p:cNvCxnSpPr>
          <p:nvPr/>
        </p:nvCxnSpPr>
        <p:spPr>
          <a:xfrm flipV="1">
            <a:off x="1205616" y="3544907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DE88883-24ED-9CE0-3C64-FCCA0924F5D5}"/>
              </a:ext>
            </a:extLst>
          </p:cNvPr>
          <p:cNvCxnSpPr>
            <a:cxnSpLocks/>
          </p:cNvCxnSpPr>
          <p:nvPr/>
        </p:nvCxnSpPr>
        <p:spPr>
          <a:xfrm>
            <a:off x="2574511" y="3509289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067B5E33-82CF-A5B9-6572-77B73C1E34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4266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469713DA-42F0-85C3-2FD3-7A2527E3F3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7274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334D2394-FD94-790E-BC69-4E5AF14A97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58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35B06DE2-7A1D-0F6F-9446-FF191C9A19B8}"/>
              </a:ext>
            </a:extLst>
          </p:cNvPr>
          <p:cNvCxnSpPr>
            <a:cxnSpLocks/>
          </p:cNvCxnSpPr>
          <p:nvPr/>
        </p:nvCxnSpPr>
        <p:spPr>
          <a:xfrm flipH="1" flipV="1">
            <a:off x="2229418" y="4647296"/>
            <a:ext cx="2863" cy="4650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E01F58F-97C5-E74E-B036-DD411C38C6FA}"/>
              </a:ext>
            </a:extLst>
          </p:cNvPr>
          <p:cNvCxnSpPr>
            <a:cxnSpLocks/>
          </p:cNvCxnSpPr>
          <p:nvPr/>
        </p:nvCxnSpPr>
        <p:spPr>
          <a:xfrm flipV="1">
            <a:off x="1221021" y="4635076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98767D5-77A1-1DF4-4D46-F4E8397D6820}"/>
              </a:ext>
            </a:extLst>
          </p:cNvPr>
          <p:cNvCxnSpPr>
            <a:cxnSpLocks/>
          </p:cNvCxnSpPr>
          <p:nvPr/>
        </p:nvCxnSpPr>
        <p:spPr>
          <a:xfrm>
            <a:off x="2589916" y="4599458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4DD741AE-77D0-893F-6C85-358D780F83A7}"/>
              </a:ext>
            </a:extLst>
          </p:cNvPr>
          <p:cNvSpPr txBox="1"/>
          <p:nvPr/>
        </p:nvSpPr>
        <p:spPr>
          <a:xfrm>
            <a:off x="1753168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documents/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E9AC2B8-B761-6A5A-F1C8-4C03190161C9}"/>
              </a:ext>
            </a:extLst>
          </p:cNvPr>
          <p:cNvSpPr txBox="1"/>
          <p:nvPr/>
        </p:nvSpPr>
        <p:spPr>
          <a:xfrm>
            <a:off x="2837024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music/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4BC51D2-7305-8F98-3026-54165E3E7BD2}"/>
              </a:ext>
            </a:extLst>
          </p:cNvPr>
          <p:cNvSpPr txBox="1"/>
          <p:nvPr/>
        </p:nvSpPr>
        <p:spPr>
          <a:xfrm>
            <a:off x="706451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Desktop/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FD576DDC-6DB9-B912-0CED-285C6805241C}"/>
              </a:ext>
            </a:extLst>
          </p:cNvPr>
          <p:cNvCxnSpPr>
            <a:cxnSpLocks/>
          </p:cNvCxnSpPr>
          <p:nvPr/>
        </p:nvCxnSpPr>
        <p:spPr>
          <a:xfrm flipV="1">
            <a:off x="1208998" y="4599458"/>
            <a:ext cx="0" cy="157656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B04CE785-E853-7605-466E-B3D6CEEB52E6}"/>
              </a:ext>
            </a:extLst>
          </p:cNvPr>
          <p:cNvCxnSpPr>
            <a:cxnSpLocks/>
          </p:cNvCxnSpPr>
          <p:nvPr/>
        </p:nvCxnSpPr>
        <p:spPr>
          <a:xfrm>
            <a:off x="1288758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8C8D126E-7B7E-FE83-3BA7-DAD9C2F6EF78}"/>
              </a:ext>
            </a:extLst>
          </p:cNvPr>
          <p:cNvCxnSpPr>
            <a:cxnSpLocks/>
          </p:cNvCxnSpPr>
          <p:nvPr/>
        </p:nvCxnSpPr>
        <p:spPr>
          <a:xfrm flipV="1">
            <a:off x="1005513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F23CA652-4BE5-E1D2-3893-B85BE5D0671A}"/>
              </a:ext>
            </a:extLst>
          </p:cNvPr>
          <p:cNvCxnSpPr>
            <a:cxnSpLocks/>
          </p:cNvCxnSpPr>
          <p:nvPr/>
        </p:nvCxnSpPr>
        <p:spPr>
          <a:xfrm flipV="1">
            <a:off x="3243052" y="4641729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2E907AFC-3853-8834-D29C-2EE88A76FFA1}"/>
              </a:ext>
            </a:extLst>
          </p:cNvPr>
          <p:cNvCxnSpPr>
            <a:cxnSpLocks/>
          </p:cNvCxnSpPr>
          <p:nvPr/>
        </p:nvCxnSpPr>
        <p:spPr>
          <a:xfrm>
            <a:off x="3322812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AE34E212-124E-0B71-155F-5DA0348E8E60}"/>
              </a:ext>
            </a:extLst>
          </p:cNvPr>
          <p:cNvCxnSpPr>
            <a:cxnSpLocks/>
          </p:cNvCxnSpPr>
          <p:nvPr/>
        </p:nvCxnSpPr>
        <p:spPr>
          <a:xfrm flipV="1">
            <a:off x="3039567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A68C3820-95AC-6A8E-8402-598FACB20849}"/>
              </a:ext>
            </a:extLst>
          </p:cNvPr>
          <p:cNvCxnSpPr>
            <a:cxnSpLocks/>
          </p:cNvCxnSpPr>
          <p:nvPr/>
        </p:nvCxnSpPr>
        <p:spPr>
          <a:xfrm flipV="1">
            <a:off x="3322812" y="5767010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28061BA8-D429-0235-B759-B69D96327BD7}"/>
              </a:ext>
            </a:extLst>
          </p:cNvPr>
          <p:cNvCxnSpPr>
            <a:cxnSpLocks/>
          </p:cNvCxnSpPr>
          <p:nvPr/>
        </p:nvCxnSpPr>
        <p:spPr>
          <a:xfrm>
            <a:off x="3402572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D9D5FB2F-AC54-556C-FC96-60EF37D0EA3D}"/>
              </a:ext>
            </a:extLst>
          </p:cNvPr>
          <p:cNvCxnSpPr>
            <a:cxnSpLocks/>
          </p:cNvCxnSpPr>
          <p:nvPr/>
        </p:nvCxnSpPr>
        <p:spPr>
          <a:xfrm flipV="1">
            <a:off x="3119327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FD291D04-F2F2-EEFF-90F1-099E9DA0FE25}"/>
              </a:ext>
            </a:extLst>
          </p:cNvPr>
          <p:cNvCxnSpPr>
            <a:cxnSpLocks/>
          </p:cNvCxnSpPr>
          <p:nvPr/>
        </p:nvCxnSpPr>
        <p:spPr>
          <a:xfrm flipV="1">
            <a:off x="2229418" y="5780928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4CFA380B-E48D-ACBB-1245-5B66DE4561EA}"/>
              </a:ext>
            </a:extLst>
          </p:cNvPr>
          <p:cNvCxnSpPr>
            <a:cxnSpLocks/>
          </p:cNvCxnSpPr>
          <p:nvPr/>
        </p:nvCxnSpPr>
        <p:spPr>
          <a:xfrm>
            <a:off x="2309178" y="5761651"/>
            <a:ext cx="103641" cy="13466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CDDCC849-7662-A025-E58B-AC298BC8EC83}"/>
              </a:ext>
            </a:extLst>
          </p:cNvPr>
          <p:cNvCxnSpPr>
            <a:cxnSpLocks/>
          </p:cNvCxnSpPr>
          <p:nvPr/>
        </p:nvCxnSpPr>
        <p:spPr>
          <a:xfrm flipV="1">
            <a:off x="2025933" y="576165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A2DBABDB-C4B7-34D2-AEF0-7C7F61575979}"/>
              </a:ext>
            </a:extLst>
          </p:cNvPr>
          <p:cNvCxnSpPr>
            <a:cxnSpLocks/>
          </p:cNvCxnSpPr>
          <p:nvPr/>
        </p:nvCxnSpPr>
        <p:spPr>
          <a:xfrm flipV="1">
            <a:off x="1205616" y="5761651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F147485C-28B5-A842-DC40-0512A870385F}"/>
              </a:ext>
            </a:extLst>
          </p:cNvPr>
          <p:cNvCxnSpPr>
            <a:cxnSpLocks/>
          </p:cNvCxnSpPr>
          <p:nvPr/>
        </p:nvCxnSpPr>
        <p:spPr>
          <a:xfrm>
            <a:off x="1285376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9D94DB82-4A9F-7C2B-22F7-C0B8BFD2CB38}"/>
              </a:ext>
            </a:extLst>
          </p:cNvPr>
          <p:cNvCxnSpPr>
            <a:cxnSpLocks/>
          </p:cNvCxnSpPr>
          <p:nvPr/>
        </p:nvCxnSpPr>
        <p:spPr>
          <a:xfrm flipV="1">
            <a:off x="1002131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6" name="Picture 65">
            <a:extLst>
              <a:ext uri="{FF2B5EF4-FFF2-40B4-BE49-F238E27FC236}">
                <a16:creationId xmlns:a16="http://schemas.microsoft.com/office/drawing/2014/main" id="{FEB3C160-5F57-52BA-A681-21F92C77D2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5288" y="5924942"/>
            <a:ext cx="270449" cy="270450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C2095773-0756-03F1-D8B2-E30359CC4E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161" y="5924942"/>
            <a:ext cx="270449" cy="270450"/>
          </a:xfrm>
          <a:prstGeom prst="rect">
            <a:avLst/>
          </a:prstGeom>
        </p:spPr>
      </p:pic>
      <p:pic>
        <p:nvPicPr>
          <p:cNvPr id="6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BF7F7C59-E884-8A89-3C85-92D1EB4C60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6576" y="5874884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75DD37A3-0974-F697-E0C9-59434D3693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361" y="5894528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44966A81-07C4-2A64-4B21-2FDB92B7C3B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8502" y="5942980"/>
            <a:ext cx="270449" cy="270450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89FDEE03-3483-2E7E-03BE-5CB203BA10E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5621" y="5960300"/>
            <a:ext cx="253129" cy="253130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35F892FB-0429-29C2-8ED8-7DB6F1BEF46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1763" y="5942980"/>
            <a:ext cx="270450" cy="270450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5DE7233D-FD05-F40F-B0ED-F13134D5105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2614" y="5951081"/>
            <a:ext cx="270450" cy="270450"/>
          </a:xfrm>
          <a:prstGeom prst="rect">
            <a:avLst/>
          </a:prstGeom>
        </p:spPr>
      </p:pic>
      <p:pic>
        <p:nvPicPr>
          <p:cNvPr id="7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33B8DC6E-6BCE-CF12-F77D-373A0848F3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751" y="5888132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5" name="Arrow: Right 74">
            <a:extLst>
              <a:ext uri="{FF2B5EF4-FFF2-40B4-BE49-F238E27FC236}">
                <a16:creationId xmlns:a16="http://schemas.microsoft.com/office/drawing/2014/main" id="{FC1ABA8D-BB25-CABD-7DE5-CB1169630206}"/>
              </a:ext>
            </a:extLst>
          </p:cNvPr>
          <p:cNvSpPr/>
          <p:nvPr/>
        </p:nvSpPr>
        <p:spPr>
          <a:xfrm>
            <a:off x="4720604" y="3826693"/>
            <a:ext cx="1823140" cy="390939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6DFF55E-E3F1-3790-8A43-620FCD0E0954}"/>
              </a:ext>
            </a:extLst>
          </p:cNvPr>
          <p:cNvSpPr txBox="1"/>
          <p:nvPr/>
        </p:nvSpPr>
        <p:spPr>
          <a:xfrm>
            <a:off x="8424138" y="3010543"/>
            <a:ext cx="1827900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5400"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With </a:t>
            </a:r>
            <a:r>
              <a:rPr lang="en-US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commands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230BFD-7C5E-264E-7324-1A1ACCB502A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80404" y="3489796"/>
            <a:ext cx="5115368" cy="95969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787FEFA-20B4-001F-2820-B8B5AD804A2E}"/>
              </a:ext>
            </a:extLst>
          </p:cNvPr>
          <p:cNvSpPr txBox="1"/>
          <p:nvPr/>
        </p:nvSpPr>
        <p:spPr>
          <a:xfrm>
            <a:off x="54310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bin/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E967A20-8E3E-B4D2-DE95-C418E574152E}"/>
              </a:ext>
            </a:extLst>
          </p:cNvPr>
          <p:cNvSpPr txBox="1"/>
          <p:nvPr/>
        </p:nvSpPr>
        <p:spPr>
          <a:xfrm>
            <a:off x="5234597" y="4923183"/>
            <a:ext cx="641406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 </a:t>
            </a:r>
            <a:r>
              <a:rPr lang="en-US" sz="20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command</a:t>
            </a:r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is a program that is run by typing its name into the terminal and hitting Enter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Many common commands relate to navigating and manipulating the filesystem</a:t>
            </a:r>
          </a:p>
        </p:txBody>
      </p:sp>
    </p:spTree>
    <p:extLst>
      <p:ext uri="{BB962C8B-B14F-4D97-AF65-F5344CB8AC3E}">
        <p14:creationId xmlns:p14="http://schemas.microsoft.com/office/powerpoint/2010/main" val="680368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509EC-24B4-F160-40F3-370E19C73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56D2A-E5B3-4F09-628C-7DE08DBCF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/>
              <a:t>Common commands for interacting with the filesystem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DFCACB-7C53-1DCB-EB07-C8F5441C9ED1}"/>
              </a:ext>
            </a:extLst>
          </p:cNvPr>
          <p:cNvSpPr txBox="1"/>
          <p:nvPr/>
        </p:nvSpPr>
        <p:spPr>
          <a:xfrm>
            <a:off x="0" y="6163497"/>
            <a:ext cx="12192000" cy="461665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These commands are used in the most common shells (bash, PowerShell)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F9EC58B-7A50-8F5A-E90D-063B3F61E5B1}"/>
              </a:ext>
            </a:extLst>
          </p:cNvPr>
          <p:cNvGraphicFramePr>
            <a:graphicFrameLocks noGrp="1"/>
          </p:cNvGraphicFramePr>
          <p:nvPr/>
        </p:nvGraphicFramePr>
        <p:xfrm>
          <a:off x="1" y="1270000"/>
          <a:ext cx="12191999" cy="4683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4317557">
                  <a:extLst>
                    <a:ext uri="{9D8B030D-6E8A-4147-A177-3AD203B41FA5}">
                      <a16:colId xmlns:a16="http://schemas.microsoft.com/office/drawing/2014/main" val="3298165829"/>
                    </a:ext>
                  </a:extLst>
                </a:gridCol>
                <a:gridCol w="7874442">
                  <a:extLst>
                    <a:ext uri="{9D8B030D-6E8A-4147-A177-3AD203B41FA5}">
                      <a16:colId xmlns:a16="http://schemas.microsoft.com/office/drawing/2014/main" val="6779989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dirty="0" err="1">
                          <a:latin typeface="Consolas" panose="020B0609020204030204" pitchFamily="49" charset="0"/>
                        </a:rPr>
                        <a:t>pwd</a:t>
                      </a:r>
                      <a:endParaRPr lang="en-US" sz="16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Print (display) the working directory.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76746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Consolas" panose="020B0609020204030204" pitchFamily="49" charset="0"/>
                        </a:rPr>
                        <a:t>ls &lt;directory&gt;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List the contents of </a:t>
                      </a:r>
                      <a:r>
                        <a:rPr lang="en-US" sz="1600" b="0" dirty="0">
                          <a:latin typeface="Consolas" panose="020B0609020204030204" pitchFamily="49" charset="0"/>
                        </a:rPr>
                        <a:t>&lt;directory&gt;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(current working directory if unspecified).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4567042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Consolas" panose="020B0609020204030204" pitchFamily="49" charset="0"/>
                        </a:rPr>
                        <a:t>cd &lt;directory&gt;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Change the current working directory to </a:t>
                      </a:r>
                      <a:r>
                        <a:rPr lang="en-US" sz="1600" b="0" dirty="0">
                          <a:latin typeface="Consolas" panose="020B0609020204030204" pitchFamily="49" charset="0"/>
                        </a:rPr>
                        <a:t>&lt;directory&gt;.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2122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dirty="0" err="1">
                          <a:latin typeface="Consolas" panose="020B0609020204030204" pitchFamily="49" charset="0"/>
                        </a:rPr>
                        <a:t>mkdir</a:t>
                      </a:r>
                      <a:r>
                        <a:rPr lang="en-US" sz="1600" b="0" dirty="0">
                          <a:latin typeface="Consolas" panose="020B0609020204030204" pitchFamily="49" charset="0"/>
                        </a:rPr>
                        <a:t> &lt;directory&gt;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Create a new directory called </a:t>
                      </a:r>
                      <a:r>
                        <a:rPr lang="en-US" sz="1600" b="0" dirty="0">
                          <a:latin typeface="Consolas" panose="020B0609020204030204" pitchFamily="49" charset="0"/>
                        </a:rPr>
                        <a:t>&lt;directory&gt;.</a:t>
                      </a:r>
                      <a:endParaRPr lang="en-US" sz="16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27155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Consolas" panose="020B0609020204030204" pitchFamily="49" charset="0"/>
                        </a:rPr>
                        <a:t>mv &lt;directory/file&gt; &lt;directory/file&gt;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Move the first </a:t>
                      </a:r>
                      <a:r>
                        <a:rPr lang="en-US" sz="1600" b="0" dirty="0">
                          <a:latin typeface="Consolas" panose="020B0609020204030204" pitchFamily="49" charset="0"/>
                        </a:rPr>
                        <a:t>&lt;directory/file&gt;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to the second </a:t>
                      </a:r>
                      <a:r>
                        <a:rPr lang="en-US" sz="1600" b="0" dirty="0">
                          <a:latin typeface="Consolas" panose="020B0609020204030204" pitchFamily="49" charset="0"/>
                        </a:rPr>
                        <a:t>&lt;directory/file&gt;</a:t>
                      </a:r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. If location is the same, this acts as a rename command.</a:t>
                      </a:r>
                    </a:p>
                    <a:p>
                      <a:endParaRPr lang="en-US" sz="1600" b="0" dirty="0"/>
                    </a:p>
                    <a:p>
                      <a:pPr algn="ctr"/>
                      <a:r>
                        <a:rPr lang="en-US" sz="1600" b="0" dirty="0"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en-US" sz="1600" b="0" dirty="0">
                          <a:highlight>
                            <a:srgbClr val="FFFF00"/>
                          </a:highlight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CAUTION: If the destination file/directory exists IT WILL BE OVERWRITTEN WITH NO CONFIRMATION PROMPT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53021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latin typeface="Consolas" panose="020B0609020204030204" pitchFamily="49" charset="0"/>
                        </a:rPr>
                        <a:t>cp &lt;directory/file&gt; &lt;directory/file&gt;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Copy the first </a:t>
                      </a:r>
                      <a:r>
                        <a:rPr lang="en-US" sz="1600" b="0" dirty="0">
                          <a:latin typeface="Consolas" panose="020B0609020204030204" pitchFamily="49" charset="0"/>
                        </a:rPr>
                        <a:t>&lt;directory/file&gt;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to the second </a:t>
                      </a:r>
                      <a:r>
                        <a:rPr lang="en-US" sz="1600" b="0" dirty="0">
                          <a:latin typeface="Consolas" panose="020B0609020204030204" pitchFamily="49" charset="0"/>
                        </a:rPr>
                        <a:t>&lt;directory/file&gt;</a:t>
                      </a:r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.</a:t>
                      </a:r>
                    </a:p>
                    <a:p>
                      <a:endParaRPr lang="en-US" sz="1600" b="0" dirty="0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highlight>
                            <a:srgbClr val="FFFF00"/>
                          </a:highlight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 CAUTION: If the destination file/directory exists IT WILL BE OVERWRITTEN WITH NO CONFIRMATION PROMPT </a:t>
                      </a:r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5491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latin typeface="Consolas" panose="020B0609020204030204" pitchFamily="49" charset="0"/>
                        </a:rPr>
                        <a:t>rm &lt;file&gt;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latin typeface="Consolas" panose="020B0609020204030204" pitchFamily="49" charset="0"/>
                        </a:rPr>
                        <a:t>rm –rf &lt;directory&gt;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DELETE</a:t>
                      </a:r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 the file or directory (</a:t>
                      </a:r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AND its contents</a:t>
                      </a:r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). </a:t>
                      </a:r>
                    </a:p>
                    <a:p>
                      <a:endParaRPr lang="en-US" sz="1600" b="0" dirty="0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95000"/>
                            </a:schemeClr>
                          </a:solidFill>
                          <a:highlight>
                            <a:srgbClr val="FF0000"/>
                          </a:highlight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 WARNING: PERMANENT ACTION WITH NO CONFIRMATION  PROMPT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9324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48174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FF6B6-0411-67F4-A748-26DAF2B92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812" y="134017"/>
            <a:ext cx="10515600" cy="1325563"/>
          </a:xfrm>
        </p:spPr>
        <p:txBody>
          <a:bodyPr/>
          <a:lstStyle/>
          <a:p>
            <a:r>
              <a:rPr lang="en-US" dirty="0"/>
              <a:t>How do commands work?</a:t>
            </a:r>
          </a:p>
        </p:txBody>
      </p:sp>
      <p:pic>
        <p:nvPicPr>
          <p:cNvPr id="5" name="Content Placeholder 4" descr="A drawing of a computer with a speech bubble&#10;&#10;AI-generated content may be incorrect.">
            <a:extLst>
              <a:ext uri="{FF2B5EF4-FFF2-40B4-BE49-F238E27FC236}">
                <a16:creationId xmlns:a16="http://schemas.microsoft.com/office/drawing/2014/main" id="{AADC04BE-69E2-AD54-91EC-A752CB86EE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4812" y="2141537"/>
            <a:ext cx="4351338" cy="4351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E4A999C-4858-B9CD-2E28-E1637D38125A}"/>
              </a:ext>
            </a:extLst>
          </p:cNvPr>
          <p:cNvSpPr txBox="1"/>
          <p:nvPr/>
        </p:nvSpPr>
        <p:spPr>
          <a:xfrm>
            <a:off x="699247" y="3288414"/>
            <a:ext cx="18774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[gregg]$ ls</a:t>
            </a:r>
          </a:p>
        </p:txBody>
      </p:sp>
      <p:pic>
        <p:nvPicPr>
          <p:cNvPr id="8" name="Graphic 7" descr="Folder Search with solid fill">
            <a:extLst>
              <a:ext uri="{FF2B5EF4-FFF2-40B4-BE49-F238E27FC236}">
                <a16:creationId xmlns:a16="http://schemas.microsoft.com/office/drawing/2014/main" id="{67A97C42-CB60-9C61-FA18-B0BA1AAEF1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8800" y="2114643"/>
            <a:ext cx="914400" cy="914400"/>
          </a:xfrm>
          <a:prstGeom prst="rect">
            <a:avLst/>
          </a:prstGeom>
        </p:spPr>
      </p:pic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284C611A-EFD3-70A6-6A01-D70800651962}"/>
              </a:ext>
            </a:extLst>
          </p:cNvPr>
          <p:cNvCxnSpPr>
            <a:stCxn id="5" idx="3"/>
            <a:endCxn id="8" idx="1"/>
          </p:cNvCxnSpPr>
          <p:nvPr/>
        </p:nvCxnSpPr>
        <p:spPr>
          <a:xfrm flipV="1">
            <a:off x="4526150" y="2571843"/>
            <a:ext cx="1112650" cy="174536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6A5F274E-DDA8-C409-DDCE-298E1C0A1C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2553" y="2144618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311A7F4-342A-3D27-A6CC-891560B4D6EA}"/>
              </a:ext>
            </a:extLst>
          </p:cNvPr>
          <p:cNvSpPr txBox="1"/>
          <p:nvPr/>
        </p:nvSpPr>
        <p:spPr>
          <a:xfrm>
            <a:off x="9253178" y="2387177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/bin/</a:t>
            </a:r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4B325C8-9BA6-DC0C-809B-819595E847FF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6553200" y="2571843"/>
            <a:ext cx="269997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EC0E139-053F-3DDC-3CA5-9BE717884C9D}"/>
              </a:ext>
            </a:extLst>
          </p:cNvPr>
          <p:cNvGrpSpPr/>
          <p:nvPr/>
        </p:nvGrpSpPr>
        <p:grpSpPr>
          <a:xfrm>
            <a:off x="9448341" y="3421781"/>
            <a:ext cx="562174" cy="793750"/>
            <a:chOff x="7387881" y="3180927"/>
            <a:chExt cx="793750" cy="1096011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A24ED2B7-70F4-20E1-9C3F-D07EB9CA9A6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700" t="52231" r="80037" b="2857"/>
            <a:stretch>
              <a:fillRect/>
            </a:stretch>
          </p:blipFill>
          <p:spPr>
            <a:xfrm>
              <a:off x="7387881" y="3180927"/>
              <a:ext cx="793750" cy="1096011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C290E23-F06E-B658-130D-A687FD9094F1}"/>
                </a:ext>
              </a:extLst>
            </p:cNvPr>
            <p:cNvSpPr txBox="1"/>
            <p:nvPr/>
          </p:nvSpPr>
          <p:spPr>
            <a:xfrm>
              <a:off x="7459706" y="4000526"/>
              <a:ext cx="603019" cy="215444"/>
            </a:xfrm>
            <a:prstGeom prst="rect">
              <a:avLst/>
            </a:prstGeom>
            <a:solidFill>
              <a:srgbClr val="EE1C23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400" b="1">
                  <a:solidFill>
                    <a:schemeClr val="bg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ls</a:t>
              </a:r>
            </a:p>
          </p:txBody>
        </p:sp>
      </p:grp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09CDE50-642A-624A-6DB8-CAF3D105B722}"/>
              </a:ext>
            </a:extLst>
          </p:cNvPr>
          <p:cNvCxnSpPr>
            <a:cxnSpLocks/>
            <a:stCxn id="13" idx="2"/>
            <a:endCxn id="16" idx="0"/>
          </p:cNvCxnSpPr>
          <p:nvPr/>
        </p:nvCxnSpPr>
        <p:spPr>
          <a:xfrm>
            <a:off x="9729428" y="2938368"/>
            <a:ext cx="0" cy="4834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974D3501-407D-D084-5A5B-512AE1DBC3A8}"/>
              </a:ext>
            </a:extLst>
          </p:cNvPr>
          <p:cNvSpPr txBox="1"/>
          <p:nvPr/>
        </p:nvSpPr>
        <p:spPr>
          <a:xfrm>
            <a:off x="6553200" y="4720281"/>
            <a:ext cx="1874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Run this program</a:t>
            </a:r>
          </a:p>
        </p:txBody>
      </p:sp>
      <p:cxnSp>
        <p:nvCxnSpPr>
          <p:cNvPr id="34" name="Elbow Connector 33">
            <a:extLst>
              <a:ext uri="{FF2B5EF4-FFF2-40B4-BE49-F238E27FC236}">
                <a16:creationId xmlns:a16="http://schemas.microsoft.com/office/drawing/2014/main" id="{E80BB726-4EB9-5919-732B-8053097B7F47}"/>
              </a:ext>
            </a:extLst>
          </p:cNvPr>
          <p:cNvCxnSpPr>
            <a:cxnSpLocks/>
            <a:stCxn id="32" idx="2"/>
          </p:cNvCxnSpPr>
          <p:nvPr/>
        </p:nvCxnSpPr>
        <p:spPr>
          <a:xfrm rot="5400000">
            <a:off x="5667098" y="3700315"/>
            <a:ext cx="433856" cy="321245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DBCA8E09-4C00-C38D-98C5-38836A1FEA57}"/>
              </a:ext>
            </a:extLst>
          </p:cNvPr>
          <p:cNvCxnSpPr>
            <a:cxnSpLocks/>
            <a:stCxn id="16" idx="2"/>
            <a:endCxn id="32" idx="3"/>
          </p:cNvCxnSpPr>
          <p:nvPr/>
        </p:nvCxnSpPr>
        <p:spPr>
          <a:xfrm rot="5400000">
            <a:off x="8733658" y="3909177"/>
            <a:ext cx="689416" cy="130212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43455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4B9C2-C621-AE15-06D9-A47037A49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00AA1-FB47-5B67-FD98-A9B669029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812" y="93461"/>
            <a:ext cx="10515600" cy="1325563"/>
          </a:xfrm>
        </p:spPr>
        <p:txBody>
          <a:bodyPr/>
          <a:lstStyle/>
          <a:p>
            <a:r>
              <a:rPr lang="en-US" dirty="0"/>
              <a:t>All </a:t>
            </a:r>
            <a:r>
              <a:rPr lang="en-US" dirty="0" err="1"/>
              <a:t>progams</a:t>
            </a:r>
            <a:r>
              <a:rPr lang="en-US" dirty="0"/>
              <a:t> live somewhere in your computer</a:t>
            </a:r>
          </a:p>
        </p:txBody>
      </p:sp>
      <p:pic>
        <p:nvPicPr>
          <p:cNvPr id="5" name="Content Placeholder 4" descr="A drawing of a computer with a speech bubble&#10;&#10;AI-generated content may be incorrect.">
            <a:extLst>
              <a:ext uri="{FF2B5EF4-FFF2-40B4-BE49-F238E27FC236}">
                <a16:creationId xmlns:a16="http://schemas.microsoft.com/office/drawing/2014/main" id="{E337F20B-3F99-669F-62EC-4B92321537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4812" y="2141537"/>
            <a:ext cx="4351338" cy="4351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1DE6893-722F-BF68-DD48-5DD62B4C08DB}"/>
              </a:ext>
            </a:extLst>
          </p:cNvPr>
          <p:cNvSpPr txBox="1"/>
          <p:nvPr/>
        </p:nvSpPr>
        <p:spPr>
          <a:xfrm>
            <a:off x="699247" y="3288414"/>
            <a:ext cx="18774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[gregg]$ ls</a:t>
            </a:r>
          </a:p>
        </p:txBody>
      </p:sp>
      <p:pic>
        <p:nvPicPr>
          <p:cNvPr id="8" name="Graphic 7" descr="Folder Search with solid fill">
            <a:extLst>
              <a:ext uri="{FF2B5EF4-FFF2-40B4-BE49-F238E27FC236}">
                <a16:creationId xmlns:a16="http://schemas.microsoft.com/office/drawing/2014/main" id="{F5368EBA-1C1B-949F-7BA0-45B23330AD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8800" y="2114643"/>
            <a:ext cx="914400" cy="914400"/>
          </a:xfrm>
          <a:prstGeom prst="rect">
            <a:avLst/>
          </a:prstGeom>
        </p:spPr>
      </p:pic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E1C7597E-7189-7F2D-9D7E-DCFC18B092B2}"/>
              </a:ext>
            </a:extLst>
          </p:cNvPr>
          <p:cNvCxnSpPr>
            <a:stCxn id="5" idx="3"/>
            <a:endCxn id="8" idx="1"/>
          </p:cNvCxnSpPr>
          <p:nvPr/>
        </p:nvCxnSpPr>
        <p:spPr>
          <a:xfrm flipV="1">
            <a:off x="4526150" y="2571843"/>
            <a:ext cx="1112650" cy="174536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2EDB3F06-CE4D-7AC4-DB07-BFD4599E75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2553" y="2144618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03F5B8B-BE13-5E69-BFB3-8C6AFC407B56}"/>
              </a:ext>
            </a:extLst>
          </p:cNvPr>
          <p:cNvSpPr txBox="1"/>
          <p:nvPr/>
        </p:nvSpPr>
        <p:spPr>
          <a:xfrm>
            <a:off x="9253178" y="2387177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/bin/</a:t>
            </a:r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DA5DC7C-B020-9AB4-737F-E4EABD4AC2A4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6553200" y="2571843"/>
            <a:ext cx="269997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532C612-FDF5-AAA6-4E85-9AB95E93E485}"/>
              </a:ext>
            </a:extLst>
          </p:cNvPr>
          <p:cNvGrpSpPr/>
          <p:nvPr/>
        </p:nvGrpSpPr>
        <p:grpSpPr>
          <a:xfrm>
            <a:off x="9448341" y="3421781"/>
            <a:ext cx="562174" cy="793750"/>
            <a:chOff x="7387881" y="3180927"/>
            <a:chExt cx="793750" cy="1096011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0215CCD6-B695-B77D-865E-D56EB046881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700" t="52231" r="80037" b="2857"/>
            <a:stretch>
              <a:fillRect/>
            </a:stretch>
          </p:blipFill>
          <p:spPr>
            <a:xfrm>
              <a:off x="7387881" y="3180927"/>
              <a:ext cx="793750" cy="1096011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912915E-CEE8-4459-CB7B-34685C03B214}"/>
                </a:ext>
              </a:extLst>
            </p:cNvPr>
            <p:cNvSpPr txBox="1"/>
            <p:nvPr/>
          </p:nvSpPr>
          <p:spPr>
            <a:xfrm>
              <a:off x="7459706" y="4000526"/>
              <a:ext cx="603019" cy="215444"/>
            </a:xfrm>
            <a:prstGeom prst="rect">
              <a:avLst/>
            </a:prstGeom>
            <a:solidFill>
              <a:srgbClr val="EE1C23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400" b="1">
                  <a:solidFill>
                    <a:schemeClr val="bg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ls</a:t>
              </a:r>
            </a:p>
          </p:txBody>
        </p:sp>
      </p:grp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30B1371-E8B2-653D-A293-0A5316726239}"/>
              </a:ext>
            </a:extLst>
          </p:cNvPr>
          <p:cNvCxnSpPr>
            <a:cxnSpLocks/>
            <a:stCxn id="13" idx="2"/>
            <a:endCxn id="16" idx="0"/>
          </p:cNvCxnSpPr>
          <p:nvPr/>
        </p:nvCxnSpPr>
        <p:spPr>
          <a:xfrm>
            <a:off x="9729428" y="2938368"/>
            <a:ext cx="0" cy="4834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close-up of a black and white text&#10;&#10;AI-generated content may be incorrect.">
            <a:extLst>
              <a:ext uri="{FF2B5EF4-FFF2-40B4-BE49-F238E27FC236}">
                <a16:creationId xmlns:a16="http://schemas.microsoft.com/office/drawing/2014/main" id="{C3EF7F38-1469-89FF-5642-E41D00ADED6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38800" y="3724662"/>
            <a:ext cx="3149600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0377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4654C-6D6C-A53C-BB82-DBF282105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4CF5D-235A-2DAA-A1C0-367845D3B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812" y="126299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$PATH is list of directories to search for programs</a:t>
            </a:r>
          </a:p>
        </p:txBody>
      </p:sp>
      <p:pic>
        <p:nvPicPr>
          <p:cNvPr id="5" name="Content Placeholder 4" descr="A drawing of a computer with a speech bubble&#10;&#10;AI-generated content may be incorrect.">
            <a:extLst>
              <a:ext uri="{FF2B5EF4-FFF2-40B4-BE49-F238E27FC236}">
                <a16:creationId xmlns:a16="http://schemas.microsoft.com/office/drawing/2014/main" id="{735F6FF6-CCC5-6106-ED7F-86062E5175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4812" y="2141537"/>
            <a:ext cx="4351338" cy="4351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D608A8E-E428-331A-0920-2A3AAC93A925}"/>
              </a:ext>
            </a:extLst>
          </p:cNvPr>
          <p:cNvSpPr txBox="1"/>
          <p:nvPr/>
        </p:nvSpPr>
        <p:spPr>
          <a:xfrm>
            <a:off x="699247" y="3288414"/>
            <a:ext cx="18774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[gregg]$ ls</a:t>
            </a:r>
          </a:p>
        </p:txBody>
      </p:sp>
      <p:pic>
        <p:nvPicPr>
          <p:cNvPr id="8" name="Graphic 7" descr="Folder Search with solid fill">
            <a:extLst>
              <a:ext uri="{FF2B5EF4-FFF2-40B4-BE49-F238E27FC236}">
                <a16:creationId xmlns:a16="http://schemas.microsoft.com/office/drawing/2014/main" id="{E10395E1-EB12-07CB-FB0B-37F06044AA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8800" y="2114643"/>
            <a:ext cx="914400" cy="914400"/>
          </a:xfrm>
          <a:prstGeom prst="rect">
            <a:avLst/>
          </a:prstGeom>
        </p:spPr>
      </p:pic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29A6BEF4-3856-AA4D-A107-C2F69FA28C0A}"/>
              </a:ext>
            </a:extLst>
          </p:cNvPr>
          <p:cNvCxnSpPr>
            <a:stCxn id="5" idx="3"/>
            <a:endCxn id="8" idx="1"/>
          </p:cNvCxnSpPr>
          <p:nvPr/>
        </p:nvCxnSpPr>
        <p:spPr>
          <a:xfrm flipV="1">
            <a:off x="4526150" y="2571843"/>
            <a:ext cx="1112650" cy="174536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77F35104-FED9-21E2-12C4-A13C4D7C2A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2553" y="2144618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8022EEE-DFEF-4BB6-4275-E63727A0DBD9}"/>
              </a:ext>
            </a:extLst>
          </p:cNvPr>
          <p:cNvSpPr txBox="1"/>
          <p:nvPr/>
        </p:nvSpPr>
        <p:spPr>
          <a:xfrm>
            <a:off x="9253178" y="2387177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/bin/</a:t>
            </a:r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5B7DEA8-89C1-FA35-1092-FE71851D4091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6553200" y="2571843"/>
            <a:ext cx="269997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screen shot of a computer screen&#10;&#10;AI-generated content may be incorrect.">
            <a:extLst>
              <a:ext uri="{FF2B5EF4-FFF2-40B4-BE49-F238E27FC236}">
                <a16:creationId xmlns:a16="http://schemas.microsoft.com/office/drawing/2014/main" id="{A0AAED4F-64B9-FE6D-88A7-8E43E270B0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1582" y="3029043"/>
            <a:ext cx="5143213" cy="3398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4778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C00AD-C4C7-D25B-7B11-406D19448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359" y="150443"/>
            <a:ext cx="10515600" cy="1325563"/>
          </a:xfrm>
        </p:spPr>
        <p:txBody>
          <a:bodyPr/>
          <a:lstStyle/>
          <a:p>
            <a:r>
              <a:rPr lang="en-US" dirty="0"/>
              <a:t>$PATH is an </a:t>
            </a:r>
            <a:r>
              <a:rPr lang="en-US" b="1" dirty="0"/>
              <a:t>environmental variable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FADDB-581D-EF4A-B959-D3FB633012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13076" cy="954645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/>
              <a:t>Shortcuts/keywords that are assigned on startup to configure your workspace</a:t>
            </a:r>
          </a:p>
          <a:p>
            <a:pPr marL="0" indent="0">
              <a:buNone/>
            </a:pPr>
            <a:r>
              <a:rPr lang="en-US"/>
              <a:t>Usually starts with $</a:t>
            </a:r>
          </a:p>
          <a:p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0A8B417-A532-83EF-81F1-4FCA9D6ECA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032086"/>
              </p:ext>
            </p:extLst>
          </p:nvPr>
        </p:nvGraphicFramePr>
        <p:xfrm>
          <a:off x="1" y="3015482"/>
          <a:ext cx="12191999" cy="2366512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3855492">
                  <a:extLst>
                    <a:ext uri="{9D8B030D-6E8A-4147-A177-3AD203B41FA5}">
                      <a16:colId xmlns:a16="http://schemas.microsoft.com/office/drawing/2014/main" val="3298165829"/>
                    </a:ext>
                  </a:extLst>
                </a:gridCol>
                <a:gridCol w="8336507">
                  <a:extLst>
                    <a:ext uri="{9D8B030D-6E8A-4147-A177-3AD203B41FA5}">
                      <a16:colId xmlns:a16="http://schemas.microsoft.com/office/drawing/2014/main" val="677998999"/>
                    </a:ext>
                  </a:extLst>
                </a:gridCol>
              </a:tblGrid>
              <a:tr h="530907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Consolas" panose="020B0609020204030204" pitchFamily="49" charset="0"/>
                        </a:rPr>
                        <a:t>$PATH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 colon-separated list of directories that contain software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767468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Consolas" panose="020B0609020204030204" pitchFamily="49" charset="0"/>
                        </a:rPr>
                        <a:t>$HOME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Consolas" panose="020B0609020204030204" pitchFamily="49" charset="0"/>
                          <a:ea typeface="Source Sans Pro" panose="020B0503030403020204" pitchFamily="34" charset="0"/>
                          <a:cs typeface="Consolas" panose="020B0609020204030204" pitchFamily="49" charset="0"/>
                        </a:rPr>
                        <a:t>points to the home directory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456704255"/>
                  </a:ext>
                </a:extLst>
              </a:tr>
              <a:tr h="475109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Consolas" panose="020B0609020204030204" pitchFamily="49" charset="0"/>
                        </a:rPr>
                        <a:t>$PWD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Consolas" panose="020B0609020204030204" pitchFamily="49" charset="0"/>
                        </a:rPr>
                        <a:t>the current working directory (print working directory)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212215"/>
                  </a:ext>
                </a:extLst>
              </a:tr>
              <a:tr h="451648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Consolas" panose="020B0609020204030204" pitchFamily="49" charset="0"/>
                        </a:rPr>
                        <a:t>$SCRATCH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Consolas" panose="020B0609020204030204" pitchFamily="49" charset="0"/>
                          <a:ea typeface="Source Sans Pro" panose="020B0503030403020204" pitchFamily="34" charset="0"/>
                        </a:rPr>
                        <a:t>(on Cannon) points to the scratch directory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2715579"/>
                  </a:ext>
                </a:extLst>
              </a:tr>
              <a:tr h="451648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Consolas" panose="020B0609020204030204" pitchFamily="49" charset="0"/>
                        </a:rPr>
                        <a:t>$USER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Consolas" panose="020B0609020204030204" pitchFamily="49" charset="0"/>
                          <a:ea typeface="Source Sans Pro" panose="020B0503030403020204" pitchFamily="34" charset="0"/>
                        </a:rPr>
                        <a:t>prints the current user of the terminal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629966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9C0AFDD5-8541-8A4E-7FD7-371508E330B4}"/>
              </a:ext>
            </a:extLst>
          </p:cNvPr>
          <p:cNvSpPr txBox="1"/>
          <p:nvPr/>
        </p:nvSpPr>
        <p:spPr>
          <a:xfrm>
            <a:off x="1470454" y="5993027"/>
            <a:ext cx="953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printenv lists all environmental variables. Usually set by software to help computer find things</a:t>
            </a:r>
          </a:p>
        </p:txBody>
      </p:sp>
    </p:spTree>
    <p:extLst>
      <p:ext uri="{BB962C8B-B14F-4D97-AF65-F5344CB8AC3E}">
        <p14:creationId xmlns:p14="http://schemas.microsoft.com/office/powerpoint/2010/main" val="2344732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08516-9E1E-ACD1-D23E-BF7084B12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6B1D2-6080-FB9D-0C34-F2B410742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828" y="78109"/>
            <a:ext cx="10515600" cy="1325563"/>
          </a:xfrm>
        </p:spPr>
        <p:txBody>
          <a:bodyPr/>
          <a:lstStyle/>
          <a:p>
            <a:r>
              <a:rPr lang="en-US" dirty="0"/>
              <a:t>You can modify environmental variables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568C22-B889-19BD-EF3E-CD9C80587A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063" t="52639" r="61135" b="2858"/>
          <a:stretch>
            <a:fillRect/>
          </a:stretch>
        </p:blipFill>
        <p:spPr>
          <a:xfrm>
            <a:off x="8369988" y="5926066"/>
            <a:ext cx="580767" cy="786531"/>
          </a:xfrm>
          <a:prstGeom prst="rect">
            <a:avLst/>
          </a:prstGeom>
        </p:spPr>
      </p:pic>
      <p:pic>
        <p:nvPicPr>
          <p:cNvPr id="6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3EF3B96D-2431-E199-48F2-F8B35586F7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2050" y="5221682"/>
            <a:ext cx="654628" cy="654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9C6B69C6-ECAC-1EB8-276E-1E667DEA91F3}"/>
              </a:ext>
            </a:extLst>
          </p:cNvPr>
          <p:cNvCxnSpPr>
            <a:cxnSpLocks/>
          </p:cNvCxnSpPr>
          <p:nvPr/>
        </p:nvCxnSpPr>
        <p:spPr>
          <a:xfrm flipV="1">
            <a:off x="9785846" y="4809827"/>
            <a:ext cx="307432" cy="4885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BD1E4E58-F760-A81C-466E-20F9CFA630AC}"/>
              </a:ext>
            </a:extLst>
          </p:cNvPr>
          <p:cNvSpPr txBox="1"/>
          <p:nvPr/>
        </p:nvSpPr>
        <p:spPr>
          <a:xfrm>
            <a:off x="9063114" y="5460208"/>
            <a:ext cx="952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code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998E4278-40DF-DF2B-1A3B-A244CDB185BC}"/>
              </a:ext>
            </a:extLst>
          </p:cNvPr>
          <p:cNvCxnSpPr>
            <a:cxnSpLocks/>
          </p:cNvCxnSpPr>
          <p:nvPr/>
        </p:nvCxnSpPr>
        <p:spPr>
          <a:xfrm flipV="1">
            <a:off x="9063114" y="5818158"/>
            <a:ext cx="458460" cy="2927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5" name="Picture 4" descr="Beige Folder Icon for Mac | Customizable and High-Quality">
            <a:extLst>
              <a:ext uri="{FF2B5EF4-FFF2-40B4-BE49-F238E27FC236}">
                <a16:creationId xmlns:a16="http://schemas.microsoft.com/office/drawing/2014/main" id="{A125803E-2C15-6C0C-5C44-1E57A8BE90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1078" y="14312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CA57F167-CAD5-2BEE-CBA3-7D90B011530C}"/>
              </a:ext>
            </a:extLst>
          </p:cNvPr>
          <p:cNvSpPr txBox="1"/>
          <p:nvPr/>
        </p:nvSpPr>
        <p:spPr>
          <a:xfrm>
            <a:off x="9731703" y="1690687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/Users</a:t>
            </a:r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80" name="Picture 4" descr="Beige Folder Icon for Mac | Customizable and High-Quality">
            <a:extLst>
              <a:ext uri="{FF2B5EF4-FFF2-40B4-BE49-F238E27FC236}">
                <a16:creationId xmlns:a16="http://schemas.microsoft.com/office/drawing/2014/main" id="{DC61428E-F88E-1122-375D-12CF885CB6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7903" y="2336508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DC40B5E6-4693-4D46-71BB-8D7636EF535B}"/>
              </a:ext>
            </a:extLst>
          </p:cNvPr>
          <p:cNvCxnSpPr>
            <a:cxnSpLocks/>
          </p:cNvCxnSpPr>
          <p:nvPr/>
        </p:nvCxnSpPr>
        <p:spPr>
          <a:xfrm flipV="1">
            <a:off x="10206230" y="2129024"/>
            <a:ext cx="0" cy="3686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0FDE2D1B-A7DF-CF51-2D8A-11073603B069}"/>
              </a:ext>
            </a:extLst>
          </p:cNvPr>
          <p:cNvSpPr txBox="1"/>
          <p:nvPr/>
        </p:nvSpPr>
        <p:spPr>
          <a:xfrm>
            <a:off x="9731703" y="2610702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leima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10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653A3E7A-E0BD-F692-5530-64ACD89BE5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8662" y="3301793"/>
            <a:ext cx="624276" cy="624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7" name="TextBox 106">
            <a:extLst>
              <a:ext uri="{FF2B5EF4-FFF2-40B4-BE49-F238E27FC236}">
                <a16:creationId xmlns:a16="http://schemas.microsoft.com/office/drawing/2014/main" id="{8416E191-A087-93F7-E147-55C4077A81EA}"/>
              </a:ext>
            </a:extLst>
          </p:cNvPr>
          <p:cNvSpPr txBox="1"/>
          <p:nvPr/>
        </p:nvSpPr>
        <p:spPr>
          <a:xfrm>
            <a:off x="9886293" y="3499939"/>
            <a:ext cx="7090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Projects</a:t>
            </a: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D01B3FC6-E4C1-0FA9-71B6-562172226F80}"/>
              </a:ext>
            </a:extLst>
          </p:cNvPr>
          <p:cNvCxnSpPr>
            <a:cxnSpLocks/>
          </p:cNvCxnSpPr>
          <p:nvPr/>
        </p:nvCxnSpPr>
        <p:spPr>
          <a:xfrm flipV="1">
            <a:off x="10195329" y="3094678"/>
            <a:ext cx="16066" cy="33432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1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7DCF1568-D0D3-A4E3-3339-AB9D3415CC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6678" y="4111000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3DF0C4B1-6E01-2C72-9260-5A395B0F7106}"/>
              </a:ext>
            </a:extLst>
          </p:cNvPr>
          <p:cNvCxnSpPr>
            <a:cxnSpLocks/>
          </p:cNvCxnSpPr>
          <p:nvPr/>
        </p:nvCxnSpPr>
        <p:spPr>
          <a:xfrm>
            <a:off x="10263553" y="3926069"/>
            <a:ext cx="0" cy="34113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A956D404-FA45-6B75-48C6-C2FA1A25762A}"/>
              </a:ext>
            </a:extLst>
          </p:cNvPr>
          <p:cNvSpPr txBox="1"/>
          <p:nvPr/>
        </p:nvSpPr>
        <p:spPr>
          <a:xfrm>
            <a:off x="9739002" y="4409742"/>
            <a:ext cx="10491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my_project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5587915A-5654-8F82-92F2-91F832ED02EE}"/>
              </a:ext>
            </a:extLst>
          </p:cNvPr>
          <p:cNvSpPr txBox="1"/>
          <p:nvPr/>
        </p:nvSpPr>
        <p:spPr>
          <a:xfrm>
            <a:off x="671113" y="3874564"/>
            <a:ext cx="749397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Have an executable you want to reference without typing out the full path?</a:t>
            </a:r>
          </a:p>
          <a:p>
            <a:r>
              <a:rPr lang="en-US"/>
              <a:t>Add it to the end of the $PATH</a:t>
            </a:r>
          </a:p>
          <a:p>
            <a:r>
              <a: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&gt;PATH=$PATH:/path/to/directory</a:t>
            </a:r>
          </a:p>
          <a:p>
            <a:endParaRPr lang="en-US"/>
          </a:p>
          <a:p>
            <a:r>
              <a:rPr lang="en-US"/>
              <a:t>say_hello.sh will now be able to be referenced from anywhere</a:t>
            </a:r>
          </a:p>
        </p:txBody>
      </p:sp>
      <p:pic>
        <p:nvPicPr>
          <p:cNvPr id="4" name="Picture 3" descr="A computer screen shot of a black screen&#10;&#10;AI-generated content may be incorrect.">
            <a:extLst>
              <a:ext uri="{FF2B5EF4-FFF2-40B4-BE49-F238E27FC236}">
                <a16:creationId xmlns:a16="http://schemas.microsoft.com/office/drawing/2014/main" id="{B7928689-8B82-4F40-B5FA-DA2BCB2EA74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1078"/>
          <a:stretch>
            <a:fillRect/>
          </a:stretch>
        </p:blipFill>
        <p:spPr>
          <a:xfrm>
            <a:off x="671113" y="1981200"/>
            <a:ext cx="7772400" cy="1686944"/>
          </a:xfrm>
          <a:prstGeom prst="rect">
            <a:avLst/>
          </a:prstGeom>
        </p:spPr>
      </p:pic>
      <p:pic>
        <p:nvPicPr>
          <p:cNvPr id="1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8CF9EB43-72A9-875E-6FA5-C9F54F4CE2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0474" y="5222921"/>
            <a:ext cx="654628" cy="654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AEC0CE5-23EA-C7F9-5A02-40809C659475}"/>
              </a:ext>
            </a:extLst>
          </p:cNvPr>
          <p:cNvSpPr txBox="1"/>
          <p:nvPr/>
        </p:nvSpPr>
        <p:spPr>
          <a:xfrm>
            <a:off x="10291538" y="5460208"/>
            <a:ext cx="952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data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56C4055-DF21-26DF-0D40-035C7E132444}"/>
              </a:ext>
            </a:extLst>
          </p:cNvPr>
          <p:cNvCxnSpPr>
            <a:cxnSpLocks/>
            <a:stCxn id="11" idx="0"/>
          </p:cNvCxnSpPr>
          <p:nvPr/>
        </p:nvCxnSpPr>
        <p:spPr>
          <a:xfrm flipH="1" flipV="1">
            <a:off x="10373353" y="4926866"/>
            <a:ext cx="394435" cy="2960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92950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32B23-E4DA-12FF-F407-9DF6A047D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C0D5762-30CF-0D1C-E739-811E6121DD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063" t="52639" r="61135" b="2858"/>
          <a:stretch>
            <a:fillRect/>
          </a:stretch>
        </p:blipFill>
        <p:spPr>
          <a:xfrm>
            <a:off x="8369988" y="5926066"/>
            <a:ext cx="580767" cy="786531"/>
          </a:xfrm>
          <a:prstGeom prst="rect">
            <a:avLst/>
          </a:prstGeom>
        </p:spPr>
      </p:pic>
      <p:pic>
        <p:nvPicPr>
          <p:cNvPr id="6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4D609471-4FA8-9684-A3D9-3F5E630D43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2050" y="5221682"/>
            <a:ext cx="654628" cy="654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D624F840-AAB7-5FC5-FAFA-E82E56176339}"/>
              </a:ext>
            </a:extLst>
          </p:cNvPr>
          <p:cNvCxnSpPr>
            <a:cxnSpLocks/>
          </p:cNvCxnSpPr>
          <p:nvPr/>
        </p:nvCxnSpPr>
        <p:spPr>
          <a:xfrm flipV="1">
            <a:off x="9785846" y="4809827"/>
            <a:ext cx="307432" cy="4885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1009C57C-2D1C-0EA7-7B72-A30E1BF72CDE}"/>
              </a:ext>
            </a:extLst>
          </p:cNvPr>
          <p:cNvSpPr txBox="1"/>
          <p:nvPr/>
        </p:nvSpPr>
        <p:spPr>
          <a:xfrm>
            <a:off x="9063114" y="5460208"/>
            <a:ext cx="952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code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E0C4EE4A-0733-99C7-B8D2-99A5E5189593}"/>
              </a:ext>
            </a:extLst>
          </p:cNvPr>
          <p:cNvCxnSpPr>
            <a:cxnSpLocks/>
          </p:cNvCxnSpPr>
          <p:nvPr/>
        </p:nvCxnSpPr>
        <p:spPr>
          <a:xfrm flipV="1">
            <a:off x="9063114" y="5818158"/>
            <a:ext cx="458460" cy="2927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5" name="Picture 4" descr="Beige Folder Icon for Mac | Customizable and High-Quality">
            <a:extLst>
              <a:ext uri="{FF2B5EF4-FFF2-40B4-BE49-F238E27FC236}">
                <a16:creationId xmlns:a16="http://schemas.microsoft.com/office/drawing/2014/main" id="{F16DDE60-B426-4B83-E106-A3137FB1E0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1078" y="14312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2AB67F56-08B3-A3B7-B312-5E7E7A4BDCBE}"/>
              </a:ext>
            </a:extLst>
          </p:cNvPr>
          <p:cNvSpPr txBox="1"/>
          <p:nvPr/>
        </p:nvSpPr>
        <p:spPr>
          <a:xfrm>
            <a:off x="9731703" y="1690687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/Users</a:t>
            </a:r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80" name="Picture 4" descr="Beige Folder Icon for Mac | Customizable and High-Quality">
            <a:extLst>
              <a:ext uri="{FF2B5EF4-FFF2-40B4-BE49-F238E27FC236}">
                <a16:creationId xmlns:a16="http://schemas.microsoft.com/office/drawing/2014/main" id="{3B9E4D51-66DE-A1E2-281B-BF3CDE9246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7903" y="2336508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A423A12F-56BF-2D06-894E-80F8B4B4DC6C}"/>
              </a:ext>
            </a:extLst>
          </p:cNvPr>
          <p:cNvCxnSpPr>
            <a:cxnSpLocks/>
          </p:cNvCxnSpPr>
          <p:nvPr/>
        </p:nvCxnSpPr>
        <p:spPr>
          <a:xfrm flipV="1">
            <a:off x="10206230" y="2129024"/>
            <a:ext cx="0" cy="3686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B9925043-EA07-66FC-AD7A-B13A25710D20}"/>
              </a:ext>
            </a:extLst>
          </p:cNvPr>
          <p:cNvSpPr txBox="1"/>
          <p:nvPr/>
        </p:nvSpPr>
        <p:spPr>
          <a:xfrm>
            <a:off x="9731703" y="2610702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leima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10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A040430A-E16B-3864-EDDD-D685A94B8E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8662" y="3301793"/>
            <a:ext cx="624276" cy="624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7" name="TextBox 106">
            <a:extLst>
              <a:ext uri="{FF2B5EF4-FFF2-40B4-BE49-F238E27FC236}">
                <a16:creationId xmlns:a16="http://schemas.microsoft.com/office/drawing/2014/main" id="{0C954B27-97DF-38F1-7F4C-875B77E7193B}"/>
              </a:ext>
            </a:extLst>
          </p:cNvPr>
          <p:cNvSpPr txBox="1"/>
          <p:nvPr/>
        </p:nvSpPr>
        <p:spPr>
          <a:xfrm>
            <a:off x="9886293" y="3499939"/>
            <a:ext cx="7090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Projects</a:t>
            </a: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D3AAA3F8-9726-5A5B-6C63-5277E7369BF3}"/>
              </a:ext>
            </a:extLst>
          </p:cNvPr>
          <p:cNvCxnSpPr>
            <a:cxnSpLocks/>
          </p:cNvCxnSpPr>
          <p:nvPr/>
        </p:nvCxnSpPr>
        <p:spPr>
          <a:xfrm flipV="1">
            <a:off x="10195329" y="3094678"/>
            <a:ext cx="16066" cy="33432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1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DA6149EA-034B-3046-8187-56432C9F31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6678" y="4111000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ABD8A7B1-87B5-17FD-C12A-372712D24A6E}"/>
              </a:ext>
            </a:extLst>
          </p:cNvPr>
          <p:cNvCxnSpPr>
            <a:cxnSpLocks/>
          </p:cNvCxnSpPr>
          <p:nvPr/>
        </p:nvCxnSpPr>
        <p:spPr>
          <a:xfrm>
            <a:off x="10263553" y="3926069"/>
            <a:ext cx="0" cy="34113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C9770F07-0F37-5859-EF11-27E516718879}"/>
              </a:ext>
            </a:extLst>
          </p:cNvPr>
          <p:cNvSpPr txBox="1"/>
          <p:nvPr/>
        </p:nvSpPr>
        <p:spPr>
          <a:xfrm>
            <a:off x="9739002" y="4409742"/>
            <a:ext cx="10491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my_project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AAE130BE-1501-3213-5078-82F52BCAAB27}"/>
              </a:ext>
            </a:extLst>
          </p:cNvPr>
          <p:cNvSpPr txBox="1"/>
          <p:nvPr/>
        </p:nvSpPr>
        <p:spPr>
          <a:xfrm>
            <a:off x="671113" y="3874564"/>
            <a:ext cx="749397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Have an executable you want to reference without typing out the full path?</a:t>
            </a:r>
          </a:p>
          <a:p>
            <a:r>
              <a:rPr lang="en-US"/>
              <a:t>Add it to the end of the $PATH</a:t>
            </a:r>
          </a:p>
          <a:p>
            <a:r>
              <a: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&gt;PATH=$PATH:/path/to/directory</a:t>
            </a:r>
          </a:p>
          <a:p>
            <a:endParaRPr lang="en-US"/>
          </a:p>
          <a:p>
            <a:r>
              <a:rPr lang="en-US"/>
              <a:t>say_hello.sh will now be able to be referenced from anywhere</a:t>
            </a:r>
          </a:p>
        </p:txBody>
      </p:sp>
      <p:pic>
        <p:nvPicPr>
          <p:cNvPr id="4" name="Picture 3" descr="A computer screen shot of a black screen&#10;&#10;AI-generated content may be incorrect.">
            <a:extLst>
              <a:ext uri="{FF2B5EF4-FFF2-40B4-BE49-F238E27FC236}">
                <a16:creationId xmlns:a16="http://schemas.microsoft.com/office/drawing/2014/main" id="{053EBEF3-640D-DAF6-D1B7-7BE930145F0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0837"/>
          <a:stretch>
            <a:fillRect/>
          </a:stretch>
        </p:blipFill>
        <p:spPr>
          <a:xfrm>
            <a:off x="671113" y="1976636"/>
            <a:ext cx="7772400" cy="1691508"/>
          </a:xfrm>
          <a:prstGeom prst="rect">
            <a:avLst/>
          </a:prstGeom>
        </p:spPr>
      </p:pic>
      <p:pic>
        <p:nvPicPr>
          <p:cNvPr id="1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6FEB5DCD-A440-2836-1A33-EF2A6574A9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0474" y="5222921"/>
            <a:ext cx="654628" cy="654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9058787-646A-2322-74E8-1C4D25DF08AF}"/>
              </a:ext>
            </a:extLst>
          </p:cNvPr>
          <p:cNvSpPr txBox="1"/>
          <p:nvPr/>
        </p:nvSpPr>
        <p:spPr>
          <a:xfrm>
            <a:off x="10291538" y="5460208"/>
            <a:ext cx="952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data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3BB1282-5A23-F3ED-FAA9-85F202D5706D}"/>
              </a:ext>
            </a:extLst>
          </p:cNvPr>
          <p:cNvCxnSpPr>
            <a:cxnSpLocks/>
            <a:stCxn id="11" idx="0"/>
          </p:cNvCxnSpPr>
          <p:nvPr/>
        </p:nvCxnSpPr>
        <p:spPr>
          <a:xfrm flipH="1" flipV="1">
            <a:off x="10373353" y="4926866"/>
            <a:ext cx="394435" cy="2960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5FAEC90-A102-D763-F33E-E4FD080002F7}"/>
              </a:ext>
            </a:extLst>
          </p:cNvPr>
          <p:cNvSpPr txBox="1"/>
          <p:nvPr/>
        </p:nvSpPr>
        <p:spPr>
          <a:xfrm>
            <a:off x="0" y="6163497"/>
            <a:ext cx="12192000" cy="461665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!!This will only last for this session!!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76633D8-4860-33AC-D205-6E47278BD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828" y="78109"/>
            <a:ext cx="10515600" cy="1325563"/>
          </a:xfrm>
        </p:spPr>
        <p:txBody>
          <a:bodyPr/>
          <a:lstStyle/>
          <a:p>
            <a:r>
              <a:rPr lang="en-US" dirty="0"/>
              <a:t>You can modify environmental variables</a:t>
            </a:r>
          </a:p>
        </p:txBody>
      </p:sp>
    </p:spTree>
    <p:extLst>
      <p:ext uri="{BB962C8B-B14F-4D97-AF65-F5344CB8AC3E}">
        <p14:creationId xmlns:p14="http://schemas.microsoft.com/office/powerpoint/2010/main" val="35672059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C9696-FAD6-7082-98EF-1186D6BDD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598" y="125157"/>
            <a:ext cx="10515600" cy="1325563"/>
          </a:xfrm>
        </p:spPr>
        <p:txBody>
          <a:bodyPr/>
          <a:lstStyle/>
          <a:p>
            <a:r>
              <a:rPr lang="en-US" dirty="0"/>
              <a:t>You can make new shell variables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7F16E7-DA12-D037-8003-CE6E7DAD8A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063" t="52639" r="61135" b="2858"/>
          <a:stretch>
            <a:fillRect/>
          </a:stretch>
        </p:blipFill>
        <p:spPr>
          <a:xfrm>
            <a:off x="10495387" y="5949744"/>
            <a:ext cx="580767" cy="786531"/>
          </a:xfrm>
          <a:prstGeom prst="rect">
            <a:avLst/>
          </a:prstGeom>
        </p:spPr>
      </p:pic>
      <p:pic>
        <p:nvPicPr>
          <p:cNvPr id="6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0642D03F-A3B9-12FE-806C-7D7C3BF927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8925" y="5622430"/>
            <a:ext cx="654628" cy="654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DE231F79-3D2B-6B2E-B2A4-B0661CAB906C}"/>
              </a:ext>
            </a:extLst>
          </p:cNvPr>
          <p:cNvCxnSpPr>
            <a:cxnSpLocks/>
          </p:cNvCxnSpPr>
          <p:nvPr/>
        </p:nvCxnSpPr>
        <p:spPr>
          <a:xfrm flipV="1">
            <a:off x="9928662" y="5309444"/>
            <a:ext cx="33988" cy="43863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D082B893-51F0-3D68-B0C7-B967E12CA56C}"/>
              </a:ext>
            </a:extLst>
          </p:cNvPr>
          <p:cNvSpPr txBox="1"/>
          <p:nvPr/>
        </p:nvSpPr>
        <p:spPr>
          <a:xfrm>
            <a:off x="9469406" y="5830517"/>
            <a:ext cx="952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software/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3CF233D3-D813-4DDE-2AA4-810A7FEEBB9E}"/>
              </a:ext>
            </a:extLst>
          </p:cNvPr>
          <p:cNvCxnSpPr>
            <a:cxnSpLocks/>
            <a:endCxn id="64" idx="2"/>
          </p:cNvCxnSpPr>
          <p:nvPr/>
        </p:nvCxnSpPr>
        <p:spPr>
          <a:xfrm flipH="1" flipV="1">
            <a:off x="9936239" y="6277058"/>
            <a:ext cx="518180" cy="21581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74FE6D3C-6F02-6CE2-36E7-30A4D14956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1954" y="4868924"/>
            <a:ext cx="576368" cy="576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09F4B571-23E1-A474-0254-54E251B969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4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1571" y="3884318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5" name="Picture 4" descr="Beige Folder Icon for Mac | Customizable and High-Quality">
            <a:extLst>
              <a:ext uri="{FF2B5EF4-FFF2-40B4-BE49-F238E27FC236}">
                <a16:creationId xmlns:a16="http://schemas.microsoft.com/office/drawing/2014/main" id="{EBE91775-667B-EE6B-5DF8-5694855329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1078" y="14312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3647EF8D-864C-D4A0-2F7A-12CD9D7E98F9}"/>
              </a:ext>
            </a:extLst>
          </p:cNvPr>
          <p:cNvSpPr txBox="1"/>
          <p:nvPr/>
        </p:nvSpPr>
        <p:spPr>
          <a:xfrm>
            <a:off x="9731703" y="1690687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80" name="Picture 4" descr="Beige Folder Icon for Mac | Customizable and High-Quality">
            <a:extLst>
              <a:ext uri="{FF2B5EF4-FFF2-40B4-BE49-F238E27FC236}">
                <a16:creationId xmlns:a16="http://schemas.microsoft.com/office/drawing/2014/main" id="{FCAAC16D-393C-2C27-FF1D-FF70503A40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7903" y="2336508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A7A69604-A13D-F8AE-965C-F8CC1CC3504C}"/>
              </a:ext>
            </a:extLst>
          </p:cNvPr>
          <p:cNvCxnSpPr>
            <a:cxnSpLocks/>
          </p:cNvCxnSpPr>
          <p:nvPr/>
        </p:nvCxnSpPr>
        <p:spPr>
          <a:xfrm flipV="1">
            <a:off x="10206230" y="2129024"/>
            <a:ext cx="0" cy="3686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7BA04205-9115-CD62-6467-73C5A3D963B7}"/>
              </a:ext>
            </a:extLst>
          </p:cNvPr>
          <p:cNvSpPr txBox="1"/>
          <p:nvPr/>
        </p:nvSpPr>
        <p:spPr>
          <a:xfrm>
            <a:off x="9731703" y="2610702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10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2F31BE85-A230-3297-F858-0040707FAF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6725" y="3449433"/>
            <a:ext cx="520230" cy="520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" name="TextBox 102">
            <a:extLst>
              <a:ext uri="{FF2B5EF4-FFF2-40B4-BE49-F238E27FC236}">
                <a16:creationId xmlns:a16="http://schemas.microsoft.com/office/drawing/2014/main" id="{174C9E6F-CBE6-B1A5-9C04-2F3B589563C7}"/>
              </a:ext>
            </a:extLst>
          </p:cNvPr>
          <p:cNvSpPr txBox="1"/>
          <p:nvPr/>
        </p:nvSpPr>
        <p:spPr>
          <a:xfrm>
            <a:off x="9869853" y="3622708"/>
            <a:ext cx="74908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home*/</a:t>
            </a:r>
          </a:p>
        </p:txBody>
      </p:sp>
      <p:pic>
        <p:nvPicPr>
          <p:cNvPr id="10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991CE427-EF32-7E6B-3649-32BF482C8B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6198" y="3449433"/>
            <a:ext cx="520230" cy="520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" name="TextBox 104">
            <a:extLst>
              <a:ext uri="{FF2B5EF4-FFF2-40B4-BE49-F238E27FC236}">
                <a16:creationId xmlns:a16="http://schemas.microsoft.com/office/drawing/2014/main" id="{C1E740CE-4698-683F-889B-E522E733B831}"/>
              </a:ext>
            </a:extLst>
          </p:cNvPr>
          <p:cNvSpPr txBox="1"/>
          <p:nvPr/>
        </p:nvSpPr>
        <p:spPr>
          <a:xfrm>
            <a:off x="10618936" y="3602426"/>
            <a:ext cx="84577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netscratch</a:t>
            </a:r>
            <a:r>
              <a:rPr lang="en-US" sz="105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10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432876F0-E145-DD59-74D6-DED25C133F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65133" y="3421772"/>
            <a:ext cx="520230" cy="520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7" name="TextBox 106">
            <a:extLst>
              <a:ext uri="{FF2B5EF4-FFF2-40B4-BE49-F238E27FC236}">
                <a16:creationId xmlns:a16="http://schemas.microsoft.com/office/drawing/2014/main" id="{88491863-0586-F607-8947-2F3A3996D433}"/>
              </a:ext>
            </a:extLst>
          </p:cNvPr>
          <p:cNvSpPr txBox="1"/>
          <p:nvPr/>
        </p:nvSpPr>
        <p:spPr>
          <a:xfrm>
            <a:off x="9113110" y="3589615"/>
            <a:ext cx="6242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holy*/</a:t>
            </a: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20854F1D-CF88-F5F6-FBD2-F80B554CEC3F}"/>
              </a:ext>
            </a:extLst>
          </p:cNvPr>
          <p:cNvCxnSpPr>
            <a:cxnSpLocks/>
          </p:cNvCxnSpPr>
          <p:nvPr/>
        </p:nvCxnSpPr>
        <p:spPr>
          <a:xfrm flipH="1" flipV="1">
            <a:off x="10204778" y="3016329"/>
            <a:ext cx="2863" cy="4650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C66E7606-2606-C7BC-D6D1-6C8E0E364871}"/>
              </a:ext>
            </a:extLst>
          </p:cNvPr>
          <p:cNvCxnSpPr>
            <a:cxnSpLocks/>
          </p:cNvCxnSpPr>
          <p:nvPr/>
        </p:nvCxnSpPr>
        <p:spPr>
          <a:xfrm flipV="1">
            <a:off x="9561830" y="3010629"/>
            <a:ext cx="398711" cy="3549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91368004-5155-53A2-BD9A-0720D51358C5}"/>
              </a:ext>
            </a:extLst>
          </p:cNvPr>
          <p:cNvCxnSpPr>
            <a:cxnSpLocks/>
          </p:cNvCxnSpPr>
          <p:nvPr/>
        </p:nvCxnSpPr>
        <p:spPr>
          <a:xfrm>
            <a:off x="10445191" y="3051332"/>
            <a:ext cx="453196" cy="35312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1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21515958-8790-BC9A-DA34-80AA7BF8BA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8373" y="4137506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1F6E2E58-40B2-1B94-E4A2-4560BEC76478}"/>
              </a:ext>
            </a:extLst>
          </p:cNvPr>
          <p:cNvCxnSpPr>
            <a:cxnSpLocks/>
          </p:cNvCxnSpPr>
          <p:nvPr/>
        </p:nvCxnSpPr>
        <p:spPr>
          <a:xfrm>
            <a:off x="9425248" y="3884318"/>
            <a:ext cx="0" cy="4154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CD1179B4-E42F-2DC6-4F42-AC547B834AAE}"/>
              </a:ext>
            </a:extLst>
          </p:cNvPr>
          <p:cNvSpPr txBox="1"/>
          <p:nvPr/>
        </p:nvSpPr>
        <p:spPr>
          <a:xfrm>
            <a:off x="8914650" y="4484836"/>
            <a:ext cx="10491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&lt;pi name&gt;_lab/</a:t>
            </a:r>
          </a:p>
        </p:txBody>
      </p: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55F5DD10-B443-FC67-35CB-D8FBC31BB595}"/>
              </a:ext>
            </a:extLst>
          </p:cNvPr>
          <p:cNvCxnSpPr>
            <a:cxnSpLocks/>
          </p:cNvCxnSpPr>
          <p:nvPr/>
        </p:nvCxnSpPr>
        <p:spPr>
          <a:xfrm>
            <a:off x="9508135" y="4862851"/>
            <a:ext cx="223568" cy="157909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3B391D83-B3EC-B27E-2249-DD9CE9260661}"/>
              </a:ext>
            </a:extLst>
          </p:cNvPr>
          <p:cNvSpPr txBox="1"/>
          <p:nvPr/>
        </p:nvSpPr>
        <p:spPr>
          <a:xfrm>
            <a:off x="9455587" y="5093316"/>
            <a:ext cx="10491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Lab/</a:t>
            </a:r>
          </a:p>
        </p:txBody>
      </p:sp>
      <p:pic>
        <p:nvPicPr>
          <p:cNvPr id="134" name="Picture 133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62BB2DDB-98A4-C9A2-931E-FFE01EC6C9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219" y="1690687"/>
            <a:ext cx="5499100" cy="1422400"/>
          </a:xfrm>
          <a:prstGeom prst="rect">
            <a:avLst/>
          </a:prstGeom>
        </p:spPr>
      </p:pic>
      <p:sp>
        <p:nvSpPr>
          <p:cNvPr id="135" name="TextBox 134">
            <a:extLst>
              <a:ext uri="{FF2B5EF4-FFF2-40B4-BE49-F238E27FC236}">
                <a16:creationId xmlns:a16="http://schemas.microsoft.com/office/drawing/2014/main" id="{9AA74995-1747-5C73-0583-D82CE58F79B7}"/>
              </a:ext>
            </a:extLst>
          </p:cNvPr>
          <p:cNvSpPr txBox="1"/>
          <p:nvPr/>
        </p:nvSpPr>
        <p:spPr>
          <a:xfrm>
            <a:off x="1756350" y="3452145"/>
            <a:ext cx="43396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solidFill>
                  <a:srgbClr val="FF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TEST</a:t>
            </a:r>
            <a:r>
              <a:rPr lang="en-US" sz="2000">
                <a:solidFill>
                  <a:schemeClr val="accent4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</a:t>
            </a:r>
            <a:r>
              <a:rPr lang="en-US" sz="2000">
                <a:solidFill>
                  <a:schemeClr val="accent6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$TEST</a:t>
            </a:r>
            <a:r>
              <a:rPr lang="en-US" sz="200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 obi wan kenobi"</a:t>
            </a:r>
          </a:p>
        </p:txBody>
      </p: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06A97ABC-4679-4F69-8CEC-94275E6D4625}"/>
              </a:ext>
            </a:extLst>
          </p:cNvPr>
          <p:cNvCxnSpPr>
            <a:cxnSpLocks/>
            <a:endCxn id="138" idx="0"/>
          </p:cNvCxnSpPr>
          <p:nvPr/>
        </p:nvCxnSpPr>
        <p:spPr>
          <a:xfrm flipH="1">
            <a:off x="1119781" y="3819728"/>
            <a:ext cx="902964" cy="45374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8" name="TextBox 137">
            <a:extLst>
              <a:ext uri="{FF2B5EF4-FFF2-40B4-BE49-F238E27FC236}">
                <a16:creationId xmlns:a16="http://schemas.microsoft.com/office/drawing/2014/main" id="{623D6EB7-8C7E-0DF6-95BA-B4DCBBDD1CC3}"/>
              </a:ext>
            </a:extLst>
          </p:cNvPr>
          <p:cNvSpPr txBox="1"/>
          <p:nvPr/>
        </p:nvSpPr>
        <p:spPr>
          <a:xfrm>
            <a:off x="353942" y="4273471"/>
            <a:ext cx="1531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EE1C23"/>
                </a:solidFill>
              </a:rPr>
              <a:t>variable you want to set</a:t>
            </a:r>
          </a:p>
        </p:txBody>
      </p: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909A67A1-9474-F8F0-E6B2-A2BA872C01B3}"/>
              </a:ext>
            </a:extLst>
          </p:cNvPr>
          <p:cNvCxnSpPr>
            <a:cxnSpLocks/>
          </p:cNvCxnSpPr>
          <p:nvPr/>
        </p:nvCxnSpPr>
        <p:spPr>
          <a:xfrm flipH="1">
            <a:off x="2506637" y="3787201"/>
            <a:ext cx="26637" cy="58885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2" name="TextBox 141">
            <a:extLst>
              <a:ext uri="{FF2B5EF4-FFF2-40B4-BE49-F238E27FC236}">
                <a16:creationId xmlns:a16="http://schemas.microsoft.com/office/drawing/2014/main" id="{4D5FD827-0EE0-623F-5676-18F741AC9E03}"/>
              </a:ext>
            </a:extLst>
          </p:cNvPr>
          <p:cNvSpPr txBox="1"/>
          <p:nvPr/>
        </p:nvSpPr>
        <p:spPr>
          <a:xfrm>
            <a:off x="1710979" y="4295474"/>
            <a:ext cx="16731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accent4"/>
                </a:solidFill>
              </a:rPr>
              <a:t>assign right side to variable on left</a:t>
            </a:r>
          </a:p>
        </p:txBody>
      </p: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E3F698CA-B26F-F3C6-D685-8421CF1F1769}"/>
              </a:ext>
            </a:extLst>
          </p:cNvPr>
          <p:cNvCxnSpPr>
            <a:cxnSpLocks/>
          </p:cNvCxnSpPr>
          <p:nvPr/>
        </p:nvCxnSpPr>
        <p:spPr>
          <a:xfrm>
            <a:off x="3190265" y="3851225"/>
            <a:ext cx="759179" cy="84905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3384152A-25E8-9C9D-9E7C-E5750BEE26F1}"/>
              </a:ext>
            </a:extLst>
          </p:cNvPr>
          <p:cNvSpPr txBox="1"/>
          <p:nvPr/>
        </p:nvSpPr>
        <p:spPr>
          <a:xfrm>
            <a:off x="3725242" y="4677817"/>
            <a:ext cx="16731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accent6"/>
                </a:solidFill>
              </a:rPr>
              <a:t>interpolates to </a:t>
            </a:r>
            <a:r>
              <a:rPr lang="en-US" sz="1600">
                <a:solidFill>
                  <a:schemeClr val="accent6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hello there</a:t>
            </a:r>
          </a:p>
        </p:txBody>
      </p:sp>
      <p:sp>
        <p:nvSpPr>
          <p:cNvPr id="146" name="Right Bracket 145">
            <a:extLst>
              <a:ext uri="{FF2B5EF4-FFF2-40B4-BE49-F238E27FC236}">
                <a16:creationId xmlns:a16="http://schemas.microsoft.com/office/drawing/2014/main" id="{AF0239BC-A7A1-60B3-3503-3D4637A40A6E}"/>
              </a:ext>
            </a:extLst>
          </p:cNvPr>
          <p:cNvSpPr/>
          <p:nvPr/>
        </p:nvSpPr>
        <p:spPr>
          <a:xfrm rot="5400000">
            <a:off x="4233743" y="2207023"/>
            <a:ext cx="163626" cy="3299630"/>
          </a:xfrm>
          <a:prstGeom prst="rightBracket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8FAE556B-2E2D-06AC-24BE-417617826E8F}"/>
              </a:ext>
            </a:extLst>
          </p:cNvPr>
          <p:cNvCxnSpPr>
            <a:cxnSpLocks/>
          </p:cNvCxnSpPr>
          <p:nvPr/>
        </p:nvCxnSpPr>
        <p:spPr>
          <a:xfrm>
            <a:off x="5276268" y="3969663"/>
            <a:ext cx="759179" cy="84905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8" name="TextBox 147">
            <a:extLst>
              <a:ext uri="{FF2B5EF4-FFF2-40B4-BE49-F238E27FC236}">
                <a16:creationId xmlns:a16="http://schemas.microsoft.com/office/drawing/2014/main" id="{146B3C2E-2656-5264-7AD4-F06BE90CC632}"/>
              </a:ext>
            </a:extLst>
          </p:cNvPr>
          <p:cNvSpPr txBox="1"/>
          <p:nvPr/>
        </p:nvSpPr>
        <p:spPr>
          <a:xfrm>
            <a:off x="5990378" y="4738043"/>
            <a:ext cx="25013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two strings concatenated together to be assigned to the left side</a:t>
            </a:r>
          </a:p>
        </p:txBody>
      </p:sp>
    </p:spTree>
    <p:extLst>
      <p:ext uri="{BB962C8B-B14F-4D97-AF65-F5344CB8AC3E}">
        <p14:creationId xmlns:p14="http://schemas.microsoft.com/office/powerpoint/2010/main" val="42737865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F5538-E070-905A-6CDA-1BCECDB5F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2C9661A-FFE2-EDB9-77C4-3EE33F558D5F}"/>
              </a:ext>
            </a:extLst>
          </p:cNvPr>
          <p:cNvSpPr txBox="1"/>
          <p:nvPr/>
        </p:nvSpPr>
        <p:spPr>
          <a:xfrm>
            <a:off x="0" y="6163497"/>
            <a:ext cx="12192000" cy="461665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shell variables only exist in the shell. Other programs won’t be able to find it unless you </a:t>
            </a:r>
            <a:r>
              <a:rPr lang="en-US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export</a:t>
            </a:r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6" name="Picture 5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B6622834-36DF-3480-AA39-715B4D6693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93063"/>
            <a:ext cx="5702300" cy="2197100"/>
          </a:xfrm>
          <a:prstGeom prst="rect">
            <a:avLst/>
          </a:prstGeom>
        </p:spPr>
      </p:pic>
      <p:sp>
        <p:nvSpPr>
          <p:cNvPr id="7" name="Internal Storage 6">
            <a:extLst>
              <a:ext uri="{FF2B5EF4-FFF2-40B4-BE49-F238E27FC236}">
                <a16:creationId xmlns:a16="http://schemas.microsoft.com/office/drawing/2014/main" id="{8D6FE369-FEE1-38AD-C33C-43ACAE6EC55B}"/>
              </a:ext>
            </a:extLst>
          </p:cNvPr>
          <p:cNvSpPr/>
          <p:nvPr/>
        </p:nvSpPr>
        <p:spPr>
          <a:xfrm>
            <a:off x="8273143" y="1993063"/>
            <a:ext cx="2960914" cy="3340937"/>
          </a:xfrm>
          <a:prstGeom prst="flowChartInternalStorag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#! /bin/sh</a:t>
            </a:r>
          </a:p>
          <a:p>
            <a:endParaRPr lang="en-US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echo "this is my variable: "$TEST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B40D29-387A-1A92-4587-812FF1815A50}"/>
              </a:ext>
            </a:extLst>
          </p:cNvPr>
          <p:cNvSpPr txBox="1"/>
          <p:nvPr/>
        </p:nvSpPr>
        <p:spPr>
          <a:xfrm>
            <a:off x="8153400" y="1649727"/>
            <a:ext cx="1858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say_hello.sh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9087798-8B40-80B6-CF57-53EF3B2D1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598" y="125157"/>
            <a:ext cx="10515600" cy="1325563"/>
          </a:xfrm>
        </p:spPr>
        <p:txBody>
          <a:bodyPr/>
          <a:lstStyle/>
          <a:p>
            <a:r>
              <a:rPr lang="en-US" dirty="0"/>
              <a:t>You can make new shell variables</a:t>
            </a:r>
          </a:p>
        </p:txBody>
      </p:sp>
    </p:spTree>
    <p:extLst>
      <p:ext uri="{BB962C8B-B14F-4D97-AF65-F5344CB8AC3E}">
        <p14:creationId xmlns:p14="http://schemas.microsoft.com/office/powerpoint/2010/main" val="27213597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10DB8-A317-3BE4-2FF9-AB669BBB9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B0490-8931-ADE3-B138-5C3EC71CE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713" y="119960"/>
            <a:ext cx="10515600" cy="1325563"/>
          </a:xfrm>
        </p:spPr>
        <p:txBody>
          <a:bodyPr/>
          <a:lstStyle/>
          <a:p>
            <a:r>
              <a:rPr lang="en-US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Aliases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: Because some commands are long and I use them a lot</a:t>
            </a:r>
          </a:p>
        </p:txBody>
      </p:sp>
      <p:pic>
        <p:nvPicPr>
          <p:cNvPr id="1026" name="Picture 2" descr="US Politics Megathread - Page 1183 - ESOCommunity">
            <a:extLst>
              <a:ext uri="{FF2B5EF4-FFF2-40B4-BE49-F238E27FC236}">
                <a16:creationId xmlns:a16="http://schemas.microsoft.com/office/drawing/2014/main" id="{D448016E-1292-EB2D-C871-84609F0846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3983" y="782741"/>
            <a:ext cx="1681145" cy="1122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5CCC3FCE-680F-11E2-A48B-1320E331FA42}"/>
              </a:ext>
            </a:extLst>
          </p:cNvPr>
          <p:cNvSpPr txBox="1"/>
          <p:nvPr/>
        </p:nvSpPr>
        <p:spPr>
          <a:xfrm>
            <a:off x="1490628" y="2436175"/>
            <a:ext cx="92107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Aliases</a:t>
            </a:r>
            <a:r>
              <a:rPr lang="en-US" sz="3200" dirty="0"/>
              <a:t> allow you to create command </a:t>
            </a:r>
            <a:r>
              <a:rPr lang="en-US" sz="3200" b="1" dirty="0"/>
              <a:t>shortcuts.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11B5906-AA3B-23FB-D322-B57956EB2E8D}"/>
              </a:ext>
            </a:extLst>
          </p:cNvPr>
          <p:cNvSpPr txBox="1"/>
          <p:nvPr/>
        </p:nvSpPr>
        <p:spPr>
          <a:xfrm>
            <a:off x="0" y="3667103"/>
            <a:ext cx="12192000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95000"/>
                  </a:schemeClr>
                </a:solidFill>
                <a:highlight>
                  <a:srgbClr val="000000"/>
                </a:highlight>
                <a:latin typeface="Consolas" panose="020B0609020204030204" pitchFamily="49" charset="0"/>
              </a:rPr>
              <a:t>cd my/very/very/very/long/path/with/lots/of/numbers235u/for/some/reason/</a:t>
            </a:r>
          </a:p>
        </p:txBody>
      </p:sp>
    </p:spTree>
    <p:extLst>
      <p:ext uri="{BB962C8B-B14F-4D97-AF65-F5344CB8AC3E}">
        <p14:creationId xmlns:p14="http://schemas.microsoft.com/office/powerpoint/2010/main" val="17922211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A32C1-608C-B0B6-BFD7-EC50314A8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30692-B132-2B76-32C4-651642472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713" y="119960"/>
            <a:ext cx="10515600" cy="1325563"/>
          </a:xfrm>
        </p:spPr>
        <p:txBody>
          <a:bodyPr/>
          <a:lstStyle/>
          <a:p>
            <a:r>
              <a:rPr lang="en-US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Aliases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: Because some commands are long and I use them a lot</a:t>
            </a:r>
          </a:p>
        </p:txBody>
      </p:sp>
      <p:pic>
        <p:nvPicPr>
          <p:cNvPr id="1026" name="Picture 2" descr="US Politics Megathread - Page 1183 - ESOCommunity">
            <a:extLst>
              <a:ext uri="{FF2B5EF4-FFF2-40B4-BE49-F238E27FC236}">
                <a16:creationId xmlns:a16="http://schemas.microsoft.com/office/drawing/2014/main" id="{6BBF6CCB-F7B5-807D-EAC3-CED7CF4EFB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3983" y="782741"/>
            <a:ext cx="1681145" cy="1122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3EC5CB1A-3D60-7035-FFF8-460AE8837E1E}"/>
              </a:ext>
            </a:extLst>
          </p:cNvPr>
          <p:cNvSpPr txBox="1"/>
          <p:nvPr/>
        </p:nvSpPr>
        <p:spPr>
          <a:xfrm>
            <a:off x="1490628" y="2436175"/>
            <a:ext cx="92107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Aliases</a:t>
            </a:r>
            <a:r>
              <a:rPr lang="en-US" sz="3200" dirty="0"/>
              <a:t> allow you to create command </a:t>
            </a:r>
            <a:r>
              <a:rPr lang="en-US" sz="3200" b="1" dirty="0"/>
              <a:t>shortcuts.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C950094-9CC1-8608-2D11-03BEFC489C42}"/>
              </a:ext>
            </a:extLst>
          </p:cNvPr>
          <p:cNvSpPr txBox="1"/>
          <p:nvPr/>
        </p:nvSpPr>
        <p:spPr>
          <a:xfrm>
            <a:off x="0" y="3667103"/>
            <a:ext cx="12192000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95000"/>
                  </a:schemeClr>
                </a:solidFill>
                <a:highlight>
                  <a:srgbClr val="000000"/>
                </a:highlight>
                <a:latin typeface="Consolas" panose="020B0609020204030204" pitchFamily="49" charset="0"/>
              </a:rPr>
              <a:t>cd my/very/very/very/long/path/with/lots/of/numbers235u/for/some/reason/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01DB756-B052-275F-BA86-99F09D502836}"/>
              </a:ext>
            </a:extLst>
          </p:cNvPr>
          <p:cNvSpPr txBox="1"/>
          <p:nvPr/>
        </p:nvSpPr>
        <p:spPr>
          <a:xfrm>
            <a:off x="0" y="4256791"/>
            <a:ext cx="12192000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alias ‘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cdp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=cd my/very/very/very/long/path/with/lots/of/numbers235u/for/some/reason/’ </a:t>
            </a:r>
          </a:p>
        </p:txBody>
      </p:sp>
    </p:spTree>
    <p:extLst>
      <p:ext uri="{BB962C8B-B14F-4D97-AF65-F5344CB8AC3E}">
        <p14:creationId xmlns:p14="http://schemas.microsoft.com/office/powerpoint/2010/main" val="321370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0A8E0-6278-0DAC-8092-090EF8237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E6046-38FD-6F2C-E0F4-B5AB8B17E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713" y="119960"/>
            <a:ext cx="10515600" cy="1325563"/>
          </a:xfrm>
        </p:spPr>
        <p:txBody>
          <a:bodyPr/>
          <a:lstStyle/>
          <a:p>
            <a:r>
              <a:rPr lang="en-US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Aliases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: Because some commands are long and I use them a lot</a:t>
            </a:r>
          </a:p>
        </p:txBody>
      </p:sp>
      <p:pic>
        <p:nvPicPr>
          <p:cNvPr id="1026" name="Picture 2" descr="US Politics Megathread - Page 1183 - ESOCommunity">
            <a:extLst>
              <a:ext uri="{FF2B5EF4-FFF2-40B4-BE49-F238E27FC236}">
                <a16:creationId xmlns:a16="http://schemas.microsoft.com/office/drawing/2014/main" id="{D50FA429-DC6C-3746-A812-E7B9B49B24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3983" y="782741"/>
            <a:ext cx="1681145" cy="1122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17CBBEF8-FA55-59DC-18D8-E39DC7597551}"/>
              </a:ext>
            </a:extLst>
          </p:cNvPr>
          <p:cNvSpPr txBox="1"/>
          <p:nvPr/>
        </p:nvSpPr>
        <p:spPr>
          <a:xfrm>
            <a:off x="1490628" y="2436175"/>
            <a:ext cx="92107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Aliases</a:t>
            </a:r>
            <a:r>
              <a:rPr lang="en-US" sz="3200" dirty="0"/>
              <a:t> allow you to create command </a:t>
            </a:r>
            <a:r>
              <a:rPr lang="en-US" sz="3200" b="1" dirty="0"/>
              <a:t>shortcuts.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F99E7A3-DD58-FED0-E6B2-A979E319A2CB}"/>
              </a:ext>
            </a:extLst>
          </p:cNvPr>
          <p:cNvSpPr txBox="1"/>
          <p:nvPr/>
        </p:nvSpPr>
        <p:spPr>
          <a:xfrm>
            <a:off x="0" y="3667103"/>
            <a:ext cx="12192000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95000"/>
                  </a:schemeClr>
                </a:solidFill>
                <a:highlight>
                  <a:srgbClr val="000000"/>
                </a:highlight>
                <a:latin typeface="Consolas" panose="020B0609020204030204" pitchFamily="49" charset="0"/>
              </a:rPr>
              <a:t>cd my/very/very/very/long/path/with/lots/of/numbers235u/for/some/reason/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9AC82C2-F5D4-71E3-836A-423D1AC67180}"/>
              </a:ext>
            </a:extLst>
          </p:cNvPr>
          <p:cNvSpPr txBox="1"/>
          <p:nvPr/>
        </p:nvSpPr>
        <p:spPr>
          <a:xfrm>
            <a:off x="0" y="4256791"/>
            <a:ext cx="12192000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alias ‘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cdp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=cd my/very/very/very/long/path/with/lots/of/numbers235u/for/some/reason/’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7740E36-5FE7-F8BC-B960-69FD8DD5C448}"/>
              </a:ext>
            </a:extLst>
          </p:cNvPr>
          <p:cNvSpPr txBox="1"/>
          <p:nvPr/>
        </p:nvSpPr>
        <p:spPr>
          <a:xfrm>
            <a:off x="0" y="4846479"/>
            <a:ext cx="12192000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cdp</a:t>
            </a:r>
            <a:endParaRPr lang="en-US" dirty="0">
              <a:solidFill>
                <a:schemeClr val="bg1">
                  <a:lumMod val="9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89754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A62D3-A7EE-A1B7-9BFA-923432F7B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522" y="198263"/>
            <a:ext cx="10515600" cy="1325563"/>
          </a:xfrm>
        </p:spPr>
        <p:txBody>
          <a:bodyPr/>
          <a:lstStyle/>
          <a:p>
            <a:r>
              <a:rPr lang="en-US" dirty="0"/>
              <a:t>Caution: do not overwrite environmental variables with other stuff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6A3217-E4FB-D691-64F2-46F106D5FA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Don’t assign anything else to the variables below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510265A-8961-FC9C-EE76-448D0D750E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1417561"/>
              </p:ext>
            </p:extLst>
          </p:nvPr>
        </p:nvGraphicFramePr>
        <p:xfrm>
          <a:off x="1" y="3015482"/>
          <a:ext cx="12191999" cy="2366512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3855492">
                  <a:extLst>
                    <a:ext uri="{9D8B030D-6E8A-4147-A177-3AD203B41FA5}">
                      <a16:colId xmlns:a16="http://schemas.microsoft.com/office/drawing/2014/main" val="3298165829"/>
                    </a:ext>
                  </a:extLst>
                </a:gridCol>
                <a:gridCol w="8336507">
                  <a:extLst>
                    <a:ext uri="{9D8B030D-6E8A-4147-A177-3AD203B41FA5}">
                      <a16:colId xmlns:a16="http://schemas.microsoft.com/office/drawing/2014/main" val="677998999"/>
                    </a:ext>
                  </a:extLst>
                </a:gridCol>
              </a:tblGrid>
              <a:tr h="530907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Consolas" panose="020B0609020204030204" pitchFamily="49" charset="0"/>
                        </a:rPr>
                        <a:t>$PATH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 colon-separated list of directories that contain software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767468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Consolas" panose="020B0609020204030204" pitchFamily="49" charset="0"/>
                        </a:rPr>
                        <a:t>$HOME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Consolas" panose="020B0609020204030204" pitchFamily="49" charset="0"/>
                          <a:ea typeface="Source Sans Pro" panose="020B0503030403020204" pitchFamily="34" charset="0"/>
                          <a:cs typeface="Consolas" panose="020B0609020204030204" pitchFamily="49" charset="0"/>
                        </a:rPr>
                        <a:t>points to the home directory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456704255"/>
                  </a:ext>
                </a:extLst>
              </a:tr>
              <a:tr h="475109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Consolas" panose="020B0609020204030204" pitchFamily="49" charset="0"/>
                        </a:rPr>
                        <a:t>$PWD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Consolas" panose="020B0609020204030204" pitchFamily="49" charset="0"/>
                        </a:rPr>
                        <a:t>the current working directory (print working directory)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212215"/>
                  </a:ext>
                </a:extLst>
              </a:tr>
              <a:tr h="451648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Consolas" panose="020B0609020204030204" pitchFamily="49" charset="0"/>
                        </a:rPr>
                        <a:t>$SCRATCH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Consolas" panose="020B0609020204030204" pitchFamily="49" charset="0"/>
                          <a:ea typeface="Source Sans Pro" panose="020B0503030403020204" pitchFamily="34" charset="0"/>
                        </a:rPr>
                        <a:t>(on Cannon) points to the scratch directory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2715579"/>
                  </a:ext>
                </a:extLst>
              </a:tr>
              <a:tr h="451648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Consolas" panose="020B0609020204030204" pitchFamily="49" charset="0"/>
                        </a:rPr>
                        <a:t>$USER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Consolas" panose="020B0609020204030204" pitchFamily="49" charset="0"/>
                          <a:ea typeface="Source Sans Pro" panose="020B0503030403020204" pitchFamily="34" charset="0"/>
                        </a:rPr>
                        <a:t>prints the current user of the terminal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62996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26059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5CD9C-7087-8679-9B04-F061F1A1B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02648F3-0D78-643C-0160-3FC465AE6E5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9DFF3E-B115-56CF-2899-1927B2C668B0}"/>
              </a:ext>
            </a:extLst>
          </p:cNvPr>
          <p:cNvSpPr txBox="1"/>
          <p:nvPr/>
        </p:nvSpPr>
        <p:spPr>
          <a:xfrm>
            <a:off x="0" y="1258957"/>
            <a:ext cx="1219200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Customizing your environment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CD8033-6BB7-D76B-2EEF-AF997A0BDA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5096" y="2452592"/>
            <a:ext cx="3961807" cy="3961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8520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ACC57-A53B-615D-9E27-D5A7EC056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512" y="18255"/>
            <a:ext cx="10515600" cy="1325563"/>
          </a:xfrm>
        </p:spPr>
        <p:txBody>
          <a:bodyPr/>
          <a:lstStyle/>
          <a:p>
            <a:r>
              <a:rPr lang="en-US" dirty="0"/>
              <a:t>Customizing your shell environment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1571D3-7002-63A1-52E8-C364936697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Run commands (including changing env/shell variables) each time you start a new session</a:t>
            </a:r>
          </a:p>
          <a:p>
            <a:r>
              <a:rPr lang="en-US" dirty="0"/>
              <a:t>Put commands in a hidden file that begins with a “.”</a:t>
            </a:r>
          </a:p>
          <a:p>
            <a:pPr lvl="1"/>
            <a:r>
              <a:rPr lang="en-US" dirty="0"/>
              <a:t>Use </a:t>
            </a:r>
            <a:r>
              <a:rPr lang="en-US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ls -a </a:t>
            </a:r>
            <a:r>
              <a:rPr lang="en-US" dirty="0"/>
              <a:t>to see them</a:t>
            </a:r>
          </a:p>
          <a:p>
            <a:pPr lvl="1"/>
            <a:r>
              <a:rPr lang="en-US" dirty="0"/>
              <a:t>That is why they are called </a:t>
            </a:r>
            <a:r>
              <a:rPr lang="en-US" b="1" dirty="0"/>
              <a:t>dot files</a:t>
            </a:r>
            <a:endParaRPr lang="en-US" dirty="0"/>
          </a:p>
          <a:p>
            <a:r>
              <a:rPr lang="en-US" dirty="0"/>
              <a:t>Use caution! It is possible to “break” your shell, and it can be a big pain to fix it…</a:t>
            </a:r>
          </a:p>
          <a:p>
            <a:endParaRPr lang="en-US" dirty="0"/>
          </a:p>
        </p:txBody>
      </p:sp>
      <p:pic>
        <p:nvPicPr>
          <p:cNvPr id="5" name="Picture 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98B59D1F-759D-72EC-2AD7-631641758E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1244" y="5002077"/>
            <a:ext cx="53213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8792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576E8-8A74-E308-2FC5-F4F33504B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825" y="124844"/>
            <a:ext cx="10515600" cy="1325563"/>
          </a:xfrm>
        </p:spPr>
        <p:txBody>
          <a:bodyPr/>
          <a:lstStyle/>
          <a:p>
            <a:r>
              <a:rPr lang="en-US" dirty="0"/>
              <a:t>.</a:t>
            </a:r>
            <a:r>
              <a:rPr lang="en-US" dirty="0" err="1"/>
              <a:t>bashrc</a:t>
            </a:r>
            <a:r>
              <a:rPr lang="en-US" dirty="0"/>
              <a:t> vs .</a:t>
            </a:r>
            <a:r>
              <a:rPr lang="en-US" dirty="0" err="1"/>
              <a:t>bash_profile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8A38A-FB61-BC0E-2A76-CABE6477D0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Both are startup config files, usually in your home (aka 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~</a:t>
            </a:r>
            <a:r>
              <a:rPr lang="en-US" dirty="0"/>
              <a:t>) directory</a:t>
            </a:r>
          </a:p>
          <a:p>
            <a:r>
              <a:rPr lang="en-US" b="1" dirty="0">
                <a:highlight>
                  <a:srgbClr val="FFFF00"/>
                </a:highlight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</a:t>
            </a:r>
            <a:r>
              <a:rPr lang="en-US" b="1" dirty="0" err="1">
                <a:highlight>
                  <a:srgbClr val="FFFF00"/>
                </a:highlight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bash_profile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or </a:t>
            </a:r>
            <a:r>
              <a:rPr lang="en-US" b="1" dirty="0">
                <a:highlight>
                  <a:srgbClr val="FFFF00"/>
                </a:highlight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.profile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dirty="0"/>
              <a:t>is run only once, upon login</a:t>
            </a:r>
          </a:p>
          <a:p>
            <a:pPr lvl="1"/>
            <a:r>
              <a:rPr lang="en-US" dirty="0"/>
              <a:t>Sources (aka runs) the </a:t>
            </a:r>
            <a:r>
              <a:rPr lang="en-US" b="1" dirty="0">
                <a:highlight>
                  <a:srgbClr val="FFFF00"/>
                </a:highlight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</a:t>
            </a:r>
            <a:r>
              <a:rPr lang="en-US" b="1" dirty="0" err="1">
                <a:highlight>
                  <a:srgbClr val="FFFF00"/>
                </a:highlight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bashrc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dirty="0"/>
              <a:t>file (won’t do so otherwise!)</a:t>
            </a:r>
          </a:p>
          <a:p>
            <a:pPr lvl="1"/>
            <a:r>
              <a:rPr lang="en-US" i="1" dirty="0"/>
              <a:t>Generally, this is all you want in here</a:t>
            </a:r>
          </a:p>
          <a:p>
            <a:r>
              <a:rPr lang="en-US" b="1" dirty="0">
                <a:highlight>
                  <a:srgbClr val="FFFF00"/>
                </a:highlight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</a:t>
            </a:r>
            <a:r>
              <a:rPr lang="en-US" b="1" dirty="0" err="1">
                <a:highlight>
                  <a:srgbClr val="FFFF00"/>
                </a:highlight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bashrc</a:t>
            </a:r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dirty="0" err="1"/>
              <a:t>is</a:t>
            </a:r>
            <a:r>
              <a:rPr lang="en-US" dirty="0"/>
              <a:t> read anytime a shell is opened (assuming it has been sourced)</a:t>
            </a:r>
          </a:p>
          <a:p>
            <a:pPr lvl="1"/>
            <a:r>
              <a:rPr lang="en-US" dirty="0"/>
              <a:t>E.g. if you connect to an interactive node after logging in using `</a:t>
            </a:r>
            <a:r>
              <a:rPr lang="en-US" dirty="0" err="1"/>
              <a:t>salloc</a:t>
            </a:r>
            <a:r>
              <a:rPr lang="en-US" dirty="0"/>
              <a:t>`</a:t>
            </a:r>
          </a:p>
          <a:p>
            <a:pPr lvl="1"/>
            <a:r>
              <a:rPr lang="en-US" i="1" dirty="0"/>
              <a:t>TL;DR when using Cannon, put your customizations in here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73853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E26E7-5AF7-F7D4-FD6F-2C12F7561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973" y="116009"/>
            <a:ext cx="10515600" cy="1325563"/>
          </a:xfrm>
        </p:spPr>
        <p:txBody>
          <a:bodyPr/>
          <a:lstStyle/>
          <a:p>
            <a:r>
              <a:rPr lang="en-US" dirty="0"/>
              <a:t>What can you put in your .</a:t>
            </a:r>
            <a:r>
              <a:rPr lang="en-US" dirty="0" err="1"/>
              <a:t>bashrc</a:t>
            </a:r>
            <a:r>
              <a:rPr lang="en-US" dirty="0"/>
              <a:t>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09C99C-9D34-CC8C-D21E-654A16018449}"/>
              </a:ext>
            </a:extLst>
          </p:cNvPr>
          <p:cNvSpPr txBox="1"/>
          <p:nvPr/>
        </p:nvSpPr>
        <p:spPr>
          <a:xfrm>
            <a:off x="1124885" y="1349828"/>
            <a:ext cx="9528571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Source global definitions</a:t>
            </a:r>
          </a:p>
          <a:p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if [ -f /</a:t>
            </a:r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etc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/</a:t>
            </a:r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bashrc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]; then</a:t>
            </a:r>
          </a:p>
          <a:p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 /</a:t>
            </a:r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etc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/</a:t>
            </a:r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bashrc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fi</a:t>
            </a:r>
          </a:p>
          <a:p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User specific aliases and functions</a:t>
            </a:r>
          </a:p>
          <a:p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load modules</a:t>
            </a:r>
          </a:p>
          <a:p>
            <a:r>
              <a:rPr lang="en-US" dirty="0">
                <a:solidFill>
                  <a:schemeClr val="accent6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module load </a:t>
            </a:r>
            <a:r>
              <a:rPr lang="en-US" dirty="0" err="1">
                <a:solidFill>
                  <a:schemeClr val="accent6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jdk</a:t>
            </a:r>
            <a:endParaRPr lang="en-US" dirty="0">
              <a:solidFill>
                <a:schemeClr val="accent6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dirty="0">
                <a:solidFill>
                  <a:schemeClr val="accent6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module load python</a:t>
            </a:r>
          </a:p>
          <a:p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add relevant folders to $PATH</a:t>
            </a:r>
          </a:p>
          <a:p>
            <a:r>
              <a:rPr lang="en-US" dirty="0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export PATH=$PATH:/n/holylfs05/LABS/informatics/Users/lei/bin/</a:t>
            </a:r>
          </a:p>
          <a:p>
            <a:endParaRPr lang="en-US" dirty="0">
              <a:solidFill>
                <a:schemeClr val="accent2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make aliases</a:t>
            </a:r>
          </a:p>
          <a:p>
            <a:r>
              <a:rPr lang="en-US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alias ls='ls --color=always’</a:t>
            </a:r>
          </a:p>
          <a:p>
            <a:r>
              <a:rPr lang="en-US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alias </a:t>
            </a:r>
            <a:r>
              <a:rPr lang="en-US" dirty="0" err="1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sal</a:t>
            </a:r>
            <a:r>
              <a:rPr lang="en-US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=‘</a:t>
            </a:r>
            <a:r>
              <a:rPr lang="en-US" dirty="0" err="1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salloc</a:t>
            </a:r>
            <a:r>
              <a:rPr lang="en-US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--partition test --mem 8GB -c 2 --time 0-04:00’</a:t>
            </a:r>
          </a:p>
          <a:p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source secret API keys</a:t>
            </a:r>
          </a:p>
          <a:p>
            <a:r>
              <a:rPr lang="en-US" dirty="0">
                <a:solidFill>
                  <a:schemeClr val="accent5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if [ -f "$HOME/.secrets/api_keys.sh" ]; then</a:t>
            </a:r>
          </a:p>
          <a:p>
            <a:r>
              <a:rPr lang="en-US" dirty="0">
                <a:solidFill>
                  <a:schemeClr val="accent5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. "$HOME/.secrets/api_keys.sh"</a:t>
            </a:r>
          </a:p>
          <a:p>
            <a:r>
              <a:rPr lang="en-US" dirty="0">
                <a:solidFill>
                  <a:schemeClr val="accent5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fi</a:t>
            </a:r>
          </a:p>
          <a:p>
            <a:endParaRPr lang="en-US" dirty="0">
              <a:solidFill>
                <a:schemeClr val="accent1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F2C4A414-FAAC-8067-461B-923E0EDD9BDA}"/>
              </a:ext>
            </a:extLst>
          </p:cNvPr>
          <p:cNvSpPr/>
          <p:nvPr/>
        </p:nvSpPr>
        <p:spPr>
          <a:xfrm>
            <a:off x="6585857" y="1441627"/>
            <a:ext cx="381000" cy="86745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2E8080-03B5-F333-BAA3-3A64C47FD4C0}"/>
              </a:ext>
            </a:extLst>
          </p:cNvPr>
          <p:cNvSpPr txBox="1"/>
          <p:nvPr/>
        </p:nvSpPr>
        <p:spPr>
          <a:xfrm>
            <a:off x="7043057" y="1690688"/>
            <a:ext cx="2343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don’t change this part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F611D9D-388F-7DB2-2333-BADCB0E9CA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2300" y="4748212"/>
            <a:ext cx="565150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8026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7053B-3A59-B2E1-64A6-2E5017D1F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7E42996-3482-1C2D-B002-2F40E1E08E82}"/>
              </a:ext>
            </a:extLst>
          </p:cNvPr>
          <p:cNvSpPr txBox="1"/>
          <p:nvPr/>
        </p:nvSpPr>
        <p:spPr>
          <a:xfrm>
            <a:off x="239485" y="1997886"/>
            <a:ext cx="1171302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make custom functions</a:t>
            </a:r>
          </a:p>
          <a:p>
            <a:r>
              <a:rPr lang="en-US" dirty="0">
                <a:solidFill>
                  <a:schemeClr val="accent4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function loadmodules {</a:t>
            </a:r>
          </a:p>
          <a:p>
            <a:r>
              <a:rPr lang="en-US" dirty="0">
                <a:solidFill>
                  <a:schemeClr val="accent4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module load python</a:t>
            </a:r>
          </a:p>
          <a:p>
            <a:r>
              <a:rPr lang="en-US" dirty="0">
                <a:solidFill>
                  <a:schemeClr val="accent4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source ~/lab_name/spack/setup-env.sh</a:t>
            </a:r>
          </a:p>
          <a:p>
            <a:r>
              <a:rPr lang="en-US" dirty="0">
                <a:solidFill>
                  <a:schemeClr val="accent4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}</a:t>
            </a:r>
          </a:p>
          <a:p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customize your command prompt</a:t>
            </a:r>
          </a:p>
          <a:p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complicated syntax, ask an LLM</a:t>
            </a:r>
          </a:p>
          <a:p>
            <a:r>
              <a:rPr lang="en-US" dirty="0">
                <a:solidFill>
                  <a:schemeClr val="accent6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export PS1="\[\033[36m\]\u\[\033[m\]@\[\033[32m\]\h:\[\033[33;1m\]\w\[\033[m\]\$ "</a:t>
            </a:r>
          </a:p>
          <a:p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48F029-6368-0F20-DE55-F817A27149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6104" y="4887327"/>
            <a:ext cx="2755900" cy="2286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AF05605-6E45-CCE3-7EF1-77E927093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973" y="116009"/>
            <a:ext cx="10515600" cy="1325563"/>
          </a:xfrm>
        </p:spPr>
        <p:txBody>
          <a:bodyPr/>
          <a:lstStyle/>
          <a:p>
            <a:r>
              <a:rPr lang="en-US" dirty="0"/>
              <a:t>What can you put in your .</a:t>
            </a:r>
            <a:r>
              <a:rPr lang="en-US" dirty="0" err="1"/>
              <a:t>bashrc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0556236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6C9F0-D4FD-679A-2170-454AFE7D4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895" y="158217"/>
            <a:ext cx="10515600" cy="1325563"/>
          </a:xfrm>
        </p:spPr>
        <p:txBody>
          <a:bodyPr/>
          <a:lstStyle/>
          <a:p>
            <a:r>
              <a:rPr lang="en-US" dirty="0"/>
              <a:t>How do I not mess everything up?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4351D6-D179-EA99-9C28-9B7C267A1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Make a backup of your .</a:t>
            </a:r>
            <a:r>
              <a:rPr lang="en-US" dirty="0" err="1"/>
              <a:t>bashrc</a:t>
            </a:r>
            <a:endParaRPr lang="en-US" dirty="0"/>
          </a:p>
          <a:p>
            <a:pPr lvl="1"/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cp .</a:t>
            </a:r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bashrc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.</a:t>
            </a:r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bashrc.bak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dirty="0">
                <a:ea typeface="Menlo" panose="020B0609030804020204" pitchFamily="49" charset="0"/>
                <a:cs typeface="Menlo" panose="020B0609030804020204" pitchFamily="49" charset="0"/>
              </a:rPr>
              <a:t>Only change one thing at a time</a:t>
            </a:r>
          </a:p>
          <a:p>
            <a:r>
              <a:rPr lang="en-US" dirty="0">
                <a:ea typeface="Menlo" panose="020B0609030804020204" pitchFamily="49" charset="0"/>
                <a:cs typeface="Menlo" panose="020B0609030804020204" pitchFamily="49" charset="0"/>
              </a:rPr>
              <a:t>Have two windows open and only edit the .</a:t>
            </a:r>
            <a:r>
              <a:rPr lang="en-US" dirty="0" err="1">
                <a:ea typeface="Menlo" panose="020B0609030804020204" pitchFamily="49" charset="0"/>
                <a:cs typeface="Menlo" panose="020B0609030804020204" pitchFamily="49" charset="0"/>
              </a:rPr>
              <a:t>bashrc</a:t>
            </a:r>
            <a:r>
              <a:rPr lang="en-US" dirty="0">
                <a:ea typeface="Menlo" panose="020B0609030804020204" pitchFamily="49" charset="0"/>
                <a:cs typeface="Menlo" panose="020B0609030804020204" pitchFamily="49" charset="0"/>
              </a:rPr>
              <a:t> in one in case you totally mess up</a:t>
            </a:r>
          </a:p>
          <a:p>
            <a:pPr lvl="1"/>
            <a:r>
              <a:rPr lang="en-US" dirty="0">
                <a:ea typeface="Menlo" panose="020B0609030804020204" pitchFamily="49" charset="0"/>
                <a:cs typeface="Menlo" panose="020B0609030804020204" pitchFamily="49" charset="0"/>
              </a:rPr>
              <a:t>the backup window will have the old settings</a:t>
            </a:r>
          </a:p>
        </p:txBody>
      </p:sp>
    </p:spTree>
    <p:extLst>
      <p:ext uri="{BB962C8B-B14F-4D97-AF65-F5344CB8AC3E}">
        <p14:creationId xmlns:p14="http://schemas.microsoft.com/office/powerpoint/2010/main" val="10981901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A2E44D4-F660-E93A-C8FC-1CCE90E48AD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979DCB1-B601-7BC0-6D11-C3453465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90855"/>
            <a:ext cx="12192000" cy="971620"/>
          </a:xfrm>
          <a:solidFill>
            <a:schemeClr val="bg1"/>
          </a:solidFill>
        </p:spPr>
        <p:txBody>
          <a:bodyPr/>
          <a:lstStyle/>
          <a:p>
            <a:r>
              <a:rPr lang="en-US" dirty="0"/>
              <a:t>multitasking in the terminal</a:t>
            </a:r>
          </a:p>
        </p:txBody>
      </p:sp>
      <p:pic>
        <p:nvPicPr>
          <p:cNvPr id="3" name="Graphic 2" descr="Cmd Terminal with solid fill">
            <a:extLst>
              <a:ext uri="{FF2B5EF4-FFF2-40B4-BE49-F238E27FC236}">
                <a16:creationId xmlns:a16="http://schemas.microsoft.com/office/drawing/2014/main" id="{ADB97312-F69E-3A49-0DE0-C7CFBB7523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81600" y="1613266"/>
            <a:ext cx="914400" cy="914400"/>
          </a:xfrm>
          <a:prstGeom prst="rect">
            <a:avLst/>
          </a:prstGeom>
        </p:spPr>
      </p:pic>
      <p:pic>
        <p:nvPicPr>
          <p:cNvPr id="6" name="Graphic 5" descr="Cmd Terminal with solid fill">
            <a:extLst>
              <a:ext uri="{FF2B5EF4-FFF2-40B4-BE49-F238E27FC236}">
                <a16:creationId xmlns:a16="http://schemas.microsoft.com/office/drawing/2014/main" id="{DA1FD494-F497-70B0-4667-D4B77E3109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01857" y="1833523"/>
            <a:ext cx="914400" cy="914400"/>
          </a:xfrm>
          <a:prstGeom prst="rect">
            <a:avLst/>
          </a:prstGeom>
        </p:spPr>
      </p:pic>
      <p:pic>
        <p:nvPicPr>
          <p:cNvPr id="7" name="Graphic 6" descr="Cmd Terminal with solid fill">
            <a:extLst>
              <a:ext uri="{FF2B5EF4-FFF2-40B4-BE49-F238E27FC236}">
                <a16:creationId xmlns:a16="http://schemas.microsoft.com/office/drawing/2014/main" id="{0EF55EBA-825A-AB3B-7EFF-850E6C42D5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38800" y="205378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0162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04A5A-D006-D3A4-8AD9-070B76920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7CFAAB85-BA51-837C-1316-00B519EE4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499" y="178240"/>
            <a:ext cx="10515600" cy="1325563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14578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88B1D-29D2-A19C-2A58-C8EE78327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A0B595B5-1660-9602-E6D4-BAFFFE64F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499" y="178240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Processes running on your computer are paused or stopped when you turn off your computer</a:t>
            </a:r>
          </a:p>
        </p:txBody>
      </p:sp>
      <p:pic>
        <p:nvPicPr>
          <p:cNvPr id="7" name="Graphic 6" descr="Cmd Terminal with solid fill">
            <a:extLst>
              <a:ext uri="{FF2B5EF4-FFF2-40B4-BE49-F238E27FC236}">
                <a16:creationId xmlns:a16="http://schemas.microsoft.com/office/drawing/2014/main" id="{39942C94-AA78-71C2-E97B-F83AE8EA40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69424" y="2227818"/>
            <a:ext cx="914400" cy="914400"/>
          </a:xfrm>
          <a:prstGeom prst="rect">
            <a:avLst/>
          </a:prstGeom>
        </p:spPr>
      </p:pic>
      <p:pic>
        <p:nvPicPr>
          <p:cNvPr id="8" name="Graphic 7" descr="Programmer female with solid fill">
            <a:extLst>
              <a:ext uri="{FF2B5EF4-FFF2-40B4-BE49-F238E27FC236}">
                <a16:creationId xmlns:a16="http://schemas.microsoft.com/office/drawing/2014/main" id="{1575D858-028E-EC08-7908-F73963BBC9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59662" y="2148447"/>
            <a:ext cx="914400" cy="914400"/>
          </a:xfrm>
          <a:prstGeom prst="rect">
            <a:avLst/>
          </a:prstGeom>
        </p:spPr>
      </p:pic>
      <p:sp>
        <p:nvSpPr>
          <p:cNvPr id="9" name="Left-Right Arrow 22">
            <a:extLst>
              <a:ext uri="{FF2B5EF4-FFF2-40B4-BE49-F238E27FC236}">
                <a16:creationId xmlns:a16="http://schemas.microsoft.com/office/drawing/2014/main" id="{886F2101-4565-2383-D972-F8DB9E8486C7}"/>
              </a:ext>
            </a:extLst>
          </p:cNvPr>
          <p:cNvSpPr/>
          <p:nvPr/>
        </p:nvSpPr>
        <p:spPr>
          <a:xfrm>
            <a:off x="3025067" y="2624927"/>
            <a:ext cx="914401" cy="53652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540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EF0BD-6898-FC94-3821-4FCCEB2EE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1B8DC9B8-E7D9-7F1F-E9ED-FDCAF2210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499" y="178240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Processes running on your computer are paused or stopped when you turn off your computer</a:t>
            </a:r>
          </a:p>
        </p:txBody>
      </p:sp>
      <p:sp>
        <p:nvSpPr>
          <p:cNvPr id="2" name="&quot;No&quot; Symbol 36">
            <a:extLst>
              <a:ext uri="{FF2B5EF4-FFF2-40B4-BE49-F238E27FC236}">
                <a16:creationId xmlns:a16="http://schemas.microsoft.com/office/drawing/2014/main" id="{28FE065A-727E-B51A-AED6-F3652C446271}"/>
              </a:ext>
            </a:extLst>
          </p:cNvPr>
          <p:cNvSpPr/>
          <p:nvPr/>
        </p:nvSpPr>
        <p:spPr>
          <a:xfrm>
            <a:off x="3201273" y="2405260"/>
            <a:ext cx="561988" cy="492986"/>
          </a:xfrm>
          <a:prstGeom prst="noSmok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9" name="Graphic 8" descr="Cmd Terminal with solid fill">
            <a:extLst>
              <a:ext uri="{FF2B5EF4-FFF2-40B4-BE49-F238E27FC236}">
                <a16:creationId xmlns:a16="http://schemas.microsoft.com/office/drawing/2014/main" id="{25E18624-44B6-46EF-8DB2-5126F065D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69424" y="2227818"/>
            <a:ext cx="914400" cy="914400"/>
          </a:xfrm>
          <a:prstGeom prst="rect">
            <a:avLst/>
          </a:prstGeom>
        </p:spPr>
      </p:pic>
      <p:pic>
        <p:nvPicPr>
          <p:cNvPr id="11" name="Graphic 10" descr="Programmer female with solid fill">
            <a:extLst>
              <a:ext uri="{FF2B5EF4-FFF2-40B4-BE49-F238E27FC236}">
                <a16:creationId xmlns:a16="http://schemas.microsoft.com/office/drawing/2014/main" id="{57F0CA65-15F8-A3E4-C1C4-85490ED6E3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59662" y="2148447"/>
            <a:ext cx="914400" cy="914400"/>
          </a:xfrm>
          <a:prstGeom prst="rect">
            <a:avLst/>
          </a:prstGeom>
        </p:spPr>
      </p:pic>
      <p:sp>
        <p:nvSpPr>
          <p:cNvPr id="13" name="Left-Right Arrow 22">
            <a:extLst>
              <a:ext uri="{FF2B5EF4-FFF2-40B4-BE49-F238E27FC236}">
                <a16:creationId xmlns:a16="http://schemas.microsoft.com/office/drawing/2014/main" id="{4DB133AE-9EAF-DDD3-79FD-D7118B8E6AEB}"/>
              </a:ext>
            </a:extLst>
          </p:cNvPr>
          <p:cNvSpPr/>
          <p:nvPr/>
        </p:nvSpPr>
        <p:spPr>
          <a:xfrm>
            <a:off x="3025067" y="2624927"/>
            <a:ext cx="914401" cy="53652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3432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60795-F7D7-B23B-5F0D-F31F31CAB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86EC6BA4-8724-1829-4760-45A500ED7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499" y="178240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Similarly, when you are connected to a server, processes are stopped when you disconnect</a:t>
            </a:r>
          </a:p>
        </p:txBody>
      </p:sp>
      <p:pic>
        <p:nvPicPr>
          <p:cNvPr id="15" name="Graphic 14" descr="Cmd Terminal with solid fill">
            <a:extLst>
              <a:ext uri="{FF2B5EF4-FFF2-40B4-BE49-F238E27FC236}">
                <a16:creationId xmlns:a16="http://schemas.microsoft.com/office/drawing/2014/main" id="{0C218917-9C93-A2F7-66C9-0BBC6DB44F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69424" y="2227818"/>
            <a:ext cx="914400" cy="914400"/>
          </a:xfrm>
          <a:prstGeom prst="rect">
            <a:avLst/>
          </a:prstGeom>
        </p:spPr>
      </p:pic>
      <p:pic>
        <p:nvPicPr>
          <p:cNvPr id="16" name="Graphic 15" descr="Programmer female with solid fill">
            <a:extLst>
              <a:ext uri="{FF2B5EF4-FFF2-40B4-BE49-F238E27FC236}">
                <a16:creationId xmlns:a16="http://schemas.microsoft.com/office/drawing/2014/main" id="{A7570B12-0BA8-B0B3-35C7-C4AB597C17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59662" y="2148447"/>
            <a:ext cx="914400" cy="914400"/>
          </a:xfrm>
          <a:prstGeom prst="rect">
            <a:avLst/>
          </a:prstGeom>
        </p:spPr>
      </p:pic>
      <p:sp>
        <p:nvSpPr>
          <p:cNvPr id="18" name="Left-Right Arrow 22">
            <a:extLst>
              <a:ext uri="{FF2B5EF4-FFF2-40B4-BE49-F238E27FC236}">
                <a16:creationId xmlns:a16="http://schemas.microsoft.com/office/drawing/2014/main" id="{8F00F610-F150-E122-ABF1-88E4E401252D}"/>
              </a:ext>
            </a:extLst>
          </p:cNvPr>
          <p:cNvSpPr/>
          <p:nvPr/>
        </p:nvSpPr>
        <p:spPr>
          <a:xfrm>
            <a:off x="3025067" y="2624927"/>
            <a:ext cx="914401" cy="53652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Graphic 18" descr="Server with solid fill">
            <a:extLst>
              <a:ext uri="{FF2B5EF4-FFF2-40B4-BE49-F238E27FC236}">
                <a16:creationId xmlns:a16="http://schemas.microsoft.com/office/drawing/2014/main" id="{805CE101-5B45-4B56-86CA-EBA85A573A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05996" y="2273061"/>
            <a:ext cx="914400" cy="914400"/>
          </a:xfrm>
          <a:prstGeom prst="rect">
            <a:avLst/>
          </a:prstGeom>
        </p:spPr>
      </p:pic>
      <p:pic>
        <p:nvPicPr>
          <p:cNvPr id="20" name="Graphic 19" descr="Wireless router outline">
            <a:extLst>
              <a:ext uri="{FF2B5EF4-FFF2-40B4-BE49-F238E27FC236}">
                <a16:creationId xmlns:a16="http://schemas.microsoft.com/office/drawing/2014/main" id="{5D700FB6-C1EA-C16F-B1FD-84210449CA1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65486" y="1997852"/>
            <a:ext cx="687166" cy="687166"/>
          </a:xfrm>
          <a:prstGeom prst="rect">
            <a:avLst/>
          </a:prstGeom>
        </p:spPr>
      </p:pic>
      <p:pic>
        <p:nvPicPr>
          <p:cNvPr id="21" name="Graphic 20" descr="Cmd Terminal with solid fill">
            <a:extLst>
              <a:ext uri="{FF2B5EF4-FFF2-40B4-BE49-F238E27FC236}">
                <a16:creationId xmlns:a16="http://schemas.microsoft.com/office/drawing/2014/main" id="{2E9B2FD7-9978-3FD4-EAE5-2F7B57F78F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96234" y="2233989"/>
            <a:ext cx="914400" cy="914400"/>
          </a:xfrm>
          <a:prstGeom prst="rect">
            <a:avLst/>
          </a:prstGeom>
        </p:spPr>
      </p:pic>
      <p:sp>
        <p:nvSpPr>
          <p:cNvPr id="22" name="Left-Right Arrow 22">
            <a:extLst>
              <a:ext uri="{FF2B5EF4-FFF2-40B4-BE49-F238E27FC236}">
                <a16:creationId xmlns:a16="http://schemas.microsoft.com/office/drawing/2014/main" id="{692FA8C6-9568-E15B-36F5-C972FF09E606}"/>
              </a:ext>
            </a:extLst>
          </p:cNvPr>
          <p:cNvSpPr/>
          <p:nvPr/>
        </p:nvSpPr>
        <p:spPr>
          <a:xfrm>
            <a:off x="4883824" y="2610001"/>
            <a:ext cx="1412410" cy="45719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Left-Right Arrow 23">
            <a:extLst>
              <a:ext uri="{FF2B5EF4-FFF2-40B4-BE49-F238E27FC236}">
                <a16:creationId xmlns:a16="http://schemas.microsoft.com/office/drawing/2014/main" id="{A80B5B13-65D0-7DB2-1C35-0A7A33FC19C8}"/>
              </a:ext>
            </a:extLst>
          </p:cNvPr>
          <p:cNvSpPr/>
          <p:nvPr/>
        </p:nvSpPr>
        <p:spPr>
          <a:xfrm>
            <a:off x="7210633" y="2610000"/>
            <a:ext cx="986531" cy="45719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195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3E380-92D0-BD87-A032-77D7D8861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8E59F7C8-9413-DE7D-0DED-AF34A431C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499" y="178240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Similarly, when you are connected to a server, processes are stopped when you disconnect</a:t>
            </a:r>
          </a:p>
        </p:txBody>
      </p:sp>
      <p:pic>
        <p:nvPicPr>
          <p:cNvPr id="10" name="Graphic 9" descr="Cmd Terminal with solid fill">
            <a:extLst>
              <a:ext uri="{FF2B5EF4-FFF2-40B4-BE49-F238E27FC236}">
                <a16:creationId xmlns:a16="http://schemas.microsoft.com/office/drawing/2014/main" id="{FCA9139F-018E-9CB5-E75C-38AD49077F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69424" y="2227818"/>
            <a:ext cx="914400" cy="914400"/>
          </a:xfrm>
          <a:prstGeom prst="rect">
            <a:avLst/>
          </a:prstGeom>
        </p:spPr>
      </p:pic>
      <p:pic>
        <p:nvPicPr>
          <p:cNvPr id="12" name="Graphic 11" descr="Programmer female with solid fill">
            <a:extLst>
              <a:ext uri="{FF2B5EF4-FFF2-40B4-BE49-F238E27FC236}">
                <a16:creationId xmlns:a16="http://schemas.microsoft.com/office/drawing/2014/main" id="{DFAB99F0-274C-7538-86A3-858FF246E8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59662" y="2148447"/>
            <a:ext cx="914400" cy="914400"/>
          </a:xfrm>
          <a:prstGeom prst="rect">
            <a:avLst/>
          </a:prstGeom>
        </p:spPr>
      </p:pic>
      <p:sp>
        <p:nvSpPr>
          <p:cNvPr id="4" name="Left-Right Arrow 22">
            <a:extLst>
              <a:ext uri="{FF2B5EF4-FFF2-40B4-BE49-F238E27FC236}">
                <a16:creationId xmlns:a16="http://schemas.microsoft.com/office/drawing/2014/main" id="{AC2D9F2E-5E9A-89E1-5D7C-3D7A82BE1596}"/>
              </a:ext>
            </a:extLst>
          </p:cNvPr>
          <p:cNvSpPr/>
          <p:nvPr/>
        </p:nvSpPr>
        <p:spPr>
          <a:xfrm>
            <a:off x="3025067" y="2624927"/>
            <a:ext cx="914401" cy="53652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 descr="Server with solid fill">
            <a:extLst>
              <a:ext uri="{FF2B5EF4-FFF2-40B4-BE49-F238E27FC236}">
                <a16:creationId xmlns:a16="http://schemas.microsoft.com/office/drawing/2014/main" id="{C2A5B437-2BAD-5C03-E06B-45BBBA66B3C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05996" y="2273061"/>
            <a:ext cx="914400" cy="914400"/>
          </a:xfrm>
          <a:prstGeom prst="rect">
            <a:avLst/>
          </a:prstGeom>
        </p:spPr>
      </p:pic>
      <p:pic>
        <p:nvPicPr>
          <p:cNvPr id="5" name="Graphic 4" descr="Wireless router outline">
            <a:extLst>
              <a:ext uri="{FF2B5EF4-FFF2-40B4-BE49-F238E27FC236}">
                <a16:creationId xmlns:a16="http://schemas.microsoft.com/office/drawing/2014/main" id="{B1237E5A-4A97-ABB3-EE99-20F703479B3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65486" y="1997852"/>
            <a:ext cx="687166" cy="687166"/>
          </a:xfrm>
          <a:prstGeom prst="rect">
            <a:avLst/>
          </a:prstGeom>
        </p:spPr>
      </p:pic>
      <p:pic>
        <p:nvPicPr>
          <p:cNvPr id="6" name="Graphic 5" descr="Cmd Terminal with solid fill">
            <a:extLst>
              <a:ext uri="{FF2B5EF4-FFF2-40B4-BE49-F238E27FC236}">
                <a16:creationId xmlns:a16="http://schemas.microsoft.com/office/drawing/2014/main" id="{F14542E8-32C4-478E-C674-4CBB5DE8F8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96234" y="2233989"/>
            <a:ext cx="914400" cy="914400"/>
          </a:xfrm>
          <a:prstGeom prst="rect">
            <a:avLst/>
          </a:prstGeom>
        </p:spPr>
      </p:pic>
      <p:sp>
        <p:nvSpPr>
          <p:cNvPr id="7" name="Left-Right Arrow 22">
            <a:extLst>
              <a:ext uri="{FF2B5EF4-FFF2-40B4-BE49-F238E27FC236}">
                <a16:creationId xmlns:a16="http://schemas.microsoft.com/office/drawing/2014/main" id="{89A9FA3A-920B-1995-72F6-F8AC04DB1A66}"/>
              </a:ext>
            </a:extLst>
          </p:cNvPr>
          <p:cNvSpPr/>
          <p:nvPr/>
        </p:nvSpPr>
        <p:spPr>
          <a:xfrm>
            <a:off x="4883824" y="2610001"/>
            <a:ext cx="1412410" cy="45719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Left-Right Arrow 23">
            <a:extLst>
              <a:ext uri="{FF2B5EF4-FFF2-40B4-BE49-F238E27FC236}">
                <a16:creationId xmlns:a16="http://schemas.microsoft.com/office/drawing/2014/main" id="{EB927D62-1072-CEAC-FE4F-E8CBAFE66A7F}"/>
              </a:ext>
            </a:extLst>
          </p:cNvPr>
          <p:cNvSpPr/>
          <p:nvPr/>
        </p:nvSpPr>
        <p:spPr>
          <a:xfrm>
            <a:off x="7210633" y="2610000"/>
            <a:ext cx="986531" cy="45719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&quot;No&quot; Symbol 36">
            <a:extLst>
              <a:ext uri="{FF2B5EF4-FFF2-40B4-BE49-F238E27FC236}">
                <a16:creationId xmlns:a16="http://schemas.microsoft.com/office/drawing/2014/main" id="{0F7D2E64-3834-DA87-4859-E6AD1BBE06E4}"/>
              </a:ext>
            </a:extLst>
          </p:cNvPr>
          <p:cNvSpPr/>
          <p:nvPr/>
        </p:nvSpPr>
        <p:spPr>
          <a:xfrm>
            <a:off x="5329738" y="2273061"/>
            <a:ext cx="561988" cy="492986"/>
          </a:xfrm>
          <a:prstGeom prst="noSmok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&quot;No&quot; Symbol 36">
            <a:extLst>
              <a:ext uri="{FF2B5EF4-FFF2-40B4-BE49-F238E27FC236}">
                <a16:creationId xmlns:a16="http://schemas.microsoft.com/office/drawing/2014/main" id="{0BD6B094-BE6A-B5AB-A11E-100DE3AEB095}"/>
              </a:ext>
            </a:extLst>
          </p:cNvPr>
          <p:cNvSpPr/>
          <p:nvPr/>
        </p:nvSpPr>
        <p:spPr>
          <a:xfrm>
            <a:off x="6472439" y="2438525"/>
            <a:ext cx="561988" cy="492986"/>
          </a:xfrm>
          <a:prstGeom prst="noSmok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&quot;No&quot; Symbol 36">
            <a:extLst>
              <a:ext uri="{FF2B5EF4-FFF2-40B4-BE49-F238E27FC236}">
                <a16:creationId xmlns:a16="http://schemas.microsoft.com/office/drawing/2014/main" id="{C909EF98-6E6A-3DCE-5592-FE341E775182}"/>
              </a:ext>
            </a:extLst>
          </p:cNvPr>
          <p:cNvSpPr/>
          <p:nvPr/>
        </p:nvSpPr>
        <p:spPr>
          <a:xfrm>
            <a:off x="7422904" y="2405260"/>
            <a:ext cx="561988" cy="492986"/>
          </a:xfrm>
          <a:prstGeom prst="noSmok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40432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C9D40-9C41-E760-1E66-CF553151A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76EDB958-8DF3-B5F3-998C-E7608B3C3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499" y="178240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Similarly, when you are connected to a server, processes are stopped when you disconnect</a:t>
            </a:r>
          </a:p>
        </p:txBody>
      </p:sp>
      <p:pic>
        <p:nvPicPr>
          <p:cNvPr id="10" name="Graphic 9" descr="Cmd Terminal with solid fill">
            <a:extLst>
              <a:ext uri="{FF2B5EF4-FFF2-40B4-BE49-F238E27FC236}">
                <a16:creationId xmlns:a16="http://schemas.microsoft.com/office/drawing/2014/main" id="{CC345F8E-9FD4-2265-437B-0740762D09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69424" y="2227818"/>
            <a:ext cx="914400" cy="914400"/>
          </a:xfrm>
          <a:prstGeom prst="rect">
            <a:avLst/>
          </a:prstGeom>
        </p:spPr>
      </p:pic>
      <p:pic>
        <p:nvPicPr>
          <p:cNvPr id="12" name="Graphic 11" descr="Programmer female with solid fill">
            <a:extLst>
              <a:ext uri="{FF2B5EF4-FFF2-40B4-BE49-F238E27FC236}">
                <a16:creationId xmlns:a16="http://schemas.microsoft.com/office/drawing/2014/main" id="{755B15C0-1332-6A45-72B9-204D423CB2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59662" y="2148447"/>
            <a:ext cx="914400" cy="914400"/>
          </a:xfrm>
          <a:prstGeom prst="rect">
            <a:avLst/>
          </a:prstGeom>
        </p:spPr>
      </p:pic>
      <p:sp>
        <p:nvSpPr>
          <p:cNvPr id="4" name="Left-Right Arrow 22">
            <a:extLst>
              <a:ext uri="{FF2B5EF4-FFF2-40B4-BE49-F238E27FC236}">
                <a16:creationId xmlns:a16="http://schemas.microsoft.com/office/drawing/2014/main" id="{6795D61A-34BC-CBE8-A80D-56ED2F73108F}"/>
              </a:ext>
            </a:extLst>
          </p:cNvPr>
          <p:cNvSpPr/>
          <p:nvPr/>
        </p:nvSpPr>
        <p:spPr>
          <a:xfrm>
            <a:off x="3025067" y="2624927"/>
            <a:ext cx="914401" cy="53652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 descr="Server with solid fill">
            <a:extLst>
              <a:ext uri="{FF2B5EF4-FFF2-40B4-BE49-F238E27FC236}">
                <a16:creationId xmlns:a16="http://schemas.microsoft.com/office/drawing/2014/main" id="{BC1DDD1F-2033-47FB-36F4-5A56A711EC7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05996" y="2273061"/>
            <a:ext cx="914400" cy="914400"/>
          </a:xfrm>
          <a:prstGeom prst="rect">
            <a:avLst/>
          </a:prstGeom>
        </p:spPr>
      </p:pic>
      <p:pic>
        <p:nvPicPr>
          <p:cNvPr id="5" name="Graphic 4" descr="Wireless router outline">
            <a:extLst>
              <a:ext uri="{FF2B5EF4-FFF2-40B4-BE49-F238E27FC236}">
                <a16:creationId xmlns:a16="http://schemas.microsoft.com/office/drawing/2014/main" id="{41A37A29-2B69-35D0-62E4-E5C59D2D709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65486" y="1997852"/>
            <a:ext cx="687166" cy="687166"/>
          </a:xfrm>
          <a:prstGeom prst="rect">
            <a:avLst/>
          </a:prstGeom>
        </p:spPr>
      </p:pic>
      <p:pic>
        <p:nvPicPr>
          <p:cNvPr id="6" name="Graphic 5" descr="Cmd Terminal with solid fill">
            <a:extLst>
              <a:ext uri="{FF2B5EF4-FFF2-40B4-BE49-F238E27FC236}">
                <a16:creationId xmlns:a16="http://schemas.microsoft.com/office/drawing/2014/main" id="{5D011611-0DF9-65FA-F019-28137E39C8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96234" y="2233989"/>
            <a:ext cx="914400" cy="914400"/>
          </a:xfrm>
          <a:prstGeom prst="rect">
            <a:avLst/>
          </a:prstGeom>
        </p:spPr>
      </p:pic>
      <p:sp>
        <p:nvSpPr>
          <p:cNvPr id="7" name="Left-Right Arrow 22">
            <a:extLst>
              <a:ext uri="{FF2B5EF4-FFF2-40B4-BE49-F238E27FC236}">
                <a16:creationId xmlns:a16="http://schemas.microsoft.com/office/drawing/2014/main" id="{CD654F23-FA67-163C-2A0D-B1D3324EE030}"/>
              </a:ext>
            </a:extLst>
          </p:cNvPr>
          <p:cNvSpPr/>
          <p:nvPr/>
        </p:nvSpPr>
        <p:spPr>
          <a:xfrm>
            <a:off x="4883824" y="2610001"/>
            <a:ext cx="1412410" cy="45719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Left-Right Arrow 23">
            <a:extLst>
              <a:ext uri="{FF2B5EF4-FFF2-40B4-BE49-F238E27FC236}">
                <a16:creationId xmlns:a16="http://schemas.microsoft.com/office/drawing/2014/main" id="{38ADCC58-C233-A472-948A-FB19799C0E5E}"/>
              </a:ext>
            </a:extLst>
          </p:cNvPr>
          <p:cNvSpPr/>
          <p:nvPr/>
        </p:nvSpPr>
        <p:spPr>
          <a:xfrm>
            <a:off x="7210633" y="2610000"/>
            <a:ext cx="986531" cy="45719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&quot;No&quot; Symbol 36">
            <a:extLst>
              <a:ext uri="{FF2B5EF4-FFF2-40B4-BE49-F238E27FC236}">
                <a16:creationId xmlns:a16="http://schemas.microsoft.com/office/drawing/2014/main" id="{47F696D3-7E78-33B6-C0F9-6B7F71FE868D}"/>
              </a:ext>
            </a:extLst>
          </p:cNvPr>
          <p:cNvSpPr/>
          <p:nvPr/>
        </p:nvSpPr>
        <p:spPr>
          <a:xfrm>
            <a:off x="5329738" y="2273061"/>
            <a:ext cx="561988" cy="492986"/>
          </a:xfrm>
          <a:prstGeom prst="noSmok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&quot;No&quot; Symbol 36">
            <a:extLst>
              <a:ext uri="{FF2B5EF4-FFF2-40B4-BE49-F238E27FC236}">
                <a16:creationId xmlns:a16="http://schemas.microsoft.com/office/drawing/2014/main" id="{98A35D4B-399C-FB93-390C-A7C2BAB2EB64}"/>
              </a:ext>
            </a:extLst>
          </p:cNvPr>
          <p:cNvSpPr/>
          <p:nvPr/>
        </p:nvSpPr>
        <p:spPr>
          <a:xfrm>
            <a:off x="6472439" y="2438525"/>
            <a:ext cx="561988" cy="492986"/>
          </a:xfrm>
          <a:prstGeom prst="noSmok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&quot;No&quot; Symbol 36">
            <a:extLst>
              <a:ext uri="{FF2B5EF4-FFF2-40B4-BE49-F238E27FC236}">
                <a16:creationId xmlns:a16="http://schemas.microsoft.com/office/drawing/2014/main" id="{E900C9ED-03D0-2AAF-2B63-74CAF344FBA6}"/>
              </a:ext>
            </a:extLst>
          </p:cNvPr>
          <p:cNvSpPr/>
          <p:nvPr/>
        </p:nvSpPr>
        <p:spPr>
          <a:xfrm>
            <a:off x="7422904" y="2405260"/>
            <a:ext cx="561988" cy="492986"/>
          </a:xfrm>
          <a:prstGeom prst="noSmok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18DBFA-1954-4CF2-8903-E25994A51B5A}"/>
              </a:ext>
            </a:extLst>
          </p:cNvPr>
          <p:cNvSpPr txBox="1"/>
          <p:nvPr/>
        </p:nvSpPr>
        <p:spPr>
          <a:xfrm>
            <a:off x="0" y="3754367"/>
            <a:ext cx="12192000" cy="83099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Many programs could take hours or days to run.</a:t>
            </a:r>
          </a:p>
          <a:p>
            <a:pPr algn="ctr"/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How can we keep them running when we disconnect?</a:t>
            </a:r>
          </a:p>
        </p:txBody>
      </p:sp>
    </p:spTree>
    <p:extLst>
      <p:ext uri="{BB962C8B-B14F-4D97-AF65-F5344CB8AC3E}">
        <p14:creationId xmlns:p14="http://schemas.microsoft.com/office/powerpoint/2010/main" val="37495474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2C294-93E7-7A7E-C5FA-0183C0290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578AF3BE-E62B-B11E-B983-A5D38E3A6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499" y="178240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Similarly, when you are connected to a server, processes are stopped when you disconnect</a:t>
            </a:r>
          </a:p>
        </p:txBody>
      </p:sp>
      <p:pic>
        <p:nvPicPr>
          <p:cNvPr id="10" name="Graphic 9" descr="Cmd Terminal with solid fill">
            <a:extLst>
              <a:ext uri="{FF2B5EF4-FFF2-40B4-BE49-F238E27FC236}">
                <a16:creationId xmlns:a16="http://schemas.microsoft.com/office/drawing/2014/main" id="{B5EB7790-8C57-3645-D2E9-7D458B8EC5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69424" y="2227818"/>
            <a:ext cx="914400" cy="914400"/>
          </a:xfrm>
          <a:prstGeom prst="rect">
            <a:avLst/>
          </a:prstGeom>
        </p:spPr>
      </p:pic>
      <p:pic>
        <p:nvPicPr>
          <p:cNvPr id="12" name="Graphic 11" descr="Programmer female with solid fill">
            <a:extLst>
              <a:ext uri="{FF2B5EF4-FFF2-40B4-BE49-F238E27FC236}">
                <a16:creationId xmlns:a16="http://schemas.microsoft.com/office/drawing/2014/main" id="{BAEFCFC0-9C35-2EE9-2E91-66BEAAC302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59662" y="2148447"/>
            <a:ext cx="914400" cy="914400"/>
          </a:xfrm>
          <a:prstGeom prst="rect">
            <a:avLst/>
          </a:prstGeom>
        </p:spPr>
      </p:pic>
      <p:sp>
        <p:nvSpPr>
          <p:cNvPr id="4" name="Left-Right Arrow 22">
            <a:extLst>
              <a:ext uri="{FF2B5EF4-FFF2-40B4-BE49-F238E27FC236}">
                <a16:creationId xmlns:a16="http://schemas.microsoft.com/office/drawing/2014/main" id="{E0F7B1D5-1491-FDA1-BAA0-5B6DFCF0DEC3}"/>
              </a:ext>
            </a:extLst>
          </p:cNvPr>
          <p:cNvSpPr/>
          <p:nvPr/>
        </p:nvSpPr>
        <p:spPr>
          <a:xfrm>
            <a:off x="3025067" y="2624927"/>
            <a:ext cx="914401" cy="53652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 descr="Server with solid fill">
            <a:extLst>
              <a:ext uri="{FF2B5EF4-FFF2-40B4-BE49-F238E27FC236}">
                <a16:creationId xmlns:a16="http://schemas.microsoft.com/office/drawing/2014/main" id="{5817F535-D44D-29B9-93D4-6A6DED91F76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05996" y="2273061"/>
            <a:ext cx="914400" cy="914400"/>
          </a:xfrm>
          <a:prstGeom prst="rect">
            <a:avLst/>
          </a:prstGeom>
        </p:spPr>
      </p:pic>
      <p:pic>
        <p:nvPicPr>
          <p:cNvPr id="5" name="Graphic 4" descr="Wireless router outline">
            <a:extLst>
              <a:ext uri="{FF2B5EF4-FFF2-40B4-BE49-F238E27FC236}">
                <a16:creationId xmlns:a16="http://schemas.microsoft.com/office/drawing/2014/main" id="{57A0D9FC-1328-1077-2357-037A6FF94A3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65486" y="1997852"/>
            <a:ext cx="687166" cy="687166"/>
          </a:xfrm>
          <a:prstGeom prst="rect">
            <a:avLst/>
          </a:prstGeom>
        </p:spPr>
      </p:pic>
      <p:pic>
        <p:nvPicPr>
          <p:cNvPr id="6" name="Graphic 5" descr="Cmd Terminal with solid fill">
            <a:extLst>
              <a:ext uri="{FF2B5EF4-FFF2-40B4-BE49-F238E27FC236}">
                <a16:creationId xmlns:a16="http://schemas.microsoft.com/office/drawing/2014/main" id="{A671E4A8-2D07-7892-2DD3-E83BC7DBDE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96234" y="2233989"/>
            <a:ext cx="914400" cy="914400"/>
          </a:xfrm>
          <a:prstGeom prst="rect">
            <a:avLst/>
          </a:prstGeom>
        </p:spPr>
      </p:pic>
      <p:sp>
        <p:nvSpPr>
          <p:cNvPr id="7" name="Left-Right Arrow 22">
            <a:extLst>
              <a:ext uri="{FF2B5EF4-FFF2-40B4-BE49-F238E27FC236}">
                <a16:creationId xmlns:a16="http://schemas.microsoft.com/office/drawing/2014/main" id="{79EC28F3-88BF-AEFF-BDCC-1FB930C11BEA}"/>
              </a:ext>
            </a:extLst>
          </p:cNvPr>
          <p:cNvSpPr/>
          <p:nvPr/>
        </p:nvSpPr>
        <p:spPr>
          <a:xfrm>
            <a:off x="4883824" y="2610001"/>
            <a:ext cx="1412410" cy="45719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Left-Right Arrow 23">
            <a:extLst>
              <a:ext uri="{FF2B5EF4-FFF2-40B4-BE49-F238E27FC236}">
                <a16:creationId xmlns:a16="http://schemas.microsoft.com/office/drawing/2014/main" id="{759DB84E-CF53-9C2D-9210-7957C4E1675F}"/>
              </a:ext>
            </a:extLst>
          </p:cNvPr>
          <p:cNvSpPr/>
          <p:nvPr/>
        </p:nvSpPr>
        <p:spPr>
          <a:xfrm>
            <a:off x="7210633" y="2610000"/>
            <a:ext cx="986531" cy="45719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&quot;No&quot; Symbol 36">
            <a:extLst>
              <a:ext uri="{FF2B5EF4-FFF2-40B4-BE49-F238E27FC236}">
                <a16:creationId xmlns:a16="http://schemas.microsoft.com/office/drawing/2014/main" id="{64E93076-4180-23B0-1229-98093D160B23}"/>
              </a:ext>
            </a:extLst>
          </p:cNvPr>
          <p:cNvSpPr/>
          <p:nvPr/>
        </p:nvSpPr>
        <p:spPr>
          <a:xfrm>
            <a:off x="5329738" y="2273061"/>
            <a:ext cx="561988" cy="492986"/>
          </a:xfrm>
          <a:prstGeom prst="noSmok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&quot;No&quot; Symbol 36">
            <a:extLst>
              <a:ext uri="{FF2B5EF4-FFF2-40B4-BE49-F238E27FC236}">
                <a16:creationId xmlns:a16="http://schemas.microsoft.com/office/drawing/2014/main" id="{45045DA0-EC40-EE33-0F3D-B848C3D6D68E}"/>
              </a:ext>
            </a:extLst>
          </p:cNvPr>
          <p:cNvSpPr/>
          <p:nvPr/>
        </p:nvSpPr>
        <p:spPr>
          <a:xfrm>
            <a:off x="6472439" y="2438525"/>
            <a:ext cx="561988" cy="492986"/>
          </a:xfrm>
          <a:prstGeom prst="noSmok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&quot;No&quot; Symbol 36">
            <a:extLst>
              <a:ext uri="{FF2B5EF4-FFF2-40B4-BE49-F238E27FC236}">
                <a16:creationId xmlns:a16="http://schemas.microsoft.com/office/drawing/2014/main" id="{CF7FD04E-9014-94BD-1366-19FB12AD4CA1}"/>
              </a:ext>
            </a:extLst>
          </p:cNvPr>
          <p:cNvSpPr/>
          <p:nvPr/>
        </p:nvSpPr>
        <p:spPr>
          <a:xfrm>
            <a:off x="7422904" y="2405260"/>
            <a:ext cx="561988" cy="492986"/>
          </a:xfrm>
          <a:prstGeom prst="noSmok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D7370F-F58E-BD53-FB1D-159568D660E4}"/>
              </a:ext>
            </a:extLst>
          </p:cNvPr>
          <p:cNvSpPr txBox="1"/>
          <p:nvPr/>
        </p:nvSpPr>
        <p:spPr>
          <a:xfrm>
            <a:off x="0" y="3754367"/>
            <a:ext cx="12192000" cy="83099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Many programs could take hours or days to run.</a:t>
            </a:r>
          </a:p>
          <a:p>
            <a:pPr algn="ctr"/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How can we keep them running when we disconnect?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1D55FE-7C44-09F6-2941-EC47AFD74316}"/>
              </a:ext>
            </a:extLst>
          </p:cNvPr>
          <p:cNvSpPr txBox="1"/>
          <p:nvPr/>
        </p:nvSpPr>
        <p:spPr>
          <a:xfrm>
            <a:off x="858143" y="4935582"/>
            <a:ext cx="1065711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</a:t>
            </a:r>
            <a:r>
              <a:rPr lang="en-US" dirty="0" err="1">
                <a:latin typeface="Consolas" panose="020B0609020204030204" pitchFamily="49" charset="0"/>
                <a:ea typeface="Source Sans Pro" panose="020B0503030403020204" pitchFamily="34" charset="0"/>
              </a:rPr>
              <a:t>nohup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command</a:t>
            </a:r>
          </a:p>
          <a:p>
            <a:pPr marL="342900" indent="-342900">
              <a:buAutoNum type="arabicPeriod"/>
            </a:pPr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342900" indent="-342900">
              <a:buAutoNum type="arabicPeriod"/>
            </a:pP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Submit your job to the cluster with </a:t>
            </a:r>
            <a:r>
              <a:rPr lang="en-US" dirty="0" err="1">
                <a:latin typeface="Consolas" panose="020B0609020204030204" pitchFamily="49" charset="0"/>
                <a:ea typeface="Source Sans Pro" panose="020B0503030403020204" pitchFamily="34" charset="0"/>
              </a:rPr>
              <a:t>sbatch</a:t>
            </a:r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342900" indent="-342900">
              <a:buAutoNum type="arabicPeriod"/>
            </a:pPr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342900" indent="-342900">
              <a:buAutoNum type="arabicPeriod"/>
            </a:pP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Use a </a:t>
            </a:r>
            <a:r>
              <a:rPr lang="en-US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terminal multiplexer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like </a:t>
            </a:r>
            <a:r>
              <a:rPr lang="en-US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screen</a:t>
            </a:r>
            <a:endParaRPr lang="en-US" dirty="0">
              <a:latin typeface="Consolas" panose="020B0609020204030204" pitchFamily="49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90726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12A0D-FA43-956E-6C92-379299C4B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B7C198B0-9602-75A5-8D9B-3CC2BE473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802" y="136903"/>
            <a:ext cx="10515600" cy="1325563"/>
          </a:xfrm>
        </p:spPr>
        <p:txBody>
          <a:bodyPr/>
          <a:lstStyle/>
          <a:p>
            <a:r>
              <a:rPr lang="en-US" b="1" dirty="0"/>
              <a:t>Terminal multiplexers</a:t>
            </a:r>
            <a:r>
              <a:rPr lang="en-US" dirty="0"/>
              <a:t> allow you to open shells within your shell</a:t>
            </a:r>
          </a:p>
        </p:txBody>
      </p:sp>
      <p:pic>
        <p:nvPicPr>
          <p:cNvPr id="10" name="Graphic 9" descr="Cmd Terminal with solid fill">
            <a:extLst>
              <a:ext uri="{FF2B5EF4-FFF2-40B4-BE49-F238E27FC236}">
                <a16:creationId xmlns:a16="http://schemas.microsoft.com/office/drawing/2014/main" id="{0D72A47C-A90A-44D7-C70F-1BF5B45BE3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54790" y="2127702"/>
            <a:ext cx="914400" cy="914400"/>
          </a:xfrm>
          <a:prstGeom prst="rect">
            <a:avLst/>
          </a:prstGeom>
        </p:spPr>
      </p:pic>
      <p:pic>
        <p:nvPicPr>
          <p:cNvPr id="12" name="Graphic 11" descr="Programmer female with solid fill">
            <a:extLst>
              <a:ext uri="{FF2B5EF4-FFF2-40B4-BE49-F238E27FC236}">
                <a16:creationId xmlns:a16="http://schemas.microsoft.com/office/drawing/2014/main" id="{06690783-F4BC-6D8B-746E-28D85FECFB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5028" y="2048331"/>
            <a:ext cx="914400" cy="914400"/>
          </a:xfrm>
          <a:prstGeom prst="rect">
            <a:avLst/>
          </a:prstGeom>
        </p:spPr>
      </p:pic>
      <p:pic>
        <p:nvPicPr>
          <p:cNvPr id="14" name="Graphic 13" descr="Server with solid fill">
            <a:extLst>
              <a:ext uri="{FF2B5EF4-FFF2-40B4-BE49-F238E27FC236}">
                <a16:creationId xmlns:a16="http://schemas.microsoft.com/office/drawing/2014/main" id="{72D5DB3D-69C0-B233-2CB6-693ED8A860A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02686" y="2117065"/>
            <a:ext cx="914400" cy="914400"/>
          </a:xfrm>
          <a:prstGeom prst="rect">
            <a:avLst/>
          </a:prstGeom>
        </p:spPr>
      </p:pic>
      <p:pic>
        <p:nvPicPr>
          <p:cNvPr id="16" name="Graphic 15" descr="Wireless router outline">
            <a:extLst>
              <a:ext uri="{FF2B5EF4-FFF2-40B4-BE49-F238E27FC236}">
                <a16:creationId xmlns:a16="http://schemas.microsoft.com/office/drawing/2014/main" id="{824A5BA3-7DEE-C6B1-44E3-4927912E77E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119206" y="1862227"/>
            <a:ext cx="687166" cy="687166"/>
          </a:xfrm>
          <a:prstGeom prst="rect">
            <a:avLst/>
          </a:prstGeom>
        </p:spPr>
      </p:pic>
      <p:pic>
        <p:nvPicPr>
          <p:cNvPr id="19" name="Graphic 18" descr="Cmd Terminal with solid fill">
            <a:extLst>
              <a:ext uri="{FF2B5EF4-FFF2-40B4-BE49-F238E27FC236}">
                <a16:creationId xmlns:a16="http://schemas.microsoft.com/office/drawing/2014/main" id="{584133EB-EB19-A6DA-4EF1-E79ACF938F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94527" y="2118517"/>
            <a:ext cx="914400" cy="914400"/>
          </a:xfrm>
          <a:prstGeom prst="rect">
            <a:avLst/>
          </a:prstGeom>
        </p:spPr>
      </p:pic>
      <p:sp>
        <p:nvSpPr>
          <p:cNvPr id="23" name="Left-Right Arrow 22">
            <a:extLst>
              <a:ext uri="{FF2B5EF4-FFF2-40B4-BE49-F238E27FC236}">
                <a16:creationId xmlns:a16="http://schemas.microsoft.com/office/drawing/2014/main" id="{A32005C3-3BF6-98C4-1AF3-FC7C1ED50519}"/>
              </a:ext>
            </a:extLst>
          </p:cNvPr>
          <p:cNvSpPr/>
          <p:nvPr/>
        </p:nvSpPr>
        <p:spPr>
          <a:xfrm>
            <a:off x="3769190" y="2509885"/>
            <a:ext cx="1412410" cy="45719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Left-Right Arrow 23">
            <a:extLst>
              <a:ext uri="{FF2B5EF4-FFF2-40B4-BE49-F238E27FC236}">
                <a16:creationId xmlns:a16="http://schemas.microsoft.com/office/drawing/2014/main" id="{EA6A50B4-A1C7-53F1-12DA-6A6959364932}"/>
              </a:ext>
            </a:extLst>
          </p:cNvPr>
          <p:cNvSpPr/>
          <p:nvPr/>
        </p:nvSpPr>
        <p:spPr>
          <a:xfrm>
            <a:off x="9009303" y="2509883"/>
            <a:ext cx="1593383" cy="45719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FDEC332-3300-510D-443E-80EE2B48B175}"/>
              </a:ext>
            </a:extLst>
          </p:cNvPr>
          <p:cNvSpPr/>
          <p:nvPr/>
        </p:nvSpPr>
        <p:spPr>
          <a:xfrm>
            <a:off x="6589264" y="1897735"/>
            <a:ext cx="2059400" cy="247614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 descr="Cmd Terminal with solid fill">
            <a:extLst>
              <a:ext uri="{FF2B5EF4-FFF2-40B4-BE49-F238E27FC236}">
                <a16:creationId xmlns:a16="http://schemas.microsoft.com/office/drawing/2014/main" id="{F8E7EC2D-CE35-FEEA-9C1A-6F9B0C9850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17816" y="3392562"/>
            <a:ext cx="914400" cy="914400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AFD5868-802C-3780-1E34-F761B709DF1F}"/>
              </a:ext>
            </a:extLst>
          </p:cNvPr>
          <p:cNvCxnSpPr>
            <a:cxnSpLocks/>
            <a:endCxn id="3" idx="1"/>
          </p:cNvCxnSpPr>
          <p:nvPr/>
        </p:nvCxnSpPr>
        <p:spPr>
          <a:xfrm>
            <a:off x="5742180" y="2962731"/>
            <a:ext cx="975636" cy="887031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8" name="Graphic 7" descr="Cmd Terminal with solid fill">
            <a:extLst>
              <a:ext uri="{FF2B5EF4-FFF2-40B4-BE49-F238E27FC236}">
                <a16:creationId xmlns:a16="http://schemas.microsoft.com/office/drawing/2014/main" id="{30EF51FE-8368-9532-9527-B6B9A8AA45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17816" y="2742378"/>
            <a:ext cx="914400" cy="914400"/>
          </a:xfrm>
          <a:prstGeom prst="rect">
            <a:avLst/>
          </a:prstGeom>
        </p:spPr>
      </p:pic>
      <p:pic>
        <p:nvPicPr>
          <p:cNvPr id="9" name="Graphic 8" descr="Cmd Terminal with solid fill">
            <a:extLst>
              <a:ext uri="{FF2B5EF4-FFF2-40B4-BE49-F238E27FC236}">
                <a16:creationId xmlns:a16="http://schemas.microsoft.com/office/drawing/2014/main" id="{12A7C8F2-D80D-8DA6-1302-2B47408F41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17816" y="2092193"/>
            <a:ext cx="914400" cy="914400"/>
          </a:xfrm>
          <a:prstGeom prst="rect">
            <a:avLst/>
          </a:prstGeom>
        </p:spPr>
      </p:pic>
      <p:sp>
        <p:nvSpPr>
          <p:cNvPr id="11" name="Right Brace 10">
            <a:extLst>
              <a:ext uri="{FF2B5EF4-FFF2-40B4-BE49-F238E27FC236}">
                <a16:creationId xmlns:a16="http://schemas.microsoft.com/office/drawing/2014/main" id="{7AD1C7AD-28B1-580B-2886-4BE2A2326DD4}"/>
              </a:ext>
            </a:extLst>
          </p:cNvPr>
          <p:cNvSpPr/>
          <p:nvPr/>
        </p:nvSpPr>
        <p:spPr>
          <a:xfrm>
            <a:off x="7659458" y="2405743"/>
            <a:ext cx="989206" cy="914400"/>
          </a:xfrm>
          <a:prstGeom prst="rightBrace">
            <a:avLst>
              <a:gd name="adj1" fmla="val 8333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AE2225-328C-2C0C-301B-CB24F23FA693}"/>
              </a:ext>
            </a:extLst>
          </p:cNvPr>
          <p:cNvSpPr txBox="1"/>
          <p:nvPr/>
        </p:nvSpPr>
        <p:spPr>
          <a:xfrm>
            <a:off x="8608527" y="2532742"/>
            <a:ext cx="17417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other screens you can switch between</a:t>
            </a:r>
          </a:p>
        </p:txBody>
      </p:sp>
      <p:sp>
        <p:nvSpPr>
          <p:cNvPr id="4" name="Left-Right Arrow 22">
            <a:extLst>
              <a:ext uri="{FF2B5EF4-FFF2-40B4-BE49-F238E27FC236}">
                <a16:creationId xmlns:a16="http://schemas.microsoft.com/office/drawing/2014/main" id="{F8596700-2ABA-7358-5FCD-3F90F4DC89F5}"/>
              </a:ext>
            </a:extLst>
          </p:cNvPr>
          <p:cNvSpPr/>
          <p:nvPr/>
        </p:nvSpPr>
        <p:spPr>
          <a:xfrm>
            <a:off x="1909434" y="2505531"/>
            <a:ext cx="914401" cy="53652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EB2E6E-7A4B-95ED-639E-68C4AFF725FF}"/>
              </a:ext>
            </a:extLst>
          </p:cNvPr>
          <p:cNvSpPr txBox="1"/>
          <p:nvPr/>
        </p:nvSpPr>
        <p:spPr>
          <a:xfrm>
            <a:off x="6777028" y="1907527"/>
            <a:ext cx="1787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screen sessions</a:t>
            </a:r>
          </a:p>
        </p:txBody>
      </p:sp>
    </p:spTree>
    <p:extLst>
      <p:ext uri="{BB962C8B-B14F-4D97-AF65-F5344CB8AC3E}">
        <p14:creationId xmlns:p14="http://schemas.microsoft.com/office/powerpoint/2010/main" val="667024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55E38-C32D-C2FE-D228-EDB960175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C5C80A1D-296D-2A55-8EEB-D151B72B4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643" y="151864"/>
            <a:ext cx="10515600" cy="1325563"/>
          </a:xfrm>
        </p:spPr>
        <p:txBody>
          <a:bodyPr/>
          <a:lstStyle/>
          <a:p>
            <a:r>
              <a:rPr lang="en-US" dirty="0"/>
              <a:t>Shells within the multiplexer persist even when you log off</a:t>
            </a:r>
          </a:p>
        </p:txBody>
      </p:sp>
      <p:pic>
        <p:nvPicPr>
          <p:cNvPr id="10" name="Graphic 9" descr="Cmd Terminal with solid fill">
            <a:extLst>
              <a:ext uri="{FF2B5EF4-FFF2-40B4-BE49-F238E27FC236}">
                <a16:creationId xmlns:a16="http://schemas.microsoft.com/office/drawing/2014/main" id="{429D6F11-2B0D-A94E-66C4-0117EB42C1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54790" y="2127702"/>
            <a:ext cx="914400" cy="914400"/>
          </a:xfrm>
          <a:prstGeom prst="rect">
            <a:avLst/>
          </a:prstGeom>
        </p:spPr>
      </p:pic>
      <p:pic>
        <p:nvPicPr>
          <p:cNvPr id="12" name="Graphic 11" descr="Programmer female with solid fill">
            <a:extLst>
              <a:ext uri="{FF2B5EF4-FFF2-40B4-BE49-F238E27FC236}">
                <a16:creationId xmlns:a16="http://schemas.microsoft.com/office/drawing/2014/main" id="{C4497BF3-0370-2E02-459C-AB238006F4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5028" y="2048331"/>
            <a:ext cx="914400" cy="914400"/>
          </a:xfrm>
          <a:prstGeom prst="rect">
            <a:avLst/>
          </a:prstGeom>
        </p:spPr>
      </p:pic>
      <p:pic>
        <p:nvPicPr>
          <p:cNvPr id="14" name="Graphic 13" descr="Server with solid fill">
            <a:extLst>
              <a:ext uri="{FF2B5EF4-FFF2-40B4-BE49-F238E27FC236}">
                <a16:creationId xmlns:a16="http://schemas.microsoft.com/office/drawing/2014/main" id="{655EB89D-4842-D484-5E9D-FBFDC8C2BA5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02686" y="2117065"/>
            <a:ext cx="914400" cy="914400"/>
          </a:xfrm>
          <a:prstGeom prst="rect">
            <a:avLst/>
          </a:prstGeom>
        </p:spPr>
      </p:pic>
      <p:pic>
        <p:nvPicPr>
          <p:cNvPr id="19" name="Graphic 18" descr="Cmd Terminal with solid fill">
            <a:extLst>
              <a:ext uri="{FF2B5EF4-FFF2-40B4-BE49-F238E27FC236}">
                <a16:creationId xmlns:a16="http://schemas.microsoft.com/office/drawing/2014/main" id="{E6E296E6-C09C-ED53-EBE7-C79E506D0E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94527" y="2118517"/>
            <a:ext cx="914400" cy="914400"/>
          </a:xfrm>
          <a:prstGeom prst="rect">
            <a:avLst/>
          </a:prstGeom>
        </p:spPr>
      </p:pic>
      <p:sp>
        <p:nvSpPr>
          <p:cNvPr id="24" name="Left-Right Arrow 23">
            <a:extLst>
              <a:ext uri="{FF2B5EF4-FFF2-40B4-BE49-F238E27FC236}">
                <a16:creationId xmlns:a16="http://schemas.microsoft.com/office/drawing/2014/main" id="{9EB8D6FD-0C57-949A-9342-2DAB738B827B}"/>
              </a:ext>
            </a:extLst>
          </p:cNvPr>
          <p:cNvSpPr/>
          <p:nvPr/>
        </p:nvSpPr>
        <p:spPr>
          <a:xfrm>
            <a:off x="9009303" y="2509883"/>
            <a:ext cx="1593383" cy="45719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Left Arrow 25">
            <a:extLst>
              <a:ext uri="{FF2B5EF4-FFF2-40B4-BE49-F238E27FC236}">
                <a16:creationId xmlns:a16="http://schemas.microsoft.com/office/drawing/2014/main" id="{C611D5C9-56DE-B235-E3A5-912E2A38734F}"/>
              </a:ext>
            </a:extLst>
          </p:cNvPr>
          <p:cNvSpPr/>
          <p:nvPr/>
        </p:nvSpPr>
        <p:spPr>
          <a:xfrm>
            <a:off x="1970314" y="2532743"/>
            <a:ext cx="772886" cy="45719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BFDDFD4-3A36-C3EE-16A0-F3A8EFF80344}"/>
              </a:ext>
            </a:extLst>
          </p:cNvPr>
          <p:cNvSpPr/>
          <p:nvPr/>
        </p:nvSpPr>
        <p:spPr>
          <a:xfrm>
            <a:off x="6589264" y="1897735"/>
            <a:ext cx="2059400" cy="247614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61B624-3D17-DFA4-1D04-267519A936A3}"/>
              </a:ext>
            </a:extLst>
          </p:cNvPr>
          <p:cNvSpPr txBox="1"/>
          <p:nvPr/>
        </p:nvSpPr>
        <p:spPr>
          <a:xfrm>
            <a:off x="6777028" y="1907527"/>
            <a:ext cx="1787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screen sessions</a:t>
            </a:r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3D03EF00-95D4-D6CC-325B-732F33A4463C}"/>
              </a:ext>
            </a:extLst>
          </p:cNvPr>
          <p:cNvSpPr/>
          <p:nvPr/>
        </p:nvSpPr>
        <p:spPr>
          <a:xfrm>
            <a:off x="7659458" y="2405743"/>
            <a:ext cx="515713" cy="1607799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&quot;No&quot; Symbol 3">
            <a:extLst>
              <a:ext uri="{FF2B5EF4-FFF2-40B4-BE49-F238E27FC236}">
                <a16:creationId xmlns:a16="http://schemas.microsoft.com/office/drawing/2014/main" id="{62CD087F-3983-922A-60C8-D048EAD0465E}"/>
              </a:ext>
            </a:extLst>
          </p:cNvPr>
          <p:cNvSpPr/>
          <p:nvPr/>
        </p:nvSpPr>
        <p:spPr>
          <a:xfrm>
            <a:off x="5483058" y="2327772"/>
            <a:ext cx="561988" cy="492986"/>
          </a:xfrm>
          <a:prstGeom prst="noSmok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&quot;No&quot; Symbol 14">
            <a:extLst>
              <a:ext uri="{FF2B5EF4-FFF2-40B4-BE49-F238E27FC236}">
                <a16:creationId xmlns:a16="http://schemas.microsoft.com/office/drawing/2014/main" id="{A3CE2251-88E9-BA43-8D79-0BBFACF04340}"/>
              </a:ext>
            </a:extLst>
          </p:cNvPr>
          <p:cNvSpPr/>
          <p:nvPr/>
        </p:nvSpPr>
        <p:spPr>
          <a:xfrm>
            <a:off x="4164438" y="2338409"/>
            <a:ext cx="561988" cy="492986"/>
          </a:xfrm>
          <a:prstGeom prst="noSmok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8282708-36E3-8F1B-457C-5A906D4E84C2}"/>
              </a:ext>
            </a:extLst>
          </p:cNvPr>
          <p:cNvSpPr txBox="1"/>
          <p:nvPr/>
        </p:nvSpPr>
        <p:spPr>
          <a:xfrm>
            <a:off x="8695158" y="2831395"/>
            <a:ext cx="22216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still running,</a:t>
            </a:r>
          </a:p>
          <a:p>
            <a:r>
              <a:rPr lang="en-US"/>
              <a:t>you can find these if you log back in!*</a:t>
            </a:r>
          </a:p>
        </p:txBody>
      </p:sp>
      <p:pic>
        <p:nvPicPr>
          <p:cNvPr id="5" name="Graphic 4" descr="Cmd Terminal with solid fill">
            <a:extLst>
              <a:ext uri="{FF2B5EF4-FFF2-40B4-BE49-F238E27FC236}">
                <a16:creationId xmlns:a16="http://schemas.microsoft.com/office/drawing/2014/main" id="{F3962651-6EAC-2ABD-1AA5-94421D00B6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17816" y="3392562"/>
            <a:ext cx="914400" cy="914400"/>
          </a:xfrm>
          <a:prstGeom prst="rect">
            <a:avLst/>
          </a:prstGeom>
        </p:spPr>
      </p:pic>
      <p:pic>
        <p:nvPicPr>
          <p:cNvPr id="16" name="Graphic 15" descr="Cmd Terminal with solid fill">
            <a:extLst>
              <a:ext uri="{FF2B5EF4-FFF2-40B4-BE49-F238E27FC236}">
                <a16:creationId xmlns:a16="http://schemas.microsoft.com/office/drawing/2014/main" id="{2730CF70-96A4-B6E8-6170-3CB0EBF615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17816" y="2742378"/>
            <a:ext cx="914400" cy="914400"/>
          </a:xfrm>
          <a:prstGeom prst="rect">
            <a:avLst/>
          </a:prstGeom>
        </p:spPr>
      </p:pic>
      <p:pic>
        <p:nvPicPr>
          <p:cNvPr id="20" name="Graphic 19" descr="Cmd Terminal with solid fill">
            <a:extLst>
              <a:ext uri="{FF2B5EF4-FFF2-40B4-BE49-F238E27FC236}">
                <a16:creationId xmlns:a16="http://schemas.microsoft.com/office/drawing/2014/main" id="{D54209CD-7E53-9EF4-BBE4-A4D0998812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17816" y="2092193"/>
            <a:ext cx="914400" cy="914400"/>
          </a:xfrm>
          <a:prstGeom prst="rect">
            <a:avLst/>
          </a:prstGeom>
        </p:spPr>
      </p:pic>
      <p:pic>
        <p:nvPicPr>
          <p:cNvPr id="21" name="Graphic 20" descr="Wireless router outline">
            <a:extLst>
              <a:ext uri="{FF2B5EF4-FFF2-40B4-BE49-F238E27FC236}">
                <a16:creationId xmlns:a16="http://schemas.microsoft.com/office/drawing/2014/main" id="{079840CC-9011-A365-ABBF-AA51D13433E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119206" y="1862227"/>
            <a:ext cx="687166" cy="687166"/>
          </a:xfrm>
          <a:prstGeom prst="rect">
            <a:avLst/>
          </a:prstGeom>
        </p:spPr>
      </p:pic>
      <p:sp>
        <p:nvSpPr>
          <p:cNvPr id="22" name="Left-Right Arrow 22">
            <a:extLst>
              <a:ext uri="{FF2B5EF4-FFF2-40B4-BE49-F238E27FC236}">
                <a16:creationId xmlns:a16="http://schemas.microsoft.com/office/drawing/2014/main" id="{E750339F-1F34-01C6-653B-EBDE6AA068BE}"/>
              </a:ext>
            </a:extLst>
          </p:cNvPr>
          <p:cNvSpPr/>
          <p:nvPr/>
        </p:nvSpPr>
        <p:spPr>
          <a:xfrm>
            <a:off x="3769190" y="2509885"/>
            <a:ext cx="1412410" cy="45719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451AABD-6051-03C0-C491-CBE209971214}"/>
              </a:ext>
            </a:extLst>
          </p:cNvPr>
          <p:cNvSpPr txBox="1"/>
          <p:nvPr/>
        </p:nvSpPr>
        <p:spPr>
          <a:xfrm>
            <a:off x="0" y="4768330"/>
            <a:ext cx="12192000" cy="461665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When you disconnect, screens are still active</a:t>
            </a:r>
          </a:p>
        </p:txBody>
      </p:sp>
    </p:spTree>
    <p:extLst>
      <p:ext uri="{BB962C8B-B14F-4D97-AF65-F5344CB8AC3E}">
        <p14:creationId xmlns:p14="http://schemas.microsoft.com/office/powerpoint/2010/main" val="412613730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333B7-B08D-E51B-6F7D-065115613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794DAAD6-0DC9-871F-1FF9-357E38C49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643" y="151864"/>
            <a:ext cx="10515600" cy="1325563"/>
          </a:xfrm>
        </p:spPr>
        <p:txBody>
          <a:bodyPr/>
          <a:lstStyle/>
          <a:p>
            <a:r>
              <a:rPr lang="en-US" dirty="0"/>
              <a:t>Shells within the multiplexer persist even when you log off</a:t>
            </a:r>
          </a:p>
        </p:txBody>
      </p:sp>
      <p:pic>
        <p:nvPicPr>
          <p:cNvPr id="10" name="Graphic 9" descr="Cmd Terminal with solid fill">
            <a:extLst>
              <a:ext uri="{FF2B5EF4-FFF2-40B4-BE49-F238E27FC236}">
                <a16:creationId xmlns:a16="http://schemas.microsoft.com/office/drawing/2014/main" id="{A0AD9B3C-40E0-DE78-CE16-D16B946E91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54790" y="2127702"/>
            <a:ext cx="914400" cy="914400"/>
          </a:xfrm>
          <a:prstGeom prst="rect">
            <a:avLst/>
          </a:prstGeom>
        </p:spPr>
      </p:pic>
      <p:pic>
        <p:nvPicPr>
          <p:cNvPr id="12" name="Graphic 11" descr="Programmer female with solid fill">
            <a:extLst>
              <a:ext uri="{FF2B5EF4-FFF2-40B4-BE49-F238E27FC236}">
                <a16:creationId xmlns:a16="http://schemas.microsoft.com/office/drawing/2014/main" id="{4C2F5D4B-B184-043C-888E-F2CCE32DA6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5028" y="2048331"/>
            <a:ext cx="914400" cy="914400"/>
          </a:xfrm>
          <a:prstGeom prst="rect">
            <a:avLst/>
          </a:prstGeom>
        </p:spPr>
      </p:pic>
      <p:pic>
        <p:nvPicPr>
          <p:cNvPr id="14" name="Graphic 13" descr="Server with solid fill">
            <a:extLst>
              <a:ext uri="{FF2B5EF4-FFF2-40B4-BE49-F238E27FC236}">
                <a16:creationId xmlns:a16="http://schemas.microsoft.com/office/drawing/2014/main" id="{F3A7BEC4-16AB-F968-E9CB-775658E68B3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02686" y="2117065"/>
            <a:ext cx="914400" cy="914400"/>
          </a:xfrm>
          <a:prstGeom prst="rect">
            <a:avLst/>
          </a:prstGeom>
        </p:spPr>
      </p:pic>
      <p:pic>
        <p:nvPicPr>
          <p:cNvPr id="19" name="Graphic 18" descr="Cmd Terminal with solid fill">
            <a:extLst>
              <a:ext uri="{FF2B5EF4-FFF2-40B4-BE49-F238E27FC236}">
                <a16:creationId xmlns:a16="http://schemas.microsoft.com/office/drawing/2014/main" id="{0303D88C-7F0A-24F8-2EF6-1720AAC9E1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94527" y="2118517"/>
            <a:ext cx="914400" cy="914400"/>
          </a:xfrm>
          <a:prstGeom prst="rect">
            <a:avLst/>
          </a:prstGeom>
        </p:spPr>
      </p:pic>
      <p:sp>
        <p:nvSpPr>
          <p:cNvPr id="24" name="Left-Right Arrow 23">
            <a:extLst>
              <a:ext uri="{FF2B5EF4-FFF2-40B4-BE49-F238E27FC236}">
                <a16:creationId xmlns:a16="http://schemas.microsoft.com/office/drawing/2014/main" id="{3E5F106B-9667-7ED0-BBA9-D50FD72265A6}"/>
              </a:ext>
            </a:extLst>
          </p:cNvPr>
          <p:cNvSpPr/>
          <p:nvPr/>
        </p:nvSpPr>
        <p:spPr>
          <a:xfrm>
            <a:off x="9009303" y="2509883"/>
            <a:ext cx="1593383" cy="45719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Left Arrow 25">
            <a:extLst>
              <a:ext uri="{FF2B5EF4-FFF2-40B4-BE49-F238E27FC236}">
                <a16:creationId xmlns:a16="http://schemas.microsoft.com/office/drawing/2014/main" id="{A979A50F-A0B7-6651-B927-30247E4B29F8}"/>
              </a:ext>
            </a:extLst>
          </p:cNvPr>
          <p:cNvSpPr/>
          <p:nvPr/>
        </p:nvSpPr>
        <p:spPr>
          <a:xfrm>
            <a:off x="1970314" y="2532743"/>
            <a:ext cx="772886" cy="45719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CF10804A-2A35-DCBA-B7B6-9683D765883E}"/>
              </a:ext>
            </a:extLst>
          </p:cNvPr>
          <p:cNvSpPr/>
          <p:nvPr/>
        </p:nvSpPr>
        <p:spPr>
          <a:xfrm>
            <a:off x="6589264" y="1897735"/>
            <a:ext cx="2059400" cy="247614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2255B1-3BA3-7CC2-A06C-396560A84A09}"/>
              </a:ext>
            </a:extLst>
          </p:cNvPr>
          <p:cNvSpPr txBox="1"/>
          <p:nvPr/>
        </p:nvSpPr>
        <p:spPr>
          <a:xfrm>
            <a:off x="6777028" y="1907527"/>
            <a:ext cx="1787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screen sessions</a:t>
            </a:r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A653B09B-BD0E-0CB0-DAD5-076FAA60D57C}"/>
              </a:ext>
            </a:extLst>
          </p:cNvPr>
          <p:cNvSpPr/>
          <p:nvPr/>
        </p:nvSpPr>
        <p:spPr>
          <a:xfrm>
            <a:off x="7659458" y="2405743"/>
            <a:ext cx="515713" cy="1607799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&quot;No&quot; Symbol 3">
            <a:extLst>
              <a:ext uri="{FF2B5EF4-FFF2-40B4-BE49-F238E27FC236}">
                <a16:creationId xmlns:a16="http://schemas.microsoft.com/office/drawing/2014/main" id="{CA3DDD36-25F5-CD02-E7B5-8D6428D6A83B}"/>
              </a:ext>
            </a:extLst>
          </p:cNvPr>
          <p:cNvSpPr/>
          <p:nvPr/>
        </p:nvSpPr>
        <p:spPr>
          <a:xfrm>
            <a:off x="5483058" y="2327772"/>
            <a:ext cx="561988" cy="492986"/>
          </a:xfrm>
          <a:prstGeom prst="noSmok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&quot;No&quot; Symbol 14">
            <a:extLst>
              <a:ext uri="{FF2B5EF4-FFF2-40B4-BE49-F238E27FC236}">
                <a16:creationId xmlns:a16="http://schemas.microsoft.com/office/drawing/2014/main" id="{189A7362-7874-4220-C077-8D9232A5D849}"/>
              </a:ext>
            </a:extLst>
          </p:cNvPr>
          <p:cNvSpPr/>
          <p:nvPr/>
        </p:nvSpPr>
        <p:spPr>
          <a:xfrm>
            <a:off x="4164438" y="2338409"/>
            <a:ext cx="561988" cy="492986"/>
          </a:xfrm>
          <a:prstGeom prst="noSmok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602C591-3A9C-32B0-55F5-320C1EAD6096}"/>
              </a:ext>
            </a:extLst>
          </p:cNvPr>
          <p:cNvSpPr txBox="1"/>
          <p:nvPr/>
        </p:nvSpPr>
        <p:spPr>
          <a:xfrm>
            <a:off x="8695158" y="2831395"/>
            <a:ext cx="22216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still running,</a:t>
            </a:r>
          </a:p>
          <a:p>
            <a:r>
              <a:rPr lang="en-US"/>
              <a:t>you can find these if you log back in!*</a:t>
            </a:r>
          </a:p>
        </p:txBody>
      </p:sp>
      <p:pic>
        <p:nvPicPr>
          <p:cNvPr id="5" name="Graphic 4" descr="Cmd Terminal with solid fill">
            <a:extLst>
              <a:ext uri="{FF2B5EF4-FFF2-40B4-BE49-F238E27FC236}">
                <a16:creationId xmlns:a16="http://schemas.microsoft.com/office/drawing/2014/main" id="{00834252-3B10-5C39-EDEC-15BC000D0D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17816" y="3392562"/>
            <a:ext cx="914400" cy="914400"/>
          </a:xfrm>
          <a:prstGeom prst="rect">
            <a:avLst/>
          </a:prstGeom>
        </p:spPr>
      </p:pic>
      <p:pic>
        <p:nvPicPr>
          <p:cNvPr id="16" name="Graphic 15" descr="Cmd Terminal with solid fill">
            <a:extLst>
              <a:ext uri="{FF2B5EF4-FFF2-40B4-BE49-F238E27FC236}">
                <a16:creationId xmlns:a16="http://schemas.microsoft.com/office/drawing/2014/main" id="{2646BE7B-ABE8-7307-3D91-B934517E02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17816" y="2742378"/>
            <a:ext cx="914400" cy="914400"/>
          </a:xfrm>
          <a:prstGeom prst="rect">
            <a:avLst/>
          </a:prstGeom>
        </p:spPr>
      </p:pic>
      <p:pic>
        <p:nvPicPr>
          <p:cNvPr id="20" name="Graphic 19" descr="Cmd Terminal with solid fill">
            <a:extLst>
              <a:ext uri="{FF2B5EF4-FFF2-40B4-BE49-F238E27FC236}">
                <a16:creationId xmlns:a16="http://schemas.microsoft.com/office/drawing/2014/main" id="{E250B9DE-3F10-E8B4-E19A-400D9F68A1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17816" y="2092193"/>
            <a:ext cx="914400" cy="914400"/>
          </a:xfrm>
          <a:prstGeom prst="rect">
            <a:avLst/>
          </a:prstGeom>
        </p:spPr>
      </p:pic>
      <p:pic>
        <p:nvPicPr>
          <p:cNvPr id="21" name="Graphic 20" descr="Wireless router outline">
            <a:extLst>
              <a:ext uri="{FF2B5EF4-FFF2-40B4-BE49-F238E27FC236}">
                <a16:creationId xmlns:a16="http://schemas.microsoft.com/office/drawing/2014/main" id="{CD115DAE-8E14-1E3E-AE86-0F5A7C69AD7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119206" y="1862227"/>
            <a:ext cx="687166" cy="687166"/>
          </a:xfrm>
          <a:prstGeom prst="rect">
            <a:avLst/>
          </a:prstGeom>
        </p:spPr>
      </p:pic>
      <p:sp>
        <p:nvSpPr>
          <p:cNvPr id="22" name="Left-Right Arrow 22">
            <a:extLst>
              <a:ext uri="{FF2B5EF4-FFF2-40B4-BE49-F238E27FC236}">
                <a16:creationId xmlns:a16="http://schemas.microsoft.com/office/drawing/2014/main" id="{50CF48FE-CDA8-CFA1-76FD-3DB053A77B8D}"/>
              </a:ext>
            </a:extLst>
          </p:cNvPr>
          <p:cNvSpPr/>
          <p:nvPr/>
        </p:nvSpPr>
        <p:spPr>
          <a:xfrm>
            <a:off x="3769190" y="2509885"/>
            <a:ext cx="1412410" cy="45719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2DC22CA-6329-FD11-25D2-638488540989}"/>
              </a:ext>
            </a:extLst>
          </p:cNvPr>
          <p:cNvSpPr txBox="1"/>
          <p:nvPr/>
        </p:nvSpPr>
        <p:spPr>
          <a:xfrm>
            <a:off x="0" y="4768330"/>
            <a:ext cx="12192000" cy="461665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When you disconnect, screens are still active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DE5DE40-F635-4FC9-7685-AC9B278C082A}"/>
              </a:ext>
            </a:extLst>
          </p:cNvPr>
          <p:cNvSpPr txBox="1"/>
          <p:nvPr/>
        </p:nvSpPr>
        <p:spPr>
          <a:xfrm>
            <a:off x="0" y="5739770"/>
            <a:ext cx="12192000" cy="461665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*as long as you login to the same login node</a:t>
            </a:r>
          </a:p>
        </p:txBody>
      </p:sp>
    </p:spTree>
    <p:extLst>
      <p:ext uri="{BB962C8B-B14F-4D97-AF65-F5344CB8AC3E}">
        <p14:creationId xmlns:p14="http://schemas.microsoft.com/office/powerpoint/2010/main" val="100045373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C6C49-03A7-FB29-D0CD-DFB3E5755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250031"/>
            <a:ext cx="5172797" cy="1325563"/>
          </a:xfrm>
        </p:spPr>
        <p:txBody>
          <a:bodyPr/>
          <a:lstStyle/>
          <a:p>
            <a:r>
              <a:rPr lang="en-US" dirty="0"/>
              <a:t>How to connect to a particular login node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BCAA140-C994-0442-5F8C-8E94D75CB167}"/>
              </a:ext>
            </a:extLst>
          </p:cNvPr>
          <p:cNvGrpSpPr/>
          <p:nvPr/>
        </p:nvGrpSpPr>
        <p:grpSpPr>
          <a:xfrm>
            <a:off x="6181004" y="0"/>
            <a:ext cx="6010996" cy="6858000"/>
            <a:chOff x="3090502" y="0"/>
            <a:chExt cx="6010996" cy="68580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9C5CD57-5874-76D6-2E15-82AF85515DF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90502" y="0"/>
              <a:ext cx="6010996" cy="68580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7BC2256-7D9A-EF5C-BA1C-C0B9193BFAA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06508" y="6392468"/>
              <a:ext cx="2327659" cy="465532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AF05653-4B01-C32C-67B5-F81FB6252E4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33893" y="6375408"/>
              <a:ext cx="1524213" cy="428685"/>
            </a:xfrm>
            <a:prstGeom prst="rect">
              <a:avLst/>
            </a:prstGeom>
          </p:spPr>
        </p:pic>
      </p:grp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4EA82D84-CBD9-910D-58F3-68EA1A7F20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500" y="1825625"/>
            <a:ext cx="5778500" cy="4351338"/>
          </a:xfrm>
        </p:spPr>
        <p:txBody>
          <a:bodyPr>
            <a:normAutofit/>
          </a:bodyPr>
          <a:lstStyle/>
          <a:p>
            <a:r>
              <a:rPr lang="en-US" dirty="0"/>
              <a:t>Use the </a:t>
            </a:r>
            <a:r>
              <a:rPr lang="en-US" dirty="0">
                <a:latin typeface="Consolas" panose="020B0609020204030204" pitchFamily="49" charset="0"/>
              </a:rPr>
              <a:t>ssh</a:t>
            </a:r>
            <a:r>
              <a:rPr lang="en-US" dirty="0"/>
              <a:t> command to connect to a remote computer:</a:t>
            </a:r>
          </a:p>
          <a:p>
            <a:endParaRPr lang="en-US" dirty="0"/>
          </a:p>
          <a:p>
            <a:pPr marL="0" indent="0" algn="ctr">
              <a:buNone/>
            </a:pPr>
            <a:r>
              <a:rPr lang="en-US" sz="2000" dirty="0">
                <a:solidFill>
                  <a:schemeClr val="bg1">
                    <a:lumMod val="95000"/>
                  </a:schemeClr>
                </a:solidFill>
                <a:highlight>
                  <a:srgbClr val="000000"/>
                </a:highlight>
                <a:latin typeface="Consolas" panose="020B0609020204030204" pitchFamily="49" charset="0"/>
              </a:rPr>
              <a:t>ssh &lt;username&gt;@login.rc.fas.harvard.edu</a:t>
            </a:r>
            <a:endParaRPr lang="en-US" sz="2000" dirty="0">
              <a:solidFill>
                <a:schemeClr val="bg1">
                  <a:lumMod val="95000"/>
                </a:schemeClr>
              </a:solidFill>
              <a:highlight>
                <a:srgbClr val="000000"/>
              </a:highlight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2FBFE8A-CE7E-FAB8-A7AA-28615BEC57CC}"/>
              </a:ext>
            </a:extLst>
          </p:cNvPr>
          <p:cNvSpPr/>
          <p:nvPr/>
        </p:nvSpPr>
        <p:spPr>
          <a:xfrm>
            <a:off x="6261342" y="358440"/>
            <a:ext cx="3221617" cy="232767"/>
          </a:xfrm>
          <a:prstGeom prst="roundRect">
            <a:avLst/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75279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DF39C-3CDE-D799-B316-11D1C030C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ECA697CB-DAFA-25C5-CD14-DD59129FBE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0018" y="0"/>
            <a:ext cx="628198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4D7B049-5408-B5E7-2B8C-FF3F1FEBE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250031"/>
            <a:ext cx="5172797" cy="1325563"/>
          </a:xfrm>
        </p:spPr>
        <p:txBody>
          <a:bodyPr/>
          <a:lstStyle/>
          <a:p>
            <a:r>
              <a:rPr lang="en-US" dirty="0"/>
              <a:t>How to connect to a particular login node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68CBCAE4-AAD2-7993-8AFC-891B87F917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500" y="1825625"/>
            <a:ext cx="5778500" cy="4351338"/>
          </a:xfrm>
        </p:spPr>
        <p:txBody>
          <a:bodyPr>
            <a:normAutofit/>
          </a:bodyPr>
          <a:lstStyle/>
          <a:p>
            <a:r>
              <a:rPr lang="en-US" dirty="0"/>
              <a:t>Use the </a:t>
            </a:r>
            <a:r>
              <a:rPr lang="en-US" dirty="0">
                <a:latin typeface="Consolas" panose="020B0609020204030204" pitchFamily="49" charset="0"/>
              </a:rPr>
              <a:t>ssh</a:t>
            </a:r>
            <a:r>
              <a:rPr lang="en-US" dirty="0"/>
              <a:t> command to connect to a remote computer:</a:t>
            </a:r>
          </a:p>
          <a:p>
            <a:endParaRPr lang="en-US" dirty="0"/>
          </a:p>
          <a:p>
            <a:pPr algn="ctr"/>
            <a:r>
              <a:rPr lang="en-US" sz="1400" dirty="0">
                <a:solidFill>
                  <a:schemeClr val="bg1">
                    <a:lumMod val="95000"/>
                  </a:schemeClr>
                </a:solidFill>
                <a:highlight>
                  <a:srgbClr val="000000"/>
                </a:highlight>
                <a:latin typeface="Consolas" panose="020B0609020204030204" pitchFamily="49" charset="0"/>
              </a:rPr>
              <a:t>ssh &lt;username&gt;@login.rc.fas.harvard.edu</a:t>
            </a:r>
            <a:endParaRPr lang="en-US" sz="1400" dirty="0"/>
          </a:p>
          <a:p>
            <a:endParaRPr lang="en-US" dirty="0"/>
          </a:p>
          <a:p>
            <a:endParaRPr lang="en-US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bg1">
                    <a:lumMod val="95000"/>
                  </a:schemeClr>
                </a:solidFill>
                <a:highlight>
                  <a:srgbClr val="000000"/>
                </a:highlight>
                <a:latin typeface="Consolas" panose="020B0609020204030204" pitchFamily="49" charset="0"/>
              </a:rPr>
              <a:t>ssh &lt;username&gt;@&lt;login node name&gt;.rc.fas.harvard.edu</a:t>
            </a:r>
            <a:endParaRPr lang="en-US" sz="1400" dirty="0">
              <a:solidFill>
                <a:schemeClr val="bg1">
                  <a:lumMod val="95000"/>
                </a:schemeClr>
              </a:solidFill>
              <a:highlight>
                <a:srgbClr val="000000"/>
              </a:highlight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A519009-705E-0D7A-85DE-FCFD961F2544}"/>
              </a:ext>
            </a:extLst>
          </p:cNvPr>
          <p:cNvSpPr/>
          <p:nvPr/>
        </p:nvSpPr>
        <p:spPr>
          <a:xfrm>
            <a:off x="6521646" y="325068"/>
            <a:ext cx="3221617" cy="232767"/>
          </a:xfrm>
          <a:prstGeom prst="roundRect">
            <a:avLst/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AB5A368A-A594-A26A-7871-1D2F45E9EEA2}"/>
              </a:ext>
            </a:extLst>
          </p:cNvPr>
          <p:cNvSpPr/>
          <p:nvPr/>
        </p:nvSpPr>
        <p:spPr>
          <a:xfrm>
            <a:off x="3206750" y="3604164"/>
            <a:ext cx="166861" cy="79426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8B53040-076A-0699-E4CC-6FCA9187CB13}"/>
              </a:ext>
            </a:extLst>
          </p:cNvPr>
          <p:cNvSpPr/>
          <p:nvPr/>
        </p:nvSpPr>
        <p:spPr>
          <a:xfrm>
            <a:off x="2135418" y="4588930"/>
            <a:ext cx="1715741" cy="232767"/>
          </a:xfrm>
          <a:prstGeom prst="roundRect">
            <a:avLst/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62107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D25BB-B2AF-7847-1C16-1316B8C81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B27306A0-4BE5-5ADE-22EB-07D014097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740" y="118828"/>
            <a:ext cx="10515600" cy="1325563"/>
          </a:xfrm>
        </p:spPr>
        <p:txBody>
          <a:bodyPr/>
          <a:lstStyle/>
          <a:p>
            <a:r>
              <a:rPr lang="en-US" dirty="0"/>
              <a:t>Screen allows you to run multiple things at once from a single login</a:t>
            </a:r>
          </a:p>
        </p:txBody>
      </p:sp>
      <p:pic>
        <p:nvPicPr>
          <p:cNvPr id="10" name="Graphic 9" descr="Cmd Terminal with solid fill">
            <a:extLst>
              <a:ext uri="{FF2B5EF4-FFF2-40B4-BE49-F238E27FC236}">
                <a16:creationId xmlns:a16="http://schemas.microsoft.com/office/drawing/2014/main" id="{BCDA57F0-58DE-2761-AD25-A8D3155395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54790" y="2127702"/>
            <a:ext cx="914400" cy="914400"/>
          </a:xfrm>
          <a:prstGeom prst="rect">
            <a:avLst/>
          </a:prstGeom>
        </p:spPr>
      </p:pic>
      <p:pic>
        <p:nvPicPr>
          <p:cNvPr id="12" name="Graphic 11" descr="Programmer female with solid fill">
            <a:extLst>
              <a:ext uri="{FF2B5EF4-FFF2-40B4-BE49-F238E27FC236}">
                <a16:creationId xmlns:a16="http://schemas.microsoft.com/office/drawing/2014/main" id="{C4E2A229-6EAF-93CC-570D-C756CAA7CB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5028" y="2048331"/>
            <a:ext cx="914400" cy="914400"/>
          </a:xfrm>
          <a:prstGeom prst="rect">
            <a:avLst/>
          </a:prstGeom>
        </p:spPr>
      </p:pic>
      <p:pic>
        <p:nvPicPr>
          <p:cNvPr id="14" name="Graphic 13" descr="Server with solid fill">
            <a:extLst>
              <a:ext uri="{FF2B5EF4-FFF2-40B4-BE49-F238E27FC236}">
                <a16:creationId xmlns:a16="http://schemas.microsoft.com/office/drawing/2014/main" id="{0171AE9F-82F7-20EE-841A-F9496B3EB83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02686" y="2117065"/>
            <a:ext cx="914400" cy="914400"/>
          </a:xfrm>
          <a:prstGeom prst="rect">
            <a:avLst/>
          </a:prstGeom>
        </p:spPr>
      </p:pic>
      <p:pic>
        <p:nvPicPr>
          <p:cNvPr id="16" name="Graphic 15" descr="Wireless router outline">
            <a:extLst>
              <a:ext uri="{FF2B5EF4-FFF2-40B4-BE49-F238E27FC236}">
                <a16:creationId xmlns:a16="http://schemas.microsoft.com/office/drawing/2014/main" id="{67B5E3B5-7CB7-75BF-8452-E28B0E72429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087593" y="1897736"/>
            <a:ext cx="687166" cy="687166"/>
          </a:xfrm>
          <a:prstGeom prst="rect">
            <a:avLst/>
          </a:prstGeom>
        </p:spPr>
      </p:pic>
      <p:pic>
        <p:nvPicPr>
          <p:cNvPr id="19" name="Graphic 18" descr="Cmd Terminal with solid fill">
            <a:extLst>
              <a:ext uri="{FF2B5EF4-FFF2-40B4-BE49-F238E27FC236}">
                <a16:creationId xmlns:a16="http://schemas.microsoft.com/office/drawing/2014/main" id="{09D52F3C-71AF-C436-7DD5-DCCF80017D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94527" y="2118517"/>
            <a:ext cx="914400" cy="914400"/>
          </a:xfrm>
          <a:prstGeom prst="rect">
            <a:avLst/>
          </a:prstGeom>
        </p:spPr>
      </p:pic>
      <p:sp>
        <p:nvSpPr>
          <p:cNvPr id="23" name="Left-Right Arrow 22">
            <a:extLst>
              <a:ext uri="{FF2B5EF4-FFF2-40B4-BE49-F238E27FC236}">
                <a16:creationId xmlns:a16="http://schemas.microsoft.com/office/drawing/2014/main" id="{DC4B5C1D-9F35-9362-EC2F-C7DFD3426823}"/>
              </a:ext>
            </a:extLst>
          </p:cNvPr>
          <p:cNvSpPr/>
          <p:nvPr/>
        </p:nvSpPr>
        <p:spPr>
          <a:xfrm>
            <a:off x="3769190" y="2509885"/>
            <a:ext cx="1412410" cy="45719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Left-Right Arrow 23">
            <a:extLst>
              <a:ext uri="{FF2B5EF4-FFF2-40B4-BE49-F238E27FC236}">
                <a16:creationId xmlns:a16="http://schemas.microsoft.com/office/drawing/2014/main" id="{69419650-F82D-5750-B458-670CF23BA2AC}"/>
              </a:ext>
            </a:extLst>
          </p:cNvPr>
          <p:cNvSpPr/>
          <p:nvPr/>
        </p:nvSpPr>
        <p:spPr>
          <a:xfrm>
            <a:off x="9009303" y="2509883"/>
            <a:ext cx="1593383" cy="45719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Left Arrow 25">
            <a:extLst>
              <a:ext uri="{FF2B5EF4-FFF2-40B4-BE49-F238E27FC236}">
                <a16:creationId xmlns:a16="http://schemas.microsoft.com/office/drawing/2014/main" id="{5667FC07-CDEA-B5D1-7375-FC81A9029800}"/>
              </a:ext>
            </a:extLst>
          </p:cNvPr>
          <p:cNvSpPr/>
          <p:nvPr/>
        </p:nvSpPr>
        <p:spPr>
          <a:xfrm>
            <a:off x="1970314" y="2532743"/>
            <a:ext cx="772886" cy="45719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A9BFD3F-312B-ECA9-D613-CB911EF49AAA}"/>
              </a:ext>
            </a:extLst>
          </p:cNvPr>
          <p:cNvSpPr/>
          <p:nvPr/>
        </p:nvSpPr>
        <p:spPr>
          <a:xfrm>
            <a:off x="6589264" y="1897735"/>
            <a:ext cx="2059400" cy="247614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6B69EA-090C-62F0-3377-4A2688931A68}"/>
              </a:ext>
            </a:extLst>
          </p:cNvPr>
          <p:cNvSpPr txBox="1"/>
          <p:nvPr/>
        </p:nvSpPr>
        <p:spPr>
          <a:xfrm>
            <a:off x="6868598" y="1943036"/>
            <a:ext cx="16755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screen session</a:t>
            </a:r>
          </a:p>
        </p:txBody>
      </p:sp>
      <p:pic>
        <p:nvPicPr>
          <p:cNvPr id="15" name="Graphic 14" descr="Hourglass Finished with solid fill">
            <a:extLst>
              <a:ext uri="{FF2B5EF4-FFF2-40B4-BE49-F238E27FC236}">
                <a16:creationId xmlns:a16="http://schemas.microsoft.com/office/drawing/2014/main" id="{82DC9ABC-DF6E-D536-E0B6-6FA2E221A84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643095" y="2329954"/>
            <a:ext cx="620544" cy="620544"/>
          </a:xfrm>
          <a:prstGeom prst="rect">
            <a:avLst/>
          </a:prstGeom>
        </p:spPr>
      </p:pic>
      <p:pic>
        <p:nvPicPr>
          <p:cNvPr id="18" name="Graphic 17" descr="Hourglass Finished with solid fill">
            <a:extLst>
              <a:ext uri="{FF2B5EF4-FFF2-40B4-BE49-F238E27FC236}">
                <a16:creationId xmlns:a16="http://schemas.microsoft.com/office/drawing/2014/main" id="{846F6913-DF87-23C6-A9E6-8325F3875D6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637700" y="2995858"/>
            <a:ext cx="620544" cy="620544"/>
          </a:xfrm>
          <a:prstGeom prst="rect">
            <a:avLst/>
          </a:prstGeom>
        </p:spPr>
      </p:pic>
      <p:pic>
        <p:nvPicPr>
          <p:cNvPr id="6" name="Graphic 5" descr="Cmd Terminal with solid fill">
            <a:extLst>
              <a:ext uri="{FF2B5EF4-FFF2-40B4-BE49-F238E27FC236}">
                <a16:creationId xmlns:a16="http://schemas.microsoft.com/office/drawing/2014/main" id="{CDDF277F-0695-7F26-CF07-C3661AB0E6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17816" y="3392562"/>
            <a:ext cx="914400" cy="914400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6342B6D-E109-B371-C03E-75300B7ECE12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5742180" y="2962731"/>
            <a:ext cx="975636" cy="887031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3" name="Graphic 12" descr="Cmd Terminal with solid fill">
            <a:extLst>
              <a:ext uri="{FF2B5EF4-FFF2-40B4-BE49-F238E27FC236}">
                <a16:creationId xmlns:a16="http://schemas.microsoft.com/office/drawing/2014/main" id="{A348A74C-B8A4-AA2B-3EAB-893CED5291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17816" y="2742378"/>
            <a:ext cx="914400" cy="914400"/>
          </a:xfrm>
          <a:prstGeom prst="rect">
            <a:avLst/>
          </a:prstGeom>
        </p:spPr>
      </p:pic>
      <p:pic>
        <p:nvPicPr>
          <p:cNvPr id="20" name="Graphic 19" descr="Cmd Terminal with solid fill">
            <a:extLst>
              <a:ext uri="{FF2B5EF4-FFF2-40B4-BE49-F238E27FC236}">
                <a16:creationId xmlns:a16="http://schemas.microsoft.com/office/drawing/2014/main" id="{9BE5F20F-4115-D2B5-0DD1-8ABBA5E784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17816" y="209219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6785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84B10-623E-B3D4-8B54-D21BE997D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13" y="167438"/>
            <a:ext cx="10515600" cy="1325563"/>
          </a:xfrm>
        </p:spPr>
        <p:txBody>
          <a:bodyPr/>
          <a:lstStyle/>
          <a:p>
            <a:r>
              <a:rPr lang="en-US" dirty="0"/>
              <a:t>Very basic screen commands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88017AE4-4BE6-8051-C1E6-9430CDBFFE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8395682"/>
              </p:ext>
            </p:extLst>
          </p:nvPr>
        </p:nvGraphicFramePr>
        <p:xfrm>
          <a:off x="838200" y="1825625"/>
          <a:ext cx="10515600" cy="259588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47645378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2950292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Command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What it does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5423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nsolas" panose="020B060902020403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screen -S </a:t>
                      </a:r>
                      <a:r>
                        <a:rPr lang="en-US" dirty="0" err="1">
                          <a:latin typeface="Consolas" panose="020B060902020403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sessionname</a:t>
                      </a:r>
                      <a:endParaRPr lang="en-US" dirty="0">
                        <a:latin typeface="Consolas" panose="020B060902020403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Start a new screen session with name sessionname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2618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nsolas" panose="020B060902020403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screen -ls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List all screen sessions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05311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nsolas" panose="020B060902020403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screen -r </a:t>
                      </a:r>
                      <a:r>
                        <a:rPr lang="en-US" dirty="0" err="1">
                          <a:latin typeface="Consolas" panose="020B060902020403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sessionname</a:t>
                      </a:r>
                      <a:endParaRPr lang="en-US" dirty="0">
                        <a:latin typeface="Consolas" panose="020B060902020403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Reconnect to a particular session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663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Consolas" panose="020B060902020403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Ctrl+a</a:t>
                      </a:r>
                      <a:r>
                        <a:rPr lang="en-US" dirty="0">
                          <a:latin typeface="Consolas" panose="020B060902020403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Detach (and leave running)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4025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Consolas" panose="020B060902020403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Ctrl+a</a:t>
                      </a:r>
                      <a:r>
                        <a:rPr lang="en-US" dirty="0">
                          <a:latin typeface="Consolas" panose="020B060902020403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k </a:t>
                      </a:r>
                      <a:r>
                        <a:rPr lang="en-US" dirty="0">
                          <a:latin typeface="Menlo" panose="020B0609030804020204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or</a:t>
                      </a:r>
                      <a:r>
                        <a:rPr lang="en-US" dirty="0">
                          <a:latin typeface="Consolas" panose="020B060902020403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exit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Close current screen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66940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Consolas" panose="020B060902020403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Ctrl+a</a:t>
                      </a:r>
                      <a:r>
                        <a:rPr lang="en-US" dirty="0">
                          <a:latin typeface="Consolas" panose="020B060902020403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pull up help menu of shortcuts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402201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452FC82-BE1E-FE84-C214-F3DE5E7B3F0C}"/>
              </a:ext>
            </a:extLst>
          </p:cNvPr>
          <p:cNvSpPr txBox="1"/>
          <p:nvPr/>
        </p:nvSpPr>
        <p:spPr>
          <a:xfrm>
            <a:off x="1527986" y="4827451"/>
            <a:ext cx="913602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Start a screen session with 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screen</a:t>
            </a:r>
            <a:r>
              <a:rPr lang="en-US" dirty="0">
                <a:ea typeface="Menlo" panose="020B0609030804020204" pitchFamily="49" charset="0"/>
                <a:cs typeface="Menlo" panose="020B0609030804020204" pitchFamily="49" charset="0"/>
              </a:rPr>
              <a:t> or 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screen -S name</a:t>
            </a:r>
            <a:r>
              <a:rPr lang="en-US" dirty="0">
                <a:ea typeface="Menlo" panose="020B0609030804020204" pitchFamily="49" charset="0"/>
                <a:cs typeface="Menlo" panose="020B0609030804020204" pitchFamily="49" charset="0"/>
              </a:rPr>
              <a:t> if you want to give it a name.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ea typeface="Menlo" panose="020B0609030804020204" pitchFamily="49" charset="0"/>
                <a:cs typeface="Menlo" panose="020B0609030804020204" pitchFamily="49" charset="0"/>
              </a:rPr>
              <a:t>Run your long task.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ea typeface="Menlo" panose="020B0609030804020204" pitchFamily="49" charset="0"/>
                <a:cs typeface="Menlo" panose="020B0609030804020204" pitchFamily="49" charset="0"/>
              </a:rPr>
              <a:t>Detach your screen to go do something else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Go back to your screen with 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screen -r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708732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1D25B-5B15-D283-D30F-A1CD670F5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02399-3D19-8A53-0363-73AD94A05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/>
              <a:t>Useful shell shortcuts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66787B5-4F12-38B7-3116-08792149CEAA}"/>
              </a:ext>
            </a:extLst>
          </p:cNvPr>
          <p:cNvGraphicFramePr>
            <a:graphicFrameLocks noGrp="1"/>
          </p:cNvGraphicFramePr>
          <p:nvPr/>
        </p:nvGraphicFramePr>
        <p:xfrm>
          <a:off x="0" y="1106227"/>
          <a:ext cx="12191999" cy="541528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3855492">
                  <a:extLst>
                    <a:ext uri="{9D8B030D-6E8A-4147-A177-3AD203B41FA5}">
                      <a16:colId xmlns:a16="http://schemas.microsoft.com/office/drawing/2014/main" val="3298165829"/>
                    </a:ext>
                  </a:extLst>
                </a:gridCol>
                <a:gridCol w="8336507">
                  <a:extLst>
                    <a:ext uri="{9D8B030D-6E8A-4147-A177-3AD203B41FA5}">
                      <a16:colId xmlns:a16="http://schemas.microsoft.com/office/drawing/2014/main" val="6779989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Consolas" panose="020B0609020204030204" pitchFamily="49" charset="0"/>
                        </a:rPr>
                        <a:t>..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/>
                        <a:t>Shortcut to use in paths meaning, “one directory above”. </a:t>
                      </a:r>
                    </a:p>
                    <a:p>
                      <a:endParaRPr lang="en-US" sz="1600" b="0" dirty="0">
                        <a:latin typeface="Consolas" panose="020B0609020204030204" pitchFamily="49" charset="0"/>
                      </a:endParaRPr>
                    </a:p>
                    <a:p>
                      <a:r>
                        <a:rPr lang="en-US" sz="1600" b="1" dirty="0">
                          <a:latin typeface="Consolas" panose="020B0609020204030204" pitchFamily="49" charset="0"/>
                        </a:rPr>
                        <a:t>../</a:t>
                      </a:r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 means one directory above the current working directory</a:t>
                      </a:r>
                    </a:p>
                    <a:p>
                      <a:r>
                        <a:rPr lang="en-US" sz="1600" b="1" dirty="0">
                          <a:latin typeface="Consolas" panose="020B0609020204030204" pitchFamily="49" charset="0"/>
                        </a:rPr>
                        <a:t>../../</a:t>
                      </a:r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 means two directories above the current working directory</a:t>
                      </a:r>
                      <a:r>
                        <a:rPr lang="en-US" sz="1600" b="0" dirty="0">
                          <a:latin typeface="Consolas" panose="020B0609020204030204" pitchFamily="49" charset="0"/>
                        </a:rPr>
                        <a:t> </a:t>
                      </a:r>
                      <a:endParaRPr lang="en-US" sz="16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76746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Consolas" panose="020B0609020204030204" pitchFamily="49" charset="0"/>
                        </a:rPr>
                        <a:t>~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Many systems use this to mean, “the path to the current user’s home directory”.</a:t>
                      </a:r>
                    </a:p>
                    <a:p>
                      <a:endParaRPr lang="en-US" sz="1600" b="0" dirty="0"/>
                    </a:p>
                    <a:p>
                      <a:r>
                        <a:rPr lang="en-US" sz="1600" b="1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cd ~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will change directory to your home directory no matter where you are in the filesystem.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4567042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Consolas" panose="020B0609020204030204" pitchFamily="49" charset="0"/>
                        </a:rPr>
                        <a:t>cd 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Change to the previous directory no matter where </a:t>
                      </a:r>
                      <a:r>
                        <a:rPr lang="en-US" sz="1600" b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it is.</a:t>
                      </a:r>
                      <a:endParaRPr lang="en-US" sz="1600" b="1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2122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Consolas" panose="020B0609020204030204" pitchFamily="49" charset="0"/>
                        </a:rPr>
                        <a:t>[tab]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When typing paths for a command, hitting tab will autocomplete file names.</a:t>
                      </a:r>
                    </a:p>
                    <a:p>
                      <a:endParaRPr lang="en-US" sz="1600" b="0" dirty="0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  <a:p>
                      <a:r>
                        <a:rPr lang="en-US" sz="1600" b="1" dirty="0">
                          <a:latin typeface="Consolas" panose="020B0609020204030204" pitchFamily="49" charset="0"/>
                          <a:ea typeface="Source Sans Pro" panose="020B0503030403020204" pitchFamily="34" charset="0"/>
                        </a:rPr>
                        <a:t>cd </a:t>
                      </a:r>
                      <a:r>
                        <a:rPr lang="en-US" sz="1600" b="1" dirty="0" err="1">
                          <a:latin typeface="Consolas" panose="020B0609020204030204" pitchFamily="49" charset="0"/>
                          <a:ea typeface="Source Sans Pro" panose="020B0503030403020204" pitchFamily="34" charset="0"/>
                        </a:rPr>
                        <a:t>dir</a:t>
                      </a:r>
                      <a:r>
                        <a:rPr lang="en-US" sz="1600" b="1" dirty="0">
                          <a:latin typeface="Consolas" panose="020B0609020204030204" pitchFamily="49" charset="0"/>
                          <a:ea typeface="Source Sans Pro" panose="020B0503030403020204" pitchFamily="34" charset="0"/>
                        </a:rPr>
                        <a:t>[tab] </a:t>
                      </a:r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-&gt; </a:t>
                      </a:r>
                      <a:r>
                        <a:rPr lang="en-US" sz="1600" b="1" dirty="0">
                          <a:latin typeface="Consolas" panose="020B0609020204030204" pitchFamily="49" charset="0"/>
                          <a:ea typeface="Source Sans Pro" panose="020B0503030403020204" pitchFamily="34" charset="0"/>
                        </a:rPr>
                        <a:t>cd directory1</a:t>
                      </a:r>
                    </a:p>
                    <a:p>
                      <a:endParaRPr lang="en-US" sz="1600" b="0" dirty="0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  <a:p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If more than one file matches the substring typed, they will all be displayed for you to keep typing:</a:t>
                      </a:r>
                    </a:p>
                    <a:p>
                      <a:endParaRPr lang="en-US" sz="1600" b="0" dirty="0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latin typeface="Consolas" panose="020B0609020204030204" pitchFamily="49" charset="0"/>
                          <a:ea typeface="Source Sans Pro" panose="020B0503030403020204" pitchFamily="34" charset="0"/>
                        </a:rPr>
                        <a:t>cd </a:t>
                      </a:r>
                      <a:r>
                        <a:rPr lang="en-US" sz="1600" b="1" dirty="0" err="1">
                          <a:latin typeface="Consolas" panose="020B0609020204030204" pitchFamily="49" charset="0"/>
                          <a:ea typeface="Source Sans Pro" panose="020B0503030403020204" pitchFamily="34" charset="0"/>
                        </a:rPr>
                        <a:t>dir</a:t>
                      </a:r>
                      <a:r>
                        <a:rPr lang="en-US" sz="1600" b="1" dirty="0">
                          <a:latin typeface="Consolas" panose="020B0609020204030204" pitchFamily="49" charset="0"/>
                          <a:ea typeface="Source Sans Pro" panose="020B0503030403020204" pitchFamily="34" charset="0"/>
                        </a:rPr>
                        <a:t>[tab] </a:t>
                      </a:r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-&gt; directory1 directory2 directory3 -&gt; </a:t>
                      </a:r>
                      <a:r>
                        <a:rPr lang="en-US" sz="1600" b="1" dirty="0">
                          <a:latin typeface="Consolas" panose="020B0609020204030204" pitchFamily="49" charset="0"/>
                          <a:ea typeface="Source Sans Pro" panose="020B0503030403020204" pitchFamily="34" charset="0"/>
                        </a:rPr>
                        <a:t>cd directory3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27155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Consolas" panose="020B0609020204030204" pitchFamily="49" charset="0"/>
                        </a:rPr>
                        <a:t>[up arrow]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Scroll through previous commands.</a:t>
                      </a:r>
                      <a:endParaRPr lang="en-US" sz="1600" b="0" dirty="0">
                        <a:highlight>
                          <a:srgbClr val="FFFF00"/>
                        </a:highlight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53021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 err="1">
                          <a:latin typeface="Consolas" panose="020B0609020204030204" pitchFamily="49" charset="0"/>
                        </a:rPr>
                        <a:t>Ctrl+C</a:t>
                      </a:r>
                      <a:endParaRPr lang="en-US" sz="1600" b="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Cancel currently running process.</a:t>
                      </a:r>
                      <a:r>
                        <a:rPr lang="en-US" sz="1600" b="0" dirty="0"/>
                        <a:t>	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549171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latin typeface="Consolas" panose="020B0609020204030204" pitchFamily="49" charset="0"/>
                        </a:rPr>
                        <a:t>Select text to copy, right click to paste.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bg1">
                            <a:lumMod val="95000"/>
                          </a:schemeClr>
                        </a:solidFill>
                        <a:highlight>
                          <a:srgbClr val="FF00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9324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21242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10930</TotalTime>
  <Words>2259</Words>
  <Application>Microsoft Office PowerPoint</Application>
  <PresentationFormat>Widescreen</PresentationFormat>
  <Paragraphs>342</Paragraphs>
  <Slides>41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Aptos</vt:lpstr>
      <vt:lpstr>Aptos Display</vt:lpstr>
      <vt:lpstr>Arial</vt:lpstr>
      <vt:lpstr>Consolas</vt:lpstr>
      <vt:lpstr>Menlo</vt:lpstr>
      <vt:lpstr>Source Sans Pro</vt:lpstr>
      <vt:lpstr>Office Theme</vt:lpstr>
      <vt:lpstr>$ Command line 101: $ Tips &amp; tricks for aspiring power users $ Work smarter not harder &amp; type less</vt:lpstr>
      <vt:lpstr>File systems are user-facing ways to organize information on a computer</vt:lpstr>
      <vt:lpstr>You can interact with the file system of a computer through text interfaces called command lines*</vt:lpstr>
      <vt:lpstr>How does our concept of file systems translate to text-based computing?</vt:lpstr>
      <vt:lpstr>How does our concept of file systems translate to text-based computing?</vt:lpstr>
      <vt:lpstr>How does our concept of file systems translate to text-based computing?</vt:lpstr>
      <vt:lpstr>Common commands for interacting with the filesystem</vt:lpstr>
      <vt:lpstr>How do commands work?</vt:lpstr>
      <vt:lpstr>All progams live somewhere in your computer</vt:lpstr>
      <vt:lpstr>$PATH is list of directories to search for programs</vt:lpstr>
      <vt:lpstr>$PATH is an environmental variable</vt:lpstr>
      <vt:lpstr>You can modify environmental variables</vt:lpstr>
      <vt:lpstr>You can modify environmental variables</vt:lpstr>
      <vt:lpstr>You can make new shell variables</vt:lpstr>
      <vt:lpstr>You can make new shell variables</vt:lpstr>
      <vt:lpstr>Aliases: Because some commands are long and I use them a lot</vt:lpstr>
      <vt:lpstr>Aliases: Because some commands are long and I use them a lot</vt:lpstr>
      <vt:lpstr>Aliases: Because some commands are long and I use them a lot</vt:lpstr>
      <vt:lpstr>Caution: do not overwrite environmental variables with other stuff</vt:lpstr>
      <vt:lpstr>PowerPoint Presentation</vt:lpstr>
      <vt:lpstr>Customizing your shell environment</vt:lpstr>
      <vt:lpstr>.bashrc vs .bash_profile</vt:lpstr>
      <vt:lpstr>What can you put in your .bashrc?</vt:lpstr>
      <vt:lpstr>What can you put in your .bashrc?</vt:lpstr>
      <vt:lpstr>How do I not mess everything up?</vt:lpstr>
      <vt:lpstr>multitasking in the terminal</vt:lpstr>
      <vt:lpstr>PowerPoint Presentation</vt:lpstr>
      <vt:lpstr>Processes running on your computer are paused or stopped when you turn off your computer</vt:lpstr>
      <vt:lpstr>Processes running on your computer are paused or stopped when you turn off your computer</vt:lpstr>
      <vt:lpstr>Similarly, when you are connected to a server, processes are stopped when you disconnect</vt:lpstr>
      <vt:lpstr>Similarly, when you are connected to a server, processes are stopped when you disconnect</vt:lpstr>
      <vt:lpstr>Similarly, when you are connected to a server, processes are stopped when you disconnect</vt:lpstr>
      <vt:lpstr>Similarly, when you are connected to a server, processes are stopped when you disconnect</vt:lpstr>
      <vt:lpstr>Terminal multiplexers allow you to open shells within your shell</vt:lpstr>
      <vt:lpstr>Shells within the multiplexer persist even when you log off</vt:lpstr>
      <vt:lpstr>Shells within the multiplexer persist even when you log off</vt:lpstr>
      <vt:lpstr>How to connect to a particular login node</vt:lpstr>
      <vt:lpstr>How to connect to a particular login node</vt:lpstr>
      <vt:lpstr>Screen allows you to run multiple things at once from a single login</vt:lpstr>
      <vt:lpstr>Very basic screen commands</vt:lpstr>
      <vt:lpstr>Useful shell shortcuts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Khost, Danielle Emerson</dc:creator>
  <cp:lastModifiedBy>Thomas, Gregg</cp:lastModifiedBy>
  <cp:revision>21</cp:revision>
  <dcterms:created xsi:type="dcterms:W3CDTF">2026-01-30T18:57:29Z</dcterms:created>
  <dcterms:modified xsi:type="dcterms:W3CDTF">2026-02-12T17:20:20Z</dcterms:modified>
</cp:coreProperties>
</file>