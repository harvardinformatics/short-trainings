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1" r:id="rId3"/>
    <p:sldId id="283" r:id="rId4"/>
    <p:sldId id="282" r:id="rId5"/>
    <p:sldId id="284" r:id="rId6"/>
    <p:sldId id="286" r:id="rId7"/>
    <p:sldId id="288" r:id="rId8"/>
    <p:sldId id="285" r:id="rId9"/>
    <p:sldId id="287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  <p:sldId id="298" r:id="rId20"/>
    <p:sldId id="276" r:id="rId21"/>
    <p:sldId id="277" r:id="rId22"/>
    <p:sldId id="278" r:id="rId23"/>
    <p:sldId id="279" r:id="rId24"/>
    <p:sldId id="257" r:id="rId25"/>
    <p:sldId id="258" r:id="rId26"/>
    <p:sldId id="259" r:id="rId27"/>
    <p:sldId id="260" r:id="rId28"/>
    <p:sldId id="267" r:id="rId29"/>
    <p:sldId id="266" r:id="rId30"/>
    <p:sldId id="268" r:id="rId31"/>
    <p:sldId id="261" r:id="rId32"/>
    <p:sldId id="262" r:id="rId33"/>
    <p:sldId id="263" r:id="rId34"/>
    <p:sldId id="264" r:id="rId35"/>
    <p:sldId id="265" r:id="rId36"/>
    <p:sldId id="270" r:id="rId37"/>
    <p:sldId id="269" r:id="rId38"/>
    <p:sldId id="274" r:id="rId39"/>
    <p:sldId id="271" r:id="rId40"/>
    <p:sldId id="275" r:id="rId41"/>
    <p:sldId id="272" r:id="rId42"/>
    <p:sldId id="273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1C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8"/>
  </p:normalViewPr>
  <p:slideViewPr>
    <p:cSldViewPr snapToGrid="0">
      <p:cViewPr>
        <p:scale>
          <a:sx n="117" d="100"/>
          <a:sy n="117" d="100"/>
        </p:scale>
        <p:origin x="55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5ABD-E82C-59CD-C8B8-5F95CCFAE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66FBDE-E490-9051-0488-2BCE3C290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75AB8-C384-CC8C-53D5-7A4B27BC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D80DB-A9B6-E2A7-1072-D8D408B5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6396-4434-4D8A-CFA7-CA2EBD86A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5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C6859-33F6-C900-4E03-3F5E547F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FF45A-3C14-92E2-623E-04E6A462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F03-C7C7-62C2-1FD8-03D8726C5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880F-7B62-74CE-D9D8-6A684CF40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01E11-A33E-9A37-67C2-895FF48C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3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A2EA-5E54-470E-BA15-081108FC3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72DD8-67C0-3A4E-BAD6-8B336F8F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EFA3A-54D4-11B3-3A2A-B53A98E9E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C61F-D6AA-80D4-C737-69A19AEEB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02F7A-2F4D-AFF7-4C73-EC5DFF6E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62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BC53E-CEAD-D721-EF70-5EBC91AEE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17C37-3A26-80D5-2CC2-8F490F1C8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60C9B-317D-213F-3B4A-ED9EC40AB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A39D7-3E65-A6EF-4FFD-40138FCC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3E6C6-1831-6052-12BF-449E3A75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EDA9D-015C-0DF5-1357-3072A2C3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4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978AE-F36E-8AE7-1694-4E04FDC8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DBB1-185D-A22E-8745-7D283678E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F1EA6F-B95F-FEC3-B0F6-D395C1080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9EBC9B-EB4F-9763-8290-97F25526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F0D9E-A68A-07B5-5E84-2DE96FF8F6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F6FF0-E8A1-8A7E-E8CC-633F5C304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1F1DD-12AC-1940-F2BD-BD69442D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9F6481-953F-D02F-8F1F-30E69D57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928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DCB5-9418-1825-A301-65D6110E5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37E2B2-54CA-60D4-63CE-7CD895E10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DF3ED3-CAEC-1033-5E54-3D15BA084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DAB57-B8EF-030E-701F-5E6E02EF1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2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D22928-E561-F379-5F87-224A12E87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6A1192-E9E1-AEDD-FD49-B80FEC72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9D94-6DEF-A729-630E-BD84F974F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2E4E3-878E-AA98-E784-D919AA0B2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FDBDA-E71A-7995-21B6-3F67DA8B8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8D8F9-683D-BD5E-B2F6-6EEC88C6A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7B41C-B2C8-4C36-A4DA-A40FF20C4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59ADB-B437-2F30-7B7A-6BE5FAC6D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8DA0B-B7CA-07B5-226F-30A8C939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74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D5DF-7D8E-E754-EFA9-B8AEE8831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D0004-08D4-BB3F-7CC1-D7AE5F63B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C8F891-7B42-3CDD-FEF1-979FA717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300A6-D60D-1D21-8C27-68A7966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5AE8C9-C3C4-6CF7-68C0-F44D6B3A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9BE6F7-4D77-355B-CC19-5C220E08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80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B3F4-204E-9969-A0A7-E268A8A5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866B9F-872C-F0B2-7FE0-1CF932091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E964E-D686-AE68-59B6-11B6418F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5D64-3C1A-4B81-D6D8-456A40E3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5934-D424-8DFB-0D76-F3980F5D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00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3A1495-FA61-AAD3-D324-BAEAAD3DA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7F685-A5D4-B227-4F2F-7FB667163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83D8A-CF94-6C0F-3BC7-5004674EB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DA85D-391B-27A2-EF6B-B90AD426F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2548B-6AB7-E782-45AD-AC8F0D74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70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90F4A-3FF2-3112-9E5D-5677617B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E6300-3497-8032-F077-AE4E08B01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2D7CA-538A-D7E9-37D6-68280D6B9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E1F64-2284-FE40-4F66-D3281111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336C8-488F-9F99-B67C-46E419258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1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26314"/>
            <a:ext cx="12192000" cy="120491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Tips &amp; tricks for aspiring power users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Work smarter not harder &amp; type less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631226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12,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998064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FF6B6-0411-67F4-A748-26DAF2B92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commands work?</a:t>
            </a:r>
          </a:p>
        </p:txBody>
      </p:sp>
      <p:pic>
        <p:nvPicPr>
          <p:cNvPr id="5" name="Content Placeholder 4" descr="A drawing of a computer with a speech bubble&#10;&#10;AI-generated content may be incorrect.">
            <a:extLst>
              <a:ext uri="{FF2B5EF4-FFF2-40B4-BE49-F238E27FC236}">
                <a16:creationId xmlns:a16="http://schemas.microsoft.com/office/drawing/2014/main" id="{AADC04BE-69E2-AD54-91EC-A752CB86EE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2" y="2141537"/>
            <a:ext cx="4351338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4A999C-4858-B9CD-2E28-E1637D38125A}"/>
              </a:ext>
            </a:extLst>
          </p:cNvPr>
          <p:cNvSpPr txBox="1"/>
          <p:nvPr/>
        </p:nvSpPr>
        <p:spPr>
          <a:xfrm>
            <a:off x="699247" y="3288414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[gregg]$ ls</a:t>
            </a:r>
          </a:p>
        </p:txBody>
      </p:sp>
      <p:pic>
        <p:nvPicPr>
          <p:cNvPr id="8" name="Graphic 7" descr="Folder Search with solid fill">
            <a:extLst>
              <a:ext uri="{FF2B5EF4-FFF2-40B4-BE49-F238E27FC236}">
                <a16:creationId xmlns:a16="http://schemas.microsoft.com/office/drawing/2014/main" id="{67A97C42-CB60-9C61-FA18-B0BA1AAEF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800" y="2114643"/>
            <a:ext cx="914400" cy="914400"/>
          </a:xfrm>
          <a:prstGeom prst="rect">
            <a:avLst/>
          </a:prstGeom>
        </p:spPr>
      </p:pic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284C611A-EFD3-70A6-6A01-D70800651962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526150" y="2571843"/>
            <a:ext cx="1112650" cy="17453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5F274E-DDA8-C409-DDCE-298E1C0A1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553" y="214461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11A7F4-342A-3D27-A6CC-891560B4D6EA}"/>
              </a:ext>
            </a:extLst>
          </p:cNvPr>
          <p:cNvSpPr txBox="1"/>
          <p:nvPr/>
        </p:nvSpPr>
        <p:spPr>
          <a:xfrm>
            <a:off x="9253178" y="238717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/bin/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B325C8-9BA6-DC0C-809B-819595E847FF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553200" y="2571843"/>
            <a:ext cx="26999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C0E139-053F-3DDC-3CA5-9BE717884C9D}"/>
              </a:ext>
            </a:extLst>
          </p:cNvPr>
          <p:cNvGrpSpPr/>
          <p:nvPr/>
        </p:nvGrpSpPr>
        <p:grpSpPr>
          <a:xfrm>
            <a:off x="9448341" y="3421781"/>
            <a:ext cx="562174" cy="793750"/>
            <a:chOff x="7387881" y="3180927"/>
            <a:chExt cx="793750" cy="1096011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24ED2B7-70F4-20E1-9C3F-D07EB9CA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700" t="52231" r="80037" b="2857"/>
            <a:stretch>
              <a:fillRect/>
            </a:stretch>
          </p:blipFill>
          <p:spPr>
            <a:xfrm>
              <a:off x="7387881" y="3180927"/>
              <a:ext cx="793750" cy="109601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290E23-F06E-B658-130D-A687FD9094F1}"/>
                </a:ext>
              </a:extLst>
            </p:cNvPr>
            <p:cNvSpPr txBox="1"/>
            <p:nvPr/>
          </p:nvSpPr>
          <p:spPr>
            <a:xfrm>
              <a:off x="7459706" y="4000526"/>
              <a:ext cx="603019" cy="215444"/>
            </a:xfrm>
            <a:prstGeom prst="rect">
              <a:avLst/>
            </a:prstGeom>
            <a:solidFill>
              <a:srgbClr val="EE1C23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400" b="1">
                  <a:solidFill>
                    <a:schemeClr val="bg1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ls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09CDE50-642A-624A-6DB8-CAF3D105B722}"/>
              </a:ext>
            </a:extLst>
          </p:cNvPr>
          <p:cNvCxnSpPr>
            <a:cxnSpLocks/>
            <a:stCxn id="13" idx="2"/>
            <a:endCxn id="16" idx="0"/>
          </p:cNvCxnSpPr>
          <p:nvPr/>
        </p:nvCxnSpPr>
        <p:spPr>
          <a:xfrm>
            <a:off x="9729428" y="2938368"/>
            <a:ext cx="0" cy="483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74D3501-407D-D084-5A5B-512AE1DBC3A8}"/>
              </a:ext>
            </a:extLst>
          </p:cNvPr>
          <p:cNvSpPr txBox="1"/>
          <p:nvPr/>
        </p:nvSpPr>
        <p:spPr>
          <a:xfrm>
            <a:off x="6553200" y="4720281"/>
            <a:ext cx="1874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Run this program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E80BB726-4EB9-5919-732B-8053097B7F47}"/>
              </a:ext>
            </a:extLst>
          </p:cNvPr>
          <p:cNvCxnSpPr>
            <a:cxnSpLocks/>
            <a:stCxn id="32" idx="2"/>
          </p:cNvCxnSpPr>
          <p:nvPr/>
        </p:nvCxnSpPr>
        <p:spPr>
          <a:xfrm rot="5400000">
            <a:off x="5667098" y="3700315"/>
            <a:ext cx="433856" cy="3212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BCA8E09-4C00-C38D-98C5-38836A1FEA57}"/>
              </a:ext>
            </a:extLst>
          </p:cNvPr>
          <p:cNvCxnSpPr>
            <a:cxnSpLocks/>
            <a:stCxn id="16" idx="2"/>
            <a:endCxn id="32" idx="3"/>
          </p:cNvCxnSpPr>
          <p:nvPr/>
        </p:nvCxnSpPr>
        <p:spPr>
          <a:xfrm rot="5400000">
            <a:off x="8733658" y="3909177"/>
            <a:ext cx="689416" cy="13021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345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B9C2-C621-AE15-06D9-A47037A4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00AA1-FB47-5B67-FD98-A9B669029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All progams live somewhere in your computer</a:t>
            </a:r>
          </a:p>
        </p:txBody>
      </p:sp>
      <p:pic>
        <p:nvPicPr>
          <p:cNvPr id="5" name="Content Placeholder 4" descr="A drawing of a computer with a speech bubble&#10;&#10;AI-generated content may be incorrect.">
            <a:extLst>
              <a:ext uri="{FF2B5EF4-FFF2-40B4-BE49-F238E27FC236}">
                <a16:creationId xmlns:a16="http://schemas.microsoft.com/office/drawing/2014/main" id="{E337F20B-3F99-669F-62EC-4B92321537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2" y="2141537"/>
            <a:ext cx="4351338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DE6893-722F-BF68-DD48-5DD62B4C08DB}"/>
              </a:ext>
            </a:extLst>
          </p:cNvPr>
          <p:cNvSpPr txBox="1"/>
          <p:nvPr/>
        </p:nvSpPr>
        <p:spPr>
          <a:xfrm>
            <a:off x="699247" y="3288414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[gregg]$ ls</a:t>
            </a:r>
          </a:p>
        </p:txBody>
      </p:sp>
      <p:pic>
        <p:nvPicPr>
          <p:cNvPr id="8" name="Graphic 7" descr="Folder Search with solid fill">
            <a:extLst>
              <a:ext uri="{FF2B5EF4-FFF2-40B4-BE49-F238E27FC236}">
                <a16:creationId xmlns:a16="http://schemas.microsoft.com/office/drawing/2014/main" id="{F5368EBA-1C1B-949F-7BA0-45B23330AD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800" y="2114643"/>
            <a:ext cx="914400" cy="914400"/>
          </a:xfrm>
          <a:prstGeom prst="rect">
            <a:avLst/>
          </a:prstGeom>
        </p:spPr>
      </p:pic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1C7597E-7189-7F2D-9D7E-DCFC18B092B2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526150" y="2571843"/>
            <a:ext cx="1112650" cy="17453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EDB3F06-CE4D-7AC4-DB07-BFD4599E7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553" y="214461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3F5B8B-BE13-5E69-BFB3-8C6AFC407B56}"/>
              </a:ext>
            </a:extLst>
          </p:cNvPr>
          <p:cNvSpPr txBox="1"/>
          <p:nvPr/>
        </p:nvSpPr>
        <p:spPr>
          <a:xfrm>
            <a:off x="9253178" y="238717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/bin/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A5DC7C-B020-9AB4-737F-E4EABD4AC2A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553200" y="2571843"/>
            <a:ext cx="26999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532C612-FDF5-AAA6-4E85-9AB95E93E485}"/>
              </a:ext>
            </a:extLst>
          </p:cNvPr>
          <p:cNvGrpSpPr/>
          <p:nvPr/>
        </p:nvGrpSpPr>
        <p:grpSpPr>
          <a:xfrm>
            <a:off x="9448341" y="3421781"/>
            <a:ext cx="562174" cy="793750"/>
            <a:chOff x="7387881" y="3180927"/>
            <a:chExt cx="793750" cy="1096011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215CCD6-B695-B77D-865E-D56EB0468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700" t="52231" r="80037" b="2857"/>
            <a:stretch>
              <a:fillRect/>
            </a:stretch>
          </p:blipFill>
          <p:spPr>
            <a:xfrm>
              <a:off x="7387881" y="3180927"/>
              <a:ext cx="793750" cy="109601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912915E-CEE8-4459-CB7B-34685C03B214}"/>
                </a:ext>
              </a:extLst>
            </p:cNvPr>
            <p:cNvSpPr txBox="1"/>
            <p:nvPr/>
          </p:nvSpPr>
          <p:spPr>
            <a:xfrm>
              <a:off x="7459706" y="4000526"/>
              <a:ext cx="603019" cy="215444"/>
            </a:xfrm>
            <a:prstGeom prst="rect">
              <a:avLst/>
            </a:prstGeom>
            <a:solidFill>
              <a:srgbClr val="EE1C23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400" b="1">
                  <a:solidFill>
                    <a:schemeClr val="bg1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ls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30B1371-E8B2-653D-A293-0A5316726239}"/>
              </a:ext>
            </a:extLst>
          </p:cNvPr>
          <p:cNvCxnSpPr>
            <a:cxnSpLocks/>
            <a:stCxn id="13" idx="2"/>
            <a:endCxn id="16" idx="0"/>
          </p:cNvCxnSpPr>
          <p:nvPr/>
        </p:nvCxnSpPr>
        <p:spPr>
          <a:xfrm>
            <a:off x="9729428" y="2938368"/>
            <a:ext cx="0" cy="483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lose-up of a black and white text&#10;&#10;AI-generated content may be incorrect.">
            <a:extLst>
              <a:ext uri="{FF2B5EF4-FFF2-40B4-BE49-F238E27FC236}">
                <a16:creationId xmlns:a16="http://schemas.microsoft.com/office/drawing/2014/main" id="{C3EF7F38-1469-89FF-5642-E41D00ADED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8800" y="3724662"/>
            <a:ext cx="31496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37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654C-6D6C-A53C-BB82-DBF282105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4CF5D-235A-2DAA-A1C0-367845D3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$PATH is list of directories to search for programs</a:t>
            </a:r>
          </a:p>
        </p:txBody>
      </p:sp>
      <p:pic>
        <p:nvPicPr>
          <p:cNvPr id="5" name="Content Placeholder 4" descr="A drawing of a computer with a speech bubble&#10;&#10;AI-generated content may be incorrect.">
            <a:extLst>
              <a:ext uri="{FF2B5EF4-FFF2-40B4-BE49-F238E27FC236}">
                <a16:creationId xmlns:a16="http://schemas.microsoft.com/office/drawing/2014/main" id="{735F6FF6-CCC5-6106-ED7F-86062E517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2" y="2141537"/>
            <a:ext cx="4351338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608A8E-E428-331A-0920-2A3AAC93A925}"/>
              </a:ext>
            </a:extLst>
          </p:cNvPr>
          <p:cNvSpPr txBox="1"/>
          <p:nvPr/>
        </p:nvSpPr>
        <p:spPr>
          <a:xfrm>
            <a:off x="699247" y="3288414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[gregg]$ ls</a:t>
            </a:r>
          </a:p>
        </p:txBody>
      </p:sp>
      <p:pic>
        <p:nvPicPr>
          <p:cNvPr id="8" name="Graphic 7" descr="Folder Search with solid fill">
            <a:extLst>
              <a:ext uri="{FF2B5EF4-FFF2-40B4-BE49-F238E27FC236}">
                <a16:creationId xmlns:a16="http://schemas.microsoft.com/office/drawing/2014/main" id="{E10395E1-EB12-07CB-FB0B-37F06044AA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800" y="2114643"/>
            <a:ext cx="914400" cy="914400"/>
          </a:xfrm>
          <a:prstGeom prst="rect">
            <a:avLst/>
          </a:prstGeom>
        </p:spPr>
      </p:pic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29A6BEF4-3856-AA4D-A107-C2F69FA28C0A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526150" y="2571843"/>
            <a:ext cx="1112650" cy="17453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7F35104-FED9-21E2-12C4-A13C4D7C2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553" y="214461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8022EEE-DFEF-4BB6-4275-E63727A0DBD9}"/>
              </a:ext>
            </a:extLst>
          </p:cNvPr>
          <p:cNvSpPr txBox="1"/>
          <p:nvPr/>
        </p:nvSpPr>
        <p:spPr>
          <a:xfrm>
            <a:off x="9253178" y="238717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/bin/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5B7DEA8-89C1-FA35-1092-FE71851D4091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553200" y="2571843"/>
            <a:ext cx="26999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A0AAED4F-64B9-FE6D-88A7-8E43E270B0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1582" y="3029043"/>
            <a:ext cx="5143213" cy="339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477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00AD-C4C7-D25B-7B11-406D19448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$PATH is an </a:t>
            </a:r>
            <a:r>
              <a:rPr lang="en-US" b="1"/>
              <a:t>environmental variable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FADDB-581D-EF4A-B959-D3FB6330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13076" cy="95464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/>
              <a:t>Shortcuts/keywords that are assigned on startup to configure your workspace</a:t>
            </a:r>
          </a:p>
          <a:p>
            <a:pPr marL="0" indent="0">
              <a:buNone/>
            </a:pPr>
            <a:r>
              <a:rPr lang="en-US"/>
              <a:t>Usually starts with $</a:t>
            </a:r>
          </a:p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A8B417-A532-83EF-81F1-4FCA9D6EC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32086"/>
              </p:ext>
            </p:extLst>
          </p:nvPr>
        </p:nvGraphicFramePr>
        <p:xfrm>
          <a:off x="1" y="3015482"/>
          <a:ext cx="12191999" cy="236651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530907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$PATH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 colon-separated list of directories that contain software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$HOME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  <a:cs typeface="Consolas" panose="020B0609020204030204" pitchFamily="49" charset="0"/>
                        </a:rPr>
                        <a:t>points to the home directory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475109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$PWD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the current working directory (print working directory)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(on Cannon) points to the scratch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prints the current user of the terminal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29966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C0AFDD5-8541-8A4E-7FD7-371508E330B4}"/>
              </a:ext>
            </a:extLst>
          </p:cNvPr>
          <p:cNvSpPr txBox="1"/>
          <p:nvPr/>
        </p:nvSpPr>
        <p:spPr>
          <a:xfrm>
            <a:off x="1470454" y="5993027"/>
            <a:ext cx="953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printenv lists all environmental variables. Usually set by software to helpe computer find things</a:t>
            </a:r>
          </a:p>
        </p:txBody>
      </p:sp>
    </p:spTree>
    <p:extLst>
      <p:ext uri="{BB962C8B-B14F-4D97-AF65-F5344CB8AC3E}">
        <p14:creationId xmlns:p14="http://schemas.microsoft.com/office/powerpoint/2010/main" val="234473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08516-9E1E-ACD1-D23E-BF7084B1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6B1D2-6080-FB9D-0C34-F2B410742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modify environmental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568C22-B889-19BD-EF3E-CD9C80587A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63" t="52639" r="61135" b="2858"/>
          <a:stretch>
            <a:fillRect/>
          </a:stretch>
        </p:blipFill>
        <p:spPr>
          <a:xfrm>
            <a:off x="8369988" y="5926066"/>
            <a:ext cx="580767" cy="786531"/>
          </a:xfrm>
          <a:prstGeom prst="rect">
            <a:avLst/>
          </a:prstGeom>
        </p:spPr>
      </p:pic>
      <p:pic>
        <p:nvPicPr>
          <p:cNvPr id="6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F3B96D-2431-E199-48F2-F8B35586F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2050" y="5221682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6B69C6-ECAC-1EB8-276E-1E667DEA91F3}"/>
              </a:ext>
            </a:extLst>
          </p:cNvPr>
          <p:cNvCxnSpPr>
            <a:cxnSpLocks/>
          </p:cNvCxnSpPr>
          <p:nvPr/>
        </p:nvCxnSpPr>
        <p:spPr>
          <a:xfrm flipV="1">
            <a:off x="9785846" y="4809827"/>
            <a:ext cx="307432" cy="488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BD1E4E58-F760-A81C-466E-20F9CFA630AC}"/>
              </a:ext>
            </a:extLst>
          </p:cNvPr>
          <p:cNvSpPr txBox="1"/>
          <p:nvPr/>
        </p:nvSpPr>
        <p:spPr>
          <a:xfrm>
            <a:off x="9063114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98E4278-40DF-DF2B-1A3B-A244CDB185BC}"/>
              </a:ext>
            </a:extLst>
          </p:cNvPr>
          <p:cNvCxnSpPr>
            <a:cxnSpLocks/>
          </p:cNvCxnSpPr>
          <p:nvPr/>
        </p:nvCxnSpPr>
        <p:spPr>
          <a:xfrm flipV="1">
            <a:off x="9063114" y="5818158"/>
            <a:ext cx="458460" cy="2927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25803E-2C15-6C0C-5C44-1E57A8BE9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1078" y="14312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7F167-CAD5-2BEE-CBA3-7D90B011530C}"/>
              </a:ext>
            </a:extLst>
          </p:cNvPr>
          <p:cNvSpPr txBox="1"/>
          <p:nvPr/>
        </p:nvSpPr>
        <p:spPr>
          <a:xfrm>
            <a:off x="9731703" y="169068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/Users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61428E-F88E-1122-375D-12CF885CB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903" y="233650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C40B5E6-4693-4D46-71BB-8D7636EF535B}"/>
              </a:ext>
            </a:extLst>
          </p:cNvPr>
          <p:cNvCxnSpPr>
            <a:cxnSpLocks/>
          </p:cNvCxnSpPr>
          <p:nvPr/>
        </p:nvCxnSpPr>
        <p:spPr>
          <a:xfrm flipV="1">
            <a:off x="10206230" y="2129024"/>
            <a:ext cx="0" cy="368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0FDE2D1B-A7DF-CF51-2D8A-11073603B069}"/>
              </a:ext>
            </a:extLst>
          </p:cNvPr>
          <p:cNvSpPr txBox="1"/>
          <p:nvPr/>
        </p:nvSpPr>
        <p:spPr>
          <a:xfrm>
            <a:off x="9731703" y="261070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leima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53A3E7A-E0BD-F692-5530-64ACD89BE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8662" y="3301793"/>
            <a:ext cx="624276" cy="62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8416E191-A087-93F7-E147-55C4077A81EA}"/>
              </a:ext>
            </a:extLst>
          </p:cNvPr>
          <p:cNvSpPr txBox="1"/>
          <p:nvPr/>
        </p:nvSpPr>
        <p:spPr>
          <a:xfrm>
            <a:off x="9886293" y="3499939"/>
            <a:ext cx="709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Projects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01B3FC6-E4C1-0FA9-71B6-562172226F80}"/>
              </a:ext>
            </a:extLst>
          </p:cNvPr>
          <p:cNvCxnSpPr>
            <a:cxnSpLocks/>
          </p:cNvCxnSpPr>
          <p:nvPr/>
        </p:nvCxnSpPr>
        <p:spPr>
          <a:xfrm flipV="1">
            <a:off x="10195329" y="3094678"/>
            <a:ext cx="16066" cy="3343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DCF1568-D0D3-A4E3-3339-AB9D3415C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6678" y="4111000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F0C4B1-6E01-2C72-9260-5A395B0F7106}"/>
              </a:ext>
            </a:extLst>
          </p:cNvPr>
          <p:cNvCxnSpPr>
            <a:cxnSpLocks/>
          </p:cNvCxnSpPr>
          <p:nvPr/>
        </p:nvCxnSpPr>
        <p:spPr>
          <a:xfrm>
            <a:off x="10263553" y="3926069"/>
            <a:ext cx="0" cy="34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956D404-FA45-6B75-48C6-C2FA1A25762A}"/>
              </a:ext>
            </a:extLst>
          </p:cNvPr>
          <p:cNvSpPr txBox="1"/>
          <p:nvPr/>
        </p:nvSpPr>
        <p:spPr>
          <a:xfrm>
            <a:off x="9739002" y="4409742"/>
            <a:ext cx="1049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587915A-5654-8F82-92F2-91F832ED02EE}"/>
              </a:ext>
            </a:extLst>
          </p:cNvPr>
          <p:cNvSpPr txBox="1"/>
          <p:nvPr/>
        </p:nvSpPr>
        <p:spPr>
          <a:xfrm>
            <a:off x="671113" y="3874564"/>
            <a:ext cx="74939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Have an executable you want to reference without typing out the full path?</a:t>
            </a:r>
          </a:p>
          <a:p>
            <a:r>
              <a:rPr lang="en-US"/>
              <a:t>Add it to the end of the $PATH</a:t>
            </a: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&gt;PATH=$PATH:/path/to/directory</a:t>
            </a:r>
          </a:p>
          <a:p>
            <a:endParaRPr lang="en-US"/>
          </a:p>
          <a:p>
            <a:r>
              <a:rPr lang="en-US"/>
              <a:t>say_hello.sh will now be able to be referenced from anywhere</a:t>
            </a:r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B7928689-8B82-4F40-B5FA-DA2BCB2EA7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13" y="1771035"/>
            <a:ext cx="7772400" cy="1897109"/>
          </a:xfrm>
          <a:prstGeom prst="rect">
            <a:avLst/>
          </a:prstGeom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F9EB43-72A9-875E-6FA5-C9F54F4CE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0474" y="5222921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AEC0CE5-23EA-C7F9-5A02-40809C659475}"/>
              </a:ext>
            </a:extLst>
          </p:cNvPr>
          <p:cNvSpPr txBox="1"/>
          <p:nvPr/>
        </p:nvSpPr>
        <p:spPr>
          <a:xfrm>
            <a:off x="10291538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6C4055-DF21-26DF-0D40-035C7E132444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373353" y="4926866"/>
            <a:ext cx="394435" cy="2960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9295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32B23-E4DA-12FF-F407-9DF6A047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CB532-D1C4-9DEB-9EDC-F3048B379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modify environmental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D5762-30CF-0D1C-E739-811E6121DD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63" t="52639" r="61135" b="2858"/>
          <a:stretch>
            <a:fillRect/>
          </a:stretch>
        </p:blipFill>
        <p:spPr>
          <a:xfrm>
            <a:off x="8369988" y="5926066"/>
            <a:ext cx="580767" cy="786531"/>
          </a:xfrm>
          <a:prstGeom prst="rect">
            <a:avLst/>
          </a:prstGeom>
        </p:spPr>
      </p:pic>
      <p:pic>
        <p:nvPicPr>
          <p:cNvPr id="6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609471-4FA8-9684-A3D9-3F5E630D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2050" y="5221682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624F840-AAB7-5FC5-FAFA-E82E56176339}"/>
              </a:ext>
            </a:extLst>
          </p:cNvPr>
          <p:cNvCxnSpPr>
            <a:cxnSpLocks/>
          </p:cNvCxnSpPr>
          <p:nvPr/>
        </p:nvCxnSpPr>
        <p:spPr>
          <a:xfrm flipV="1">
            <a:off x="9785846" y="4809827"/>
            <a:ext cx="307432" cy="488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009C57C-2D1C-0EA7-7B72-A30E1BF72CDE}"/>
              </a:ext>
            </a:extLst>
          </p:cNvPr>
          <p:cNvSpPr txBox="1"/>
          <p:nvPr/>
        </p:nvSpPr>
        <p:spPr>
          <a:xfrm>
            <a:off x="9063114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0C4EE4A-0733-99C7-B8D2-99A5E5189593}"/>
              </a:ext>
            </a:extLst>
          </p:cNvPr>
          <p:cNvCxnSpPr>
            <a:cxnSpLocks/>
          </p:cNvCxnSpPr>
          <p:nvPr/>
        </p:nvCxnSpPr>
        <p:spPr>
          <a:xfrm flipV="1">
            <a:off x="9063114" y="5818158"/>
            <a:ext cx="458460" cy="2927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6DDE60-B426-4B83-E106-A3137FB1E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1078" y="14312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2AB67F56-08B3-A3B7-B312-5E7E7A4BDCBE}"/>
              </a:ext>
            </a:extLst>
          </p:cNvPr>
          <p:cNvSpPr txBox="1"/>
          <p:nvPr/>
        </p:nvSpPr>
        <p:spPr>
          <a:xfrm>
            <a:off x="9731703" y="169068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/Users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9E4D51-66DE-A1E2-281B-BF3CDE924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903" y="233650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423A12F-56BF-2D06-894E-80F8B4B4DC6C}"/>
              </a:ext>
            </a:extLst>
          </p:cNvPr>
          <p:cNvCxnSpPr>
            <a:cxnSpLocks/>
          </p:cNvCxnSpPr>
          <p:nvPr/>
        </p:nvCxnSpPr>
        <p:spPr>
          <a:xfrm flipV="1">
            <a:off x="10206230" y="2129024"/>
            <a:ext cx="0" cy="368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9925043-EA07-66FC-AD7A-B13A25710D20}"/>
              </a:ext>
            </a:extLst>
          </p:cNvPr>
          <p:cNvSpPr txBox="1"/>
          <p:nvPr/>
        </p:nvSpPr>
        <p:spPr>
          <a:xfrm>
            <a:off x="9731703" y="261070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leima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0430A-E16B-3864-EDDD-D685A94B8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8662" y="3301793"/>
            <a:ext cx="624276" cy="62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0C954B27-97DF-38F1-7F4C-875B77E7193B}"/>
              </a:ext>
            </a:extLst>
          </p:cNvPr>
          <p:cNvSpPr txBox="1"/>
          <p:nvPr/>
        </p:nvSpPr>
        <p:spPr>
          <a:xfrm>
            <a:off x="9886293" y="3499939"/>
            <a:ext cx="709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Projects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3AAA3F8-9726-5A5B-6C63-5277E7369BF3}"/>
              </a:ext>
            </a:extLst>
          </p:cNvPr>
          <p:cNvCxnSpPr>
            <a:cxnSpLocks/>
          </p:cNvCxnSpPr>
          <p:nvPr/>
        </p:nvCxnSpPr>
        <p:spPr>
          <a:xfrm flipV="1">
            <a:off x="10195329" y="3094678"/>
            <a:ext cx="16066" cy="3343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6149EA-034B-3046-8187-56432C9F3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6678" y="4111000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BD8A7B1-87B5-17FD-C12A-372712D24A6E}"/>
              </a:ext>
            </a:extLst>
          </p:cNvPr>
          <p:cNvCxnSpPr>
            <a:cxnSpLocks/>
          </p:cNvCxnSpPr>
          <p:nvPr/>
        </p:nvCxnSpPr>
        <p:spPr>
          <a:xfrm>
            <a:off x="10263553" y="3926069"/>
            <a:ext cx="0" cy="34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C9770F07-0F37-5859-EF11-27E516718879}"/>
              </a:ext>
            </a:extLst>
          </p:cNvPr>
          <p:cNvSpPr txBox="1"/>
          <p:nvPr/>
        </p:nvSpPr>
        <p:spPr>
          <a:xfrm>
            <a:off x="9739002" y="4409742"/>
            <a:ext cx="1049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AAE130BE-1501-3213-5078-82F52BCAAB27}"/>
              </a:ext>
            </a:extLst>
          </p:cNvPr>
          <p:cNvSpPr txBox="1"/>
          <p:nvPr/>
        </p:nvSpPr>
        <p:spPr>
          <a:xfrm>
            <a:off x="671113" y="3874564"/>
            <a:ext cx="74939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Have an executable you want to reference without typing out the full path?</a:t>
            </a:r>
          </a:p>
          <a:p>
            <a:r>
              <a:rPr lang="en-US"/>
              <a:t>Add it to the end of the $PATH</a:t>
            </a: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&gt;PATH=$PATH:/path/to/directory</a:t>
            </a:r>
          </a:p>
          <a:p>
            <a:endParaRPr lang="en-US"/>
          </a:p>
          <a:p>
            <a:r>
              <a:rPr lang="en-US"/>
              <a:t>say_hello.sh will now be able to be referenced from anywhere</a:t>
            </a:r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053EBEF3-640D-DAF6-D1B7-7BE930145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13" y="1771035"/>
            <a:ext cx="7772400" cy="1897109"/>
          </a:xfrm>
          <a:prstGeom prst="rect">
            <a:avLst/>
          </a:prstGeom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EB5DCD-A440-2836-1A33-EF2A6574A9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0474" y="5222921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9058787-646A-2322-74E8-1C4D25DF08AF}"/>
              </a:ext>
            </a:extLst>
          </p:cNvPr>
          <p:cNvSpPr txBox="1"/>
          <p:nvPr/>
        </p:nvSpPr>
        <p:spPr>
          <a:xfrm>
            <a:off x="10291538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3BB1282-5A23-F3ED-FAA9-85F202D5706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373353" y="4926866"/>
            <a:ext cx="394435" cy="2960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5FAEC90-A102-D763-F33E-E4FD080002F7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!!This will only last for this session!!</a:t>
            </a:r>
          </a:p>
        </p:txBody>
      </p:sp>
    </p:spTree>
    <p:extLst>
      <p:ext uri="{BB962C8B-B14F-4D97-AF65-F5344CB8AC3E}">
        <p14:creationId xmlns:p14="http://schemas.microsoft.com/office/powerpoint/2010/main" val="3567205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C9696-FAD6-7082-98EF-1186D6BDD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make new shell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7F16E7-DA12-D037-8003-CE6E7DAD8A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63" t="52639" r="61135" b="2858"/>
          <a:stretch>
            <a:fillRect/>
          </a:stretch>
        </p:blipFill>
        <p:spPr>
          <a:xfrm>
            <a:off x="10495387" y="5949744"/>
            <a:ext cx="580767" cy="786531"/>
          </a:xfrm>
          <a:prstGeom prst="rect">
            <a:avLst/>
          </a:prstGeom>
        </p:spPr>
      </p:pic>
      <p:pic>
        <p:nvPicPr>
          <p:cNvPr id="6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42D03F-A3B9-12FE-806C-7D7C3BF92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8925" y="5622430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E231F79-3D2B-6B2E-B2A4-B0661CAB906C}"/>
              </a:ext>
            </a:extLst>
          </p:cNvPr>
          <p:cNvCxnSpPr>
            <a:cxnSpLocks/>
          </p:cNvCxnSpPr>
          <p:nvPr/>
        </p:nvCxnSpPr>
        <p:spPr>
          <a:xfrm flipV="1">
            <a:off x="9928662" y="5309444"/>
            <a:ext cx="33988" cy="4386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082B893-51F0-3D68-B0C7-B967E12CA56C}"/>
              </a:ext>
            </a:extLst>
          </p:cNvPr>
          <p:cNvSpPr txBox="1"/>
          <p:nvPr/>
        </p:nvSpPr>
        <p:spPr>
          <a:xfrm>
            <a:off x="9469406" y="5830517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software/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CF233D3-D813-4DDE-2AA4-810A7FEEBB9E}"/>
              </a:ext>
            </a:extLst>
          </p:cNvPr>
          <p:cNvCxnSpPr>
            <a:cxnSpLocks/>
            <a:endCxn id="64" idx="2"/>
          </p:cNvCxnSpPr>
          <p:nvPr/>
        </p:nvCxnSpPr>
        <p:spPr>
          <a:xfrm flipH="1" flipV="1">
            <a:off x="9936239" y="6277058"/>
            <a:ext cx="518180" cy="215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4FE6D3C-6F02-6CE2-36E7-30A4D1495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1954" y="4868924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F4B571-23E1-A474-0254-54E251B96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571" y="388431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BE91775-667B-EE6B-5DF8-569485532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1078" y="14312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3647EF8D-864C-D4A0-2F7A-12CD9D7E98F9}"/>
              </a:ext>
            </a:extLst>
          </p:cNvPr>
          <p:cNvSpPr txBox="1"/>
          <p:nvPr/>
        </p:nvSpPr>
        <p:spPr>
          <a:xfrm>
            <a:off x="9731703" y="169068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AAC16D-393C-2C27-FF1D-FF70503A4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903" y="233650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7A69604-A13D-F8AE-965C-F8CC1CC3504C}"/>
              </a:ext>
            </a:extLst>
          </p:cNvPr>
          <p:cNvCxnSpPr>
            <a:cxnSpLocks/>
          </p:cNvCxnSpPr>
          <p:nvPr/>
        </p:nvCxnSpPr>
        <p:spPr>
          <a:xfrm flipV="1">
            <a:off x="10206230" y="2129024"/>
            <a:ext cx="0" cy="368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BA04205-9115-CD62-6467-73C5A3D963B7}"/>
              </a:ext>
            </a:extLst>
          </p:cNvPr>
          <p:cNvSpPr txBox="1"/>
          <p:nvPr/>
        </p:nvSpPr>
        <p:spPr>
          <a:xfrm>
            <a:off x="9731703" y="261070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31BE85-A230-3297-F858-0040707FA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725" y="3449433"/>
            <a:ext cx="520230" cy="52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174C9E6F-CBE6-B1A5-9C04-2F3B589563C7}"/>
              </a:ext>
            </a:extLst>
          </p:cNvPr>
          <p:cNvSpPr txBox="1"/>
          <p:nvPr/>
        </p:nvSpPr>
        <p:spPr>
          <a:xfrm>
            <a:off x="9869853" y="3622708"/>
            <a:ext cx="7490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</a:p>
        </p:txBody>
      </p:sp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1CE427-EF32-7E6B-3649-32BF482C8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6198" y="3449433"/>
            <a:ext cx="520230" cy="52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C1E740CE-4698-683F-889B-E522E733B831}"/>
              </a:ext>
            </a:extLst>
          </p:cNvPr>
          <p:cNvSpPr txBox="1"/>
          <p:nvPr/>
        </p:nvSpPr>
        <p:spPr>
          <a:xfrm>
            <a:off x="10618936" y="3602426"/>
            <a:ext cx="84577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32876F0-E145-DD59-74D6-DED25C133F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5133" y="3421772"/>
            <a:ext cx="520230" cy="52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88491863-0586-F607-8947-2F3A3996D433}"/>
              </a:ext>
            </a:extLst>
          </p:cNvPr>
          <p:cNvSpPr txBox="1"/>
          <p:nvPr/>
        </p:nvSpPr>
        <p:spPr>
          <a:xfrm>
            <a:off x="9113110" y="3589615"/>
            <a:ext cx="6242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20854F1D-CF88-F5F6-FBD2-F80B554CEC3F}"/>
              </a:ext>
            </a:extLst>
          </p:cNvPr>
          <p:cNvCxnSpPr>
            <a:cxnSpLocks/>
          </p:cNvCxnSpPr>
          <p:nvPr/>
        </p:nvCxnSpPr>
        <p:spPr>
          <a:xfrm flipH="1" flipV="1">
            <a:off x="10204778" y="3016329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C66E7606-2606-C7BC-D6D1-6C8E0E364871}"/>
              </a:ext>
            </a:extLst>
          </p:cNvPr>
          <p:cNvCxnSpPr>
            <a:cxnSpLocks/>
          </p:cNvCxnSpPr>
          <p:nvPr/>
        </p:nvCxnSpPr>
        <p:spPr>
          <a:xfrm flipV="1">
            <a:off x="9561830" y="3010629"/>
            <a:ext cx="398711" cy="3549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1368004-5155-53A2-BD9A-0720D51358C5}"/>
              </a:ext>
            </a:extLst>
          </p:cNvPr>
          <p:cNvCxnSpPr>
            <a:cxnSpLocks/>
          </p:cNvCxnSpPr>
          <p:nvPr/>
        </p:nvCxnSpPr>
        <p:spPr>
          <a:xfrm>
            <a:off x="10445191" y="3051332"/>
            <a:ext cx="453196" cy="3531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515958-8790-BC9A-DA34-80AA7BF8B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8373" y="4137506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F6E2E58-40B2-1B94-E4A2-4560BEC76478}"/>
              </a:ext>
            </a:extLst>
          </p:cNvPr>
          <p:cNvCxnSpPr>
            <a:cxnSpLocks/>
          </p:cNvCxnSpPr>
          <p:nvPr/>
        </p:nvCxnSpPr>
        <p:spPr>
          <a:xfrm>
            <a:off x="9425248" y="3884318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CD1179B4-E42F-2DC6-4F42-AC547B834AAE}"/>
              </a:ext>
            </a:extLst>
          </p:cNvPr>
          <p:cNvSpPr txBox="1"/>
          <p:nvPr/>
        </p:nvSpPr>
        <p:spPr>
          <a:xfrm>
            <a:off x="8914650" y="4484836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55F5DD10-B443-FC67-35CB-D8FBC31BB595}"/>
              </a:ext>
            </a:extLst>
          </p:cNvPr>
          <p:cNvCxnSpPr>
            <a:cxnSpLocks/>
          </p:cNvCxnSpPr>
          <p:nvPr/>
        </p:nvCxnSpPr>
        <p:spPr>
          <a:xfrm>
            <a:off x="9508135" y="4862851"/>
            <a:ext cx="223568" cy="15790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3B391D83-B3EC-B27E-2249-DD9CE9260661}"/>
              </a:ext>
            </a:extLst>
          </p:cNvPr>
          <p:cNvSpPr txBox="1"/>
          <p:nvPr/>
        </p:nvSpPr>
        <p:spPr>
          <a:xfrm>
            <a:off x="9455587" y="5093316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pic>
        <p:nvPicPr>
          <p:cNvPr id="134" name="Picture 133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62BB2DDB-98A4-C9A2-931E-FFE01EC6C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219" y="1690687"/>
            <a:ext cx="5499100" cy="1422400"/>
          </a:xfrm>
          <a:prstGeom prst="rect">
            <a:avLst/>
          </a:prstGeom>
        </p:spPr>
      </p:pic>
      <p:sp>
        <p:nvSpPr>
          <p:cNvPr id="135" name="TextBox 134">
            <a:extLst>
              <a:ext uri="{FF2B5EF4-FFF2-40B4-BE49-F238E27FC236}">
                <a16:creationId xmlns:a16="http://schemas.microsoft.com/office/drawing/2014/main" id="{9AA74995-1747-5C73-0583-D82CE58F79B7}"/>
              </a:ext>
            </a:extLst>
          </p:cNvPr>
          <p:cNvSpPr txBox="1"/>
          <p:nvPr/>
        </p:nvSpPr>
        <p:spPr>
          <a:xfrm>
            <a:off x="1756350" y="3452145"/>
            <a:ext cx="43396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TEST</a:t>
            </a:r>
            <a:r>
              <a:rPr lang="en-US" sz="2000">
                <a:solidFill>
                  <a:schemeClr val="accent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</a:t>
            </a:r>
            <a:r>
              <a:rPr lang="en-US" sz="200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$TEST</a:t>
            </a:r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 obi wan kenobi"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6A97ABC-4679-4F69-8CEC-94275E6D4625}"/>
              </a:ext>
            </a:extLst>
          </p:cNvPr>
          <p:cNvCxnSpPr>
            <a:cxnSpLocks/>
            <a:endCxn id="138" idx="0"/>
          </p:cNvCxnSpPr>
          <p:nvPr/>
        </p:nvCxnSpPr>
        <p:spPr>
          <a:xfrm flipH="1">
            <a:off x="1119781" y="3819728"/>
            <a:ext cx="902964" cy="4537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623D6EB7-8C7E-0DF6-95BA-B4DCBBDD1CC3}"/>
              </a:ext>
            </a:extLst>
          </p:cNvPr>
          <p:cNvSpPr txBox="1"/>
          <p:nvPr/>
        </p:nvSpPr>
        <p:spPr>
          <a:xfrm>
            <a:off x="353942" y="4273471"/>
            <a:ext cx="1531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EE1C23"/>
                </a:solidFill>
              </a:rPr>
              <a:t>variable you want to set</a:t>
            </a:r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09A67A1-9474-F8F0-E6B2-A2BA872C01B3}"/>
              </a:ext>
            </a:extLst>
          </p:cNvPr>
          <p:cNvCxnSpPr>
            <a:cxnSpLocks/>
          </p:cNvCxnSpPr>
          <p:nvPr/>
        </p:nvCxnSpPr>
        <p:spPr>
          <a:xfrm flipH="1">
            <a:off x="2506637" y="3787201"/>
            <a:ext cx="26637" cy="5888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4D5FD827-0EE0-623F-5676-18F741AC9E03}"/>
              </a:ext>
            </a:extLst>
          </p:cNvPr>
          <p:cNvSpPr txBox="1"/>
          <p:nvPr/>
        </p:nvSpPr>
        <p:spPr>
          <a:xfrm>
            <a:off x="1710979" y="4295474"/>
            <a:ext cx="16731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accent4"/>
                </a:solidFill>
              </a:rPr>
              <a:t>assign right side to variable on left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E3F698CA-B26F-F3C6-D685-8421CF1F1769}"/>
              </a:ext>
            </a:extLst>
          </p:cNvPr>
          <p:cNvCxnSpPr>
            <a:cxnSpLocks/>
          </p:cNvCxnSpPr>
          <p:nvPr/>
        </p:nvCxnSpPr>
        <p:spPr>
          <a:xfrm>
            <a:off x="3190265" y="3851225"/>
            <a:ext cx="759179" cy="849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384152A-25E8-9C9D-9E7C-E5750BEE26F1}"/>
              </a:ext>
            </a:extLst>
          </p:cNvPr>
          <p:cNvSpPr txBox="1"/>
          <p:nvPr/>
        </p:nvSpPr>
        <p:spPr>
          <a:xfrm>
            <a:off x="3725242" y="4677817"/>
            <a:ext cx="16731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accent6"/>
                </a:solidFill>
              </a:rPr>
              <a:t>interpolates to </a:t>
            </a:r>
            <a:r>
              <a:rPr lang="en-US" sz="160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hello there</a:t>
            </a:r>
          </a:p>
        </p:txBody>
      </p: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AF0239BC-A7A1-60B3-3503-3D4637A40A6E}"/>
              </a:ext>
            </a:extLst>
          </p:cNvPr>
          <p:cNvSpPr/>
          <p:nvPr/>
        </p:nvSpPr>
        <p:spPr>
          <a:xfrm rot="5400000">
            <a:off x="4233743" y="2207023"/>
            <a:ext cx="163626" cy="3299630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FAE556B-2E2D-06AC-24BE-417617826E8F}"/>
              </a:ext>
            </a:extLst>
          </p:cNvPr>
          <p:cNvCxnSpPr>
            <a:cxnSpLocks/>
          </p:cNvCxnSpPr>
          <p:nvPr/>
        </p:nvCxnSpPr>
        <p:spPr>
          <a:xfrm>
            <a:off x="5276268" y="3969663"/>
            <a:ext cx="759179" cy="849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46B3C2E-2656-5264-7AD4-F06BE90CC632}"/>
              </a:ext>
            </a:extLst>
          </p:cNvPr>
          <p:cNvSpPr txBox="1"/>
          <p:nvPr/>
        </p:nvSpPr>
        <p:spPr>
          <a:xfrm>
            <a:off x="5990378" y="4738043"/>
            <a:ext cx="25013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two strings concatenated together to be assigned to the left side</a:t>
            </a:r>
          </a:p>
        </p:txBody>
      </p:sp>
    </p:spTree>
    <p:extLst>
      <p:ext uri="{BB962C8B-B14F-4D97-AF65-F5344CB8AC3E}">
        <p14:creationId xmlns:p14="http://schemas.microsoft.com/office/powerpoint/2010/main" val="4273786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F5538-E070-905A-6CDA-1BCECDB5F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0C521-C696-B35E-B23F-98DB60416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make new shell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9661A-FFE2-EDB9-77C4-3EE33F558D5F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shell variables only exist in the shell. Other programs won’t be able to find it unless you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export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B6622834-36DF-3480-AA39-715B4D669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93063"/>
            <a:ext cx="5702300" cy="2197100"/>
          </a:xfrm>
          <a:prstGeom prst="rect">
            <a:avLst/>
          </a:prstGeom>
        </p:spPr>
      </p:pic>
      <p:sp>
        <p:nvSpPr>
          <p:cNvPr id="7" name="Internal Storage 6">
            <a:extLst>
              <a:ext uri="{FF2B5EF4-FFF2-40B4-BE49-F238E27FC236}">
                <a16:creationId xmlns:a16="http://schemas.microsoft.com/office/drawing/2014/main" id="{8D6FE369-FEE1-38AD-C33C-43ACAE6EC55B}"/>
              </a:ext>
            </a:extLst>
          </p:cNvPr>
          <p:cNvSpPr/>
          <p:nvPr/>
        </p:nvSpPr>
        <p:spPr>
          <a:xfrm>
            <a:off x="8273143" y="1993063"/>
            <a:ext cx="2960914" cy="3340937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#! /bin/sh</a:t>
            </a:r>
          </a:p>
          <a:p>
            <a:endParaRPr lang="en-US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echo "this is my variable: "$TEST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40D29-387A-1A92-4587-812FF1815A50}"/>
              </a:ext>
            </a:extLst>
          </p:cNvPr>
          <p:cNvSpPr txBox="1"/>
          <p:nvPr/>
        </p:nvSpPr>
        <p:spPr>
          <a:xfrm>
            <a:off x="8153400" y="1649727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say_hello.sh</a:t>
            </a:r>
          </a:p>
        </p:txBody>
      </p:sp>
    </p:spTree>
    <p:extLst>
      <p:ext uri="{BB962C8B-B14F-4D97-AF65-F5344CB8AC3E}">
        <p14:creationId xmlns:p14="http://schemas.microsoft.com/office/powerpoint/2010/main" val="2721359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A62D3-A7EE-A1B7-9BFA-923432F7B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Caution: do not overwrite environmental variables with other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A3217-E4FB-D691-64F2-46F106D5F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Don’t assign anything else to the variables below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510265A-8961-FC9C-EE76-448D0D750E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417561"/>
              </p:ext>
            </p:extLst>
          </p:nvPr>
        </p:nvGraphicFramePr>
        <p:xfrm>
          <a:off x="1" y="3015482"/>
          <a:ext cx="12191999" cy="236651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530907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$PATH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 colon-separated list of directories that contain software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$HOME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  <a:cs typeface="Consolas" panose="020B0609020204030204" pitchFamily="49" charset="0"/>
                        </a:rPr>
                        <a:t>points to the home directory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475109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$PWD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the current working directory (print working directory)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(on Cannon) points to the scratch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prints the current user of the terminal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299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2605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ACC57-A53B-615D-9E27-D5A7EC056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571D3-7002-63A1-52E8-C36493669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Run commands (including changing env/shell variables) each time you start a new session</a:t>
            </a:r>
          </a:p>
          <a:p>
            <a:r>
              <a:rPr lang="en-US" dirty="0"/>
              <a:t>Put commands in a hidden file that begins with a “.”</a:t>
            </a:r>
          </a:p>
          <a:p>
            <a:pPr lvl="1"/>
            <a:r>
              <a:rPr lang="en-US" dirty="0"/>
              <a:t>Use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ls -a </a:t>
            </a:r>
            <a:r>
              <a:rPr lang="en-US" dirty="0"/>
              <a:t>to see them</a:t>
            </a:r>
          </a:p>
          <a:p>
            <a:pPr lvl="1"/>
            <a:r>
              <a:rPr lang="en-US" dirty="0"/>
              <a:t>That is why they are called </a:t>
            </a:r>
            <a:r>
              <a:rPr lang="en-US" b="1" dirty="0"/>
              <a:t>dot files</a:t>
            </a:r>
            <a:endParaRPr lang="en-US" dirty="0"/>
          </a:p>
          <a:p>
            <a:r>
              <a:rPr lang="en-US" dirty="0"/>
              <a:t>Use caution! It is possible to “break” your shell, and it can be a big pain to fix it…</a:t>
            </a:r>
          </a:p>
          <a:p>
            <a:endParaRPr lang="en-US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8B59D1F-759D-72EC-2AD7-631641758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407" y="4608285"/>
            <a:ext cx="5321300" cy="147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79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576E8-8A74-E308-2FC5-F4F33504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.bashrc vs .bash_profile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8A38A-FB61-BC0E-2A76-CABE6477D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are startup config files, usually in your home (aka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~</a:t>
            </a:r>
            <a:r>
              <a:rPr lang="en-US" dirty="0"/>
              <a:t>) directory</a:t>
            </a:r>
          </a:p>
          <a:p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  <a:r>
              <a:rPr lang="en-US" dirty="0" err="1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bash_profile</a:t>
            </a:r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/>
              <a:t>is run only once, upon login</a:t>
            </a:r>
          </a:p>
          <a:p>
            <a:pPr lvl="1"/>
            <a:r>
              <a:rPr lang="en-US" dirty="0"/>
              <a:t>Sources (aka runs) the </a:t>
            </a:r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  <a:r>
              <a:rPr lang="en-US" dirty="0" err="1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</a:t>
            </a:r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/>
              <a:t>file (won’t do so otherwise!)</a:t>
            </a:r>
          </a:p>
          <a:p>
            <a:pPr lvl="1"/>
            <a:r>
              <a:rPr lang="en-US" i="1" dirty="0"/>
              <a:t>Generally, this is all you want in here</a:t>
            </a:r>
          </a:p>
          <a:p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  <a:r>
              <a:rPr lang="en-US" dirty="0" err="1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 </a:t>
            </a:r>
            <a:r>
              <a:rPr lang="en-US" dirty="0" err="1"/>
              <a:t>is</a:t>
            </a:r>
            <a:r>
              <a:rPr lang="en-US" dirty="0"/>
              <a:t> read anytime a shell is opened (assuming it has been sourced)</a:t>
            </a:r>
          </a:p>
          <a:p>
            <a:pPr lvl="1"/>
            <a:r>
              <a:rPr lang="en-US" dirty="0"/>
              <a:t>E.g. if you connect to an interactive node after logging in using `</a:t>
            </a:r>
            <a:r>
              <a:rPr lang="en-US" dirty="0" err="1"/>
              <a:t>salloc</a:t>
            </a:r>
            <a:r>
              <a:rPr lang="en-US" dirty="0"/>
              <a:t>`</a:t>
            </a:r>
          </a:p>
          <a:p>
            <a:pPr lvl="1"/>
            <a:r>
              <a:rPr lang="en-US" i="1" dirty="0"/>
              <a:t>TL;DR when using Cannon, put your customizations in here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385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E26E7-5AF7-F7D4-FD6F-2C12F7561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can you put in your </a:t>
            </a:r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.bashrc</a:t>
            </a:r>
            <a:r>
              <a:rPr lang="en-US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09C99C-9D34-CC8C-D21E-654A16018449}"/>
              </a:ext>
            </a:extLst>
          </p:cNvPr>
          <p:cNvSpPr txBox="1"/>
          <p:nvPr/>
        </p:nvSpPr>
        <p:spPr>
          <a:xfrm>
            <a:off x="1124885" y="1349828"/>
            <a:ext cx="9528571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Source global definitions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[ -f 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etc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]; then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 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etc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User specific aliases and functions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load modules</a:t>
            </a:r>
          </a:p>
          <a:p>
            <a:r>
              <a:rPr lang="en-US" dirty="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</a:t>
            </a:r>
            <a:r>
              <a:rPr lang="en-US" dirty="0" err="1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jdk</a:t>
            </a:r>
            <a:endParaRPr lang="en-US" dirty="0">
              <a:solidFill>
                <a:schemeClr val="accent6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python</a:t>
            </a:r>
          </a:p>
          <a:p>
            <a:endParaRPr lang="en-US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add relevant folders to $PATH</a:t>
            </a:r>
          </a:p>
          <a:p>
            <a:r>
              <a:rPr lang="en-US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export PATH=$PATH:/n/holylfs05/LABS/informatics/Users/lei/bin/</a:t>
            </a:r>
          </a:p>
          <a:p>
            <a:endParaRPr lang="en-US">
              <a:solidFill>
                <a:schemeClr val="accent2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make aliases</a:t>
            </a:r>
          </a:p>
          <a:p>
            <a:r>
              <a:rPr lang="en-US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alias ll='ls -alh --color=always’</a:t>
            </a:r>
          </a:p>
          <a:p>
            <a:r>
              <a:rPr lang="en-US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alias sal=‘salloc --partition test --mem 8GB -c 2 --time 0-04:00’</a:t>
            </a: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source secret API keys</a:t>
            </a:r>
          </a:p>
          <a:p>
            <a:r>
              <a:rPr lang="en-US">
                <a:solidFill>
                  <a:schemeClr val="accent5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[ -f "$HOME/.secrets/api_keys.sh" ]; then</a:t>
            </a:r>
          </a:p>
          <a:p>
            <a:r>
              <a:rPr lang="en-US">
                <a:solidFill>
                  <a:schemeClr val="accent5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. "$HOME/.secrets/api_keys.sh"</a:t>
            </a:r>
          </a:p>
          <a:p>
            <a:r>
              <a:rPr lang="en-US">
                <a:solidFill>
                  <a:schemeClr val="accent5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</a:t>
            </a:r>
          </a:p>
          <a:p>
            <a:endParaRPr lang="en-US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F2C4A414-FAAC-8067-461B-923E0EDD9BDA}"/>
              </a:ext>
            </a:extLst>
          </p:cNvPr>
          <p:cNvSpPr/>
          <p:nvPr/>
        </p:nvSpPr>
        <p:spPr>
          <a:xfrm>
            <a:off x="6585857" y="1441627"/>
            <a:ext cx="381000" cy="8674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2E8080-03B5-F333-BAA3-3A64C47FD4C0}"/>
              </a:ext>
            </a:extLst>
          </p:cNvPr>
          <p:cNvSpPr txBox="1"/>
          <p:nvPr/>
        </p:nvSpPr>
        <p:spPr>
          <a:xfrm>
            <a:off x="7043057" y="1690688"/>
            <a:ext cx="2343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don’t change this part</a:t>
            </a:r>
          </a:p>
        </p:txBody>
      </p:sp>
    </p:spTree>
    <p:extLst>
      <p:ext uri="{BB962C8B-B14F-4D97-AF65-F5344CB8AC3E}">
        <p14:creationId xmlns:p14="http://schemas.microsoft.com/office/powerpoint/2010/main" val="2921802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053B-3A59-B2E1-64A6-2E5017D1F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10BBA-7827-6625-71E5-B8D317010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can you put in your </a:t>
            </a:r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.bashrc</a:t>
            </a:r>
            <a:r>
              <a:rPr lang="en-US"/>
              <a:t>? cont…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E42996-3482-1C2D-B002-2F40E1E08E82}"/>
              </a:ext>
            </a:extLst>
          </p:cNvPr>
          <p:cNvSpPr txBox="1"/>
          <p:nvPr/>
        </p:nvSpPr>
        <p:spPr>
          <a:xfrm>
            <a:off x="293914" y="1524000"/>
            <a:ext cx="95285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make custom functions</a:t>
            </a: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customize your command prompt</a:t>
            </a: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5623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6C9F0-D4FD-679A-2170-454AFE7D4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I not mess everything up?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351D6-D179-EA99-9C28-9B7C267A1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Make a backup of your .bashrc</a:t>
            </a:r>
          </a:p>
          <a:p>
            <a:pPr lvl="1"/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cp .bashrc .bashrc.bak</a:t>
            </a:r>
          </a:p>
          <a:p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Only change one thing at a time</a:t>
            </a:r>
          </a:p>
          <a:p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Have two windows open and only edit the .bashrc in one in case you totally mess up</a:t>
            </a:r>
          </a:p>
          <a:p>
            <a:pPr lvl="1"/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the backup window will have the old settings</a:t>
            </a:r>
          </a:p>
        </p:txBody>
      </p:sp>
    </p:spTree>
    <p:extLst>
      <p:ext uri="{BB962C8B-B14F-4D97-AF65-F5344CB8AC3E}">
        <p14:creationId xmlns:p14="http://schemas.microsoft.com/office/powerpoint/2010/main" val="1098190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79DCB1-B601-7BC0-6D11-C34534650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multitasking in the terminal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AFED1-7252-8D53-B34E-B9DFA109B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16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4F106846-5D01-798A-7972-ECB32EAC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5B5065BD-D26F-913C-6AE4-B5A026ED73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229DB75C-87EF-A074-F48B-D812AF7BCA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AE0C1689-EA8D-9297-9640-16CD4EDABA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91362" y="2172945"/>
            <a:ext cx="914400" cy="914400"/>
          </a:xfrm>
          <a:prstGeom prst="rect">
            <a:avLst/>
          </a:prstGeom>
        </p:spPr>
      </p:pic>
      <p:pic>
        <p:nvPicPr>
          <p:cNvPr id="16" name="Graphic 15" descr="Wireless router outline">
            <a:extLst>
              <a:ext uri="{FF2B5EF4-FFF2-40B4-BE49-F238E27FC236}">
                <a16:creationId xmlns:a16="http://schemas.microsoft.com/office/drawing/2014/main" id="{768A2468-FD25-696D-EFBD-8F180A45B1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1897736"/>
            <a:ext cx="687166" cy="687166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C42FC842-69CD-A026-0D74-703F66A29A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0" y="2133873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E7FA521-BEFA-B4ED-5CD7-7EC20410EF5F}"/>
              </a:ext>
            </a:extLst>
          </p:cNvPr>
          <p:cNvSpPr txBox="1"/>
          <p:nvPr/>
        </p:nvSpPr>
        <p:spPr>
          <a:xfrm>
            <a:off x="1045028" y="3537857"/>
            <a:ext cx="106571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When you log in, you have an ssh connection to a node on the cluster</a:t>
            </a:r>
          </a:p>
          <a:p>
            <a:r>
              <a:rPr lang="en-US"/>
              <a:t>You view this session through a shell, like a window</a:t>
            </a:r>
          </a:p>
          <a:p>
            <a:r>
              <a:rPr lang="en-US"/>
              <a:t>But when you close the window, the other side suspense all activity</a:t>
            </a:r>
          </a:p>
          <a:p>
            <a:r>
              <a:rPr lang="en-US"/>
              <a:t>Screen or Tmux creates a process that holds all the activity and presents you with a new window that is independent of </a:t>
            </a:r>
          </a:p>
        </p:txBody>
      </p:sp>
      <p:sp>
        <p:nvSpPr>
          <p:cNvPr id="23" name="Left-Right Arrow 22">
            <a:extLst>
              <a:ext uri="{FF2B5EF4-FFF2-40B4-BE49-F238E27FC236}">
                <a16:creationId xmlns:a16="http://schemas.microsoft.com/office/drawing/2014/main" id="{66EE1269-E75B-EA89-C251-E7D43EC34D1E}"/>
              </a:ext>
            </a:extLst>
          </p:cNvPr>
          <p:cNvSpPr/>
          <p:nvPr/>
        </p:nvSpPr>
        <p:spPr>
          <a:xfrm>
            <a:off x="3769190" y="2509885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D15539A0-9F28-4726-4174-466907203E95}"/>
              </a:ext>
            </a:extLst>
          </p:cNvPr>
          <p:cNvSpPr/>
          <p:nvPr/>
        </p:nvSpPr>
        <p:spPr>
          <a:xfrm>
            <a:off x="6095999" y="2509884"/>
            <a:ext cx="986531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8739A0D5-E987-46DC-036F-8757CAF06BA1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 descr="Cmd Terminal with solid fill">
            <a:extLst>
              <a:ext uri="{FF2B5EF4-FFF2-40B4-BE49-F238E27FC236}">
                <a16:creationId xmlns:a16="http://schemas.microsoft.com/office/drawing/2014/main" id="{73B9BFC8-9E5D-4EFE-986A-CB99BB2597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5245151"/>
            <a:ext cx="914400" cy="914400"/>
          </a:xfrm>
          <a:prstGeom prst="rect">
            <a:avLst/>
          </a:prstGeom>
        </p:spPr>
      </p:pic>
      <p:pic>
        <p:nvPicPr>
          <p:cNvPr id="28" name="Graphic 27" descr="Programmer female with solid fill">
            <a:extLst>
              <a:ext uri="{FF2B5EF4-FFF2-40B4-BE49-F238E27FC236}">
                <a16:creationId xmlns:a16="http://schemas.microsoft.com/office/drawing/2014/main" id="{A1F2BADB-0F24-1E2C-E011-436C48299C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5165780"/>
            <a:ext cx="914400" cy="914400"/>
          </a:xfrm>
          <a:prstGeom prst="rect">
            <a:avLst/>
          </a:prstGeom>
        </p:spPr>
      </p:pic>
      <p:pic>
        <p:nvPicPr>
          <p:cNvPr id="29" name="Graphic 28" descr="Server with solid fill">
            <a:extLst>
              <a:ext uri="{FF2B5EF4-FFF2-40B4-BE49-F238E27FC236}">
                <a16:creationId xmlns:a16="http://schemas.microsoft.com/office/drawing/2014/main" id="{D3B41CA7-3558-D4A7-8C17-9CB2292FD0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91362" y="5290394"/>
            <a:ext cx="914400" cy="914400"/>
          </a:xfrm>
          <a:prstGeom prst="rect">
            <a:avLst/>
          </a:prstGeom>
        </p:spPr>
      </p:pic>
      <p:pic>
        <p:nvPicPr>
          <p:cNvPr id="30" name="Graphic 29" descr="Wireless router outline">
            <a:extLst>
              <a:ext uri="{FF2B5EF4-FFF2-40B4-BE49-F238E27FC236}">
                <a16:creationId xmlns:a16="http://schemas.microsoft.com/office/drawing/2014/main" id="{02FD0562-367C-0689-54B8-D57A2D4D5C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5015185"/>
            <a:ext cx="687166" cy="687166"/>
          </a:xfrm>
          <a:prstGeom prst="rect">
            <a:avLst/>
          </a:prstGeom>
        </p:spPr>
      </p:pic>
      <p:pic>
        <p:nvPicPr>
          <p:cNvPr id="31" name="Graphic 30" descr="Cmd Terminal with solid fill">
            <a:extLst>
              <a:ext uri="{FF2B5EF4-FFF2-40B4-BE49-F238E27FC236}">
                <a16:creationId xmlns:a16="http://schemas.microsoft.com/office/drawing/2014/main" id="{467E19AB-4659-FEB5-F62E-C3F2B0860C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0" y="5251322"/>
            <a:ext cx="914400" cy="914400"/>
          </a:xfrm>
          <a:prstGeom prst="rect">
            <a:avLst/>
          </a:prstGeom>
        </p:spPr>
      </p:pic>
      <p:sp>
        <p:nvSpPr>
          <p:cNvPr id="32" name="Left-Right Arrow 31">
            <a:extLst>
              <a:ext uri="{FF2B5EF4-FFF2-40B4-BE49-F238E27FC236}">
                <a16:creationId xmlns:a16="http://schemas.microsoft.com/office/drawing/2014/main" id="{880E4BC6-FD43-C32E-7253-A6CADA12FE0C}"/>
              </a:ext>
            </a:extLst>
          </p:cNvPr>
          <p:cNvSpPr/>
          <p:nvPr/>
        </p:nvSpPr>
        <p:spPr>
          <a:xfrm>
            <a:off x="3769190" y="5776581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-Right Arrow 32">
            <a:extLst>
              <a:ext uri="{FF2B5EF4-FFF2-40B4-BE49-F238E27FC236}">
                <a16:creationId xmlns:a16="http://schemas.microsoft.com/office/drawing/2014/main" id="{1664166E-BA7E-27DC-B6AE-57424EBF6D51}"/>
              </a:ext>
            </a:extLst>
          </p:cNvPr>
          <p:cNvSpPr/>
          <p:nvPr/>
        </p:nvSpPr>
        <p:spPr>
          <a:xfrm>
            <a:off x="6095999" y="5627333"/>
            <a:ext cx="986531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Left Arrow 33">
            <a:extLst>
              <a:ext uri="{FF2B5EF4-FFF2-40B4-BE49-F238E27FC236}">
                <a16:creationId xmlns:a16="http://schemas.microsoft.com/office/drawing/2014/main" id="{05C9836C-EB78-81D3-7E13-43A0E5837948}"/>
              </a:ext>
            </a:extLst>
          </p:cNvPr>
          <p:cNvSpPr/>
          <p:nvPr/>
        </p:nvSpPr>
        <p:spPr>
          <a:xfrm>
            <a:off x="1970314" y="5650192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&quot;No&quot; Symbol 36">
            <a:extLst>
              <a:ext uri="{FF2B5EF4-FFF2-40B4-BE49-F238E27FC236}">
                <a16:creationId xmlns:a16="http://schemas.microsoft.com/office/drawing/2014/main" id="{0ECD74F9-B604-3F19-F284-0D18F6713072}"/>
              </a:ext>
            </a:extLst>
          </p:cNvPr>
          <p:cNvSpPr/>
          <p:nvPr/>
        </p:nvSpPr>
        <p:spPr>
          <a:xfrm>
            <a:off x="4212771" y="5015185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&quot;No&quot; Symbol 37">
            <a:extLst>
              <a:ext uri="{FF2B5EF4-FFF2-40B4-BE49-F238E27FC236}">
                <a16:creationId xmlns:a16="http://schemas.microsoft.com/office/drawing/2014/main" id="{2EAE22B2-FE4B-452E-3C1B-394486F3B547}"/>
              </a:ext>
            </a:extLst>
          </p:cNvPr>
          <p:cNvSpPr/>
          <p:nvPr/>
        </p:nvSpPr>
        <p:spPr>
          <a:xfrm>
            <a:off x="4203919" y="5622980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31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12A0D-FA43-956E-6C92-379299C4B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B7C198B0-9602-75A5-8D9B-3CC2BE473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0D72A47C-A90A-44D7-C70F-1BF5B45BE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06690783-F4BC-6D8B-746E-28D85FECFB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72D5DB3D-69C0-B233-2CB6-693ED8A86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2686" y="2117065"/>
            <a:ext cx="914400" cy="914400"/>
          </a:xfrm>
          <a:prstGeom prst="rect">
            <a:avLst/>
          </a:prstGeom>
        </p:spPr>
      </p:pic>
      <p:pic>
        <p:nvPicPr>
          <p:cNvPr id="16" name="Graphic 15" descr="Wireless router outline">
            <a:extLst>
              <a:ext uri="{FF2B5EF4-FFF2-40B4-BE49-F238E27FC236}">
                <a16:creationId xmlns:a16="http://schemas.microsoft.com/office/drawing/2014/main" id="{824A5BA3-7DEE-C6B1-44E3-4927912E77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1897736"/>
            <a:ext cx="687166" cy="687166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584133EB-EB19-A6DA-4EF1-E79ACF938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4527" y="2118517"/>
            <a:ext cx="914400" cy="914400"/>
          </a:xfrm>
          <a:prstGeom prst="rect">
            <a:avLst/>
          </a:prstGeom>
        </p:spPr>
      </p:pic>
      <p:sp>
        <p:nvSpPr>
          <p:cNvPr id="23" name="Left-Right Arrow 22">
            <a:extLst>
              <a:ext uri="{FF2B5EF4-FFF2-40B4-BE49-F238E27FC236}">
                <a16:creationId xmlns:a16="http://schemas.microsoft.com/office/drawing/2014/main" id="{A32005C3-3BF6-98C4-1AF3-FC7C1ED50519}"/>
              </a:ext>
            </a:extLst>
          </p:cNvPr>
          <p:cNvSpPr/>
          <p:nvPr/>
        </p:nvSpPr>
        <p:spPr>
          <a:xfrm>
            <a:off x="3769190" y="2509885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EA6A50B4-A1C7-53F1-12DA-6A6959364932}"/>
              </a:ext>
            </a:extLst>
          </p:cNvPr>
          <p:cNvSpPr/>
          <p:nvPr/>
        </p:nvSpPr>
        <p:spPr>
          <a:xfrm>
            <a:off x="9009303" y="2509883"/>
            <a:ext cx="1593383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19B013A1-D818-9861-04FF-C0E82E3C7BCE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FDEC332-3300-510D-443E-80EE2B48B175}"/>
              </a:ext>
            </a:extLst>
          </p:cNvPr>
          <p:cNvSpPr/>
          <p:nvPr/>
        </p:nvSpPr>
        <p:spPr>
          <a:xfrm>
            <a:off x="6589264" y="1897735"/>
            <a:ext cx="2059400" cy="2476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 descr="Cmd Terminal with solid fill">
            <a:extLst>
              <a:ext uri="{FF2B5EF4-FFF2-40B4-BE49-F238E27FC236}">
                <a16:creationId xmlns:a16="http://schemas.microsoft.com/office/drawing/2014/main" id="{F8E7EC2D-CE35-FEEA-9C1A-6F9B0C9850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5058" y="3442632"/>
            <a:ext cx="914400" cy="9144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AFD5868-802C-3780-1E34-F761B709DF1F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5758543" y="3012801"/>
            <a:ext cx="986515" cy="887031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4E2F1DD-262D-5D2C-29E6-58CD426298A7}"/>
              </a:ext>
            </a:extLst>
          </p:cNvPr>
          <p:cNvSpPr txBox="1"/>
          <p:nvPr/>
        </p:nvSpPr>
        <p:spPr>
          <a:xfrm>
            <a:off x="6868598" y="1943036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tmux session</a:t>
            </a:r>
          </a:p>
        </p:txBody>
      </p:sp>
      <p:pic>
        <p:nvPicPr>
          <p:cNvPr id="8" name="Graphic 7" descr="Cmd Terminal with solid fill">
            <a:extLst>
              <a:ext uri="{FF2B5EF4-FFF2-40B4-BE49-F238E27FC236}">
                <a16:creationId xmlns:a16="http://schemas.microsoft.com/office/drawing/2014/main" id="{30EF51FE-8368-9532-9527-B6B9A8AA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8695" y="2720081"/>
            <a:ext cx="914400" cy="914400"/>
          </a:xfrm>
          <a:prstGeom prst="rect">
            <a:avLst/>
          </a:prstGeom>
        </p:spPr>
      </p:pic>
      <p:pic>
        <p:nvPicPr>
          <p:cNvPr id="9" name="Graphic 8" descr="Cmd Terminal with solid fill">
            <a:extLst>
              <a:ext uri="{FF2B5EF4-FFF2-40B4-BE49-F238E27FC236}">
                <a16:creationId xmlns:a16="http://schemas.microsoft.com/office/drawing/2014/main" id="{12A7C8F2-D80D-8DA6-1302-2B47408F4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6937" y="2092193"/>
            <a:ext cx="914400" cy="91440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7AD1C7AD-28B1-580B-2886-4BE2A2326DD4}"/>
              </a:ext>
            </a:extLst>
          </p:cNvPr>
          <p:cNvSpPr/>
          <p:nvPr/>
        </p:nvSpPr>
        <p:spPr>
          <a:xfrm>
            <a:off x="7659458" y="2405743"/>
            <a:ext cx="515713" cy="87085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E2225-328C-2C0C-301B-CB24F23FA693}"/>
              </a:ext>
            </a:extLst>
          </p:cNvPr>
          <p:cNvSpPr txBox="1"/>
          <p:nvPr/>
        </p:nvSpPr>
        <p:spPr>
          <a:xfrm>
            <a:off x="8213292" y="2584902"/>
            <a:ext cx="174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other screens you can switch between</a:t>
            </a:r>
          </a:p>
        </p:txBody>
      </p:sp>
    </p:spTree>
    <p:extLst>
      <p:ext uri="{BB962C8B-B14F-4D97-AF65-F5344CB8AC3E}">
        <p14:creationId xmlns:p14="http://schemas.microsoft.com/office/powerpoint/2010/main" val="6670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333B7-B08D-E51B-6F7D-06511561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794DAAD6-0DC9-871F-1FF9-357E38C49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A0AD9B3C-40E0-DE78-CE16-D16B946E9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4C2F5D4B-B184-043C-888E-F2CCE32DA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F3A7BEC4-16AB-F968-E9CB-775658E68B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2686" y="2117065"/>
            <a:ext cx="914400" cy="914400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0303D88C-7F0A-24F8-2EF6-1720AAC9E1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4527" y="2118517"/>
            <a:ext cx="914400" cy="914400"/>
          </a:xfrm>
          <a:prstGeom prst="rect">
            <a:avLst/>
          </a:prstGeom>
        </p:spPr>
      </p:pic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3E5F106B-9667-7ED0-BBA9-D50FD72265A6}"/>
              </a:ext>
            </a:extLst>
          </p:cNvPr>
          <p:cNvSpPr/>
          <p:nvPr/>
        </p:nvSpPr>
        <p:spPr>
          <a:xfrm>
            <a:off x="9009303" y="2509883"/>
            <a:ext cx="1593383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A979A50F-A0B7-6651-B927-30247E4B29F8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F10804A-2A35-DCBA-B7B6-9683D765883E}"/>
              </a:ext>
            </a:extLst>
          </p:cNvPr>
          <p:cNvSpPr/>
          <p:nvPr/>
        </p:nvSpPr>
        <p:spPr>
          <a:xfrm>
            <a:off x="6589264" y="1897735"/>
            <a:ext cx="2059400" cy="2476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 descr="Cmd Terminal with solid fill">
            <a:extLst>
              <a:ext uri="{FF2B5EF4-FFF2-40B4-BE49-F238E27FC236}">
                <a16:creationId xmlns:a16="http://schemas.microsoft.com/office/drawing/2014/main" id="{6DA02DFD-54FA-DBF8-689B-7E6A4C05B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5058" y="3442632"/>
            <a:ext cx="914400" cy="9144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DABA683-5A54-2218-9795-66AF67760FE3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5758543" y="3012801"/>
            <a:ext cx="986515" cy="887031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72255B1-3BA3-7CC2-A06C-396560A84A09}"/>
              </a:ext>
            </a:extLst>
          </p:cNvPr>
          <p:cNvSpPr txBox="1"/>
          <p:nvPr/>
        </p:nvSpPr>
        <p:spPr>
          <a:xfrm>
            <a:off x="6868598" y="1943036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tmux session</a:t>
            </a:r>
          </a:p>
        </p:txBody>
      </p:sp>
      <p:pic>
        <p:nvPicPr>
          <p:cNvPr id="8" name="Graphic 7" descr="Cmd Terminal with solid fill">
            <a:extLst>
              <a:ext uri="{FF2B5EF4-FFF2-40B4-BE49-F238E27FC236}">
                <a16:creationId xmlns:a16="http://schemas.microsoft.com/office/drawing/2014/main" id="{8FD35EF4-73C7-8AD0-92B9-68D340F96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8695" y="2720081"/>
            <a:ext cx="914400" cy="914400"/>
          </a:xfrm>
          <a:prstGeom prst="rect">
            <a:avLst/>
          </a:prstGeom>
        </p:spPr>
      </p:pic>
      <p:pic>
        <p:nvPicPr>
          <p:cNvPr id="9" name="Graphic 8" descr="Cmd Terminal with solid fill">
            <a:extLst>
              <a:ext uri="{FF2B5EF4-FFF2-40B4-BE49-F238E27FC236}">
                <a16:creationId xmlns:a16="http://schemas.microsoft.com/office/drawing/2014/main" id="{9794A606-9CE3-B497-653B-E489F6C70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6937" y="2092193"/>
            <a:ext cx="914400" cy="91440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A653B09B-BD0E-0CB0-DAD5-076FAA60D57C}"/>
              </a:ext>
            </a:extLst>
          </p:cNvPr>
          <p:cNvSpPr/>
          <p:nvPr/>
        </p:nvSpPr>
        <p:spPr>
          <a:xfrm>
            <a:off x="7659458" y="2405743"/>
            <a:ext cx="515713" cy="87085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66CB4C-022E-706F-C5B1-F74B8C19F276}"/>
              </a:ext>
            </a:extLst>
          </p:cNvPr>
          <p:cNvSpPr txBox="1"/>
          <p:nvPr/>
        </p:nvSpPr>
        <p:spPr>
          <a:xfrm>
            <a:off x="8213292" y="2584902"/>
            <a:ext cx="174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other screens you can switch between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CA3DDD36-25F5-CD02-E7B5-8D6428D6A83B}"/>
              </a:ext>
            </a:extLst>
          </p:cNvPr>
          <p:cNvSpPr/>
          <p:nvPr/>
        </p:nvSpPr>
        <p:spPr>
          <a:xfrm>
            <a:off x="5422443" y="2327772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FEF7AB-B012-6755-4397-2D108BD23AB8}"/>
              </a:ext>
            </a:extLst>
          </p:cNvPr>
          <p:cNvSpPr txBox="1"/>
          <p:nvPr/>
        </p:nvSpPr>
        <p:spPr>
          <a:xfrm>
            <a:off x="1197429" y="5355771"/>
            <a:ext cx="586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When you disconnect the tmux keeps all screens running </a:t>
            </a:r>
          </a:p>
        </p:txBody>
      </p:sp>
      <p:sp>
        <p:nvSpPr>
          <p:cNvPr id="15" name="&quot;No&quot; Symbol 14">
            <a:extLst>
              <a:ext uri="{FF2B5EF4-FFF2-40B4-BE49-F238E27FC236}">
                <a16:creationId xmlns:a16="http://schemas.microsoft.com/office/drawing/2014/main" id="{189A7362-7874-4220-C077-8D9232A5D849}"/>
              </a:ext>
            </a:extLst>
          </p:cNvPr>
          <p:cNvSpPr/>
          <p:nvPr/>
        </p:nvSpPr>
        <p:spPr>
          <a:xfrm>
            <a:off x="4164438" y="2338409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4537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B2B6-B62E-3F94-2B36-41E40931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38656-629D-2F6C-A82C-9C9262465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Programs that let you run multiple terminal sessions within a single window</a:t>
            </a:r>
          </a:p>
          <a:p>
            <a:pPr lvl="1"/>
            <a:r>
              <a:rPr lang="en-US" dirty="0"/>
              <a:t>Can ‘detach’ a session without closing in-progress programs (continue running in the background)</a:t>
            </a:r>
          </a:p>
          <a:p>
            <a:pPr lvl="1"/>
            <a:r>
              <a:rPr lang="en-US" dirty="0"/>
              <a:t>‘Reattach’ to a session later</a:t>
            </a:r>
          </a:p>
          <a:p>
            <a:pPr lvl="1"/>
            <a:r>
              <a:rPr lang="en-US" dirty="0"/>
              <a:t>Can have complex session layouts (split panes, multiple windows, etc.)</a:t>
            </a:r>
          </a:p>
          <a:p>
            <a:r>
              <a:rPr lang="en-US" dirty="0"/>
              <a:t>Great for running multiple programs and for saving your runs from disconnects</a:t>
            </a:r>
          </a:p>
          <a:p>
            <a:pPr lvl="1"/>
            <a:r>
              <a:rPr lang="en-US" dirty="0"/>
              <a:t>And for making you feel like a proper hacker</a:t>
            </a:r>
          </a:p>
        </p:txBody>
      </p:sp>
    </p:spTree>
    <p:extLst>
      <p:ext uri="{BB962C8B-B14F-4D97-AF65-F5344CB8AC3E}">
        <p14:creationId xmlns:p14="http://schemas.microsoft.com/office/powerpoint/2010/main" val="16454335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13F91-3699-DBE8-BC19-A765FEED2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E05AF-6640-FBF9-4C9C-B4E49FAF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8AA84-DCED-0E1F-7327-62E43E983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Windows: your terminal screen. Can think of like a browser tab. Windows can be split into…</a:t>
            </a:r>
          </a:p>
          <a:p>
            <a:pPr lvl="1"/>
            <a:r>
              <a:rPr lang="en-US" dirty="0"/>
              <a:t>Panes: a rectangular subarea of a window. Each pane within a window has its own command line</a:t>
            </a:r>
          </a:p>
          <a:p>
            <a:pPr lvl="1"/>
            <a:r>
              <a:rPr lang="en-US" dirty="0"/>
              <a:t>Session: your whole workspace. It can hold multiple windows (with panes). Using multiplexers, sessions can be</a:t>
            </a:r>
          </a:p>
          <a:p>
            <a:pPr lvl="2"/>
            <a:r>
              <a:rPr lang="en-US" dirty="0"/>
              <a:t>Detached: “closing” the terminal, but without terminating the processes running in that session, and can…</a:t>
            </a:r>
          </a:p>
          <a:p>
            <a:pPr lvl="2"/>
            <a:r>
              <a:rPr lang="en-US" dirty="0"/>
              <a:t>Reattached: can reconnect to that session without interruption</a:t>
            </a:r>
          </a:p>
        </p:txBody>
      </p:sp>
    </p:spTree>
    <p:extLst>
      <p:ext uri="{BB962C8B-B14F-4D97-AF65-F5344CB8AC3E}">
        <p14:creationId xmlns:p14="http://schemas.microsoft.com/office/powerpoint/2010/main" val="1853251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5DF07-760D-2480-D421-064F06DB3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1E46B-DF31-62A6-3D5B-5FFB2203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19239-F772-60DC-515D-969584B2B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GNU Screen: the O.G. multiplexer</a:t>
            </a:r>
          </a:p>
        </p:txBody>
      </p:sp>
    </p:spTree>
    <p:extLst>
      <p:ext uri="{BB962C8B-B14F-4D97-AF65-F5344CB8AC3E}">
        <p14:creationId xmlns:p14="http://schemas.microsoft.com/office/powerpoint/2010/main" val="34431114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79581-9BBA-B1D0-75FB-012A11EB8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C545C-4943-6580-0490-891F0570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D5756-F528-F764-F897-80DDB818B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TMUX: a more modern, actively </a:t>
            </a:r>
            <a:r>
              <a:rPr lang="en-US"/>
              <a:t>developed option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480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03133-4B55-6D63-00E8-2FADDAC3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E4DD6-2D20-CB12-42C1-BE793AD1B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type a command at the terminal and it executes, what is actually happening?</a:t>
            </a:r>
          </a:p>
          <a:p>
            <a:pPr lvl="1"/>
            <a:r>
              <a:rPr lang="en-US" dirty="0"/>
              <a:t>E.g. `</a:t>
            </a:r>
            <a:r>
              <a:rPr lang="en-US" dirty="0" err="1"/>
              <a:t>ls`</a:t>
            </a:r>
            <a:endParaRPr lang="en-US" dirty="0"/>
          </a:p>
          <a:p>
            <a:r>
              <a:rPr lang="en-US" dirty="0"/>
              <a:t>Or, when you type a command and you get a “command not found” error even </a:t>
            </a:r>
            <a:r>
              <a:rPr lang="en-US" dirty="0" err="1"/>
              <a:t>tho</a:t>
            </a:r>
            <a:r>
              <a:rPr lang="en-US" dirty="0"/>
              <a:t> you’ve installed it, why is that?</a:t>
            </a:r>
          </a:p>
          <a:p>
            <a:r>
              <a:rPr lang="en-US" dirty="0"/>
              <a:t>“Behind the scenes” the shell sets variables that contain important configuration data (paths to executables,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b="1" i="1" dirty="0"/>
              <a:t>Environmental variables </a:t>
            </a:r>
          </a:p>
          <a:p>
            <a:pPr lvl="1"/>
            <a:r>
              <a:rPr lang="en-US" dirty="0"/>
              <a:t>Inherited by all child processes upon shell startup</a:t>
            </a:r>
          </a:p>
        </p:txBody>
      </p:sp>
    </p:spTree>
    <p:extLst>
      <p:ext uri="{BB962C8B-B14F-4D97-AF65-F5344CB8AC3E}">
        <p14:creationId xmlns:p14="http://schemas.microsoft.com/office/powerpoint/2010/main" val="258523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270E-3B83-E6C4-77B1-3977C5E2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A4AC8-9E92-AEDB-4A83-6510F465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`</a:t>
            </a:r>
            <a:r>
              <a:rPr lang="en-US" dirty="0" err="1"/>
              <a:t>ls`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`</a:t>
            </a:r>
            <a:r>
              <a:rPr lang="en-US" dirty="0" err="1"/>
              <a:t>ls`</a:t>
            </a:r>
            <a:r>
              <a:rPr lang="en-US" dirty="0"/>
              <a:t> is a program/executable that “lives” somewhere in the filesystem</a:t>
            </a:r>
          </a:p>
          <a:p>
            <a:pPr lvl="1"/>
            <a:r>
              <a:rPr lang="en-US" dirty="0"/>
              <a:t>We can see where it lives by: `which </a:t>
            </a:r>
            <a:r>
              <a:rPr lang="en-US" dirty="0" err="1"/>
              <a:t>ls`</a:t>
            </a:r>
            <a:endParaRPr lang="en-US" dirty="0"/>
          </a:p>
          <a:p>
            <a:pPr lvl="2"/>
            <a:r>
              <a:rPr lang="en-US" dirty="0"/>
              <a:t>It lives in a directory called `/bin/`</a:t>
            </a:r>
          </a:p>
          <a:p>
            <a:pPr lvl="1"/>
            <a:r>
              <a:rPr lang="en-US" dirty="0"/>
              <a:t>The shell “knows” to look in the `/bin` directory when you type `</a:t>
            </a:r>
            <a:r>
              <a:rPr lang="en-US" dirty="0" err="1"/>
              <a:t>ls`</a:t>
            </a:r>
            <a:r>
              <a:rPr lang="en-US" dirty="0"/>
              <a:t> because of the `$PATH` environmental variable</a:t>
            </a:r>
          </a:p>
          <a:p>
            <a:r>
              <a:rPr lang="en-US" dirty="0"/>
              <a:t>`$PATH` contains a list of directories that the shell will search in for executables</a:t>
            </a:r>
          </a:p>
          <a:p>
            <a:pPr lvl="1"/>
            <a:r>
              <a:rPr lang="en-US" dirty="0"/>
              <a:t>`echo $PATH`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938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023607-062D-90EF-EB45-F2BCDFFCD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38378-79A4-BA5E-1434-F9FFF576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F67CC-606C-D900-6F99-6864E759C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`$PATH` is just one of many environmental variables…</a:t>
            </a:r>
          </a:p>
          <a:p>
            <a:r>
              <a:rPr lang="en-US" dirty="0"/>
              <a:t>`</a:t>
            </a:r>
            <a:r>
              <a:rPr lang="en-US" dirty="0" err="1"/>
              <a:t>printenv</a:t>
            </a:r>
            <a:r>
              <a:rPr lang="en-US" dirty="0"/>
              <a:t>` will list all of them</a:t>
            </a:r>
          </a:p>
          <a:p>
            <a:pPr lvl="1"/>
            <a:r>
              <a:rPr lang="en-US" dirty="0"/>
              <a:t>Most of these are set by the system automatically</a:t>
            </a:r>
          </a:p>
          <a:p>
            <a:pPr lvl="1"/>
            <a:r>
              <a:rPr lang="en-US" dirty="0"/>
              <a:t>Some are static and don’t change (or shouldn’t…)</a:t>
            </a:r>
          </a:p>
          <a:p>
            <a:pPr lvl="2"/>
            <a:r>
              <a:rPr lang="en-US" dirty="0"/>
              <a:t>e.g. `echo $HOME`</a:t>
            </a:r>
          </a:p>
          <a:p>
            <a:pPr lvl="1"/>
            <a:r>
              <a:rPr lang="en-US" dirty="0"/>
              <a:t>Others are updated automatically</a:t>
            </a:r>
          </a:p>
          <a:p>
            <a:pPr lvl="2"/>
            <a:r>
              <a:rPr lang="en-US" dirty="0"/>
              <a:t>`echo $PWD` (present working directory)</a:t>
            </a:r>
          </a:p>
          <a:p>
            <a:pPr lvl="2"/>
            <a:r>
              <a:rPr lang="en-US" dirty="0"/>
              <a:t>`cd ..`</a:t>
            </a:r>
          </a:p>
          <a:p>
            <a:pPr lvl="2"/>
            <a:r>
              <a:rPr lang="en-US" dirty="0"/>
              <a:t>`echo $PWD`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1735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3E9007-CB34-F78F-0625-95814257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63C80-EE9D-E93B-2570-4F4A5D37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F6D3-2D1C-A66F-DDFB-36EFCF6C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Like any variables, we can modify or add env variables</a:t>
            </a:r>
          </a:p>
          <a:p>
            <a:pPr lvl="1"/>
            <a:r>
              <a:rPr lang="en-US" dirty="0"/>
              <a:t>Tho that doesn’t mean we </a:t>
            </a:r>
            <a:r>
              <a:rPr lang="en-US" i="1" dirty="0"/>
              <a:t>should</a:t>
            </a:r>
            <a:r>
              <a:rPr lang="en-US" dirty="0"/>
              <a:t>, for some!</a:t>
            </a:r>
          </a:p>
          <a:p>
            <a:r>
              <a:rPr lang="en-US" dirty="0"/>
              <a:t>E.g. you’ve downloaded an executable and want to run it without having to type out the full path to where it’s downloaded</a:t>
            </a:r>
          </a:p>
          <a:p>
            <a:pPr lvl="1"/>
            <a:r>
              <a:rPr lang="en-US" dirty="0"/>
              <a:t>Option 1: copy the executable to a directory in your $PATH</a:t>
            </a:r>
          </a:p>
          <a:p>
            <a:pPr lvl="1"/>
            <a:r>
              <a:rPr lang="en-US" dirty="0"/>
              <a:t>Option 2: modify your $PATH by appending a directory to it:</a:t>
            </a:r>
          </a:p>
          <a:p>
            <a:pPr lvl="2"/>
            <a:r>
              <a:rPr lang="en-US" dirty="0"/>
              <a:t>`PATH=$PATH:/path/to/directory`</a:t>
            </a:r>
          </a:p>
          <a:p>
            <a:pPr lvl="2"/>
            <a:r>
              <a:rPr lang="en-US" dirty="0"/>
              <a:t>The shell will now search that directory for executables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121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18B08D6-F3C7-06FA-42A2-00E0F32F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04D0-701A-08BE-D0DC-1B8C1BB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DF8E9-0CB8-9BBB-791A-45A20C6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We can also add new variables to the shell:</a:t>
            </a:r>
          </a:p>
          <a:p>
            <a:pPr lvl="1"/>
            <a:r>
              <a:rPr lang="en-US" dirty="0"/>
              <a:t>By convention, bash variables are named in uppercase</a:t>
            </a:r>
          </a:p>
          <a:p>
            <a:pPr lvl="1"/>
            <a:r>
              <a:rPr lang="en-US" dirty="0"/>
              <a:t>`TEST=“hello there”`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IMPORTANT: what we did here was make a </a:t>
            </a:r>
            <a:r>
              <a:rPr lang="en-US" i="1" dirty="0"/>
              <a:t>shell variable</a:t>
            </a:r>
            <a:r>
              <a:rPr lang="en-US" dirty="0"/>
              <a:t>, not an environmental variable</a:t>
            </a:r>
          </a:p>
          <a:p>
            <a:r>
              <a:rPr lang="en-US" dirty="0"/>
              <a:t>What’s the difference??</a:t>
            </a:r>
          </a:p>
        </p:txBody>
      </p:sp>
    </p:spTree>
    <p:extLst>
      <p:ext uri="{BB962C8B-B14F-4D97-AF65-F5344CB8AC3E}">
        <p14:creationId xmlns:p14="http://schemas.microsoft.com/office/powerpoint/2010/main" val="34959164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F3DED-A691-9BD8-F866-C62DC8FD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41E7A-C141-5FC9-78AE-43E2B813E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551B4-0B44-C75B-0F64-E09B63DD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Environmental variables vs shell variables:</a:t>
            </a:r>
          </a:p>
          <a:p>
            <a:pPr lvl="1"/>
            <a:r>
              <a:rPr lang="en-US" dirty="0"/>
              <a:t>Env variables are shared across all processes or programs created from the shell</a:t>
            </a:r>
          </a:p>
          <a:p>
            <a:pPr lvl="2"/>
            <a:r>
              <a:rPr lang="en-US" dirty="0"/>
              <a:t>Can be “seen” by other programs</a:t>
            </a:r>
          </a:p>
          <a:p>
            <a:pPr lvl="1"/>
            <a:r>
              <a:rPr lang="en-US" dirty="0"/>
              <a:t>Shell variables are local to only the shell; they aren’t “seen” by child processes</a:t>
            </a:r>
          </a:p>
          <a:p>
            <a:pPr lvl="2"/>
            <a:r>
              <a:rPr lang="en-US" dirty="0"/>
              <a:t>E.g. if you ran a script that referenced a shell variable, it would not find it!</a:t>
            </a:r>
          </a:p>
        </p:txBody>
      </p:sp>
    </p:spTree>
    <p:extLst>
      <p:ext uri="{BB962C8B-B14F-4D97-AF65-F5344CB8AC3E}">
        <p14:creationId xmlns:p14="http://schemas.microsoft.com/office/powerpoint/2010/main" val="29200212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9C4F92-0A56-5631-4FF8-A0BAFB1B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EC34-AA03-A74A-1F25-873AB233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7D08-ADC1-12F9-6179-E29BDBF4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r>
              <a:rPr lang="en-US" dirty="0"/>
              <a:t>`cat </a:t>
            </a:r>
            <a:r>
              <a:rPr lang="en-US" dirty="0" err="1"/>
              <a:t>print_test.sh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`</a:t>
            </a:r>
            <a:r>
              <a:rPr lang="en-US" dirty="0" err="1"/>
              <a:t>sh</a:t>
            </a:r>
            <a:r>
              <a:rPr lang="en-US" dirty="0"/>
              <a:t> </a:t>
            </a:r>
            <a:r>
              <a:rPr lang="en-US" dirty="0" err="1"/>
              <a:t>print_test.sh</a:t>
            </a:r>
            <a:r>
              <a:rPr lang="en-US" dirty="0"/>
              <a:t>` -&gt; no output!</a:t>
            </a:r>
          </a:p>
          <a:p>
            <a:r>
              <a:rPr lang="en-US" dirty="0"/>
              <a:t>This is because the `$TEST` variable only exists in the </a:t>
            </a:r>
            <a:r>
              <a:rPr lang="en-US" b="1" dirty="0"/>
              <a:t>shell</a:t>
            </a:r>
            <a:r>
              <a:rPr lang="en-US" dirty="0"/>
              <a:t>…any subprocesses (e.g. our `</a:t>
            </a:r>
            <a:r>
              <a:rPr lang="en-US" dirty="0" err="1"/>
              <a:t>print_test</a:t>
            </a:r>
            <a:r>
              <a:rPr lang="en-US" dirty="0"/>
              <a:t>` script) will not inherit it</a:t>
            </a:r>
          </a:p>
          <a:p>
            <a:r>
              <a:rPr lang="en-US" dirty="0"/>
              <a:t>We can convert shell variables to environmental variables!</a:t>
            </a:r>
          </a:p>
          <a:p>
            <a:pPr lvl="1"/>
            <a:r>
              <a:rPr lang="en-US" dirty="0"/>
              <a:t>`export TEST`(note the lack of “$”!)</a:t>
            </a:r>
          </a:p>
          <a:p>
            <a:pPr lvl="1"/>
            <a:r>
              <a:rPr lang="en-US" dirty="0"/>
              <a:t>Now we can run the script successfully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982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C21B01-8498-55BA-4863-549119AED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49CB-3EFF-1BEE-062E-85818E61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9F031-8A9C-44AB-18A3-D0C83B59D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Another important consideration with env/shell variables…</a:t>
            </a:r>
          </a:p>
          <a:p>
            <a:r>
              <a:rPr lang="en-US" dirty="0"/>
              <a:t>Try making a variable: 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Now open a new terminal window…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Nothing happens! What’s going on…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0567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C3F358-32AA-D230-E448-CC8EA648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CDFF3-54AD-DE00-A1E6-D9CB43ED8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51AD-A7C4-DBE1-07C8-402D6525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Any changes to default env variables or new shell/env variables are only saved for that specific bash session!</a:t>
            </a:r>
          </a:p>
          <a:p>
            <a:pPr lvl="1"/>
            <a:r>
              <a:rPr lang="en-US" dirty="0"/>
              <a:t>You’ll have to re-set the values each time you reopen the shell</a:t>
            </a:r>
          </a:p>
          <a:p>
            <a:pPr lvl="1"/>
            <a:r>
              <a:rPr lang="en-US" dirty="0"/>
              <a:t>Or…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5115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C31F-4461-80BC-5AE3-BD3831CC4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E5C9A-D21B-E172-4677-0CBC9FDE0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…we can modify our </a:t>
            </a:r>
            <a:r>
              <a:rPr lang="en-US" b="1" dirty="0"/>
              <a:t>bash</a:t>
            </a:r>
            <a:r>
              <a:rPr lang="en-US" dirty="0"/>
              <a:t> </a:t>
            </a:r>
            <a:r>
              <a:rPr lang="en-US" b="1" dirty="0"/>
              <a:t>profile</a:t>
            </a:r>
            <a:r>
              <a:rPr lang="en-US" dirty="0"/>
              <a:t> to load our custom env variables automatically!</a:t>
            </a:r>
          </a:p>
          <a:p>
            <a:r>
              <a:rPr lang="en-US" dirty="0"/>
              <a:t>This is just one of the things you can do with profiles…</a:t>
            </a:r>
          </a:p>
          <a:p>
            <a:pPr lvl="1"/>
            <a:r>
              <a:rPr lang="en-US" dirty="0"/>
              <a:t>Add custom directories to $PATH</a:t>
            </a:r>
          </a:p>
          <a:p>
            <a:pPr lvl="1"/>
            <a:r>
              <a:rPr lang="en-US" dirty="0"/>
              <a:t>Make a command alias</a:t>
            </a:r>
          </a:p>
          <a:p>
            <a:pPr lvl="1"/>
            <a:r>
              <a:rPr lang="en-US" dirty="0"/>
              <a:t>Customize the colors/themes and behavior of your shell</a:t>
            </a:r>
          </a:p>
          <a:p>
            <a:pPr lvl="1"/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0774144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42547D-909F-5B19-8D52-D045A671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6ED9-A47B-9C4A-E7C6-DC572F0B9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199B1-3CA2-8200-A0D7-3BBC1D26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profiles are configuration files that are run on startup of the shell</a:t>
            </a:r>
          </a:p>
          <a:p>
            <a:pPr lvl="1"/>
            <a:r>
              <a:rPr lang="en-US" dirty="0"/>
              <a:t>Use caution! It is possible to “break” your shell, and it can be a big pain to fix it…</a:t>
            </a:r>
          </a:p>
          <a:p>
            <a:r>
              <a:rPr lang="en-US" dirty="0"/>
              <a:t>There are several different bash config files with some subtle differences</a:t>
            </a:r>
          </a:p>
          <a:p>
            <a:pPr lvl="1"/>
            <a:r>
              <a:rPr lang="en-US" dirty="0"/>
              <a:t>Generally they are “hidden” files, meaning they start with a “.” and will not be visible when listing contents unless use `ls –a`</a:t>
            </a:r>
          </a:p>
        </p:txBody>
      </p:sp>
    </p:spTree>
    <p:extLst>
      <p:ext uri="{BB962C8B-B14F-4D97-AF65-F5344CB8AC3E}">
        <p14:creationId xmlns:p14="http://schemas.microsoft.com/office/powerpoint/2010/main" val="2888708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FC236B-2663-C0E3-B193-D85BF414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E66A6-33ED-DB7B-813E-C2D0155E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9F41B-823F-1C0F-0B01-1C485790F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`.</a:t>
            </a:r>
            <a:r>
              <a:rPr lang="en-US" dirty="0" err="1"/>
              <a:t>bashrc</a:t>
            </a:r>
            <a:r>
              <a:rPr lang="en-US" dirty="0"/>
              <a:t>` vs `.</a:t>
            </a:r>
            <a:r>
              <a:rPr lang="en-US" dirty="0" err="1"/>
              <a:t>bash_profile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Both are startup config files, usually in your home `~` directory</a:t>
            </a:r>
          </a:p>
          <a:p>
            <a:r>
              <a:rPr lang="en-US" dirty="0"/>
              <a:t>`.</a:t>
            </a:r>
            <a:r>
              <a:rPr lang="en-US" dirty="0" err="1"/>
              <a:t>bash_profile</a:t>
            </a:r>
            <a:r>
              <a:rPr lang="en-US" dirty="0"/>
              <a:t>` is run only once, upon login</a:t>
            </a:r>
          </a:p>
          <a:p>
            <a:pPr lvl="1"/>
            <a:r>
              <a:rPr lang="en-US" dirty="0"/>
              <a:t>Sources the `.</a:t>
            </a:r>
            <a:r>
              <a:rPr lang="en-US" dirty="0" err="1"/>
              <a:t>bashrc</a:t>
            </a:r>
            <a:r>
              <a:rPr lang="en-US" dirty="0"/>
              <a:t>` file (won’t do so otherwise!)</a:t>
            </a:r>
          </a:p>
          <a:p>
            <a:pPr lvl="1"/>
            <a:r>
              <a:rPr lang="en-US" i="1" dirty="0"/>
              <a:t>Generally, this is all you want in here</a:t>
            </a:r>
          </a:p>
          <a:p>
            <a:r>
              <a:rPr lang="en-US" dirty="0"/>
              <a:t>`.</a:t>
            </a:r>
            <a:r>
              <a:rPr lang="en-US" dirty="0" err="1"/>
              <a:t>bashrc`is</a:t>
            </a:r>
            <a:r>
              <a:rPr lang="en-US" dirty="0"/>
              <a:t> read anytime a shell is opened (assuming it has been sourced)</a:t>
            </a:r>
          </a:p>
          <a:p>
            <a:pPr lvl="1"/>
            <a:r>
              <a:rPr lang="en-US" dirty="0"/>
              <a:t>E.g. if you connect to an interactive node after logging in using `</a:t>
            </a:r>
            <a:r>
              <a:rPr lang="en-US" dirty="0" err="1"/>
              <a:t>salloc</a:t>
            </a:r>
            <a:r>
              <a:rPr lang="en-US" dirty="0"/>
              <a:t>`</a:t>
            </a:r>
          </a:p>
          <a:p>
            <a:pPr lvl="1"/>
            <a:r>
              <a:rPr lang="en-US" i="1" dirty="0"/>
              <a:t>TL;DR when using Cannon, put your customizations in here</a:t>
            </a:r>
          </a:p>
        </p:txBody>
      </p:sp>
    </p:spTree>
    <p:extLst>
      <p:ext uri="{BB962C8B-B14F-4D97-AF65-F5344CB8AC3E}">
        <p14:creationId xmlns:p14="http://schemas.microsoft.com/office/powerpoint/2010/main" val="11311027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B7EF5E-D0DA-B7BE-8547-7868AFB2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52586-096C-0A07-A743-DF789D9A4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3C8EA-BA6F-A752-DE23-7D27B817E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have a look at what a `.</a:t>
            </a:r>
            <a:r>
              <a:rPr lang="en-US" dirty="0" err="1"/>
              <a:t>bashrc</a:t>
            </a:r>
            <a:r>
              <a:rPr lang="en-US" dirty="0"/>
              <a:t>` profile looks like on Cannon</a:t>
            </a:r>
          </a:p>
          <a:p>
            <a:pPr lvl="1"/>
            <a:r>
              <a:rPr lang="en-US" dirty="0"/>
              <a:t>Will be run whenever you log in, by any jobs you submit or create a new shell</a:t>
            </a:r>
          </a:p>
          <a:p>
            <a:pPr lvl="1"/>
            <a:r>
              <a:rPr lang="en-US" dirty="0"/>
              <a:t>The ‘global definitions’ section sources cluster-wide definitions, allows jobs to run properly</a:t>
            </a:r>
          </a:p>
          <a:p>
            <a:pPr lvl="2"/>
            <a:r>
              <a:rPr lang="en-US" dirty="0"/>
              <a:t>Don’t modify this part!!</a:t>
            </a:r>
          </a:p>
          <a:p>
            <a:pPr lvl="1"/>
            <a:r>
              <a:rPr lang="en-US" dirty="0"/>
              <a:t>Customization goes under the ‘user specific’ section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3809E-0484-1E6E-0E41-2A966292693E}"/>
              </a:ext>
            </a:extLst>
          </p:cNvPr>
          <p:cNvSpPr txBox="1"/>
          <p:nvPr/>
        </p:nvSpPr>
        <p:spPr>
          <a:xfrm>
            <a:off x="2956193" y="4629838"/>
            <a:ext cx="62796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1705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0C01A9-26CC-BF0E-12F5-3B46B29C8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FBB0-7D40-55E5-725A-9BBCABBA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598A9-5BFD-4D95-3B54-00CCEF9B4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Cannon cluster, say there are several modules you commonly use</a:t>
            </a:r>
          </a:p>
          <a:p>
            <a:r>
              <a:rPr lang="en-US" dirty="0"/>
              <a:t>You could append `module load` statements to `.</a:t>
            </a:r>
            <a:r>
              <a:rPr lang="en-US" dirty="0" err="1"/>
              <a:t>bashrc</a:t>
            </a:r>
            <a:r>
              <a:rPr lang="en-US" dirty="0"/>
              <a:t>`: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2BB00-CE2A-330B-CD14-D11D3A97855D}"/>
              </a:ext>
            </a:extLst>
          </p:cNvPr>
          <p:cNvSpPr txBox="1"/>
          <p:nvPr/>
        </p:nvSpPr>
        <p:spPr>
          <a:xfrm>
            <a:off x="1837980" y="3349128"/>
            <a:ext cx="851603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module load </a:t>
            </a:r>
            <a:r>
              <a:rPr lang="en-US" dirty="0" err="1"/>
              <a:t>jdk</a:t>
            </a:r>
            <a:endParaRPr lang="en-US" dirty="0"/>
          </a:p>
          <a:p>
            <a:r>
              <a:rPr lang="en-US" dirty="0"/>
              <a:t>module load python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932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6D994C-8EDF-B390-05D3-9DA4A82E3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1E278-D42D-5F8F-C170-FAD20AFB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A0784-E341-F4D6-6E6B-7F50A869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However, it is better practice to instead use a </a:t>
            </a:r>
            <a:r>
              <a:rPr lang="en-US" i="1" dirty="0"/>
              <a:t>shell function</a:t>
            </a:r>
            <a:endParaRPr lang="en-US" dirty="0"/>
          </a:p>
          <a:p>
            <a:r>
              <a:rPr lang="en-US" dirty="0"/>
              <a:t>Shell functions: like other programming languages, a re-</a:t>
            </a:r>
            <a:r>
              <a:rPr lang="en-US" dirty="0" err="1"/>
              <a:t>usuable</a:t>
            </a:r>
            <a:r>
              <a:rPr lang="en-US" dirty="0"/>
              <a:t> modular “block” of code</a:t>
            </a:r>
          </a:p>
          <a:p>
            <a:pPr lvl="1"/>
            <a:r>
              <a:rPr lang="en-US" dirty="0"/>
              <a:t>Given a custom name and invoked at command line like any shell program</a:t>
            </a:r>
          </a:p>
          <a:p>
            <a:pPr lvl="1"/>
            <a:r>
              <a:rPr lang="en-US" dirty="0"/>
              <a:t>Executes the commands inside the function body</a:t>
            </a:r>
          </a:p>
          <a:p>
            <a:r>
              <a:rPr lang="en-US" dirty="0"/>
              <a:t>Note functions don’t only go in your profile, can be part of shell scripts,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9ABA5-BC2E-93D1-F8EC-D103FF02CCC3}"/>
              </a:ext>
            </a:extLst>
          </p:cNvPr>
          <p:cNvSpPr txBox="1"/>
          <p:nvPr/>
        </p:nvSpPr>
        <p:spPr>
          <a:xfrm>
            <a:off x="1837980" y="5365217"/>
            <a:ext cx="85160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</a:t>
            </a:r>
            <a:r>
              <a:rPr lang="en-US" dirty="0" err="1"/>
              <a:t>function_name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    shell command(s)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7750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4B8DB0-F9BD-F545-26A6-A77857811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2313-8047-7AB7-1FF7-A88DA78D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18526-8ED1-E162-203C-0AACB5483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`.</a:t>
            </a:r>
            <a:r>
              <a:rPr lang="en-US" dirty="0" err="1"/>
              <a:t>bashrc</a:t>
            </a:r>
            <a:r>
              <a:rPr lang="en-US" dirty="0"/>
              <a:t>` we can add a custom function `</a:t>
            </a:r>
            <a:r>
              <a:rPr lang="en-US" dirty="0" err="1"/>
              <a:t>mymodules</a:t>
            </a:r>
            <a:r>
              <a:rPr lang="en-US" dirty="0"/>
              <a:t>`:</a:t>
            </a:r>
          </a:p>
          <a:p>
            <a:pPr lvl="1"/>
            <a:r>
              <a:rPr lang="en-US" dirty="0"/>
              <a:t>Type `</a:t>
            </a:r>
            <a:r>
              <a:rPr lang="en-US" dirty="0" err="1"/>
              <a:t>mymodules</a:t>
            </a:r>
            <a:r>
              <a:rPr lang="en-US" dirty="0"/>
              <a:t>` to run the function and load the listed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7EF2D-DB4B-8E13-047F-FE9D1384D8C4}"/>
              </a:ext>
            </a:extLst>
          </p:cNvPr>
          <p:cNvSpPr txBox="1"/>
          <p:nvPr/>
        </p:nvSpPr>
        <p:spPr>
          <a:xfrm>
            <a:off x="2610999" y="2988326"/>
            <a:ext cx="62796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function </a:t>
            </a:r>
            <a:r>
              <a:rPr lang="en-US" dirty="0" err="1"/>
              <a:t>mymodules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    module load </a:t>
            </a:r>
            <a:r>
              <a:rPr lang="en-US" dirty="0" err="1"/>
              <a:t>jdk</a:t>
            </a:r>
            <a:br>
              <a:rPr lang="en-US" dirty="0"/>
            </a:br>
            <a:r>
              <a:rPr lang="en-US" dirty="0"/>
              <a:t>     module load python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8453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3CB2B2-B8F8-AF9D-50F5-EE884B1A8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639D-76D2-F1B3-AC6A-4B5A6C1CF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6F261-E7C2-A419-3EA4-2285167CC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Other useful things to put in your profile: </a:t>
            </a:r>
            <a:r>
              <a:rPr lang="en-US" i="1" dirty="0"/>
              <a:t>command</a:t>
            </a:r>
            <a:r>
              <a:rPr lang="en-US" dirty="0"/>
              <a:t> </a:t>
            </a:r>
            <a:r>
              <a:rPr lang="en-US" i="1" dirty="0"/>
              <a:t>aliases</a:t>
            </a:r>
          </a:p>
          <a:p>
            <a:pPr lvl="1"/>
            <a:r>
              <a:rPr lang="en-US" dirty="0"/>
              <a:t>Similar to a function, an alias is a shortcut for a long command</a:t>
            </a:r>
          </a:p>
          <a:p>
            <a:pPr lvl="1"/>
            <a:r>
              <a:rPr lang="en-US" dirty="0"/>
              <a:t>Invoke the alias like any program</a:t>
            </a:r>
          </a:p>
          <a:p>
            <a:r>
              <a:rPr lang="en-US" dirty="0"/>
              <a:t>E.g. whenever you use `ls`, want to include the `-l` and `-h` flags to show file details and make size human-readable</a:t>
            </a:r>
          </a:p>
          <a:p>
            <a:pPr lvl="1"/>
            <a:r>
              <a:rPr lang="en-US" dirty="0"/>
              <a:t>Note here we are setting an alias for an already existing program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2CA035-EADD-CFEC-A236-BEA70BC0D522}"/>
              </a:ext>
            </a:extLst>
          </p:cNvPr>
          <p:cNvSpPr txBox="1"/>
          <p:nvPr/>
        </p:nvSpPr>
        <p:spPr>
          <a:xfrm>
            <a:off x="1837980" y="4869458"/>
            <a:ext cx="85160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alias </a:t>
            </a:r>
            <a:r>
              <a:rPr lang="en-US" dirty="0" err="1"/>
              <a:t>name_of_alias</a:t>
            </a:r>
            <a:r>
              <a:rPr lang="en-US" dirty="0"/>
              <a:t>=‘full command to run’</a:t>
            </a:r>
          </a:p>
          <a:p>
            <a:endParaRPr lang="en-US" dirty="0"/>
          </a:p>
          <a:p>
            <a:r>
              <a:rPr lang="en-US" dirty="0"/>
              <a:t>alias ls=‘ls -l -h’</a:t>
            </a:r>
          </a:p>
          <a:p>
            <a:r>
              <a:rPr lang="en-US" dirty="0"/>
              <a:t>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1141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F69CC8-603A-8941-0C2D-02A5A402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F5687-A7AF-8590-3CD1-2EF9CEEF4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CC674-9931-8EC9-B19D-1D174B252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making your bash prompt cute!</a:t>
            </a:r>
          </a:p>
          <a:p>
            <a:pPr lvl="1"/>
            <a:r>
              <a:rPr lang="en-US" dirty="0"/>
              <a:t>Changing fonts, colors, etc.</a:t>
            </a:r>
          </a:p>
          <a:p>
            <a:r>
              <a:rPr lang="en-US" dirty="0"/>
              <a:t>Modify the `$PS1` variable</a:t>
            </a:r>
          </a:p>
          <a:p>
            <a:pPr lvl="1"/>
            <a:r>
              <a:rPr lang="en-US" dirty="0"/>
              <a:t>Unfortunately the syntax is quite cryptic…</a:t>
            </a:r>
          </a:p>
          <a:p>
            <a:pPr lvl="1"/>
            <a:r>
              <a:rPr lang="en-US" dirty="0"/>
              <a:t>Easiest to just copy a template someone else made…here’s mine:</a:t>
            </a:r>
          </a:p>
          <a:p>
            <a:pPr lvl="2"/>
            <a:r>
              <a:rPr lang="en-US" dirty="0"/>
              <a:t>Make username cyan, add ‘@’, make hostname green, add ‘:’, display PWD in yellow, add ‘$’ and a space</a:t>
            </a:r>
          </a:p>
          <a:p>
            <a:pPr marL="457200" lvl="1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C7A9DA-6879-9B54-A948-A0582C62BA15}"/>
              </a:ext>
            </a:extLst>
          </p:cNvPr>
          <p:cNvSpPr txBox="1"/>
          <p:nvPr/>
        </p:nvSpPr>
        <p:spPr>
          <a:xfrm>
            <a:off x="1759043" y="5012674"/>
            <a:ext cx="8673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export PS1="\[\033[36m\]\u\[\033[m\]@\[\033[32m\]\h:\[\033[33;1m\]\w\[\033[m\]\$ "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D7F7A8-7B34-C82F-9E20-8845DF02F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628709"/>
            <a:ext cx="60071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384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F825BE-1D61-03D0-B296-487B17425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934A3-8937-3637-C8D1-DA9417CB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7C11-2E90-C24A-63F7-7725F529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coloring `</a:t>
            </a:r>
            <a:r>
              <a:rPr lang="en-US" dirty="0" err="1"/>
              <a:t>ls`output</a:t>
            </a:r>
            <a:r>
              <a:rPr lang="en-US" dirty="0"/>
              <a:t> based on file type</a:t>
            </a:r>
          </a:p>
          <a:p>
            <a:pPr lvl="1"/>
            <a:r>
              <a:rPr lang="en-US" dirty="0"/>
              <a:t>When using GNU `</a:t>
            </a:r>
            <a:r>
              <a:rPr lang="en-US" dirty="0" err="1"/>
              <a:t>ls`</a:t>
            </a:r>
            <a:r>
              <a:rPr lang="en-US" dirty="0"/>
              <a:t> (i.e. Cannon, but can be different e.g. on MacOS!):</a:t>
            </a:r>
          </a:p>
          <a:p>
            <a:pPr lvl="2"/>
            <a:r>
              <a:rPr lang="en-US" dirty="0"/>
              <a:t>Set an </a:t>
            </a:r>
            <a:r>
              <a:rPr lang="en-US" i="1" dirty="0"/>
              <a:t>alias</a:t>
            </a:r>
            <a:r>
              <a:rPr lang="en-US" dirty="0"/>
              <a:t> for `</a:t>
            </a:r>
            <a:r>
              <a:rPr lang="en-US" dirty="0" err="1"/>
              <a:t>ls`</a:t>
            </a:r>
            <a:r>
              <a:rPr lang="en-US" dirty="0"/>
              <a:t> to auto-enable color (otherwise would need to specify every time)</a:t>
            </a:r>
          </a:p>
          <a:p>
            <a:pPr lvl="2"/>
            <a:r>
              <a:rPr lang="en-US" dirty="0"/>
              <a:t>Set the LS_COLORS environmental variable </a:t>
            </a:r>
          </a:p>
          <a:p>
            <a:r>
              <a:rPr lang="en-US" dirty="0"/>
              <a:t>Again, the syntax is awful…here is mine:</a:t>
            </a:r>
          </a:p>
          <a:p>
            <a:pPr lvl="1"/>
            <a:r>
              <a:rPr lang="en-US" dirty="0" err="1"/>
              <a:t>Dirs</a:t>
            </a:r>
            <a:r>
              <a:rPr lang="en-US" dirty="0"/>
              <a:t> in cyan, </a:t>
            </a:r>
            <a:r>
              <a:rPr lang="en-US" dirty="0" err="1"/>
              <a:t>symlinks</a:t>
            </a:r>
            <a:r>
              <a:rPr lang="en-US" dirty="0"/>
              <a:t> in magenta, executables in green, regular files in white,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AB614-9E16-E3E2-B90C-E63629B11800}"/>
              </a:ext>
            </a:extLst>
          </p:cNvPr>
          <p:cNvSpPr txBox="1"/>
          <p:nvPr/>
        </p:nvSpPr>
        <p:spPr>
          <a:xfrm>
            <a:off x="1759043" y="5012674"/>
            <a:ext cx="77031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alias ls='ls --color=auto'</a:t>
            </a:r>
          </a:p>
          <a:p>
            <a:r>
              <a:rPr lang="en-US" dirty="0"/>
              <a:t>export LS_COLORS="di=36:ln=35:ex=32:fi=0:pi=33:so=35:bd=33;1:cd=33;1"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4AB6DF-E557-CFDA-5F2B-ECE461017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781063"/>
            <a:ext cx="28956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16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7500</TotalTime>
  <Words>2664</Words>
  <Application>Microsoft Macintosh PowerPoint</Application>
  <PresentationFormat>Widescreen</PresentationFormat>
  <Paragraphs>321</Paragraphs>
  <Slides>42</Slides>
  <Notes>0</Notes>
  <HiddenSlides>19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Aptos Display</vt:lpstr>
      <vt:lpstr>Arial</vt:lpstr>
      <vt:lpstr>Consolas</vt:lpstr>
      <vt:lpstr>Menlo</vt:lpstr>
      <vt:lpstr>Source Sans Pro</vt:lpstr>
      <vt:lpstr>Office Theme</vt:lpstr>
      <vt:lpstr>$ Command line 101: $ Tips &amp; tricks for aspiring power users $ Work smarter not harder &amp; type less</vt:lpstr>
      <vt:lpstr>How do commands work?</vt:lpstr>
      <vt:lpstr>All progams live somewhere in your computer</vt:lpstr>
      <vt:lpstr>$PATH is list of directories to search for programs</vt:lpstr>
      <vt:lpstr>$PATH is an environmental variable</vt:lpstr>
      <vt:lpstr>You can modify environmental variables</vt:lpstr>
      <vt:lpstr>You can modify environmental variables</vt:lpstr>
      <vt:lpstr>You can make new shell variables</vt:lpstr>
      <vt:lpstr>You can make new shell variables</vt:lpstr>
      <vt:lpstr>Caution: do not overwrite environmental variables with other stuff</vt:lpstr>
      <vt:lpstr>Customizing your bash shell</vt:lpstr>
      <vt:lpstr>.bashrc vs .bash_profile</vt:lpstr>
      <vt:lpstr>What can you put in your .bashrc?</vt:lpstr>
      <vt:lpstr>What can you put in your .bashrc? cont…</vt:lpstr>
      <vt:lpstr>How do I not mess everything up?</vt:lpstr>
      <vt:lpstr>multitasking in the terminal</vt:lpstr>
      <vt:lpstr>PowerPoint Presentation</vt:lpstr>
      <vt:lpstr>PowerPoint Presentation</vt:lpstr>
      <vt:lpstr>PowerPoint Presentation</vt:lpstr>
      <vt:lpstr>Terminal multiplexers</vt:lpstr>
      <vt:lpstr>Terminal multiplexers</vt:lpstr>
      <vt:lpstr>Terminal multiplexers</vt:lpstr>
      <vt:lpstr>Terminal multiplexers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Khost, Danielle Emerson</dc:creator>
  <cp:lastModifiedBy>Ma, Lei</cp:lastModifiedBy>
  <cp:revision>15</cp:revision>
  <dcterms:created xsi:type="dcterms:W3CDTF">2026-01-30T18:57:29Z</dcterms:created>
  <dcterms:modified xsi:type="dcterms:W3CDTF">2026-02-09T15:15:15Z</dcterms:modified>
</cp:coreProperties>
</file>