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6" r:id="rId8"/>
    <p:sldId id="268" r:id="rId9"/>
    <p:sldId id="261" r:id="rId10"/>
    <p:sldId id="262" r:id="rId11"/>
    <p:sldId id="263" r:id="rId12"/>
    <p:sldId id="264" r:id="rId13"/>
    <p:sldId id="265" r:id="rId14"/>
    <p:sldId id="270" r:id="rId15"/>
    <p:sldId id="269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5ABD-E82C-59CD-C8B8-5F95CCFAE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66FBDE-E490-9051-0488-2BCE3C290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75AB8-C384-CC8C-53D5-7A4B27BC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D80DB-A9B6-E2A7-1072-D8D408B5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6396-4434-4D8A-CFA7-CA2EBD86A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5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C6859-33F6-C900-4E03-3F5E547F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FF45A-3C14-92E2-623E-04E6A462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F03-C7C7-62C2-1FD8-03D8726C5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880F-7B62-74CE-D9D8-6A684CF40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01E11-A33E-9A37-67C2-895FF48C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3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A2EA-5E54-470E-BA15-081108FC3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72DD8-67C0-3A4E-BAD6-8B336F8F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EFA3A-54D4-11B3-3A2A-B53A98E9E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C61F-D6AA-80D4-C737-69A19AEEB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02F7A-2F4D-AFF7-4C73-EC5DFF6E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62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BC53E-CEAD-D721-EF70-5EBC91AEE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17C37-3A26-80D5-2CC2-8F490F1C8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60C9B-317D-213F-3B4A-ED9EC40AB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A39D7-3E65-A6EF-4FFD-40138FCC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3E6C6-1831-6052-12BF-449E3A75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EDA9D-015C-0DF5-1357-3072A2C3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4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978AE-F36E-8AE7-1694-4E04FDC8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DBB1-185D-A22E-8745-7D283678E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F1EA6F-B95F-FEC3-B0F6-D395C1080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9EBC9B-EB4F-9763-8290-97F25526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F0D9E-A68A-07B5-5E84-2DE96FF8F6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F6FF0-E8A1-8A7E-E8CC-633F5C304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1F1DD-12AC-1940-F2BD-BD69442D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9F6481-953F-D02F-8F1F-30E69D57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928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DCB5-9418-1825-A301-65D6110E5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37E2B2-54CA-60D4-63CE-7CD895E10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DF3ED3-CAEC-1033-5E54-3D15BA084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DAB57-B8EF-030E-701F-5E6E02EF1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2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D22928-E561-F379-5F87-224A12E87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6A1192-E9E1-AEDD-FD49-B80FEC72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9D94-6DEF-A729-630E-BD84F974F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2E4E3-878E-AA98-E784-D919AA0B2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FDBDA-E71A-7995-21B6-3F67DA8B8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8D8F9-683D-BD5E-B2F6-6EEC88C6A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7B41C-B2C8-4C36-A4DA-A40FF20C4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59ADB-B437-2F30-7B7A-6BE5FAC6D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8DA0B-B7CA-07B5-226F-30A8C939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74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D5DF-7D8E-E754-EFA9-B8AEE8831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D0004-08D4-BB3F-7CC1-D7AE5F63B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C8F891-7B42-3CDD-FEF1-979FA717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300A6-D60D-1D21-8C27-68A7966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5AE8C9-C3C4-6CF7-68C0-F44D6B3A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9BE6F7-4D77-355B-CC19-5C220E08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80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B3F4-204E-9969-A0A7-E268A8A5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866B9F-872C-F0B2-7FE0-1CF932091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E964E-D686-AE68-59B6-11B6418F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5D64-3C1A-4B81-D6D8-456A40E3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5934-D424-8DFB-0D76-F3980F5D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00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3A1495-FA61-AAD3-D324-BAEAAD3DA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7F685-A5D4-B227-4F2F-7FB667163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83D8A-CF94-6C0F-3BC7-5004674EB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DA85D-391B-27A2-EF6B-B90AD426F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2548B-6AB7-E782-45AD-AC8F0D74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70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90F4A-3FF2-3112-9E5D-5677617B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E6300-3497-8032-F077-AE4E08B01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2D7CA-538A-D7E9-37D6-68280D6B9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B4F0-C34F-B24F-B974-1303EBE688C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E1F64-2284-FE40-4F66-D3281111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336C8-488F-9F99-B67C-46E419258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1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73EBB-C4C4-20BC-75D0-9571920E46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88B069-E3AB-A69F-02FF-4B5AA21C5D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334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03133-4B55-6D63-00E8-2FADDAC3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E4DD6-2D20-CB12-42C1-BE793AD1B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type a command at the terminal and it executes, what is actually happening?</a:t>
            </a:r>
          </a:p>
          <a:p>
            <a:pPr lvl="1"/>
            <a:r>
              <a:rPr lang="en-US" dirty="0"/>
              <a:t>E.g. `</a:t>
            </a:r>
            <a:r>
              <a:rPr lang="en-US" dirty="0" err="1"/>
              <a:t>ls`</a:t>
            </a:r>
            <a:endParaRPr lang="en-US" dirty="0"/>
          </a:p>
          <a:p>
            <a:r>
              <a:rPr lang="en-US" dirty="0"/>
              <a:t>Or, when you type a command and you get a “command not found” error even </a:t>
            </a:r>
            <a:r>
              <a:rPr lang="en-US" dirty="0" err="1"/>
              <a:t>tho</a:t>
            </a:r>
            <a:r>
              <a:rPr lang="en-US" dirty="0"/>
              <a:t> you’ve installed it, why is that?</a:t>
            </a:r>
          </a:p>
          <a:p>
            <a:r>
              <a:rPr lang="en-US" dirty="0"/>
              <a:t>“Behind the scenes” the shell sets variables that contain important configuration data (paths to executables,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b="1" i="1" dirty="0"/>
              <a:t>Environmental variables </a:t>
            </a:r>
          </a:p>
          <a:p>
            <a:pPr lvl="1"/>
            <a:r>
              <a:rPr lang="en-US" dirty="0"/>
              <a:t>Inherited by all child processes upon shell startup</a:t>
            </a:r>
          </a:p>
        </p:txBody>
      </p:sp>
    </p:spTree>
    <p:extLst>
      <p:ext uri="{BB962C8B-B14F-4D97-AF65-F5344CB8AC3E}">
        <p14:creationId xmlns:p14="http://schemas.microsoft.com/office/powerpoint/2010/main" val="25852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270E-3B83-E6C4-77B1-3977C5E2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A4AC8-9E92-AEDB-4A83-6510F465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`</a:t>
            </a:r>
            <a:r>
              <a:rPr lang="en-US" dirty="0" err="1"/>
              <a:t>ls`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`</a:t>
            </a:r>
            <a:r>
              <a:rPr lang="en-US" dirty="0" err="1"/>
              <a:t>ls`</a:t>
            </a:r>
            <a:r>
              <a:rPr lang="en-US" dirty="0"/>
              <a:t> is a program/executable that “lives” somewhere in the filesystem</a:t>
            </a:r>
          </a:p>
          <a:p>
            <a:pPr lvl="1"/>
            <a:r>
              <a:rPr lang="en-US" dirty="0"/>
              <a:t>We can see where it lives by: `which </a:t>
            </a:r>
            <a:r>
              <a:rPr lang="en-US" dirty="0" err="1"/>
              <a:t>ls`</a:t>
            </a:r>
            <a:endParaRPr lang="en-US" dirty="0"/>
          </a:p>
          <a:p>
            <a:pPr lvl="2"/>
            <a:r>
              <a:rPr lang="en-US" dirty="0"/>
              <a:t>It lives in a directory called `/bin/`</a:t>
            </a:r>
          </a:p>
          <a:p>
            <a:pPr lvl="1"/>
            <a:r>
              <a:rPr lang="en-US" dirty="0"/>
              <a:t>The shell “knows” to look in the `/bin` directory when you type `</a:t>
            </a:r>
            <a:r>
              <a:rPr lang="en-US" dirty="0" err="1"/>
              <a:t>ls`</a:t>
            </a:r>
            <a:r>
              <a:rPr lang="en-US" dirty="0"/>
              <a:t> because of the `$PATH` environmental variable</a:t>
            </a:r>
          </a:p>
          <a:p>
            <a:r>
              <a:rPr lang="en-US" dirty="0"/>
              <a:t>`$PATH` contains a list of directories that the shell will search in for executables</a:t>
            </a:r>
          </a:p>
          <a:p>
            <a:pPr lvl="1"/>
            <a:r>
              <a:rPr lang="en-US" dirty="0"/>
              <a:t>`echo $PATH`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9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23607-062D-90EF-EB45-F2BCDFFCD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38378-79A4-BA5E-1434-F9FFF576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F67CC-606C-D900-6F99-6864E759C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`$PATH` is just one of many environmental variables…</a:t>
            </a:r>
          </a:p>
          <a:p>
            <a:r>
              <a:rPr lang="en-US" dirty="0"/>
              <a:t>`</a:t>
            </a:r>
            <a:r>
              <a:rPr lang="en-US" dirty="0" err="1"/>
              <a:t>printenv</a:t>
            </a:r>
            <a:r>
              <a:rPr lang="en-US" dirty="0"/>
              <a:t>` will list all of them</a:t>
            </a:r>
          </a:p>
          <a:p>
            <a:pPr lvl="1"/>
            <a:r>
              <a:rPr lang="en-US" dirty="0"/>
              <a:t>Most of these are set by the system automatically</a:t>
            </a:r>
          </a:p>
          <a:p>
            <a:pPr lvl="1"/>
            <a:r>
              <a:rPr lang="en-US" dirty="0"/>
              <a:t>Some are static and don’t change (or shouldn’t…)</a:t>
            </a:r>
          </a:p>
          <a:p>
            <a:pPr lvl="2"/>
            <a:r>
              <a:rPr lang="en-US" dirty="0"/>
              <a:t>e.g. `echo $HOME`</a:t>
            </a:r>
          </a:p>
          <a:p>
            <a:pPr lvl="1"/>
            <a:r>
              <a:rPr lang="en-US" dirty="0"/>
              <a:t>Others are updated automatically</a:t>
            </a:r>
          </a:p>
          <a:p>
            <a:pPr lvl="2"/>
            <a:r>
              <a:rPr lang="en-US" dirty="0"/>
              <a:t>`echo $PWD` (present working directory)</a:t>
            </a:r>
          </a:p>
          <a:p>
            <a:pPr lvl="2"/>
            <a:r>
              <a:rPr lang="en-US" dirty="0"/>
              <a:t>`cd ..`</a:t>
            </a:r>
          </a:p>
          <a:p>
            <a:pPr lvl="2"/>
            <a:r>
              <a:rPr lang="en-US" dirty="0"/>
              <a:t>`echo $PWD`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173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E9007-CB34-F78F-0625-95814257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63C80-EE9D-E93B-2570-4F4A5D37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F6D3-2D1C-A66F-DDFB-36EFCF6C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Like any variables, we can modify or add env variables</a:t>
            </a:r>
          </a:p>
          <a:p>
            <a:pPr lvl="1"/>
            <a:r>
              <a:rPr lang="en-US" dirty="0"/>
              <a:t>Tho that doesn’t mean we </a:t>
            </a:r>
            <a:r>
              <a:rPr lang="en-US" i="1" dirty="0"/>
              <a:t>should</a:t>
            </a:r>
            <a:r>
              <a:rPr lang="en-US" dirty="0"/>
              <a:t>, for some!</a:t>
            </a:r>
          </a:p>
          <a:p>
            <a:r>
              <a:rPr lang="en-US" dirty="0"/>
              <a:t>E.g. you’ve downloaded an executable and want to run it without having to type out the full path to where it’s downloaded</a:t>
            </a:r>
          </a:p>
          <a:p>
            <a:pPr lvl="1"/>
            <a:r>
              <a:rPr lang="en-US" dirty="0"/>
              <a:t>Option 1: copy the executable to a directory in your $PATH</a:t>
            </a:r>
          </a:p>
          <a:p>
            <a:pPr lvl="1"/>
            <a:r>
              <a:rPr lang="en-US" dirty="0"/>
              <a:t>Option 2: modify your $PATH by appending a directory to it:</a:t>
            </a:r>
          </a:p>
          <a:p>
            <a:pPr lvl="2"/>
            <a:r>
              <a:rPr lang="en-US" dirty="0"/>
              <a:t>`PATH=$PATH:/path/to/directory`</a:t>
            </a:r>
          </a:p>
          <a:p>
            <a:pPr lvl="2"/>
            <a:r>
              <a:rPr lang="en-US" dirty="0"/>
              <a:t>The shell will now search that directory for executables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12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08D6-F3C7-06FA-42A2-00E0F32F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04D0-701A-08BE-D0DC-1B8C1BB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DF8E9-0CB8-9BBB-791A-45A20C6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We can also add new variables to the shell:</a:t>
            </a:r>
          </a:p>
          <a:p>
            <a:pPr lvl="1"/>
            <a:r>
              <a:rPr lang="en-US" dirty="0"/>
              <a:t>By convention, bash variables are named in uppercase</a:t>
            </a:r>
          </a:p>
          <a:p>
            <a:pPr lvl="1"/>
            <a:r>
              <a:rPr lang="en-US" dirty="0"/>
              <a:t>`TEST=“hello there”`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IMPORTANT: what we did here was make a </a:t>
            </a:r>
            <a:r>
              <a:rPr lang="en-US" i="1" dirty="0"/>
              <a:t>shell variable</a:t>
            </a:r>
            <a:r>
              <a:rPr lang="en-US" dirty="0"/>
              <a:t>, not an environmental variable</a:t>
            </a:r>
          </a:p>
          <a:p>
            <a:r>
              <a:rPr lang="en-US" dirty="0"/>
              <a:t>What’s the difference??</a:t>
            </a:r>
          </a:p>
        </p:txBody>
      </p:sp>
    </p:spTree>
    <p:extLst>
      <p:ext uri="{BB962C8B-B14F-4D97-AF65-F5344CB8AC3E}">
        <p14:creationId xmlns:p14="http://schemas.microsoft.com/office/powerpoint/2010/main" val="3495916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F3DED-A691-9BD8-F866-C62DC8FD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41E7A-C141-5FC9-78AE-43E2B813E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551B4-0B44-C75B-0F64-E09B63DD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Environmental variables vs shell variables:</a:t>
            </a:r>
          </a:p>
          <a:p>
            <a:pPr lvl="1"/>
            <a:r>
              <a:rPr lang="en-US" dirty="0"/>
              <a:t>Env variables are shared across all processes or programs created from the shell</a:t>
            </a:r>
          </a:p>
          <a:p>
            <a:pPr lvl="2"/>
            <a:r>
              <a:rPr lang="en-US" dirty="0"/>
              <a:t>Can be “seen” by other programs</a:t>
            </a:r>
          </a:p>
          <a:p>
            <a:pPr lvl="1"/>
            <a:r>
              <a:rPr lang="en-US" dirty="0"/>
              <a:t>Shell variables are local to only the shell; they aren’t “seen” by child processes</a:t>
            </a:r>
          </a:p>
          <a:p>
            <a:pPr lvl="2"/>
            <a:r>
              <a:rPr lang="en-US" dirty="0"/>
              <a:t>E.g. if you ran a script that referenced a shell variable, it would not find it!</a:t>
            </a:r>
          </a:p>
        </p:txBody>
      </p:sp>
    </p:spTree>
    <p:extLst>
      <p:ext uri="{BB962C8B-B14F-4D97-AF65-F5344CB8AC3E}">
        <p14:creationId xmlns:p14="http://schemas.microsoft.com/office/powerpoint/2010/main" val="2920021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C4F92-0A56-5631-4FF8-A0BAFB1B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EC34-AA03-A74A-1F25-873AB233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7D08-ADC1-12F9-6179-E29BDBF4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r>
              <a:rPr lang="en-US" dirty="0"/>
              <a:t>`cat </a:t>
            </a:r>
            <a:r>
              <a:rPr lang="en-US" dirty="0" err="1"/>
              <a:t>print_test.sh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`</a:t>
            </a:r>
            <a:r>
              <a:rPr lang="en-US" dirty="0" err="1"/>
              <a:t>sh</a:t>
            </a:r>
            <a:r>
              <a:rPr lang="en-US" dirty="0"/>
              <a:t> </a:t>
            </a:r>
            <a:r>
              <a:rPr lang="en-US" dirty="0" err="1"/>
              <a:t>print_test.sh</a:t>
            </a:r>
            <a:r>
              <a:rPr lang="en-US" dirty="0"/>
              <a:t>` -&gt; no output!</a:t>
            </a:r>
          </a:p>
          <a:p>
            <a:r>
              <a:rPr lang="en-US" dirty="0"/>
              <a:t>This is because the `$TEST` variable only exists in the </a:t>
            </a:r>
            <a:r>
              <a:rPr lang="en-US" b="1" dirty="0"/>
              <a:t>shell</a:t>
            </a:r>
            <a:r>
              <a:rPr lang="en-US" dirty="0"/>
              <a:t>…any subprocesses (e.g. our `</a:t>
            </a:r>
            <a:r>
              <a:rPr lang="en-US" dirty="0" err="1"/>
              <a:t>print_test</a:t>
            </a:r>
            <a:r>
              <a:rPr lang="en-US" dirty="0"/>
              <a:t>` script) will not inherit it</a:t>
            </a:r>
          </a:p>
          <a:p>
            <a:r>
              <a:rPr lang="en-US" dirty="0"/>
              <a:t>We can convert shell variables to environmental variables!</a:t>
            </a:r>
          </a:p>
          <a:p>
            <a:pPr lvl="1"/>
            <a:r>
              <a:rPr lang="en-US" dirty="0"/>
              <a:t>`export TEST`(note the lack of “$”!)</a:t>
            </a:r>
          </a:p>
          <a:p>
            <a:pPr lvl="1"/>
            <a:r>
              <a:rPr lang="en-US" dirty="0"/>
              <a:t>Now we can run the script successfully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9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21B01-8498-55BA-4863-549119AED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49CB-3EFF-1BEE-062E-85818E61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9F031-8A9C-44AB-18A3-D0C83B59D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Another important consideration with env/shell variables…</a:t>
            </a:r>
          </a:p>
          <a:p>
            <a:r>
              <a:rPr lang="en-US" dirty="0"/>
              <a:t>Try making a variable: 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Now open a new terminal window…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Nothing happens! What’s going on…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056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F358-32AA-D230-E448-CC8EA648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CDFF3-54AD-DE00-A1E6-D9CB43ED8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51AD-A7C4-DBE1-07C8-402D6525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Any changes to default env variables or new shell/env variables are only saved for that specific bash session!</a:t>
            </a:r>
          </a:p>
          <a:p>
            <a:pPr lvl="1"/>
            <a:r>
              <a:rPr lang="en-US" dirty="0"/>
              <a:t>You’ll have to re-set the values each time you reopen the shell</a:t>
            </a:r>
          </a:p>
          <a:p>
            <a:pPr lvl="1"/>
            <a:r>
              <a:rPr lang="en-US" dirty="0"/>
              <a:t>Or…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511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C31F-4461-80BC-5AE3-BD3831CC4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E5C9A-D21B-E172-4677-0CBC9FDE0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…we can modify our </a:t>
            </a:r>
            <a:r>
              <a:rPr lang="en-US" b="1" dirty="0"/>
              <a:t>bash</a:t>
            </a:r>
            <a:r>
              <a:rPr lang="en-US" dirty="0"/>
              <a:t> </a:t>
            </a:r>
            <a:r>
              <a:rPr lang="en-US" b="1" dirty="0"/>
              <a:t>profile</a:t>
            </a:r>
            <a:r>
              <a:rPr lang="en-US" dirty="0"/>
              <a:t> to load our custom env variables automatically!</a:t>
            </a:r>
          </a:p>
          <a:p>
            <a:r>
              <a:rPr lang="en-US" dirty="0"/>
              <a:t>This is just one of the things you can do with profiles…</a:t>
            </a:r>
          </a:p>
          <a:p>
            <a:pPr lvl="1"/>
            <a:r>
              <a:rPr lang="en-US" dirty="0"/>
              <a:t>Add custom directories to $PATH</a:t>
            </a:r>
          </a:p>
          <a:p>
            <a:pPr lvl="1"/>
            <a:r>
              <a:rPr lang="en-US" dirty="0"/>
              <a:t>Make a command alias</a:t>
            </a:r>
          </a:p>
          <a:p>
            <a:pPr lvl="1"/>
            <a:r>
              <a:rPr lang="en-US" dirty="0"/>
              <a:t>Customize the colors/themes and behavior of your shell</a:t>
            </a:r>
          </a:p>
          <a:p>
            <a:pPr lvl="1"/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077414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2547D-909F-5B19-8D52-D045A671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6ED9-A47B-9C4A-E7C6-DC572F0B9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199B1-3CA2-8200-A0D7-3BBC1D26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profiles are configuration files that are run on startup of the shell</a:t>
            </a:r>
          </a:p>
          <a:p>
            <a:pPr lvl="1"/>
            <a:r>
              <a:rPr lang="en-US" dirty="0"/>
              <a:t>Use caution! It is possible to “break” your shell, and it can be a big pain to fix it…</a:t>
            </a:r>
          </a:p>
          <a:p>
            <a:r>
              <a:rPr lang="en-US" dirty="0"/>
              <a:t>There are several different bash config files with some subtle differences</a:t>
            </a:r>
          </a:p>
          <a:p>
            <a:pPr lvl="1"/>
            <a:r>
              <a:rPr lang="en-US" dirty="0"/>
              <a:t>Generally they are “hidden” files, meaning they start with a “.” and will not be visible when listing contents unless use `ls –a`</a:t>
            </a:r>
          </a:p>
        </p:txBody>
      </p:sp>
    </p:spTree>
    <p:extLst>
      <p:ext uri="{BB962C8B-B14F-4D97-AF65-F5344CB8AC3E}">
        <p14:creationId xmlns:p14="http://schemas.microsoft.com/office/powerpoint/2010/main" val="2888708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C236B-2663-C0E3-B193-D85BF414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E66A6-33ED-DB7B-813E-C2D0155E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9F41B-823F-1C0F-0B01-1C485790F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`.</a:t>
            </a:r>
            <a:r>
              <a:rPr lang="en-US" dirty="0" err="1"/>
              <a:t>bashrc</a:t>
            </a:r>
            <a:r>
              <a:rPr lang="en-US" dirty="0"/>
              <a:t>` vs `.</a:t>
            </a:r>
            <a:r>
              <a:rPr lang="en-US" dirty="0" err="1"/>
              <a:t>bash_profile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Both are startup config files, usually in your home `~` directory</a:t>
            </a:r>
          </a:p>
          <a:p>
            <a:r>
              <a:rPr lang="en-US" dirty="0"/>
              <a:t>`.</a:t>
            </a:r>
            <a:r>
              <a:rPr lang="en-US" dirty="0" err="1"/>
              <a:t>bash_profile</a:t>
            </a:r>
            <a:r>
              <a:rPr lang="en-US" dirty="0"/>
              <a:t>` is run only once, upon login</a:t>
            </a:r>
          </a:p>
          <a:p>
            <a:pPr lvl="1"/>
            <a:r>
              <a:rPr lang="en-US" dirty="0"/>
              <a:t>Sources the `.</a:t>
            </a:r>
            <a:r>
              <a:rPr lang="en-US" dirty="0" err="1"/>
              <a:t>bashrc</a:t>
            </a:r>
            <a:r>
              <a:rPr lang="en-US" dirty="0"/>
              <a:t>` file (won’t do so otherwise!)</a:t>
            </a:r>
          </a:p>
          <a:p>
            <a:pPr lvl="1"/>
            <a:r>
              <a:rPr lang="en-US" i="1" dirty="0"/>
              <a:t>Generally, this is all you want in here</a:t>
            </a:r>
          </a:p>
          <a:p>
            <a:r>
              <a:rPr lang="en-US" dirty="0"/>
              <a:t>`.</a:t>
            </a:r>
            <a:r>
              <a:rPr lang="en-US" dirty="0" err="1"/>
              <a:t>bashrc`is</a:t>
            </a:r>
            <a:r>
              <a:rPr lang="en-US" dirty="0"/>
              <a:t> read anytime a shell is opened (assuming it has been sourced)</a:t>
            </a:r>
          </a:p>
          <a:p>
            <a:pPr lvl="1"/>
            <a:r>
              <a:rPr lang="en-US" dirty="0"/>
              <a:t>E.g. if you connect to an interactive node after logging in using `</a:t>
            </a:r>
            <a:r>
              <a:rPr lang="en-US" dirty="0" err="1"/>
              <a:t>salloc</a:t>
            </a:r>
            <a:r>
              <a:rPr lang="en-US" dirty="0"/>
              <a:t>`</a:t>
            </a:r>
          </a:p>
          <a:p>
            <a:pPr lvl="1"/>
            <a:r>
              <a:rPr lang="en-US" i="1" dirty="0"/>
              <a:t>TL;DR when using Cannon, put your customizations in here</a:t>
            </a:r>
          </a:p>
        </p:txBody>
      </p:sp>
    </p:spTree>
    <p:extLst>
      <p:ext uri="{BB962C8B-B14F-4D97-AF65-F5344CB8AC3E}">
        <p14:creationId xmlns:p14="http://schemas.microsoft.com/office/powerpoint/2010/main" val="1131102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7EF5E-D0DA-B7BE-8547-7868AFB2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52586-096C-0A07-A743-DF789D9A4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3C8EA-BA6F-A752-DE23-7D27B817E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have a look at what a `.</a:t>
            </a:r>
            <a:r>
              <a:rPr lang="en-US" dirty="0" err="1"/>
              <a:t>bashrc</a:t>
            </a:r>
            <a:r>
              <a:rPr lang="en-US" dirty="0"/>
              <a:t>` profile looks like on Cannon</a:t>
            </a:r>
          </a:p>
          <a:p>
            <a:pPr lvl="1"/>
            <a:r>
              <a:rPr lang="en-US" dirty="0"/>
              <a:t>Will be run whenever you log in, by any jobs you submit or create a new shell</a:t>
            </a:r>
          </a:p>
          <a:p>
            <a:pPr lvl="1"/>
            <a:r>
              <a:rPr lang="en-US" dirty="0"/>
              <a:t>The ‘global definitions’ section sources cluster-wide definitions, allows jobs to run properly</a:t>
            </a:r>
          </a:p>
          <a:p>
            <a:pPr lvl="2"/>
            <a:r>
              <a:rPr lang="en-US" dirty="0"/>
              <a:t>Don’t modify this part!!</a:t>
            </a:r>
          </a:p>
          <a:p>
            <a:pPr lvl="1"/>
            <a:r>
              <a:rPr lang="en-US" dirty="0"/>
              <a:t>Customization goes under the ‘user specific’ section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3809E-0484-1E6E-0E41-2A966292693E}"/>
              </a:ext>
            </a:extLst>
          </p:cNvPr>
          <p:cNvSpPr txBox="1"/>
          <p:nvPr/>
        </p:nvSpPr>
        <p:spPr>
          <a:xfrm>
            <a:off x="2956193" y="4629838"/>
            <a:ext cx="62796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170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C01A9-26CC-BF0E-12F5-3B46B29C8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FBB0-7D40-55E5-725A-9BBCABBA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598A9-5BFD-4D95-3B54-00CCEF9B4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Cannon cluster, say there are several modules you commonly use</a:t>
            </a:r>
          </a:p>
          <a:p>
            <a:r>
              <a:rPr lang="en-US" dirty="0"/>
              <a:t>You could append `module load` statements to `.</a:t>
            </a:r>
            <a:r>
              <a:rPr lang="en-US" dirty="0" err="1"/>
              <a:t>bashrc</a:t>
            </a:r>
            <a:r>
              <a:rPr lang="en-US" dirty="0"/>
              <a:t>`: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2BB00-CE2A-330B-CD14-D11D3A97855D}"/>
              </a:ext>
            </a:extLst>
          </p:cNvPr>
          <p:cNvSpPr txBox="1"/>
          <p:nvPr/>
        </p:nvSpPr>
        <p:spPr>
          <a:xfrm>
            <a:off x="1837980" y="3349128"/>
            <a:ext cx="851603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module load </a:t>
            </a:r>
            <a:r>
              <a:rPr lang="en-US" dirty="0" err="1"/>
              <a:t>jdk</a:t>
            </a:r>
            <a:endParaRPr lang="en-US" dirty="0"/>
          </a:p>
          <a:p>
            <a:r>
              <a:rPr lang="en-US" dirty="0"/>
              <a:t>module load python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93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B8DB0-F9BD-F545-26A6-A77857811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2313-8047-7AB7-1FF7-A88DA78D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18526-8ED1-E162-203C-0AACB5483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However, it is better practice to instead use a </a:t>
            </a:r>
            <a:r>
              <a:rPr lang="en-US" i="1" dirty="0"/>
              <a:t>shell function</a:t>
            </a:r>
          </a:p>
          <a:p>
            <a:r>
              <a:rPr lang="en-US" dirty="0"/>
              <a:t>In your `.</a:t>
            </a:r>
            <a:r>
              <a:rPr lang="en-US" dirty="0" err="1"/>
              <a:t>bashrc</a:t>
            </a:r>
            <a:r>
              <a:rPr lang="en-US" dirty="0"/>
              <a:t>` we can add a custom function `</a:t>
            </a:r>
            <a:r>
              <a:rPr lang="en-US" dirty="0" err="1"/>
              <a:t>mymodules</a:t>
            </a:r>
            <a:r>
              <a:rPr lang="en-US" dirty="0"/>
              <a:t>`:</a:t>
            </a:r>
          </a:p>
          <a:p>
            <a:pPr lvl="1"/>
            <a:r>
              <a:rPr lang="en-US" dirty="0"/>
              <a:t>Can type `</a:t>
            </a:r>
            <a:r>
              <a:rPr lang="en-US" dirty="0" err="1"/>
              <a:t>mymodules</a:t>
            </a:r>
            <a:r>
              <a:rPr lang="en-US" dirty="0"/>
              <a:t>` to run the function and load the listed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7EF2D-DB4B-8E13-047F-FE9D1384D8C4}"/>
              </a:ext>
            </a:extLst>
          </p:cNvPr>
          <p:cNvSpPr txBox="1"/>
          <p:nvPr/>
        </p:nvSpPr>
        <p:spPr>
          <a:xfrm>
            <a:off x="2610999" y="3429000"/>
            <a:ext cx="62796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function </a:t>
            </a:r>
            <a:r>
              <a:rPr lang="en-US" dirty="0" err="1"/>
              <a:t>mymodules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    module load </a:t>
            </a:r>
            <a:r>
              <a:rPr lang="en-US" dirty="0" err="1"/>
              <a:t>jdk</a:t>
            </a:r>
            <a:br>
              <a:rPr lang="en-US" dirty="0"/>
            </a:br>
            <a:r>
              <a:rPr lang="en-US" dirty="0"/>
              <a:t>     module load python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845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9CC8-603A-8941-0C2D-02A5A402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F5687-A7AF-8590-3CD1-2EF9CEEF4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CC674-9931-8EC9-B19D-1D174B252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making your bash prompt cute!</a:t>
            </a:r>
          </a:p>
          <a:p>
            <a:pPr lvl="1"/>
            <a:r>
              <a:rPr lang="en-US" dirty="0"/>
              <a:t>Changing fonts, colors, etc.</a:t>
            </a:r>
          </a:p>
          <a:p>
            <a:r>
              <a:rPr lang="en-US" dirty="0"/>
              <a:t>Modify the `$PS1` variable</a:t>
            </a:r>
          </a:p>
          <a:p>
            <a:pPr lvl="1"/>
            <a:r>
              <a:rPr lang="en-US" dirty="0"/>
              <a:t>Unfortunately the syntax is quite cryptic…</a:t>
            </a:r>
          </a:p>
          <a:p>
            <a:pPr lvl="1"/>
            <a:r>
              <a:rPr lang="en-US" dirty="0"/>
              <a:t>Easiest to just copy a template someone else made…here’s mine:</a:t>
            </a:r>
          </a:p>
          <a:p>
            <a:pPr lvl="2"/>
            <a:r>
              <a:rPr lang="en-US" dirty="0"/>
              <a:t>Make username cyan, add ‘@’, make hostname green, add ‘:’, display PWD in yellow, add ‘$’ and a space</a:t>
            </a:r>
          </a:p>
          <a:p>
            <a:pPr marL="457200" lvl="1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C7A9DA-6879-9B54-A948-A0582C62BA15}"/>
              </a:ext>
            </a:extLst>
          </p:cNvPr>
          <p:cNvSpPr txBox="1"/>
          <p:nvPr/>
        </p:nvSpPr>
        <p:spPr>
          <a:xfrm>
            <a:off x="1759043" y="5012674"/>
            <a:ext cx="8673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export PS1="\[\033[36m\]\u\[\033[m\]@\[\033[32m\]\h:\[\033[33;1m\]\w\[\033[m\]\$ "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D7F7A8-7B34-C82F-9E20-8845DF02F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628709"/>
            <a:ext cx="60071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38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25BE-1D61-03D0-B296-487B17425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934A3-8937-3637-C8D1-DA9417CB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7C11-2E90-C24A-63F7-7725F529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coloring `</a:t>
            </a:r>
            <a:r>
              <a:rPr lang="en-US" dirty="0" err="1"/>
              <a:t>ls`output</a:t>
            </a:r>
            <a:r>
              <a:rPr lang="en-US" dirty="0"/>
              <a:t> based on file type</a:t>
            </a:r>
          </a:p>
          <a:p>
            <a:pPr lvl="1"/>
            <a:r>
              <a:rPr lang="en-US" dirty="0"/>
              <a:t>When using GNU `</a:t>
            </a:r>
            <a:r>
              <a:rPr lang="en-US" dirty="0" err="1"/>
              <a:t>ls`</a:t>
            </a:r>
            <a:r>
              <a:rPr lang="en-US" dirty="0"/>
              <a:t> (i.e. Cannon, but can be different e.g. on MacOS!):</a:t>
            </a:r>
          </a:p>
          <a:p>
            <a:pPr lvl="2"/>
            <a:r>
              <a:rPr lang="en-US" dirty="0"/>
              <a:t>Set an </a:t>
            </a:r>
            <a:r>
              <a:rPr lang="en-US" i="1" dirty="0"/>
              <a:t>alias</a:t>
            </a:r>
            <a:r>
              <a:rPr lang="en-US" dirty="0"/>
              <a:t> for `</a:t>
            </a:r>
            <a:r>
              <a:rPr lang="en-US" dirty="0" err="1"/>
              <a:t>ls`</a:t>
            </a:r>
            <a:r>
              <a:rPr lang="en-US" dirty="0"/>
              <a:t> to auto-enable color (otherwise would need to specify every time)</a:t>
            </a:r>
          </a:p>
          <a:p>
            <a:pPr lvl="2"/>
            <a:r>
              <a:rPr lang="en-US" dirty="0"/>
              <a:t>Set the LS_COLORS environmental variable </a:t>
            </a:r>
          </a:p>
          <a:p>
            <a:r>
              <a:rPr lang="en-US" dirty="0"/>
              <a:t>Again, the syntax is awful…here is mine:</a:t>
            </a:r>
          </a:p>
          <a:p>
            <a:pPr lvl="1"/>
            <a:r>
              <a:rPr lang="en-US" dirty="0" err="1"/>
              <a:t>Dirs</a:t>
            </a:r>
            <a:r>
              <a:rPr lang="en-US" dirty="0"/>
              <a:t> in cyan, </a:t>
            </a:r>
            <a:r>
              <a:rPr lang="en-US" dirty="0" err="1"/>
              <a:t>symlinks</a:t>
            </a:r>
            <a:r>
              <a:rPr lang="en-US" dirty="0"/>
              <a:t> in magenta, executables in green, regular files in white,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AB614-9E16-E3E2-B90C-E63629B11800}"/>
              </a:ext>
            </a:extLst>
          </p:cNvPr>
          <p:cNvSpPr txBox="1"/>
          <p:nvPr/>
        </p:nvSpPr>
        <p:spPr>
          <a:xfrm>
            <a:off x="1759043" y="5012674"/>
            <a:ext cx="77031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alias ls='ls --color=auto'</a:t>
            </a:r>
          </a:p>
          <a:p>
            <a:r>
              <a:rPr lang="en-US" dirty="0"/>
              <a:t>export LS_COLORS="di=36:ln=35:ex=32:fi=0:pi=33:so=35:bd=33;1:cd=33;1"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4AB6DF-E557-CFDA-5F2B-ECE461017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781063"/>
            <a:ext cx="28956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16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1357</Words>
  <Application>Microsoft Macintosh PowerPoint</Application>
  <PresentationFormat>Widescreen</PresentationFormat>
  <Paragraphs>139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Khost, Danielle Emerson</dc:creator>
  <cp:lastModifiedBy>Khost, Danielle Emerson</cp:lastModifiedBy>
  <cp:revision>5</cp:revision>
  <dcterms:created xsi:type="dcterms:W3CDTF">2026-01-30T18:57:29Z</dcterms:created>
  <dcterms:modified xsi:type="dcterms:W3CDTF">2026-02-02T18:28:31Z</dcterms:modified>
</cp:coreProperties>
</file>