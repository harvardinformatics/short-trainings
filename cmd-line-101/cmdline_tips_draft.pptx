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81" r:id="rId3"/>
    <p:sldId id="283" r:id="rId4"/>
    <p:sldId id="282" r:id="rId5"/>
    <p:sldId id="284" r:id="rId6"/>
    <p:sldId id="257" r:id="rId7"/>
    <p:sldId id="258" r:id="rId8"/>
    <p:sldId id="259" r:id="rId9"/>
    <p:sldId id="260" r:id="rId10"/>
    <p:sldId id="267" r:id="rId11"/>
    <p:sldId id="266" r:id="rId12"/>
    <p:sldId id="268" r:id="rId13"/>
    <p:sldId id="261" r:id="rId14"/>
    <p:sldId id="262" r:id="rId15"/>
    <p:sldId id="263" r:id="rId16"/>
    <p:sldId id="264" r:id="rId17"/>
    <p:sldId id="265" r:id="rId18"/>
    <p:sldId id="270" r:id="rId19"/>
    <p:sldId id="269" r:id="rId20"/>
    <p:sldId id="274" r:id="rId21"/>
    <p:sldId id="271" r:id="rId22"/>
    <p:sldId id="275" r:id="rId23"/>
    <p:sldId id="272" r:id="rId24"/>
    <p:sldId id="273" r:id="rId25"/>
    <p:sldId id="276" r:id="rId26"/>
    <p:sldId id="277" r:id="rId27"/>
    <p:sldId id="278" r:id="rId28"/>
    <p:sldId id="2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1C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>
        <p:scale>
          <a:sx n="104" d="100"/>
          <a:sy n="104" d="100"/>
        </p:scale>
        <p:origin x="1088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5ABD-E82C-59CD-C8B8-5F95CCFAE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66FBDE-E490-9051-0488-2BCE3C290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75AB8-C384-CC8C-53D5-7A4B27BC7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D80DB-A9B6-E2A7-1072-D8D408B5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86396-4434-4D8A-CFA7-CA2EBD86A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4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C6859-33F6-C900-4E03-3F5E547F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FF45A-3C14-92E2-623E-04E6A4629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F03-C7C7-62C2-1FD8-03D8726C5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B880F-7B62-74CE-D9D8-6A684CF40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01E11-A33E-9A37-67C2-895FF48C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63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A2EA-5E54-470E-BA15-081108FC3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72DD8-67C0-3A4E-BAD6-8B336F8F0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EFA3A-54D4-11B3-3A2A-B53A98E9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CC61F-D6AA-80D4-C737-69A19AEEB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02F7A-2F4D-AFF7-4C73-EC5DFF6E5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62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C53E-CEAD-D721-EF70-5EBC91AEE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17C37-3A26-80D5-2CC2-8F490F1C8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60C9B-317D-213F-3B4A-ED9EC40AB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A39D7-3E65-A6EF-4FFD-40138FCC5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3E6C6-1831-6052-12BF-449E3A75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EDA9D-015C-0DF5-1357-3072A2C3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4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978AE-F36E-8AE7-1694-4E04FDC8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8DBB1-185D-A22E-8745-7D283678E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F1EA6F-B95F-FEC3-B0F6-D395C1080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EBC9B-EB4F-9763-8290-97F255265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F0D9E-A68A-07B5-5E84-2DE96FF8F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8F6FF0-E8A1-8A7E-E8CC-633F5C304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51F1DD-12AC-1940-F2BD-BD69442D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9F6481-953F-D02F-8F1F-30E69D57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28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DCB5-9418-1825-A301-65D6110E5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37E2B2-54CA-60D4-63CE-7CD895E1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F3ED3-CAEC-1033-5E54-3D15BA084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DAB57-B8EF-030E-701F-5E6E02EF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6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D22928-E561-F379-5F87-224A12E87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A1192-E9E1-AEDD-FD49-B80FEC72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B9D94-6DEF-A729-630E-BD84F974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3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2E4E3-878E-AA98-E784-D919AA0B2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FDBDA-E71A-7995-21B6-3F67DA8B8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8D8F9-683D-BD5E-B2F6-6EEC88C6A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7B41C-B2C8-4C36-A4DA-A40FF20C4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59ADB-B437-2F30-7B7A-6BE5FAC6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8DA0B-B7CA-07B5-226F-30A8C939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74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D5DF-7D8E-E754-EFA9-B8AEE8831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DD0004-08D4-BB3F-7CC1-D7AE5F63B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8F891-7B42-3CDD-FEF1-979FA7179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300A6-D60D-1D21-8C27-68A7966BB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5AE8C9-C3C4-6CF7-68C0-F44D6B3A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BE6F7-4D77-355B-CC19-5C220E08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80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8B3F4-204E-9969-A0A7-E268A8A5F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66B9F-872C-F0B2-7FE0-1CF932091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E964E-D686-AE68-59B6-11B6418F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C5D64-3C1A-4B81-D6D8-456A40E3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85934-D424-8DFB-0D76-F3980F5D3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0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3A1495-FA61-AAD3-D324-BAEAAD3DA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7F685-A5D4-B227-4F2F-7FB667163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83D8A-CF94-6C0F-3BC7-5004674E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DA85D-391B-27A2-EF6B-B90AD426F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2548B-6AB7-E782-45AD-AC8F0D749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67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90F4A-3FF2-3112-9E5D-5677617B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E6300-3497-8032-F077-AE4E08B01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2D7CA-538A-D7E9-37D6-68280D6B96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6B4F0-C34F-B24F-B974-1303EBE688C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E1F64-2284-FE40-4F66-D3281111F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336C8-488F-9F99-B67C-46E419258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1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8677DF-0627-BDC6-9C23-C3EBC33F69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8D15E9-D3C5-4D56-EC73-260C90963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26314"/>
            <a:ext cx="12192000" cy="120491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33FF33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Command line 101:</a:t>
            </a:r>
            <a:b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33FF33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Tips &amp; tricks for aspiring power users</a:t>
            </a:r>
            <a:b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 Work smarter not harder &amp; type less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930FF-0D52-8019-4787-F80035CFA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1226"/>
            <a:ext cx="10668000" cy="2573337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33FF33"/>
                </a:solidFill>
                <a:latin typeface="Consolas" panose="020B0609020204030204" pitchFamily="49" charset="0"/>
              </a:rPr>
              <a:t> Harvard FAS Informatics virtual training</a:t>
            </a:r>
          </a:p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33FF33"/>
                </a:solidFill>
                <a:latin typeface="Consolas" panose="020B0609020204030204" pitchFamily="49" charset="0"/>
              </a:rPr>
              <a:t> Thursday, February 12, 2026</a:t>
            </a:r>
          </a:p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140393-AEA2-A958-0E1D-DBF9A848B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2998064"/>
            <a:ext cx="584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60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F6B6-0411-67F4-A748-26DAF2B9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 commands work?</a:t>
            </a:r>
          </a:p>
        </p:txBody>
      </p:sp>
      <p:pic>
        <p:nvPicPr>
          <p:cNvPr id="5" name="Content Placeholder 4" descr="A drawing of a computer with a speech bubble&#10;&#10;AI-generated content may be incorrect.">
            <a:extLst>
              <a:ext uri="{FF2B5EF4-FFF2-40B4-BE49-F238E27FC236}">
                <a16:creationId xmlns:a16="http://schemas.microsoft.com/office/drawing/2014/main" id="{AADC04BE-69E2-AD54-91EC-A752CB86EE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12" y="2141537"/>
            <a:ext cx="435133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4A999C-4858-B9CD-2E28-E1637D38125A}"/>
              </a:ext>
            </a:extLst>
          </p:cNvPr>
          <p:cNvSpPr txBox="1"/>
          <p:nvPr/>
        </p:nvSpPr>
        <p:spPr>
          <a:xfrm>
            <a:off x="699247" y="3288414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[gregg]$ ls</a:t>
            </a:r>
          </a:p>
        </p:txBody>
      </p:sp>
      <p:pic>
        <p:nvPicPr>
          <p:cNvPr id="8" name="Graphic 7" descr="Folder Search with solid fill">
            <a:extLst>
              <a:ext uri="{FF2B5EF4-FFF2-40B4-BE49-F238E27FC236}">
                <a16:creationId xmlns:a16="http://schemas.microsoft.com/office/drawing/2014/main" id="{67A97C42-CB60-9C61-FA18-B0BA1AAEF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114643"/>
            <a:ext cx="914400" cy="914400"/>
          </a:xfrm>
          <a:prstGeom prst="rect">
            <a:avLst/>
          </a:prstGeom>
        </p:spPr>
      </p:pic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284C611A-EFD3-70A6-6A01-D70800651962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526150" y="2571843"/>
            <a:ext cx="1112650" cy="17453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A5F274E-DDA8-C409-DDCE-298E1C0A1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553" y="214461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11A7F4-342A-3D27-A6CC-891560B4D6EA}"/>
              </a:ext>
            </a:extLst>
          </p:cNvPr>
          <p:cNvSpPr txBox="1"/>
          <p:nvPr/>
        </p:nvSpPr>
        <p:spPr>
          <a:xfrm>
            <a:off x="9253178" y="238717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/bin/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B325C8-9BA6-DC0C-809B-819595E847FF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553200" y="2571843"/>
            <a:ext cx="26999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C0E139-053F-3DDC-3CA5-9BE717884C9D}"/>
              </a:ext>
            </a:extLst>
          </p:cNvPr>
          <p:cNvGrpSpPr/>
          <p:nvPr/>
        </p:nvGrpSpPr>
        <p:grpSpPr>
          <a:xfrm>
            <a:off x="9448341" y="3421781"/>
            <a:ext cx="562174" cy="793750"/>
            <a:chOff x="7387881" y="3180927"/>
            <a:chExt cx="793750" cy="109601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24ED2B7-70F4-20E1-9C3F-D07EB9CA9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00" t="52231" r="80037" b="2857"/>
            <a:stretch>
              <a:fillRect/>
            </a:stretch>
          </p:blipFill>
          <p:spPr>
            <a:xfrm>
              <a:off x="7387881" y="3180927"/>
              <a:ext cx="793750" cy="109601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C290E23-F06E-B658-130D-A687FD9094F1}"/>
                </a:ext>
              </a:extLst>
            </p:cNvPr>
            <p:cNvSpPr txBox="1"/>
            <p:nvPr/>
          </p:nvSpPr>
          <p:spPr>
            <a:xfrm>
              <a:off x="7459706" y="4000526"/>
              <a:ext cx="603019" cy="215444"/>
            </a:xfrm>
            <a:prstGeom prst="rect">
              <a:avLst/>
            </a:prstGeom>
            <a:solidFill>
              <a:srgbClr val="EE1C23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ls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9CDE50-642A-624A-6DB8-CAF3D105B722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9729428" y="2938368"/>
            <a:ext cx="0" cy="483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74D3501-407D-D084-5A5B-512AE1DBC3A8}"/>
              </a:ext>
            </a:extLst>
          </p:cNvPr>
          <p:cNvSpPr txBox="1"/>
          <p:nvPr/>
        </p:nvSpPr>
        <p:spPr>
          <a:xfrm>
            <a:off x="6553200" y="4720281"/>
            <a:ext cx="1874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Run this program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E80BB726-4EB9-5919-732B-8053097B7F47}"/>
              </a:ext>
            </a:extLst>
          </p:cNvPr>
          <p:cNvCxnSpPr>
            <a:cxnSpLocks/>
            <a:stCxn id="32" idx="2"/>
          </p:cNvCxnSpPr>
          <p:nvPr/>
        </p:nvCxnSpPr>
        <p:spPr>
          <a:xfrm rot="5400000">
            <a:off x="5667098" y="3700315"/>
            <a:ext cx="433856" cy="32124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DBCA8E09-4C00-C38D-98C5-38836A1FEA57}"/>
              </a:ext>
            </a:extLst>
          </p:cNvPr>
          <p:cNvCxnSpPr>
            <a:cxnSpLocks/>
            <a:stCxn id="16" idx="2"/>
            <a:endCxn id="32" idx="3"/>
          </p:cNvCxnSpPr>
          <p:nvPr/>
        </p:nvCxnSpPr>
        <p:spPr>
          <a:xfrm rot="5400000">
            <a:off x="8733658" y="3909177"/>
            <a:ext cx="689416" cy="13021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345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4B9C2-C621-AE15-06D9-A47037A49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00AA1-FB47-5B67-FD98-A9B669029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All progams live somewhere in your computer</a:t>
            </a:r>
          </a:p>
        </p:txBody>
      </p:sp>
      <p:pic>
        <p:nvPicPr>
          <p:cNvPr id="5" name="Content Placeholder 4" descr="A drawing of a computer with a speech bubble&#10;&#10;AI-generated content may be incorrect.">
            <a:extLst>
              <a:ext uri="{FF2B5EF4-FFF2-40B4-BE49-F238E27FC236}">
                <a16:creationId xmlns:a16="http://schemas.microsoft.com/office/drawing/2014/main" id="{E337F20B-3F99-669F-62EC-4B9232153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12" y="2141537"/>
            <a:ext cx="435133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DE6893-722F-BF68-DD48-5DD62B4C08DB}"/>
              </a:ext>
            </a:extLst>
          </p:cNvPr>
          <p:cNvSpPr txBox="1"/>
          <p:nvPr/>
        </p:nvSpPr>
        <p:spPr>
          <a:xfrm>
            <a:off x="699247" y="3288414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[gregg]$ ls</a:t>
            </a:r>
          </a:p>
        </p:txBody>
      </p:sp>
      <p:pic>
        <p:nvPicPr>
          <p:cNvPr id="8" name="Graphic 7" descr="Folder Search with solid fill">
            <a:extLst>
              <a:ext uri="{FF2B5EF4-FFF2-40B4-BE49-F238E27FC236}">
                <a16:creationId xmlns:a16="http://schemas.microsoft.com/office/drawing/2014/main" id="{F5368EBA-1C1B-949F-7BA0-45B23330A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114643"/>
            <a:ext cx="914400" cy="914400"/>
          </a:xfrm>
          <a:prstGeom prst="rect">
            <a:avLst/>
          </a:prstGeom>
        </p:spPr>
      </p:pic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E1C7597E-7189-7F2D-9D7E-DCFC18B092B2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526150" y="2571843"/>
            <a:ext cx="1112650" cy="17453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EDB3F06-CE4D-7AC4-DB07-BFD4599E7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553" y="214461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3F5B8B-BE13-5E69-BFB3-8C6AFC407B56}"/>
              </a:ext>
            </a:extLst>
          </p:cNvPr>
          <p:cNvSpPr txBox="1"/>
          <p:nvPr/>
        </p:nvSpPr>
        <p:spPr>
          <a:xfrm>
            <a:off x="9253178" y="238717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/bin/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A5DC7C-B020-9AB4-737F-E4EABD4AC2A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553200" y="2571843"/>
            <a:ext cx="26999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532C612-FDF5-AAA6-4E85-9AB95E93E485}"/>
              </a:ext>
            </a:extLst>
          </p:cNvPr>
          <p:cNvGrpSpPr/>
          <p:nvPr/>
        </p:nvGrpSpPr>
        <p:grpSpPr>
          <a:xfrm>
            <a:off x="9448341" y="3421781"/>
            <a:ext cx="562174" cy="793750"/>
            <a:chOff x="7387881" y="3180927"/>
            <a:chExt cx="793750" cy="109601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215CCD6-B695-B77D-865E-D56EB0468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00" t="52231" r="80037" b="2857"/>
            <a:stretch>
              <a:fillRect/>
            </a:stretch>
          </p:blipFill>
          <p:spPr>
            <a:xfrm>
              <a:off x="7387881" y="3180927"/>
              <a:ext cx="793750" cy="109601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12915E-CEE8-4459-CB7B-34685C03B214}"/>
                </a:ext>
              </a:extLst>
            </p:cNvPr>
            <p:cNvSpPr txBox="1"/>
            <p:nvPr/>
          </p:nvSpPr>
          <p:spPr>
            <a:xfrm>
              <a:off x="7459706" y="4000526"/>
              <a:ext cx="603019" cy="215444"/>
            </a:xfrm>
            <a:prstGeom prst="rect">
              <a:avLst/>
            </a:prstGeom>
            <a:solidFill>
              <a:srgbClr val="EE1C23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ls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0B1371-E8B2-653D-A293-0A5316726239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9729428" y="2938368"/>
            <a:ext cx="0" cy="483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-up of a black and white text&#10;&#10;AI-generated content may be incorrect.">
            <a:extLst>
              <a:ext uri="{FF2B5EF4-FFF2-40B4-BE49-F238E27FC236}">
                <a16:creationId xmlns:a16="http://schemas.microsoft.com/office/drawing/2014/main" id="{C3EF7F38-1469-89FF-5642-E41D00ADED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800" y="3724662"/>
            <a:ext cx="31496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37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4654C-6D6C-A53C-BB82-DBF28210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4CF5D-235A-2DAA-A1C0-367845D3B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$PATH is list of directories to search</a:t>
            </a:r>
          </a:p>
        </p:txBody>
      </p:sp>
      <p:pic>
        <p:nvPicPr>
          <p:cNvPr id="5" name="Content Placeholder 4" descr="A drawing of a computer with a speech bubble&#10;&#10;AI-generated content may be incorrect.">
            <a:extLst>
              <a:ext uri="{FF2B5EF4-FFF2-40B4-BE49-F238E27FC236}">
                <a16:creationId xmlns:a16="http://schemas.microsoft.com/office/drawing/2014/main" id="{735F6FF6-CCC5-6106-ED7F-86062E517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12" y="2141537"/>
            <a:ext cx="435133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608A8E-E428-331A-0920-2A3AAC93A925}"/>
              </a:ext>
            </a:extLst>
          </p:cNvPr>
          <p:cNvSpPr txBox="1"/>
          <p:nvPr/>
        </p:nvSpPr>
        <p:spPr>
          <a:xfrm>
            <a:off x="699247" y="3288414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[gregg]$ ls</a:t>
            </a:r>
          </a:p>
        </p:txBody>
      </p:sp>
      <p:pic>
        <p:nvPicPr>
          <p:cNvPr id="8" name="Graphic 7" descr="Folder Search with solid fill">
            <a:extLst>
              <a:ext uri="{FF2B5EF4-FFF2-40B4-BE49-F238E27FC236}">
                <a16:creationId xmlns:a16="http://schemas.microsoft.com/office/drawing/2014/main" id="{E10395E1-EB12-07CB-FB0B-37F06044A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114643"/>
            <a:ext cx="914400" cy="914400"/>
          </a:xfrm>
          <a:prstGeom prst="rect">
            <a:avLst/>
          </a:prstGeom>
        </p:spPr>
      </p:pic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29A6BEF4-3856-AA4D-A107-C2F69FA28C0A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526150" y="2571843"/>
            <a:ext cx="1112650" cy="17453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7F35104-FED9-21E2-12C4-A13C4D7C2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553" y="214461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8022EEE-DFEF-4BB6-4275-E63727A0DBD9}"/>
              </a:ext>
            </a:extLst>
          </p:cNvPr>
          <p:cNvSpPr txBox="1"/>
          <p:nvPr/>
        </p:nvSpPr>
        <p:spPr>
          <a:xfrm>
            <a:off x="9253178" y="238717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/bin/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B7DEA8-89C1-FA35-1092-FE71851D4091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553200" y="2571843"/>
            <a:ext cx="26999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A0AAED4F-64B9-FE6D-88A7-8E43E270B0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1582" y="3029043"/>
            <a:ext cx="5143213" cy="339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477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C00AD-C4C7-D25B-7B11-406D19448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Environmental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FADDB-581D-EF4A-B959-D3FB63301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101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Shortcuts/keywords that are assign on startup</a:t>
            </a:r>
          </a:p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A8B417-A532-83EF-81F1-4FCA9D6EC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32086"/>
              </p:ext>
            </p:extLst>
          </p:nvPr>
        </p:nvGraphicFramePr>
        <p:xfrm>
          <a:off x="1" y="3015482"/>
          <a:ext cx="12191999" cy="236651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55492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8336507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530907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$PATH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 colon-separated list of directories that contain software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$HOME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  <a:cs typeface="Consolas" panose="020B0609020204030204" pitchFamily="49" charset="0"/>
                        </a:rPr>
                        <a:t>points to the home directory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475109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$PWD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the current working directory (print working directory)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451648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(on Cannon) points to the scratch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451648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prints the current user of the terminal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299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473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03133-4B55-6D63-00E8-2FADDAC3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E4DD6-2D20-CB12-42C1-BE793AD1B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type a command at the terminal and it executes, what is actually happening?</a:t>
            </a:r>
          </a:p>
          <a:p>
            <a:pPr lvl="1"/>
            <a:r>
              <a:rPr lang="en-US" dirty="0"/>
              <a:t>E.g. `</a:t>
            </a:r>
            <a:r>
              <a:rPr lang="en-US" dirty="0" err="1"/>
              <a:t>ls`</a:t>
            </a:r>
            <a:endParaRPr lang="en-US" dirty="0"/>
          </a:p>
          <a:p>
            <a:r>
              <a:rPr lang="en-US" dirty="0"/>
              <a:t>Or, when you type a command and you get a “command not found” error even </a:t>
            </a:r>
            <a:r>
              <a:rPr lang="en-US" dirty="0" err="1"/>
              <a:t>tho</a:t>
            </a:r>
            <a:r>
              <a:rPr lang="en-US" dirty="0"/>
              <a:t> you’ve installed it, why is that?</a:t>
            </a:r>
          </a:p>
          <a:p>
            <a:r>
              <a:rPr lang="en-US" dirty="0"/>
              <a:t>“Behind the scenes” the shell sets variables that contain important configuration data (paths to executables,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b="1" i="1" dirty="0"/>
              <a:t>Environmental variables </a:t>
            </a:r>
          </a:p>
          <a:p>
            <a:pPr lvl="1"/>
            <a:r>
              <a:rPr lang="en-US" dirty="0"/>
              <a:t>Inherited by all child processes upon shell startup</a:t>
            </a:r>
          </a:p>
        </p:txBody>
      </p:sp>
    </p:spTree>
    <p:extLst>
      <p:ext uri="{BB962C8B-B14F-4D97-AF65-F5344CB8AC3E}">
        <p14:creationId xmlns:p14="http://schemas.microsoft.com/office/powerpoint/2010/main" val="258523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D270E-3B83-E6C4-77B1-3977C5E2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A4AC8-9E92-AEDB-4A83-6510F4656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`</a:t>
            </a:r>
            <a:r>
              <a:rPr lang="en-US" dirty="0" err="1"/>
              <a:t>ls`</a:t>
            </a:r>
            <a:r>
              <a:rPr lang="en-US" dirty="0"/>
              <a:t> command:</a:t>
            </a:r>
          </a:p>
          <a:p>
            <a:pPr lvl="1"/>
            <a:r>
              <a:rPr lang="en-US" dirty="0"/>
              <a:t>`</a:t>
            </a:r>
            <a:r>
              <a:rPr lang="en-US" dirty="0" err="1"/>
              <a:t>ls`</a:t>
            </a:r>
            <a:r>
              <a:rPr lang="en-US" dirty="0"/>
              <a:t> is a program/executable that “lives” somewhere in the filesystem</a:t>
            </a:r>
          </a:p>
          <a:p>
            <a:pPr lvl="1"/>
            <a:r>
              <a:rPr lang="en-US" dirty="0"/>
              <a:t>We can see where it lives by: `which </a:t>
            </a:r>
            <a:r>
              <a:rPr lang="en-US" dirty="0" err="1"/>
              <a:t>ls`</a:t>
            </a:r>
            <a:endParaRPr lang="en-US" dirty="0"/>
          </a:p>
          <a:p>
            <a:pPr lvl="2"/>
            <a:r>
              <a:rPr lang="en-US" dirty="0"/>
              <a:t>It lives in a directory called `/bin/`</a:t>
            </a:r>
          </a:p>
          <a:p>
            <a:pPr lvl="1"/>
            <a:r>
              <a:rPr lang="en-US" dirty="0"/>
              <a:t>The shell “knows” to look in the `/bin` directory when you type `</a:t>
            </a:r>
            <a:r>
              <a:rPr lang="en-US" dirty="0" err="1"/>
              <a:t>ls`</a:t>
            </a:r>
            <a:r>
              <a:rPr lang="en-US" dirty="0"/>
              <a:t> because of the `$PATH` environmental variable</a:t>
            </a:r>
          </a:p>
          <a:p>
            <a:r>
              <a:rPr lang="en-US" dirty="0"/>
              <a:t>`$PATH` contains a list of directories that the shell will search in for executables</a:t>
            </a:r>
          </a:p>
          <a:p>
            <a:pPr lvl="1"/>
            <a:r>
              <a:rPr lang="en-US" dirty="0"/>
              <a:t>`echo $PATH`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293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23607-062D-90EF-EB45-F2BCDFFCD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38378-79A4-BA5E-1434-F9FFF576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F67CC-606C-D900-6F99-6864E759C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`$PATH` is just one of many environmental variables…</a:t>
            </a:r>
          </a:p>
          <a:p>
            <a:r>
              <a:rPr lang="en-US" dirty="0"/>
              <a:t>`</a:t>
            </a:r>
            <a:r>
              <a:rPr lang="en-US" dirty="0" err="1"/>
              <a:t>printenv</a:t>
            </a:r>
            <a:r>
              <a:rPr lang="en-US" dirty="0"/>
              <a:t>` will list all of them</a:t>
            </a:r>
          </a:p>
          <a:p>
            <a:pPr lvl="1"/>
            <a:r>
              <a:rPr lang="en-US" dirty="0"/>
              <a:t>Most of these are set by the system automatically</a:t>
            </a:r>
          </a:p>
          <a:p>
            <a:pPr lvl="1"/>
            <a:r>
              <a:rPr lang="en-US" dirty="0"/>
              <a:t>Some are static and don’t change (or shouldn’t…)</a:t>
            </a:r>
          </a:p>
          <a:p>
            <a:pPr lvl="2"/>
            <a:r>
              <a:rPr lang="en-US" dirty="0"/>
              <a:t>e.g. `echo $HOME`</a:t>
            </a:r>
          </a:p>
          <a:p>
            <a:pPr lvl="1"/>
            <a:r>
              <a:rPr lang="en-US" dirty="0"/>
              <a:t>Others are updated automatically</a:t>
            </a:r>
          </a:p>
          <a:p>
            <a:pPr lvl="2"/>
            <a:r>
              <a:rPr lang="en-US" dirty="0"/>
              <a:t>`echo $PWD` (present working directory)</a:t>
            </a:r>
          </a:p>
          <a:p>
            <a:pPr lvl="2"/>
            <a:r>
              <a:rPr lang="en-US" dirty="0"/>
              <a:t>`cd ..`</a:t>
            </a:r>
          </a:p>
          <a:p>
            <a:pPr lvl="2"/>
            <a:r>
              <a:rPr lang="en-US" dirty="0"/>
              <a:t>`echo $PWD`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173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E9007-CB34-F78F-0625-95814257E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63C80-EE9D-E93B-2570-4F4A5D37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CF6D3-2D1C-A66F-DDFB-36EFCF6CC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1445"/>
          </a:xfrm>
        </p:spPr>
        <p:txBody>
          <a:bodyPr/>
          <a:lstStyle/>
          <a:p>
            <a:r>
              <a:rPr lang="en-US" dirty="0"/>
              <a:t>Like any variables, we can modify or add env variables</a:t>
            </a:r>
          </a:p>
          <a:p>
            <a:pPr lvl="1"/>
            <a:r>
              <a:rPr lang="en-US" dirty="0"/>
              <a:t>Tho that doesn’t mean we </a:t>
            </a:r>
            <a:r>
              <a:rPr lang="en-US" i="1" dirty="0"/>
              <a:t>should</a:t>
            </a:r>
            <a:r>
              <a:rPr lang="en-US" dirty="0"/>
              <a:t>, for some!</a:t>
            </a:r>
          </a:p>
          <a:p>
            <a:r>
              <a:rPr lang="en-US" dirty="0"/>
              <a:t>E.g. you’ve downloaded an executable and want to run it without having to type out the full path to where it’s downloaded</a:t>
            </a:r>
          </a:p>
          <a:p>
            <a:pPr lvl="1"/>
            <a:r>
              <a:rPr lang="en-US" dirty="0"/>
              <a:t>Option 1: copy the executable to a directory in your $PATH</a:t>
            </a:r>
          </a:p>
          <a:p>
            <a:pPr lvl="1"/>
            <a:r>
              <a:rPr lang="en-US" dirty="0"/>
              <a:t>Option 2: modify your $PATH by appending a directory to it:</a:t>
            </a:r>
          </a:p>
          <a:p>
            <a:pPr lvl="2"/>
            <a:r>
              <a:rPr lang="en-US" dirty="0"/>
              <a:t>`PATH=$PATH:/path/to/directory`</a:t>
            </a:r>
          </a:p>
          <a:p>
            <a:pPr lvl="2"/>
            <a:r>
              <a:rPr lang="en-US" dirty="0"/>
              <a:t>The shell will now search that directory for executables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812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B08D6-F3C7-06FA-42A2-00E0F32F8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104D0-701A-08BE-D0DC-1B8C1BB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DF8E9-0CB8-9BBB-791A-45A20C615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1445"/>
          </a:xfrm>
        </p:spPr>
        <p:txBody>
          <a:bodyPr/>
          <a:lstStyle/>
          <a:p>
            <a:r>
              <a:rPr lang="en-US" dirty="0"/>
              <a:t>We can also add new variables to the shell:</a:t>
            </a:r>
          </a:p>
          <a:p>
            <a:pPr lvl="1"/>
            <a:r>
              <a:rPr lang="en-US" dirty="0"/>
              <a:t>By convention, bash variables are named in uppercase</a:t>
            </a:r>
          </a:p>
          <a:p>
            <a:pPr lvl="1"/>
            <a:r>
              <a:rPr lang="en-US" dirty="0"/>
              <a:t>`TEST=“hello there”`</a:t>
            </a:r>
          </a:p>
          <a:p>
            <a:pPr lvl="1"/>
            <a:r>
              <a:rPr lang="en-US" dirty="0"/>
              <a:t>`echo $TEST`</a:t>
            </a:r>
          </a:p>
          <a:p>
            <a:r>
              <a:rPr lang="en-US" dirty="0"/>
              <a:t>IMPORTANT: what we did here was make a </a:t>
            </a:r>
            <a:r>
              <a:rPr lang="en-US" i="1" dirty="0"/>
              <a:t>shell variable</a:t>
            </a:r>
            <a:r>
              <a:rPr lang="en-US" dirty="0"/>
              <a:t>, not an environmental variable</a:t>
            </a:r>
          </a:p>
          <a:p>
            <a:r>
              <a:rPr lang="en-US" dirty="0"/>
              <a:t>What’s the difference??</a:t>
            </a:r>
          </a:p>
        </p:txBody>
      </p:sp>
    </p:spTree>
    <p:extLst>
      <p:ext uri="{BB962C8B-B14F-4D97-AF65-F5344CB8AC3E}">
        <p14:creationId xmlns:p14="http://schemas.microsoft.com/office/powerpoint/2010/main" val="3495916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F3DED-A691-9BD8-F866-C62DC8FD4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41E7A-C141-5FC9-78AE-43E2B813E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551B4-0B44-C75B-0F64-E09B63DD2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1445"/>
          </a:xfrm>
        </p:spPr>
        <p:txBody>
          <a:bodyPr/>
          <a:lstStyle/>
          <a:p>
            <a:r>
              <a:rPr lang="en-US" dirty="0"/>
              <a:t>Environmental variables vs shell variables:</a:t>
            </a:r>
          </a:p>
          <a:p>
            <a:pPr lvl="1"/>
            <a:r>
              <a:rPr lang="en-US" dirty="0"/>
              <a:t>Env variables are shared across all processes or programs created from the shell</a:t>
            </a:r>
          </a:p>
          <a:p>
            <a:pPr lvl="2"/>
            <a:r>
              <a:rPr lang="en-US" dirty="0"/>
              <a:t>Can be “seen” by other programs</a:t>
            </a:r>
          </a:p>
          <a:p>
            <a:pPr lvl="1"/>
            <a:r>
              <a:rPr lang="en-US" dirty="0"/>
              <a:t>Shell variables are local to only the shell; they aren’t “seen” by child processes</a:t>
            </a:r>
          </a:p>
          <a:p>
            <a:pPr lvl="2"/>
            <a:r>
              <a:rPr lang="en-US" dirty="0"/>
              <a:t>E.g. if you ran a script that referenced a shell variable, it would not find it!</a:t>
            </a:r>
          </a:p>
        </p:txBody>
      </p:sp>
    </p:spTree>
    <p:extLst>
      <p:ext uri="{BB962C8B-B14F-4D97-AF65-F5344CB8AC3E}">
        <p14:creationId xmlns:p14="http://schemas.microsoft.com/office/powerpoint/2010/main" val="2920021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C4F92-0A56-5631-4FF8-A0BAFB1B0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EC34-AA03-A74A-1F25-873AB2339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F7D08-ADC1-12F9-6179-E29BDBF48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1445"/>
          </a:xfrm>
        </p:spPr>
        <p:txBody>
          <a:bodyPr/>
          <a:lstStyle/>
          <a:p>
            <a:r>
              <a:rPr lang="en-US" dirty="0"/>
              <a:t>`TEST=“</a:t>
            </a:r>
            <a:r>
              <a:rPr lang="en-US" dirty="0" err="1"/>
              <a:t>bingus</a:t>
            </a:r>
            <a:r>
              <a:rPr lang="en-US" dirty="0"/>
              <a:t>”`</a:t>
            </a:r>
          </a:p>
          <a:p>
            <a:r>
              <a:rPr lang="en-US" dirty="0"/>
              <a:t>`cat </a:t>
            </a:r>
            <a:r>
              <a:rPr lang="en-US" dirty="0" err="1"/>
              <a:t>print_test.sh</a:t>
            </a:r>
            <a:r>
              <a:rPr lang="en-US" dirty="0"/>
              <a:t>`</a:t>
            </a:r>
          </a:p>
          <a:p>
            <a:pPr lvl="1"/>
            <a:r>
              <a:rPr lang="en-US" dirty="0"/>
              <a:t>`echo $TEST`</a:t>
            </a:r>
          </a:p>
          <a:p>
            <a:r>
              <a:rPr lang="en-US" dirty="0"/>
              <a:t>`</a:t>
            </a:r>
            <a:r>
              <a:rPr lang="en-US" dirty="0" err="1"/>
              <a:t>sh</a:t>
            </a:r>
            <a:r>
              <a:rPr lang="en-US" dirty="0"/>
              <a:t> </a:t>
            </a:r>
            <a:r>
              <a:rPr lang="en-US" dirty="0" err="1"/>
              <a:t>print_test.sh</a:t>
            </a:r>
            <a:r>
              <a:rPr lang="en-US" dirty="0"/>
              <a:t>` -&gt; no output!</a:t>
            </a:r>
          </a:p>
          <a:p>
            <a:r>
              <a:rPr lang="en-US" dirty="0"/>
              <a:t>This is because the `$TEST` variable only exists in the </a:t>
            </a:r>
            <a:r>
              <a:rPr lang="en-US" b="1" dirty="0"/>
              <a:t>shell</a:t>
            </a:r>
            <a:r>
              <a:rPr lang="en-US" dirty="0"/>
              <a:t>…any subprocesses (e.g. our `</a:t>
            </a:r>
            <a:r>
              <a:rPr lang="en-US" dirty="0" err="1"/>
              <a:t>print_test</a:t>
            </a:r>
            <a:r>
              <a:rPr lang="en-US" dirty="0"/>
              <a:t>` script) will not inherit it</a:t>
            </a:r>
          </a:p>
          <a:p>
            <a:r>
              <a:rPr lang="en-US" dirty="0"/>
              <a:t>We can convert shell variables to environmental variables!</a:t>
            </a:r>
          </a:p>
          <a:p>
            <a:pPr lvl="1"/>
            <a:r>
              <a:rPr lang="en-US" dirty="0"/>
              <a:t>`export TEST`(note the lack of “$”!)</a:t>
            </a:r>
          </a:p>
          <a:p>
            <a:pPr lvl="1"/>
            <a:r>
              <a:rPr lang="en-US" dirty="0"/>
              <a:t>Now we can run the script successfully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98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21B01-8498-55BA-4863-549119AED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49CB-3EFF-1BEE-062E-85818E61D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9F031-8A9C-44AB-18A3-D0C83B59D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1445"/>
          </a:xfrm>
        </p:spPr>
        <p:txBody>
          <a:bodyPr/>
          <a:lstStyle/>
          <a:p>
            <a:r>
              <a:rPr lang="en-US" dirty="0"/>
              <a:t>Another important consideration with env/shell variables…</a:t>
            </a:r>
          </a:p>
          <a:p>
            <a:r>
              <a:rPr lang="en-US" dirty="0"/>
              <a:t>Try making a variable: `TEST=“</a:t>
            </a:r>
            <a:r>
              <a:rPr lang="en-US" dirty="0" err="1"/>
              <a:t>bingus</a:t>
            </a:r>
            <a:r>
              <a:rPr lang="en-US" dirty="0"/>
              <a:t>”`</a:t>
            </a:r>
          </a:p>
          <a:p>
            <a:pPr lvl="1"/>
            <a:r>
              <a:rPr lang="en-US" dirty="0"/>
              <a:t>`echo $TEST`</a:t>
            </a:r>
          </a:p>
          <a:p>
            <a:r>
              <a:rPr lang="en-US" dirty="0"/>
              <a:t>Now open a new terminal window…</a:t>
            </a:r>
          </a:p>
          <a:p>
            <a:pPr lvl="1"/>
            <a:r>
              <a:rPr lang="en-US" dirty="0"/>
              <a:t>`echo $TEST`</a:t>
            </a:r>
          </a:p>
          <a:p>
            <a:r>
              <a:rPr lang="en-US" dirty="0"/>
              <a:t>Nothing happens! What’s going on…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056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3F358-32AA-D230-E448-CC8EA648B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CDFF3-54AD-DE00-A1E6-D9CB43ED8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351AD-A7C4-DBE1-07C8-402D6525C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1445"/>
          </a:xfrm>
        </p:spPr>
        <p:txBody>
          <a:bodyPr/>
          <a:lstStyle/>
          <a:p>
            <a:r>
              <a:rPr lang="en-US" dirty="0"/>
              <a:t>Any changes to default env variables or new shell/env variables are only saved for that specific bash session!</a:t>
            </a:r>
          </a:p>
          <a:p>
            <a:pPr lvl="1"/>
            <a:r>
              <a:rPr lang="en-US" dirty="0"/>
              <a:t>You’ll have to re-set the values each time you reopen the shell</a:t>
            </a:r>
          </a:p>
          <a:p>
            <a:pPr lvl="1"/>
            <a:r>
              <a:rPr lang="en-US" dirty="0"/>
              <a:t>Or…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511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9C31F-4461-80BC-5AE3-BD3831CC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Customizing your bash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E5C9A-D21B-E172-4677-0CBC9FDE0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…we can modify our </a:t>
            </a:r>
            <a:r>
              <a:rPr lang="en-US" b="1" dirty="0"/>
              <a:t>bash</a:t>
            </a:r>
            <a:r>
              <a:rPr lang="en-US" dirty="0"/>
              <a:t> </a:t>
            </a:r>
            <a:r>
              <a:rPr lang="en-US" b="1" dirty="0"/>
              <a:t>profile</a:t>
            </a:r>
            <a:r>
              <a:rPr lang="en-US" dirty="0"/>
              <a:t> to load our custom env variables automatically!</a:t>
            </a:r>
          </a:p>
          <a:p>
            <a:r>
              <a:rPr lang="en-US" dirty="0"/>
              <a:t>This is just one of the things you can do with profiles…</a:t>
            </a:r>
          </a:p>
          <a:p>
            <a:pPr lvl="1"/>
            <a:r>
              <a:rPr lang="en-US" dirty="0"/>
              <a:t>Add custom directories to $PATH</a:t>
            </a:r>
          </a:p>
          <a:p>
            <a:pPr lvl="1"/>
            <a:r>
              <a:rPr lang="en-US" dirty="0"/>
              <a:t>Make a command alias</a:t>
            </a:r>
          </a:p>
          <a:p>
            <a:pPr lvl="1"/>
            <a:r>
              <a:rPr lang="en-US" dirty="0"/>
              <a:t>Customize the colors/themes and behavior of your shell</a:t>
            </a:r>
          </a:p>
          <a:p>
            <a:pPr lvl="1"/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077414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2547D-909F-5B19-8D52-D045A6712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86ED9-A47B-9C4A-E7C6-DC572F0B9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Customizing your bash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199B1-3CA2-8200-A0D7-3BBC1D263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Bash profiles are configuration files that are run on startup of the shell</a:t>
            </a:r>
          </a:p>
          <a:p>
            <a:pPr lvl="1"/>
            <a:r>
              <a:rPr lang="en-US" dirty="0"/>
              <a:t>Use caution! It is possible to “break” your shell, and it can be a big pain to fix it…</a:t>
            </a:r>
          </a:p>
          <a:p>
            <a:r>
              <a:rPr lang="en-US" dirty="0"/>
              <a:t>There are several different bash config files with some subtle differences</a:t>
            </a:r>
          </a:p>
          <a:p>
            <a:pPr lvl="1"/>
            <a:r>
              <a:rPr lang="en-US" dirty="0"/>
              <a:t>Generally they are “hidden” files, meaning they start with a “.” and will not be visible when listing contents unless use `ls –a`</a:t>
            </a:r>
          </a:p>
        </p:txBody>
      </p:sp>
    </p:spTree>
    <p:extLst>
      <p:ext uri="{BB962C8B-B14F-4D97-AF65-F5344CB8AC3E}">
        <p14:creationId xmlns:p14="http://schemas.microsoft.com/office/powerpoint/2010/main" val="2888708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C236B-2663-C0E3-B193-D85BF4148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66A6-33ED-DB7B-813E-C2D0155E9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Customizing your bash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F41B-823F-1C0F-0B01-1C485790F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`.</a:t>
            </a:r>
            <a:r>
              <a:rPr lang="en-US" dirty="0" err="1"/>
              <a:t>bashrc</a:t>
            </a:r>
            <a:r>
              <a:rPr lang="en-US" dirty="0"/>
              <a:t>` vs `.</a:t>
            </a:r>
            <a:r>
              <a:rPr lang="en-US" dirty="0" err="1"/>
              <a:t>bash_profile</a:t>
            </a:r>
            <a:r>
              <a:rPr lang="en-US" dirty="0"/>
              <a:t>`</a:t>
            </a:r>
          </a:p>
          <a:p>
            <a:pPr lvl="1"/>
            <a:r>
              <a:rPr lang="en-US" dirty="0"/>
              <a:t>Both are startup config files, usually in your home `~` directory</a:t>
            </a:r>
          </a:p>
          <a:p>
            <a:r>
              <a:rPr lang="en-US" dirty="0"/>
              <a:t>`.</a:t>
            </a:r>
            <a:r>
              <a:rPr lang="en-US" dirty="0" err="1"/>
              <a:t>bash_profile</a:t>
            </a:r>
            <a:r>
              <a:rPr lang="en-US" dirty="0"/>
              <a:t>` is run only once, upon login</a:t>
            </a:r>
          </a:p>
          <a:p>
            <a:pPr lvl="1"/>
            <a:r>
              <a:rPr lang="en-US" dirty="0"/>
              <a:t>Sources the `.</a:t>
            </a:r>
            <a:r>
              <a:rPr lang="en-US" dirty="0" err="1"/>
              <a:t>bashrc</a:t>
            </a:r>
            <a:r>
              <a:rPr lang="en-US" dirty="0"/>
              <a:t>` file (won’t do so otherwise!)</a:t>
            </a:r>
          </a:p>
          <a:p>
            <a:pPr lvl="1"/>
            <a:r>
              <a:rPr lang="en-US" i="1" dirty="0"/>
              <a:t>Generally, this is all you want in here</a:t>
            </a:r>
          </a:p>
          <a:p>
            <a:r>
              <a:rPr lang="en-US" dirty="0"/>
              <a:t>`.</a:t>
            </a:r>
            <a:r>
              <a:rPr lang="en-US" dirty="0" err="1"/>
              <a:t>bashrc`is</a:t>
            </a:r>
            <a:r>
              <a:rPr lang="en-US" dirty="0"/>
              <a:t> read anytime a shell is opened (assuming it has been sourced)</a:t>
            </a:r>
          </a:p>
          <a:p>
            <a:pPr lvl="1"/>
            <a:r>
              <a:rPr lang="en-US" dirty="0"/>
              <a:t>E.g. if you connect to an interactive node after logging in using `</a:t>
            </a:r>
            <a:r>
              <a:rPr lang="en-US" dirty="0" err="1"/>
              <a:t>salloc</a:t>
            </a:r>
            <a:r>
              <a:rPr lang="en-US" dirty="0"/>
              <a:t>`</a:t>
            </a:r>
          </a:p>
          <a:p>
            <a:pPr lvl="1"/>
            <a:r>
              <a:rPr lang="en-US" i="1" dirty="0"/>
              <a:t>TL;DR when using Cannon, put your customizations in here</a:t>
            </a:r>
          </a:p>
        </p:txBody>
      </p:sp>
    </p:spTree>
    <p:extLst>
      <p:ext uri="{BB962C8B-B14F-4D97-AF65-F5344CB8AC3E}">
        <p14:creationId xmlns:p14="http://schemas.microsoft.com/office/powerpoint/2010/main" val="1131102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7EF5E-D0DA-B7BE-8547-7868AFB2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2586-096C-0A07-A743-DF789D9A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Customizing your bash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3C8EA-BA6F-A752-DE23-7D27B817E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have a look at what a `.</a:t>
            </a:r>
            <a:r>
              <a:rPr lang="en-US" dirty="0" err="1"/>
              <a:t>bashrc</a:t>
            </a:r>
            <a:r>
              <a:rPr lang="en-US" dirty="0"/>
              <a:t>` profile looks like on Cannon</a:t>
            </a:r>
          </a:p>
          <a:p>
            <a:pPr lvl="1"/>
            <a:r>
              <a:rPr lang="en-US" dirty="0"/>
              <a:t>Will be run whenever you log in, by any jobs you submit or create a new shell</a:t>
            </a:r>
          </a:p>
          <a:p>
            <a:pPr lvl="1"/>
            <a:r>
              <a:rPr lang="en-US" dirty="0"/>
              <a:t>The ‘global definitions’ section sources cluster-wide definitions, allows jobs to run properly</a:t>
            </a:r>
          </a:p>
          <a:p>
            <a:pPr lvl="2"/>
            <a:r>
              <a:rPr lang="en-US" dirty="0"/>
              <a:t>Don’t modify this part!!</a:t>
            </a:r>
          </a:p>
          <a:p>
            <a:pPr lvl="1"/>
            <a:r>
              <a:rPr lang="en-US" dirty="0"/>
              <a:t>Customization goes under the ‘user specific’ section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3809E-0484-1E6E-0E41-2A966292693E}"/>
              </a:ext>
            </a:extLst>
          </p:cNvPr>
          <p:cNvSpPr txBox="1"/>
          <p:nvPr/>
        </p:nvSpPr>
        <p:spPr>
          <a:xfrm>
            <a:off x="2956193" y="4629838"/>
            <a:ext cx="62796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.</a:t>
            </a:r>
            <a:r>
              <a:rPr lang="en-US" dirty="0" err="1"/>
              <a:t>bashrc</a:t>
            </a:r>
            <a:endParaRPr lang="en-US" dirty="0"/>
          </a:p>
          <a:p>
            <a:r>
              <a:rPr lang="en-US" dirty="0"/>
              <a:t># Source global definitions</a:t>
            </a:r>
          </a:p>
          <a:p>
            <a:r>
              <a:rPr lang="en-US" dirty="0"/>
              <a:t>if [ -f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bashrc</a:t>
            </a:r>
            <a:r>
              <a:rPr lang="en-US" dirty="0"/>
              <a:t> ]; then</a:t>
            </a:r>
          </a:p>
          <a:p>
            <a:r>
              <a:rPr lang="en-US" dirty="0"/>
              <a:t>.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bashrc</a:t>
            </a:r>
            <a:endParaRPr lang="en-US" dirty="0"/>
          </a:p>
          <a:p>
            <a:r>
              <a:rPr lang="en-US" dirty="0"/>
              <a:t>fi</a:t>
            </a:r>
          </a:p>
          <a:p>
            <a:r>
              <a:rPr lang="en-US" dirty="0"/>
              <a:t># User specific aliases and functions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170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C01A9-26CC-BF0E-12F5-3B46B29C8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FBB0-7D40-55E5-725A-9BBCABBA9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Customizing your bash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598A9-5BFD-4D95-3B54-00CCEF9B4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the Cannon cluster, say there are several modules you commonly use</a:t>
            </a:r>
          </a:p>
          <a:p>
            <a:r>
              <a:rPr lang="en-US" dirty="0"/>
              <a:t>You could append `module load` statements to `.</a:t>
            </a:r>
            <a:r>
              <a:rPr lang="en-US" dirty="0" err="1"/>
              <a:t>bashrc</a:t>
            </a:r>
            <a:r>
              <a:rPr lang="en-US" dirty="0"/>
              <a:t>`: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2BB00-CE2A-330B-CD14-D11D3A97855D}"/>
              </a:ext>
            </a:extLst>
          </p:cNvPr>
          <p:cNvSpPr txBox="1"/>
          <p:nvPr/>
        </p:nvSpPr>
        <p:spPr>
          <a:xfrm>
            <a:off x="1837980" y="3349128"/>
            <a:ext cx="85160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.</a:t>
            </a:r>
            <a:r>
              <a:rPr lang="en-US" dirty="0" err="1"/>
              <a:t>bashrc</a:t>
            </a:r>
            <a:endParaRPr lang="en-US" dirty="0"/>
          </a:p>
          <a:p>
            <a:r>
              <a:rPr lang="en-US" dirty="0"/>
              <a:t># Source global definitions</a:t>
            </a:r>
          </a:p>
          <a:p>
            <a:r>
              <a:rPr lang="en-US" dirty="0"/>
              <a:t>if [ -f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bashrc</a:t>
            </a:r>
            <a:r>
              <a:rPr lang="en-US" dirty="0"/>
              <a:t> ]; then</a:t>
            </a:r>
          </a:p>
          <a:p>
            <a:r>
              <a:rPr lang="en-US" dirty="0"/>
              <a:t>.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bashrc</a:t>
            </a:r>
            <a:endParaRPr lang="en-US" dirty="0"/>
          </a:p>
          <a:p>
            <a:r>
              <a:rPr lang="en-US" dirty="0"/>
              <a:t>fi</a:t>
            </a:r>
          </a:p>
          <a:p>
            <a:r>
              <a:rPr lang="en-US" dirty="0"/>
              <a:t># User specific aliases and functions</a:t>
            </a:r>
          </a:p>
          <a:p>
            <a:r>
              <a:rPr lang="en-US" dirty="0"/>
              <a:t>module load </a:t>
            </a:r>
            <a:r>
              <a:rPr lang="en-US" dirty="0" err="1"/>
              <a:t>jdk</a:t>
            </a:r>
            <a:endParaRPr lang="en-US" dirty="0"/>
          </a:p>
          <a:p>
            <a:r>
              <a:rPr lang="en-US" dirty="0"/>
              <a:t>module load python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293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994C-8EDF-B390-05D3-9DA4A82E3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1E278-D42D-5F8F-C170-FAD20AFB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Customizing your bash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A0784-E341-F4D6-6E6B-7F50A869B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However, it is better practice to instead use a </a:t>
            </a:r>
            <a:r>
              <a:rPr lang="en-US" i="1" dirty="0"/>
              <a:t>shell function</a:t>
            </a:r>
            <a:endParaRPr lang="en-US" dirty="0"/>
          </a:p>
          <a:p>
            <a:r>
              <a:rPr lang="en-US" dirty="0"/>
              <a:t>Shell functions: like other programming languages, a re-</a:t>
            </a:r>
            <a:r>
              <a:rPr lang="en-US" dirty="0" err="1"/>
              <a:t>usuable</a:t>
            </a:r>
            <a:r>
              <a:rPr lang="en-US" dirty="0"/>
              <a:t> modular “block” of code</a:t>
            </a:r>
          </a:p>
          <a:p>
            <a:pPr lvl="1"/>
            <a:r>
              <a:rPr lang="en-US" dirty="0"/>
              <a:t>Given a custom name and invoked at command line like any shell program</a:t>
            </a:r>
          </a:p>
          <a:p>
            <a:pPr lvl="1"/>
            <a:r>
              <a:rPr lang="en-US" dirty="0"/>
              <a:t>Executes the commands inside the function body</a:t>
            </a:r>
          </a:p>
          <a:p>
            <a:r>
              <a:rPr lang="en-US" dirty="0"/>
              <a:t>Note functions don’t only go in your profile, can be part of shell scripts, 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9ABA5-BC2E-93D1-F8EC-D103FF02CCC3}"/>
              </a:ext>
            </a:extLst>
          </p:cNvPr>
          <p:cNvSpPr txBox="1"/>
          <p:nvPr/>
        </p:nvSpPr>
        <p:spPr>
          <a:xfrm>
            <a:off x="1837980" y="5365217"/>
            <a:ext cx="85160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</a:t>
            </a:r>
            <a:r>
              <a:rPr lang="en-US" dirty="0" err="1"/>
              <a:t>function_name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    shell command(s)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775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B8DB0-F9BD-F545-26A6-A77857811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F2313-8047-7AB7-1FF7-A88DA78D6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Customizing your bash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18526-8ED1-E162-203C-0AACB5483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your `.</a:t>
            </a:r>
            <a:r>
              <a:rPr lang="en-US" dirty="0" err="1"/>
              <a:t>bashrc</a:t>
            </a:r>
            <a:r>
              <a:rPr lang="en-US" dirty="0"/>
              <a:t>` we can add a custom function `</a:t>
            </a:r>
            <a:r>
              <a:rPr lang="en-US" dirty="0" err="1"/>
              <a:t>mymodules</a:t>
            </a:r>
            <a:r>
              <a:rPr lang="en-US" dirty="0"/>
              <a:t>`:</a:t>
            </a:r>
          </a:p>
          <a:p>
            <a:pPr lvl="1"/>
            <a:r>
              <a:rPr lang="en-US" dirty="0"/>
              <a:t>Type `</a:t>
            </a:r>
            <a:r>
              <a:rPr lang="en-US" dirty="0" err="1"/>
              <a:t>mymodules</a:t>
            </a:r>
            <a:r>
              <a:rPr lang="en-US" dirty="0"/>
              <a:t>` to run the function and load the listed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7EF2D-DB4B-8E13-047F-FE9D1384D8C4}"/>
              </a:ext>
            </a:extLst>
          </p:cNvPr>
          <p:cNvSpPr txBox="1"/>
          <p:nvPr/>
        </p:nvSpPr>
        <p:spPr>
          <a:xfrm>
            <a:off x="2610999" y="2988326"/>
            <a:ext cx="62796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.</a:t>
            </a:r>
            <a:r>
              <a:rPr lang="en-US" dirty="0" err="1"/>
              <a:t>bashrc</a:t>
            </a:r>
            <a:endParaRPr lang="en-US" dirty="0"/>
          </a:p>
          <a:p>
            <a:r>
              <a:rPr lang="en-US" dirty="0"/>
              <a:t># Source global definitions</a:t>
            </a:r>
          </a:p>
          <a:p>
            <a:r>
              <a:rPr lang="en-US" dirty="0"/>
              <a:t>if [ -f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bashrc</a:t>
            </a:r>
            <a:r>
              <a:rPr lang="en-US" dirty="0"/>
              <a:t> ]; then</a:t>
            </a:r>
          </a:p>
          <a:p>
            <a:r>
              <a:rPr lang="en-US" dirty="0"/>
              <a:t>.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bashrc</a:t>
            </a:r>
            <a:endParaRPr lang="en-US" dirty="0"/>
          </a:p>
          <a:p>
            <a:r>
              <a:rPr lang="en-US" dirty="0"/>
              <a:t>fi</a:t>
            </a:r>
          </a:p>
          <a:p>
            <a:r>
              <a:rPr lang="en-US" dirty="0"/>
              <a:t># User specific aliases and functions</a:t>
            </a:r>
          </a:p>
          <a:p>
            <a:r>
              <a:rPr lang="en-US" dirty="0"/>
              <a:t>function </a:t>
            </a:r>
            <a:r>
              <a:rPr lang="en-US" dirty="0" err="1"/>
              <a:t>mymodules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    module load </a:t>
            </a:r>
            <a:r>
              <a:rPr lang="en-US" dirty="0" err="1"/>
              <a:t>jdk</a:t>
            </a:r>
            <a:br>
              <a:rPr lang="en-US" dirty="0"/>
            </a:br>
            <a:r>
              <a:rPr lang="en-US" dirty="0"/>
              <a:t>     module load python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845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CB2B2-B8F8-AF9D-50F5-EE884B1A8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639D-76D2-F1B3-AC6A-4B5A6C1CF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Customizing your bash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6F261-E7C2-A419-3EA4-2285167CC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Other useful things to put in your profile: </a:t>
            </a:r>
            <a:r>
              <a:rPr lang="en-US" i="1" dirty="0"/>
              <a:t>command</a:t>
            </a:r>
            <a:r>
              <a:rPr lang="en-US" dirty="0"/>
              <a:t> </a:t>
            </a:r>
            <a:r>
              <a:rPr lang="en-US" i="1" dirty="0"/>
              <a:t>aliases</a:t>
            </a:r>
          </a:p>
          <a:p>
            <a:pPr lvl="1"/>
            <a:r>
              <a:rPr lang="en-US" dirty="0"/>
              <a:t>Similar to a function, an alias is a shortcut for a long command</a:t>
            </a:r>
          </a:p>
          <a:p>
            <a:pPr lvl="1"/>
            <a:r>
              <a:rPr lang="en-US" dirty="0"/>
              <a:t>Invoke the alias like any program</a:t>
            </a:r>
          </a:p>
          <a:p>
            <a:r>
              <a:rPr lang="en-US" dirty="0"/>
              <a:t>E.g. whenever you use `ls`, want to include the `-l` and `-h` flags to show file details and make size human-readable</a:t>
            </a:r>
          </a:p>
          <a:p>
            <a:pPr lvl="1"/>
            <a:r>
              <a:rPr lang="en-US" dirty="0"/>
              <a:t>Note here we are setting an alias for an already existing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CA035-EADD-CFEC-A236-BEA70BC0D522}"/>
              </a:ext>
            </a:extLst>
          </p:cNvPr>
          <p:cNvSpPr txBox="1"/>
          <p:nvPr/>
        </p:nvSpPr>
        <p:spPr>
          <a:xfrm>
            <a:off x="1837980" y="4869458"/>
            <a:ext cx="85160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alias </a:t>
            </a:r>
            <a:r>
              <a:rPr lang="en-US" dirty="0" err="1"/>
              <a:t>name_of_alias</a:t>
            </a:r>
            <a:r>
              <a:rPr lang="en-US" dirty="0"/>
              <a:t>=‘full command to run’</a:t>
            </a:r>
          </a:p>
          <a:p>
            <a:endParaRPr lang="en-US" dirty="0"/>
          </a:p>
          <a:p>
            <a:r>
              <a:rPr lang="en-US" dirty="0"/>
              <a:t>alias ls=‘ls -l -h’</a:t>
            </a:r>
          </a:p>
          <a:p>
            <a:r>
              <a:rPr lang="en-US" dirty="0"/>
              <a:t>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114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69CC8-603A-8941-0C2D-02A5A4028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5687-A7AF-8590-3CD1-2EF9CEEF4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Customizing your bash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CC674-9931-8EC9-B19D-1D174B252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customization: making your bash prompt cute!</a:t>
            </a:r>
          </a:p>
          <a:p>
            <a:pPr lvl="1"/>
            <a:r>
              <a:rPr lang="en-US" dirty="0"/>
              <a:t>Changing fonts, colors, etc.</a:t>
            </a:r>
          </a:p>
          <a:p>
            <a:r>
              <a:rPr lang="en-US" dirty="0"/>
              <a:t>Modify the `$PS1` variable</a:t>
            </a:r>
          </a:p>
          <a:p>
            <a:pPr lvl="1"/>
            <a:r>
              <a:rPr lang="en-US" dirty="0"/>
              <a:t>Unfortunately the syntax is quite cryptic…</a:t>
            </a:r>
          </a:p>
          <a:p>
            <a:pPr lvl="1"/>
            <a:r>
              <a:rPr lang="en-US" dirty="0"/>
              <a:t>Easiest to just copy a template someone else made…here’s mine:</a:t>
            </a:r>
          </a:p>
          <a:p>
            <a:pPr lvl="2"/>
            <a:r>
              <a:rPr lang="en-US" dirty="0"/>
              <a:t>Make username cyan, add ‘@’, make hostname green, add ‘:’, display PWD in yellow, add ‘$’ and a space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C7A9DA-6879-9B54-A948-A0582C62BA15}"/>
              </a:ext>
            </a:extLst>
          </p:cNvPr>
          <p:cNvSpPr txBox="1"/>
          <p:nvPr/>
        </p:nvSpPr>
        <p:spPr>
          <a:xfrm>
            <a:off x="1759043" y="5012674"/>
            <a:ext cx="8673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export PS1="\[\033[36m\]\u\[\033[m\]@\[\033[32m\]\h:\[\033[33;1m\]\w\[\033[m\]\$ "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7F7A8-7B34-C82F-9E20-8845DF02F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043" y="5628709"/>
            <a:ext cx="60071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938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825BE-1D61-03D0-B296-487B17425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934A3-8937-3637-C8D1-DA9417CB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Customizing your bash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77C11-2E90-C24A-63F7-7725F5296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customization: coloring `</a:t>
            </a:r>
            <a:r>
              <a:rPr lang="en-US" dirty="0" err="1"/>
              <a:t>ls`output</a:t>
            </a:r>
            <a:r>
              <a:rPr lang="en-US" dirty="0"/>
              <a:t> based on file type</a:t>
            </a:r>
          </a:p>
          <a:p>
            <a:pPr lvl="1"/>
            <a:r>
              <a:rPr lang="en-US" dirty="0"/>
              <a:t>When using GNU `</a:t>
            </a:r>
            <a:r>
              <a:rPr lang="en-US" dirty="0" err="1"/>
              <a:t>ls`</a:t>
            </a:r>
            <a:r>
              <a:rPr lang="en-US" dirty="0"/>
              <a:t> (i.e. Cannon, but can be different e.g. on MacOS!):</a:t>
            </a:r>
          </a:p>
          <a:p>
            <a:pPr lvl="2"/>
            <a:r>
              <a:rPr lang="en-US" dirty="0"/>
              <a:t>Set an </a:t>
            </a:r>
            <a:r>
              <a:rPr lang="en-US" i="1" dirty="0"/>
              <a:t>alias</a:t>
            </a:r>
            <a:r>
              <a:rPr lang="en-US" dirty="0"/>
              <a:t> for `</a:t>
            </a:r>
            <a:r>
              <a:rPr lang="en-US" dirty="0" err="1"/>
              <a:t>ls`</a:t>
            </a:r>
            <a:r>
              <a:rPr lang="en-US" dirty="0"/>
              <a:t> to auto-enable color (otherwise would need to specify every time)</a:t>
            </a:r>
          </a:p>
          <a:p>
            <a:pPr lvl="2"/>
            <a:r>
              <a:rPr lang="en-US" dirty="0"/>
              <a:t>Set the LS_COLORS environmental variable </a:t>
            </a:r>
          </a:p>
          <a:p>
            <a:r>
              <a:rPr lang="en-US" dirty="0"/>
              <a:t>Again, the syntax is awful…here is mine:</a:t>
            </a:r>
          </a:p>
          <a:p>
            <a:pPr lvl="1"/>
            <a:r>
              <a:rPr lang="en-US" dirty="0" err="1"/>
              <a:t>Dirs</a:t>
            </a:r>
            <a:r>
              <a:rPr lang="en-US" dirty="0"/>
              <a:t> in cyan, </a:t>
            </a:r>
            <a:r>
              <a:rPr lang="en-US" dirty="0" err="1"/>
              <a:t>symlinks</a:t>
            </a:r>
            <a:r>
              <a:rPr lang="en-US" dirty="0"/>
              <a:t> in magenta, executables in green, regular files in white, etc.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AB614-9E16-E3E2-B90C-E63629B11800}"/>
              </a:ext>
            </a:extLst>
          </p:cNvPr>
          <p:cNvSpPr txBox="1"/>
          <p:nvPr/>
        </p:nvSpPr>
        <p:spPr>
          <a:xfrm>
            <a:off x="1759043" y="5012674"/>
            <a:ext cx="77031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alias ls='ls --color=auto'</a:t>
            </a:r>
          </a:p>
          <a:p>
            <a:r>
              <a:rPr lang="en-US" dirty="0"/>
              <a:t>export LS_COLORS="di=36:ln=35:ex=32:fi=0:pi=33:so=35:bd=33;1:cd=33;1"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4AB6DF-E557-CFDA-5F2B-ECE461017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043" y="5781063"/>
            <a:ext cx="28956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168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B2B6-B62E-3F94-2B36-41E409319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Terminal multiplexers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38656-629D-2F6C-A82C-9C9262465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Programs that let you run multiple terminal sessions within a single window</a:t>
            </a:r>
          </a:p>
          <a:p>
            <a:pPr lvl="1"/>
            <a:r>
              <a:rPr lang="en-US" dirty="0"/>
              <a:t>Can ‘detach’ a session without closing in-progress programs (continue running in the background)</a:t>
            </a:r>
          </a:p>
          <a:p>
            <a:pPr lvl="1"/>
            <a:r>
              <a:rPr lang="en-US" dirty="0"/>
              <a:t>‘Reattach’ to a session later</a:t>
            </a:r>
          </a:p>
          <a:p>
            <a:pPr lvl="1"/>
            <a:r>
              <a:rPr lang="en-US" dirty="0"/>
              <a:t>Can have complex session layouts (split panes, multiple windows, etc.)</a:t>
            </a:r>
          </a:p>
          <a:p>
            <a:r>
              <a:rPr lang="en-US" dirty="0"/>
              <a:t>Great for running multiple programs and for saving your runs from disconnects</a:t>
            </a:r>
          </a:p>
          <a:p>
            <a:pPr lvl="1"/>
            <a:r>
              <a:rPr lang="en-US" dirty="0"/>
              <a:t>And for making you feel like a proper hacker</a:t>
            </a:r>
          </a:p>
        </p:txBody>
      </p:sp>
    </p:spTree>
    <p:extLst>
      <p:ext uri="{BB962C8B-B14F-4D97-AF65-F5344CB8AC3E}">
        <p14:creationId xmlns:p14="http://schemas.microsoft.com/office/powerpoint/2010/main" val="1645433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13F91-3699-DBE8-BC19-A765FEED2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05AF-6640-FBF9-4C9C-B4E49FAF6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Terminal multiplexers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8AA84-DCED-0E1F-7327-62E43E983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  <a:p>
            <a:pPr lvl="1"/>
            <a:r>
              <a:rPr lang="en-US" dirty="0"/>
              <a:t>Windows: your terminal screen. Can think of like a browser tab. Windows can be split into…</a:t>
            </a:r>
          </a:p>
          <a:p>
            <a:pPr lvl="1"/>
            <a:r>
              <a:rPr lang="en-US" dirty="0"/>
              <a:t>Panes: a rectangular subarea of a window. Each pane within a window has its own command line</a:t>
            </a:r>
          </a:p>
          <a:p>
            <a:pPr lvl="1"/>
            <a:r>
              <a:rPr lang="en-US" dirty="0"/>
              <a:t>Session: your whole workspace. It can hold multiple windows (with panes). Using multiplexers, sessions can be</a:t>
            </a:r>
          </a:p>
          <a:p>
            <a:pPr lvl="2"/>
            <a:r>
              <a:rPr lang="en-US" dirty="0"/>
              <a:t>Detached: “closing” the terminal, but without terminating the processes running in that session, and can…</a:t>
            </a:r>
          </a:p>
          <a:p>
            <a:pPr lvl="2"/>
            <a:r>
              <a:rPr lang="en-US" dirty="0"/>
              <a:t>Reattached: can reconnect to that session without interruption</a:t>
            </a:r>
          </a:p>
        </p:txBody>
      </p:sp>
    </p:spTree>
    <p:extLst>
      <p:ext uri="{BB962C8B-B14F-4D97-AF65-F5344CB8AC3E}">
        <p14:creationId xmlns:p14="http://schemas.microsoft.com/office/powerpoint/2010/main" val="1853251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5DF07-760D-2480-D421-064F06DB3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1E46B-DF31-62A6-3D5B-5FFB2203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Terminal multiplexers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19239-F772-60DC-515D-969584B2B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GNU Screen: the O.G. multiplexer</a:t>
            </a:r>
          </a:p>
        </p:txBody>
      </p:sp>
    </p:spTree>
    <p:extLst>
      <p:ext uri="{BB962C8B-B14F-4D97-AF65-F5344CB8AC3E}">
        <p14:creationId xmlns:p14="http://schemas.microsoft.com/office/powerpoint/2010/main" val="3443111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79581-9BBA-B1D0-75FB-012A11EB8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C545C-4943-6580-0490-891F0570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Terminal multiplexers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D5756-F528-F764-F897-80DDB818B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TMUX: a more modern, actively </a:t>
            </a:r>
            <a:r>
              <a:rPr lang="en-US"/>
              <a:t>developed option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480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1854</Words>
  <Application>Microsoft Macintosh PowerPoint</Application>
  <PresentationFormat>Widescreen</PresentationFormat>
  <Paragraphs>205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Aptos</vt:lpstr>
      <vt:lpstr>Aptos Display</vt:lpstr>
      <vt:lpstr>Arial</vt:lpstr>
      <vt:lpstr>Consolas</vt:lpstr>
      <vt:lpstr>Menlo</vt:lpstr>
      <vt:lpstr>Source Sans Pro</vt:lpstr>
      <vt:lpstr>Office Theme</vt:lpstr>
      <vt:lpstr>$ Command line 101: $ Tips &amp; tricks for aspiring power users $ Work smarter not harder &amp; type less</vt:lpstr>
      <vt:lpstr>How do commands work?</vt:lpstr>
      <vt:lpstr>All progams live somewhere in your computer</vt:lpstr>
      <vt:lpstr>$PATH is list of directories to search</vt:lpstr>
      <vt:lpstr>Environmental variables</vt:lpstr>
      <vt:lpstr>Environmental variables</vt:lpstr>
      <vt:lpstr>Environmental variables</vt:lpstr>
      <vt:lpstr>Environmental variables</vt:lpstr>
      <vt:lpstr>Environmental variables</vt:lpstr>
      <vt:lpstr>Environmental variables</vt:lpstr>
      <vt:lpstr>Environmental variables</vt:lpstr>
      <vt:lpstr>Environmental variables</vt:lpstr>
      <vt:lpstr>Environmental variables</vt:lpstr>
      <vt:lpstr>Environmental variables</vt:lpstr>
      <vt:lpstr>Customizing your bash shell</vt:lpstr>
      <vt:lpstr>Customizing your bash shell</vt:lpstr>
      <vt:lpstr>Customizing your bash shell</vt:lpstr>
      <vt:lpstr>Customizing your bash shell</vt:lpstr>
      <vt:lpstr>Customizing your bash shell</vt:lpstr>
      <vt:lpstr>Customizing your bash shell</vt:lpstr>
      <vt:lpstr>Customizing your bash shell</vt:lpstr>
      <vt:lpstr>Customizing your bash shell</vt:lpstr>
      <vt:lpstr>Customizing your bash shell</vt:lpstr>
      <vt:lpstr>Customizing your bash shell</vt:lpstr>
      <vt:lpstr>Terminal multiplexers</vt:lpstr>
      <vt:lpstr>Terminal multiplexers</vt:lpstr>
      <vt:lpstr>Terminal multiplexers</vt:lpstr>
      <vt:lpstr>Terminal multiplexers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Khost, Danielle Emerson</dc:creator>
  <cp:lastModifiedBy>Ma, Lei</cp:lastModifiedBy>
  <cp:revision>10</cp:revision>
  <dcterms:created xsi:type="dcterms:W3CDTF">2026-01-30T18:57:29Z</dcterms:created>
  <dcterms:modified xsi:type="dcterms:W3CDTF">2026-02-04T21:53:25Z</dcterms:modified>
</cp:coreProperties>
</file>