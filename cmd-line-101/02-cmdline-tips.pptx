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80" r:id="rId2"/>
    <p:sldId id="306" r:id="rId3"/>
    <p:sldId id="308" r:id="rId4"/>
    <p:sldId id="307" r:id="rId5"/>
    <p:sldId id="305" r:id="rId6"/>
    <p:sldId id="304" r:id="rId7"/>
    <p:sldId id="315" r:id="rId8"/>
    <p:sldId id="281" r:id="rId9"/>
    <p:sldId id="283" r:id="rId10"/>
    <p:sldId id="282" r:id="rId11"/>
    <p:sldId id="284" r:id="rId12"/>
    <p:sldId id="286" r:id="rId13"/>
    <p:sldId id="288" r:id="rId14"/>
    <p:sldId id="285" r:id="rId15"/>
    <p:sldId id="287" r:id="rId16"/>
    <p:sldId id="318" r:id="rId17"/>
    <p:sldId id="317" r:id="rId18"/>
    <p:sldId id="316" r:id="rId19"/>
    <p:sldId id="289" r:id="rId20"/>
    <p:sldId id="319" r:id="rId21"/>
    <p:sldId id="367" r:id="rId22"/>
    <p:sldId id="365" r:id="rId23"/>
    <p:sldId id="364" r:id="rId24"/>
    <p:sldId id="363" r:id="rId25"/>
    <p:sldId id="366" r:id="rId26"/>
    <p:sldId id="290" r:id="rId27"/>
    <p:sldId id="291" r:id="rId28"/>
    <p:sldId id="292" r:id="rId29"/>
    <p:sldId id="293" r:id="rId30"/>
    <p:sldId id="294" r:id="rId31"/>
    <p:sldId id="295" r:id="rId32"/>
    <p:sldId id="321" r:id="rId33"/>
    <p:sldId id="320" r:id="rId34"/>
    <p:sldId id="323" r:id="rId35"/>
    <p:sldId id="322" r:id="rId36"/>
    <p:sldId id="324" r:id="rId37"/>
    <p:sldId id="325" r:id="rId38"/>
    <p:sldId id="326" r:id="rId39"/>
    <p:sldId id="297" r:id="rId40"/>
    <p:sldId id="327" r:id="rId41"/>
    <p:sldId id="298" r:id="rId42"/>
    <p:sldId id="262" r:id="rId43"/>
    <p:sldId id="328" r:id="rId44"/>
    <p:sldId id="300" r:id="rId45"/>
    <p:sldId id="301" r:id="rId46"/>
    <p:sldId id="352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1C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2385"/>
  </p:normalViewPr>
  <p:slideViewPr>
    <p:cSldViewPr snapToGrid="0">
      <p:cViewPr varScale="1">
        <p:scale>
          <a:sx n="147" d="100"/>
          <a:sy n="147" d="100"/>
        </p:scale>
        <p:origin x="7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CD55E8-6712-47A9-BBFF-A75E8B59692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37BD4-6423-49A6-98B3-CA2A05F2F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94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105D6-7458-19D0-D9B7-93BB8693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C2620-DF61-95CF-357E-375A839B5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0BBBFC-E1F5-626D-C4D2-6A691B7A0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2254-C1D9-AA6A-2D2B-6CAAD7DC3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20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69141-792F-00CB-B514-C154CD69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39462-9DB8-8BA2-0714-155676F71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2CD0A-A81D-843B-0BC1-23475D7A6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0599E-3A57-0F32-8A12-4CB702F02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43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1A125-996F-960D-F03A-4C079BB2D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ECC47-7A0E-F9AF-3B29-F1D92789E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F803C-13DE-E6AA-81F7-75B830F39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5239B-1A21-E0B2-61D1-4597287AA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53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F95A-12A8-B7B0-BECC-282EA9E84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0716A-996D-D941-F1EE-A8AC052ED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C8845F-EE87-4069-55A7-17FDEE52A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D4BD4-5D40-21B7-2314-795FE26D0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98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DF73-4BEC-278D-44DB-B9C860FB9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148A9-15D9-1C64-C091-4DDD8B953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F0C67-A704-2D3B-BE49-89747C944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FD140-AAA3-F542-6FA0-11686767D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49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1B81-F718-6ADF-957C-47F517E0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CF9E7-72BF-59B7-4277-0B2A01F0C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66184-DF00-D324-5832-051D5229C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5BF3C-DC9C-AB63-631D-85FBA8C4A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06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8E5D6-855C-C142-83DA-3A5144FE1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8DDCB1-879D-A6CF-C204-977F50EBD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A505C-5A8C-2A49-B26E-97B20A9C3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A1BC4-403A-F5D2-9B78-B7C9E990F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87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58214-C141-F6B9-AA1D-746E9DB0C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5CC9E-DBEF-1AF0-E2B7-8F689EB23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2D70F-0420-16C4-436B-086455074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E2D50-52BD-9496-D4A5-337033A9A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09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CC260-65D6-5C66-2390-CB1BD438A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E21B5-46FE-E895-6AD1-85CBF9BB2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9C58A-0CFA-0547-646B-26D4D8B83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path like a human readable address for a file on a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50597-6EBF-E40A-6DB8-80F488FE6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790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A77E1-9574-F0F0-4973-5BD2127DF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32D1F-BC62-0104-154F-66F31C636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86FDD2-7661-23B0-BFEB-542D80869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A9312-BC2D-1405-9BC3-47CBFB48D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67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8EE2B-8D97-C42C-ABE2-B5AB29E1C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0DB9C-3FB3-BE26-8413-187213023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07530-94B6-F8F9-D9F8-F40368C43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D91A2-C2DD-1DAF-DE35-D3B085F9E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45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93AE0-CC12-BAAA-035E-2D3968BE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6BDBF-AFDE-3160-B683-0512A9160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C1246-8D58-1ADF-372C-885BD850F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621EF-1F5A-F45A-B161-94C529B1F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1238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D0A90-CF19-0BF9-43D4-EF083AACA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830EA-A642-5CD2-4453-DC46343C8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3DBF1-A182-51CE-02EE-0C524CF57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63C4C-0342-90B9-4A41-3166CCEE3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5691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3C42A-3694-A63E-DA70-6339A946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2D647-94E1-8896-CAC6-CAB1B97DB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04F5F-80F6-6EC3-C110-4F56522A2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919FD-5C58-879C-0860-4BD81516E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22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5ABD-E82C-59CD-C8B8-5F95CCFAE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66FBDE-E490-9051-0488-2BCE3C290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75AB8-C384-CC8C-53D5-7A4B27BC7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D80DB-A9B6-E2A7-1072-D8D408B57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86396-4434-4D8A-CFA7-CA2EBD86A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4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C6859-33F6-C900-4E03-3F5E547FB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FF45A-3C14-92E2-623E-04E6A4629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F03-C7C7-62C2-1FD8-03D8726C5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B880F-7B62-74CE-D9D8-6A684CF40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01E11-A33E-9A37-67C2-895FF48C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63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A2EA-5E54-470E-BA15-081108FC3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72DD8-67C0-3A4E-BAD6-8B336F8F0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EFA3A-54D4-11B3-3A2A-B53A98E9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CC61F-D6AA-80D4-C737-69A19AEEB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02F7A-2F4D-AFF7-4C73-EC5DFF6E5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62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BC53E-CEAD-D721-EF70-5EBC91AEE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17C37-3A26-80D5-2CC2-8F490F1C8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60C9B-317D-213F-3B4A-ED9EC40AB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A39D7-3E65-A6EF-4FFD-40138FCC5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3E6C6-1831-6052-12BF-449E3A75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EDA9D-015C-0DF5-1357-3072A2C3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40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978AE-F36E-8AE7-1694-4E04FDC8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8DBB1-185D-A22E-8745-7D283678E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F1EA6F-B95F-FEC3-B0F6-D395C1080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9EBC9B-EB4F-9763-8290-97F255265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1F0D9E-A68A-07B5-5E84-2DE96FF8F6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8F6FF0-E8A1-8A7E-E8CC-633F5C304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51F1DD-12AC-1940-F2BD-BD69442D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9F6481-953F-D02F-8F1F-30E69D57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28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DCB5-9418-1825-A301-65D6110E5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37E2B2-54CA-60D4-63CE-7CD895E10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F3ED3-CAEC-1033-5E54-3D15BA084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DAB57-B8EF-030E-701F-5E6E02EF1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6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D22928-E561-F379-5F87-224A12E87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A1192-E9E1-AEDD-FD49-B80FEC72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B9D94-6DEF-A729-630E-BD84F974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3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2E4E3-878E-AA98-E784-D919AA0B2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FDBDA-E71A-7995-21B6-3F67DA8B8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8D8F9-683D-BD5E-B2F6-6EEC88C6A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7B41C-B2C8-4C36-A4DA-A40FF20C4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659ADB-B437-2F30-7B7A-6BE5FAC6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8DA0B-B7CA-07B5-226F-30A8C939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74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D5DF-7D8E-E754-EFA9-B8AEE8831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DD0004-08D4-BB3F-7CC1-D7AE5F63B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8F891-7B42-3CDD-FEF1-979FA7179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300A6-D60D-1D21-8C27-68A7966BB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5AE8C9-C3C4-6CF7-68C0-F44D6B3A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BE6F7-4D77-355B-CC19-5C220E08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80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8B3F4-204E-9969-A0A7-E268A8A5F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866B9F-872C-F0B2-7FE0-1CF932091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E964E-D686-AE68-59B6-11B6418F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C5D64-3C1A-4B81-D6D8-456A40E3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85934-D424-8DFB-0D76-F3980F5D3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0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3A1495-FA61-AAD3-D324-BAEAAD3DA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7F685-A5D4-B227-4F2F-7FB667163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83D8A-CF94-6C0F-3BC7-5004674EB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B4F0-C34F-B24F-B974-1303EBE688C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DA85D-391B-27A2-EF6B-B90AD426F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2548B-6AB7-E782-45AD-AC8F0D749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67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90F4A-3FF2-3112-9E5D-5677617B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E6300-3497-8032-F077-AE4E08B01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2D7CA-538A-D7E9-37D6-68280D6B96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6B4F0-C34F-B24F-B974-1303EBE688C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E1F64-2284-FE40-4F66-D3281111F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336C8-488F-9F99-B67C-46E419258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37D7D-1841-EF41-B2DF-EFB50B148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1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formatics.fas.harvard.edu/resources/glossary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2.jpe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2.jpe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.jpeg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8.svg"/><Relationship Id="rId5" Type="http://schemas.openxmlformats.org/officeDocument/2006/relationships/image" Target="../media/image28.svg"/><Relationship Id="rId10" Type="http://schemas.openxmlformats.org/officeDocument/2006/relationships/image" Target="../media/image37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8677DF-0627-BDC6-9C23-C3EBC33F69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8D15E9-D3C5-4D56-EC73-260C90963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26314"/>
            <a:ext cx="12192000" cy="120491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33FF33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Command line 101:</a:t>
            </a:r>
            <a:b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</a:b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33FF33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Tips &amp; tricks for aspiring power users</a:t>
            </a:r>
            <a:b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</a:b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 Work smarter not harder &amp; type less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930FF-0D52-8019-4787-F80035CFA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1226"/>
            <a:ext cx="10668000" cy="2573337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33FF33"/>
                </a:solidFill>
                <a:latin typeface="Consolas" panose="020B0609020204030204" pitchFamily="49" charset="0"/>
              </a:rPr>
              <a:t> Harvard FAS Informatics virtual training</a:t>
            </a:r>
          </a:p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33FF33"/>
                </a:solidFill>
                <a:latin typeface="Consolas" panose="020B0609020204030204" pitchFamily="49" charset="0"/>
              </a:rPr>
              <a:t> Thursday, February 12, 2026</a:t>
            </a:r>
          </a:p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140393-AEA2-A958-0E1D-DBF9A848B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2998064"/>
            <a:ext cx="5842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609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8DF18-BF00-6D3D-42FA-C3F455574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9A37-D430-1B50-20EE-37B20EC5C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File systems</a:t>
            </a:r>
            <a:r>
              <a:rPr lang="en-US" dirty="0"/>
              <a:t> are user-facing ways to organize information on a computer</a:t>
            </a:r>
            <a:endParaRPr lang="en-US" b="1" dirty="0"/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D5E9CB5-81F9-350D-F4B0-4E4A60AF9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F44787-35CC-320D-28C1-9BF462C205D6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06DD786-CC68-5358-344C-980EECE4C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D195BB9-4E1A-248A-2B39-8E4E072E8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1F9305D-AA9C-5A80-D6E7-D59DCB881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8362AA1-9ACD-7CBA-2B7B-33E8E5301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619CDA7-F14A-6F78-044D-97D5C070B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F0CAB1-05B8-80A5-5FA5-1AF216EAD1EF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EE4145-AFD6-DD2A-6307-B7A1DA124A39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A3CADD-5E79-DD08-7F59-7C5A4A568BC7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F8B1246-347A-5E7B-DA27-5581C4145F19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84B546B-8E95-3474-237D-2D59EF7BEB6B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62C56D2-030C-6F43-0913-5E59B64F2802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ADD5C0-7D09-CB5D-0050-E9A0DEE78147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B6128F-CE4B-F28F-CFC4-FD0D107C2898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4370B9-29B1-5A53-4941-1C6074C723E7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C7F1C0E-4308-4D78-0B26-5BD3FBD6DAB8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9F0CD4-76F1-83C9-4B4F-D99224CC782A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95283B2-6F69-31B5-62B0-DD1279F36BBA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8DF875-B6B0-6D6A-0D70-D8D4A3A5BA0B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6BE638-6A39-13B7-3B1E-73898088C9CC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2273A76-F058-F7CF-141B-D2F306011E5D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8760E51-74EF-9017-87AC-CD49DEA486EC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8355766-68BD-546D-3D7F-04F92966DD9E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1E2D8EB-C901-B59C-A731-9E09384B6A5D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106D1FE-C0C6-D951-3146-30623BE88ADD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389529-A780-4A08-1850-6C1E2454F4DE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062C9BF-6B86-AC39-0EDC-12AD7AC05ABE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D07F6A8-8BFC-CAEA-9AA9-10C54A9D7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59B689F-4B06-5300-1DE9-2E5CF431BCCC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75705B3-D489-ABDB-AD60-D627768D3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BE3BAF3-7428-0936-2EF8-0894D80322E4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D07670A-2109-DAD2-8D68-078676865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87C4630-E808-DE5C-67C5-E74D9172018F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FD55048-1877-3CBE-1465-ABBB4996F5E6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6291DE0-7577-B3C5-6CB3-6030A6E39DE9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FBC7D58-FFF5-1B62-DE80-DC7CC75C53EC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B1C3E09-B4EB-8394-7B50-18987243B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C684EBF-3536-3391-CDF9-2F360740B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E2D4B3B-99FF-3F3D-7E90-5B36125F8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92C7D63-1C11-4FFE-5C2D-43DA850B0717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B529DF-2AD8-C9C7-F894-3DB2D856EFF6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D8A9FF2-5F67-D897-D68E-6F98EA6165B8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D7DDAFC-166E-B825-399C-B9554BC91159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566075-37B2-8F2C-7048-570CC115198F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A8E275-6BC0-1582-0C18-9AD7EABBFFA4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56BEC7B-E560-9B4B-ACA9-60007687ACB0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7C756AD-BC6E-AE12-1534-D48F954BEF3D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EB087D9-5808-E822-794C-D74B223F77C2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34F7369-8DDE-9AB9-6EB6-1C1059A9B3F9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A851419-8F88-09DB-A8D4-7FE017E99B9C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D90C789-96BC-B45D-2F31-94788C2A23C0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94D6FF2-EDD1-8954-A5CB-DB42A2D77369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06344A4-E97F-985F-81A1-FDBF05DF95F9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CD28834-1116-61F4-E836-000666A4E85D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2C7E01B-3AA0-8651-D13D-964DDDFF28E3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115B1CE-0E51-1498-3A13-6DAFCD200B59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832B683-5057-8D95-BD76-FE9B896356FE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669E537-1E2E-69BC-ECAE-0C84E03F42FA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3FF2CD8-5129-8138-64C3-CDFAA3B7CABF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64E71B5-8B5E-545E-8087-76665D8CA2AE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73AF139A-8A8C-E947-2D61-BE6BDE7898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B688A8BC-81D0-A8AD-B905-80A95D7CA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B503BB3-59F2-7519-A046-DE1BF5E29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6934ED8-EC31-5CF8-42BE-50C43245D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00FCA9D4-E4C1-E7C7-5378-B4CA2E3FA4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154CCB21-6B66-F60E-F48D-B952C8ADBB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9A4169A0-38FD-2F7A-97C3-113D2C722F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541A1790-A96C-7284-0DE2-7024FA48E6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FC26284-B555-391D-DA61-1E5723AFC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163498-B604-05F5-8E00-34E4CDA5292A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354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73106-F554-3EDD-6699-42A090B65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F349-D1B2-ABBE-FE9D-B50201840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You can interact with the file system of a computer through </a:t>
            </a:r>
            <a:r>
              <a:rPr lang="en-US" b="1" dirty="0"/>
              <a:t>text</a:t>
            </a:r>
            <a:r>
              <a:rPr lang="en-US" dirty="0"/>
              <a:t> interfaces called </a:t>
            </a:r>
            <a:r>
              <a:rPr lang="en-US" b="1" dirty="0"/>
              <a:t>command lines</a:t>
            </a:r>
            <a:r>
              <a:rPr lang="en-US" dirty="0"/>
              <a:t>*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B2F400-7CB2-7720-B734-27739747E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404" y="3489796"/>
            <a:ext cx="5115368" cy="95969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2B187478-3FC8-124E-90EA-48F4DE004D84}"/>
              </a:ext>
            </a:extLst>
          </p:cNvPr>
          <p:cNvSpPr txBox="1"/>
          <p:nvPr/>
        </p:nvSpPr>
        <p:spPr>
          <a:xfrm>
            <a:off x="2854997" y="6454003"/>
            <a:ext cx="6097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* </a:t>
            </a:r>
            <a:r>
              <a:rPr lang="en-US" sz="1400" dirty="0">
                <a:hlinkClick r:id="rId4"/>
              </a:rPr>
              <a:t>https://informatics.fas.harvard.edu/resources/glossary/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33577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68F9D-A670-2424-C289-D2FE30496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D6FE0-78A7-1EA3-35FB-662534F02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How does our concept of file systems translate to text-based computing?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9BB6659-FB5B-7E8F-068D-C3A2A5CAB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59F2D8-6818-3CCC-B754-3667D6D90DEE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8E7332A-209B-CC33-5C31-43510CF06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3D09D09-F746-AC6D-CDAD-38C0C18CA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00B655D-1C9E-0EC0-BC2E-505A9D123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9628A36-30D0-21A3-939B-3E54A6638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1AF52EB-C24D-F858-955E-8FEEE9092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D9F284-E0B9-29DF-1FF5-DF2F9FCF00BF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D21412-48B8-C75A-FD77-B469F162C0C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D91D27-D11A-E007-0673-FC758C33AC6C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4E7ED28-5F3B-71D4-EF94-220EAB2A2AB0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3CBAF5D-198D-B196-8A89-F470D1B863EC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624B918-EEBA-865B-8EA4-C6B97F89E570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58F826-A648-91FB-FA76-C14B9E7BC832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C4517F-050C-D3A3-64BD-987E9DB62332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331C86-CE9A-C6F8-1D0E-D5FBC41B30E3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900821-ACFF-25FE-0702-71AA0F0EA860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812EDB-2509-CCD2-3B51-E88AEE9A441C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440871C-C657-8B96-1AC2-FF91744B11C3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411CC5-90B3-5726-9E0B-4D556A9952CC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CAF8614-08E5-79FE-61FC-859295D1AF18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A0558AC-221E-A023-70A5-1289178361D0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76588AA-B7D9-3FA6-B81B-BAB7434DDBE9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35F35CC-7D8A-080C-69A2-E6FB63779CCC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B450109-E9DA-87A8-99DE-7BE6FAD3C132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F340CA5-2EDC-981D-235D-C5C31AFD059D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51CDEA2-D006-4FDE-477C-52A2982E52CA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F4B7BE4-91D1-3147-4A52-7A4D3283848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04D3BEA-775E-731A-1037-325CA3A73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5967E40-112C-F30A-C75D-A528A3D1A962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B723EEC-CCCA-D5B8-E019-8A3DA811F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96073AC-D7FF-D6A3-1E5D-434C9840C49E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544C95D-A7C1-B0AB-7EFE-64B3D5E06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389A248-C774-8332-B060-78B8E7D55D0C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5F6D9DF-6A7E-9547-2469-52C1C8BA7846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35E08B2-B4E5-203B-5D62-70F21F86BEB5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7C73E73-18F8-FF3E-19CD-20226686BA79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9598B89-F014-845D-F5E7-138B9E5B0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A6AD2FA-63BE-6289-633C-1334A10E9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79D6D56-31F5-E406-F6F9-728E781C9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5BA3A49-8A51-BBBA-CF8E-B5A82316CF9E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CE7726A-950C-B0BA-7096-0478C6EFD562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3A5B3D-60B3-4746-AF39-817A1EAB6AD9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55F7B48-8ACE-6D84-90E5-CAD7A04402A1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DF0F85-114C-6F84-275E-B17C0CA747C8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9164F3-7DC5-61A6-3E07-0D5D7EC406A1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E0B18DE-1496-27F5-5D18-5331DB8EEC5B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7A48D5E-AFD0-97E8-FDC6-725B51522046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3D4515D-7A9D-E2A3-A123-1E37F9F86513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28D6B9C-B3BD-B45E-D9C7-4E2ADBEAEDB7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1A3B60E-E114-FB78-58AF-4D460FB44AA8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3A333A7-AD56-0366-E547-B576E662F649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8CF53F7-DB67-768A-D03B-971E24A2172E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3D0121B-DF61-B243-E196-9A1EFC44919D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B8DC1C-94E8-15BE-0FF8-FB55F35C5CCB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FD04EA8-D8C2-D422-980F-D2AFB107CEF8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2F4C5B8-226D-DC7A-10D9-38846BDD07B1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385BAF3-F65A-86E8-9D23-D5341AAEB97E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0BAB912-680C-D2EC-5C97-567749B5B898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DF4B908-96B2-A30B-E318-22921CD10046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C019AE3-BFE8-2576-5514-2F22C0ECCAD8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68EBF5AD-9CF5-C45D-D779-FE793CC1FC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B4B7D911-7818-C631-39BA-960A55F21A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897225C-E1DC-8913-8A95-4CD685D6B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2A72231-8F50-81E0-2FB3-9EA48866B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E8574CCA-AE1C-2B22-7537-CBBB2A7361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E1E12C88-0A3B-D685-9F8A-31919221F7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D629AEE3-02AC-11F8-E63F-FEF6E0A297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1C51F2E2-3722-114F-53AE-BABA081440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F1F4CD9-F0AB-ADC2-6C8F-CA1404732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1D296D60-4BE5-4A09-CD1B-F8CA891AA617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4F43A1-D103-C81A-E9CE-4E2751DC40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0404" y="3489796"/>
            <a:ext cx="5115368" cy="9596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12E7CA-E05A-0F50-7314-A633AB525E5D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225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8CF13-268E-8274-9B78-A23057C9C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8090-CBD6-D292-74E0-04671A4EF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How does our concept of file systems translate to text-based computing?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A260758-8E64-33F4-8733-3EADDB2DD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5AEA83-D32A-E723-097F-261154BD4D9F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8C3194C-BEF1-0BD8-3316-4136928DD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4D96F3D-9424-86E2-045F-06C73EA9A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4D26E39-F7FB-01E0-8A4F-B2509AB6D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109ABD8-AC13-142C-2922-9A35EFB4E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D72B17E-D806-BB50-6BEE-452A3E5D8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BB91AD-09FC-F95B-54B2-732F1B7EB93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78BAFF-3A54-C68F-080F-5FB3465F8C18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111C39-BC82-30EE-8ABB-6895C48CBEEF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1D9165-C054-3828-A005-296D53DF3148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FA96434-A390-B88D-7D28-3DADC9A8759D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5A80DEF-3484-2FFE-B235-5D7E05BB08C1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7DBAA5-C64B-7F01-8A32-13AA82F042C0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DCC83C-FA4F-B53B-CED3-8A2AD3387610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EA6FC-59A4-3685-AAAB-8EC569680D62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32CDD0-3F4E-87CA-A948-71D8DEFBBABA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21B1D0-4435-C250-E91C-C1F1E412BFB5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6071E5-3922-ADF1-0104-3560AB916D12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3297AB-8A64-F662-599C-77129BF15E54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6278C6C-D69E-3CD6-CA98-EC3E93170E3E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693C0D-CB0A-F3AB-5E90-97E8190CEC32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04D0AA-64FD-4D0C-3B2E-01A680E67266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A4F25D0-5DF8-522C-59F1-0E1CF8248A97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40905ED-3F5B-7857-4BD3-D0AB616AFE6E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56EF038-3285-F7A5-311E-A1E06A171E61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E0B8A08-3C0D-D548-C627-5B77E01D4F62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B860100-AAB0-35D1-62E8-8F2608BEABBA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7E485CD-600C-43ED-ABEC-E11AE8460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D2EB90A-1DD0-4287-8639-4771BBA20F34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2C6509F-16E0-F0AC-DEE6-4A31C4E2A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83355BD-274E-7321-E212-7FFFEA4578A3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A32858E-915E-5173-ADF4-11EDA3D2A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F5BC819-57E2-A1A1-B891-4DCCF8567519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69C3517-FEAB-E1BE-5C37-62CB9B09DAA7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7CC381C-CA03-C7DD-357D-B11E0883A18C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252284-E977-025F-50E4-6150FCDD633A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B227CB6-B53C-D97E-E4C3-87B1B3214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B166BC5-F319-1DBB-7302-20AA3F164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2902878-5F5B-00CD-EC28-7167B6281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3C89D40-9E43-AFD4-E46E-8F62D7CEB971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C9AE424-AFE0-2CB9-EF49-617614016D26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3C00730-9CF7-6FF3-94D5-F59371363A85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DA7AC43-16D0-01DA-5E4D-BE6ADCD527FC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6F781E-0FB0-673D-87BC-7AB08AF8A970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1795F3-0ED3-98F5-42E5-F85F2315394A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6023C4E-3A3F-7FA0-E969-CC108FF78290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23B5D21-083D-7CF4-8DE8-56C63EF74332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F2210A0-0773-B307-C371-3E1711F94A17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8491EE0-01DE-8817-54E2-EF15A6BF506C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291CC52-2E29-E0EF-FF1E-FCC988B03CB9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64B9F5E-D91F-ABDF-D5C0-8B7602454F5F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44F429A-D348-F053-64C3-F8C91AACBAF5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60CB5C1-02DC-E251-C568-70993301BC49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3BF21D4-722D-E3F3-12BF-09F5EACC79F6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D49F5C8-6171-6D93-2FAD-F07B90F05D59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BFCBE02-356B-FAF6-302D-D10131781A43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24A0D2C-1203-0BD9-1708-DEA922B84111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15FF1AA-D044-E78B-4718-3386511F3C0E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9BCF00F-E38B-DC38-85B5-AFAB763DB648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357A3AC-7932-42F6-10FE-A0A8CB7AE2D8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C8B4C539-06E4-A6A5-C44E-76B9B32F28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D523AB53-2122-D7B0-B873-3107056A6C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BF3A4F1-CF2D-D93D-3FB8-4C5F2E6A2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BEE8717-33D7-7E5B-CF82-507EDE3E1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34CDA38A-E767-395B-A7A8-CD0786FCE8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E849D47C-58FA-EC0A-1A91-E2DC52EEE2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69E8E300-CAC3-A51C-C729-31EC68DF36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7C589693-C8E2-F245-09B5-383DC8BB57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C6A7B17-63E6-BF06-F4E0-23ED550A1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A153BECD-8DC9-5957-C3D5-DDAF5DFD22AE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46827F8-1EA2-9084-8F73-2090FB338EDB}"/>
              </a:ext>
            </a:extLst>
          </p:cNvPr>
          <p:cNvSpPr txBox="1"/>
          <p:nvPr/>
        </p:nvSpPr>
        <p:spPr>
          <a:xfrm>
            <a:off x="8424138" y="3010543"/>
            <a:ext cx="18279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commands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ABC33-FA4D-7993-2EA4-85C7FDE409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0404" y="3489796"/>
            <a:ext cx="5115368" cy="9596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C5F433-4E71-7D08-B872-2CD9FA0388B3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804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F8E83-083B-7E6A-1144-009289D3D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1F2D8-DC86-F7D8-0737-AE0073E5C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4" y="159716"/>
            <a:ext cx="10515600" cy="1325563"/>
          </a:xfrm>
        </p:spPr>
        <p:txBody>
          <a:bodyPr/>
          <a:lstStyle/>
          <a:p>
            <a:r>
              <a:rPr lang="en-US" dirty="0"/>
              <a:t>How does our concept of file systems translate to text-based computing?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7A80224-A355-9AF1-E797-D8CD26AAA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CBD2A7-F964-ECBF-BF3C-299B2437C3AC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016FC18-EEF4-D58C-22D2-2CC62FF14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F7E6C4F-691B-4ACE-F136-3B74BDCE4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9957B24-5F28-7AAA-C942-69C01EA7D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FBE282B-C78E-EA85-9E82-D4C43E91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B7CE92E-65F3-1E9A-3577-A6004A51F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74C3E6-A1FC-FB0E-37D4-B46D413969E7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5A9F11-0F3E-5D52-9CFB-5B67A2208A58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5C94E6-6CA6-18F4-9C9C-DD3DF2A56375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679913-93E3-6D3F-5FC2-74B992E9318E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3B2B39-40FE-9138-E5C1-1B58D5C64991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35FAA3F-0D4D-2B1D-B4EB-03475C2799E1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51489-8839-B49F-2225-F5BB563A6A1E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483837-0FBC-14DB-F311-62AB0AAC9646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AAB140-5802-27D5-D38B-040F424C13C5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CCFBBEE-F2EE-FC22-C783-B27F06F78B67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854478-5280-938E-54F1-E6C76CA8C8AA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72749F-2ADB-6DF2-71B1-3360314BDB47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D2C58FE-8FB1-B84D-33BD-E979E7E47534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B8BD85E-A2B1-C21E-5CC6-F4AA1023146A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01E82E-F43B-9760-199E-65BA31A01BEE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E34455E-4BB2-BD98-74E8-E24038745517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F6B20FA-0782-D694-5F27-5D345360790E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380E6F3-E3D9-6989-4AB9-339FFC27C02B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320A94-A1F7-1812-B45F-5C7F0B4F94D1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005ED6-BAA3-FBFD-129F-39B7A0700145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DB4AE-AC9F-CC9E-CD56-176A7C17327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88F5670-92FD-463A-16DC-019FC2987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833E3F3-E36F-7161-1E79-B2DCDA3485EC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7DC7F39-1202-B330-8CDD-F96EFA9DE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238EC83-48E1-0BE8-538B-279B94D29C94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B3BD09B-93D7-F07C-37F5-A49253477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5434DAD-466E-E129-00B0-36ED81119A46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8A91447-00BE-42C3-41E4-3A6FAF3C3A08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0177BB2-8D1B-4017-0EDB-67B78E6B20B7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E88883-24ED-9CE0-3C64-FCCA0924F5D5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67B5E33-82CF-A5B9-6572-77B73C1E3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69713DA-42F0-85C3-2FD3-7A2527E3F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34D2394-FD94-790E-BC69-4E5AF14A9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5B06DE2-7A1D-0F6F-9446-FF191C9A19B8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E01F58F-97C5-E74E-B036-DD411C38C6FA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98767D5-77A1-1DF4-4D46-F4E8397D6820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DD741AE-77D0-893F-6C85-358D780F83A7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9AC2B8-B761-6A5A-F1C8-4C03190161C9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BC51D2-7305-8F98-3026-54165E3E7BD2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D576DDC-6DB9-B912-0CED-285C6805241C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04CE785-E853-7605-466E-B3D6CEEB52E6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C8D126E-7B7E-FE83-3BA7-DAD9C2F6EF78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23CA652-4BE5-E1D2-3893-B85BE5D0671A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E907AFC-3853-8834-D29C-2EE88A76FFA1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E34E212-124E-0B71-155F-5DA0348E8E60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68C3820-95AC-6A8E-8402-598FACB20849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8061BA8-D429-0235-B759-B69D96327BD7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9D5FB2F-AC54-556C-FC96-60EF37D0EA3D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D291D04-F2F2-EEFF-90F1-099E9DA0FE25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CFA380B-E48D-ACBB-1245-5B66DE4561EA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DDCC849-7662-A025-E58B-AC298BC8EC83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2DBABDB-C4B7-34D2-AEF0-7C7F61575979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147485C-28B5-A842-DC40-0512A870385F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D94DB82-4A9F-7C2B-22F7-C0B8BFD2CB38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FEB3C160-5F57-52BA-A681-21F92C77D2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C2095773-0756-03F1-D8B2-E30359CC4E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F7F7C59-E884-8A89-3C85-92D1EB4C6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5DD37A3-0974-F697-E0C9-59434D369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44966A81-07C4-2A64-4B21-2FDB92B7C3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89FDEE03-3483-2E7E-03BE-5CB203BA10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35F892FB-0429-29C2-8ED8-7DB6F1BEF4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5DE7233D-FD05-F40F-B0ED-F13134D510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3B8DC6E-6BCE-CF12-F77D-373A0848F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FC1ABA8D-BB25-CABD-7DE5-CB1169630206}"/>
              </a:ext>
            </a:extLst>
          </p:cNvPr>
          <p:cNvSpPr/>
          <p:nvPr/>
        </p:nvSpPr>
        <p:spPr>
          <a:xfrm>
            <a:off x="4720604" y="3826693"/>
            <a:ext cx="1823140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6DFF55E-E3F1-3790-8A43-620FCD0E0954}"/>
              </a:ext>
            </a:extLst>
          </p:cNvPr>
          <p:cNvSpPr txBox="1"/>
          <p:nvPr/>
        </p:nvSpPr>
        <p:spPr>
          <a:xfrm>
            <a:off x="8424138" y="3010543"/>
            <a:ext cx="18279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commands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0BFD-7C5E-264E-7324-1A1ACCB502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0404" y="3489796"/>
            <a:ext cx="5115368" cy="9596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87FEFA-20B4-001F-2820-B8B5AD804A2E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E967A20-8E3E-B4D2-DE95-C418E574152E}"/>
              </a:ext>
            </a:extLst>
          </p:cNvPr>
          <p:cNvSpPr txBox="1"/>
          <p:nvPr/>
        </p:nvSpPr>
        <p:spPr>
          <a:xfrm>
            <a:off x="5234597" y="4923183"/>
            <a:ext cx="64140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</a:t>
            </a:r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command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program that is run by typing its name into the terminal and hitting Enter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Many common commands relate to navigating and manipulating the filesystem</a:t>
            </a:r>
          </a:p>
        </p:txBody>
      </p:sp>
    </p:spTree>
    <p:extLst>
      <p:ext uri="{BB962C8B-B14F-4D97-AF65-F5344CB8AC3E}">
        <p14:creationId xmlns:p14="http://schemas.microsoft.com/office/powerpoint/2010/main" val="680368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509EC-24B4-F160-40F3-370E19C73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56D2A-E5B3-4F09-628C-7DE08DBCF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Common commands for interacting with the filesystem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DFCACB-7C53-1DCB-EB07-C8F5441C9ED1}"/>
              </a:ext>
            </a:extLst>
          </p:cNvPr>
          <p:cNvSpPr txBox="1"/>
          <p:nvPr/>
        </p:nvSpPr>
        <p:spPr>
          <a:xfrm>
            <a:off x="0" y="6163497"/>
            <a:ext cx="1219200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These commands are used in the most common shells (bash, PowerShell)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9EC58B-7A50-8F5A-E90D-063B3F61E5B1}"/>
              </a:ext>
            </a:extLst>
          </p:cNvPr>
          <p:cNvGraphicFramePr>
            <a:graphicFrameLocks noGrp="1"/>
          </p:cNvGraphicFramePr>
          <p:nvPr/>
        </p:nvGraphicFramePr>
        <p:xfrm>
          <a:off x="1" y="1270000"/>
          <a:ext cx="12191999" cy="4683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317557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7874442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pwd</a:t>
                      </a:r>
                      <a:endParaRPr lang="en-US" sz="16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Print (display) the working directory.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ls &lt;directory&gt;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List the contents of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(current working directory if unspecified).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cd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Change the current working directory to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mkdir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Create a new directory called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&lt;directory&gt;.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mv &lt;directory/file&gt; &lt;directory/file&gt;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Move the first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 the second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 If location is the same, this acts as a rename command.</a:t>
                      </a:r>
                    </a:p>
                    <a:p>
                      <a:endParaRPr lang="en-US" sz="1600" b="0" dirty="0"/>
                    </a:p>
                    <a:p>
                      <a:pPr algn="ctr"/>
                      <a:r>
                        <a:rPr lang="en-US" sz="1600" b="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600" b="0" dirty="0">
                          <a:highlight>
                            <a:srgbClr val="FFFF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CAUTION: If the destination file/directory exists IT WILL BE OVERWRITTEN WITH NO CONFIRMATION PROMPT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0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cp &lt;directory/file&gt; &lt;directory/file&gt;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Copy the first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 the second 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&lt;directory/file&gt;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highlight>
                            <a:srgbClr val="FFFF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CAUTION: If the destination file/directory exists IT WILL BE OVERWRITTEN WITH NO CONFIRMATION PROMPT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49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rm &lt;file&gt;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rm –rf &lt;directory&gt;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DELETE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the file or directory (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AND its contents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). 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highlight>
                            <a:srgbClr val="FF0000"/>
                          </a:highlight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WARNING: PERMANENT ACTION WITH NO CONFIRMATION  PROMPT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3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4817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F6B6-0411-67F4-A748-26DAF2B92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12" y="134017"/>
            <a:ext cx="10515600" cy="1325563"/>
          </a:xfrm>
        </p:spPr>
        <p:txBody>
          <a:bodyPr/>
          <a:lstStyle/>
          <a:p>
            <a:r>
              <a:rPr lang="en-US" dirty="0"/>
              <a:t>How do commands work?</a:t>
            </a:r>
          </a:p>
        </p:txBody>
      </p:sp>
      <p:pic>
        <p:nvPicPr>
          <p:cNvPr id="5" name="Content Placeholder 4" descr="A drawing of a computer with a speech bubble&#10;&#10;AI-generated content may be incorrect.">
            <a:extLst>
              <a:ext uri="{FF2B5EF4-FFF2-40B4-BE49-F238E27FC236}">
                <a16:creationId xmlns:a16="http://schemas.microsoft.com/office/drawing/2014/main" id="{AADC04BE-69E2-AD54-91EC-A752CB86EE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12" y="2141537"/>
            <a:ext cx="435133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4A999C-4858-B9CD-2E28-E1637D38125A}"/>
              </a:ext>
            </a:extLst>
          </p:cNvPr>
          <p:cNvSpPr txBox="1"/>
          <p:nvPr/>
        </p:nvSpPr>
        <p:spPr>
          <a:xfrm>
            <a:off x="699247" y="3288414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[gregg]$ ls</a:t>
            </a:r>
          </a:p>
        </p:txBody>
      </p:sp>
      <p:pic>
        <p:nvPicPr>
          <p:cNvPr id="8" name="Graphic 7" descr="Folder Search with solid fill">
            <a:extLst>
              <a:ext uri="{FF2B5EF4-FFF2-40B4-BE49-F238E27FC236}">
                <a16:creationId xmlns:a16="http://schemas.microsoft.com/office/drawing/2014/main" id="{67A97C42-CB60-9C61-FA18-B0BA1AAEF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114643"/>
            <a:ext cx="914400" cy="914400"/>
          </a:xfrm>
          <a:prstGeom prst="rect">
            <a:avLst/>
          </a:prstGeom>
        </p:spPr>
      </p:pic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284C611A-EFD3-70A6-6A01-D70800651962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4526150" y="2571843"/>
            <a:ext cx="1112650" cy="17453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A5F274E-DDA8-C409-DDCE-298E1C0A1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553" y="2144618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311A7F4-342A-3D27-A6CC-891560B4D6EA}"/>
              </a:ext>
            </a:extLst>
          </p:cNvPr>
          <p:cNvSpPr txBox="1"/>
          <p:nvPr/>
        </p:nvSpPr>
        <p:spPr>
          <a:xfrm>
            <a:off x="9253178" y="238717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/bin/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B325C8-9BA6-DC0C-809B-819595E847FF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553200" y="2571843"/>
            <a:ext cx="26999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EC0E139-053F-3DDC-3CA5-9BE717884C9D}"/>
              </a:ext>
            </a:extLst>
          </p:cNvPr>
          <p:cNvGrpSpPr/>
          <p:nvPr/>
        </p:nvGrpSpPr>
        <p:grpSpPr>
          <a:xfrm>
            <a:off x="9448341" y="3421781"/>
            <a:ext cx="562174" cy="793750"/>
            <a:chOff x="7387881" y="3180927"/>
            <a:chExt cx="793750" cy="109601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24ED2B7-70F4-20E1-9C3F-D07EB9CA9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00" t="52231" r="80037" b="2857"/>
            <a:stretch>
              <a:fillRect/>
            </a:stretch>
          </p:blipFill>
          <p:spPr>
            <a:xfrm>
              <a:off x="7387881" y="3180927"/>
              <a:ext cx="793750" cy="109601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C290E23-F06E-B658-130D-A687FD9094F1}"/>
                </a:ext>
              </a:extLst>
            </p:cNvPr>
            <p:cNvSpPr txBox="1"/>
            <p:nvPr/>
          </p:nvSpPr>
          <p:spPr>
            <a:xfrm>
              <a:off x="7459706" y="4000526"/>
              <a:ext cx="603019" cy="215444"/>
            </a:xfrm>
            <a:prstGeom prst="rect">
              <a:avLst/>
            </a:prstGeom>
            <a:solidFill>
              <a:srgbClr val="EE1C23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ls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9CDE50-642A-624A-6DB8-CAF3D105B722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9729428" y="2938368"/>
            <a:ext cx="0" cy="483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74D3501-407D-D084-5A5B-512AE1DBC3A8}"/>
              </a:ext>
            </a:extLst>
          </p:cNvPr>
          <p:cNvSpPr txBox="1"/>
          <p:nvPr/>
        </p:nvSpPr>
        <p:spPr>
          <a:xfrm>
            <a:off x="6553200" y="4720281"/>
            <a:ext cx="1874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Run this program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E80BB726-4EB9-5919-732B-8053097B7F47}"/>
              </a:ext>
            </a:extLst>
          </p:cNvPr>
          <p:cNvCxnSpPr>
            <a:cxnSpLocks/>
            <a:stCxn id="32" idx="2"/>
          </p:cNvCxnSpPr>
          <p:nvPr/>
        </p:nvCxnSpPr>
        <p:spPr>
          <a:xfrm rot="5400000">
            <a:off x="5667098" y="3700315"/>
            <a:ext cx="433856" cy="32124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DBCA8E09-4C00-C38D-98C5-38836A1FEA57}"/>
              </a:ext>
            </a:extLst>
          </p:cNvPr>
          <p:cNvCxnSpPr>
            <a:cxnSpLocks/>
            <a:stCxn id="16" idx="2"/>
            <a:endCxn id="32" idx="3"/>
          </p:cNvCxnSpPr>
          <p:nvPr/>
        </p:nvCxnSpPr>
        <p:spPr>
          <a:xfrm rot="5400000">
            <a:off x="8733658" y="3909177"/>
            <a:ext cx="689416" cy="13021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345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4B9C2-C621-AE15-06D9-A47037A49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00AA1-FB47-5B67-FD98-A9B66902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12" y="93461"/>
            <a:ext cx="10515600" cy="1325563"/>
          </a:xfrm>
        </p:spPr>
        <p:txBody>
          <a:bodyPr/>
          <a:lstStyle/>
          <a:p>
            <a:r>
              <a:rPr lang="en-US" dirty="0"/>
              <a:t>All </a:t>
            </a:r>
            <a:r>
              <a:rPr lang="en-US" dirty="0" err="1"/>
              <a:t>progams</a:t>
            </a:r>
            <a:r>
              <a:rPr lang="en-US" dirty="0"/>
              <a:t> live somewhere in your computer</a:t>
            </a:r>
          </a:p>
        </p:txBody>
      </p:sp>
      <p:pic>
        <p:nvPicPr>
          <p:cNvPr id="5" name="Content Placeholder 4" descr="A drawing of a computer with a speech bubble&#10;&#10;AI-generated content may be incorrect.">
            <a:extLst>
              <a:ext uri="{FF2B5EF4-FFF2-40B4-BE49-F238E27FC236}">
                <a16:creationId xmlns:a16="http://schemas.microsoft.com/office/drawing/2014/main" id="{E337F20B-3F99-669F-62EC-4B92321537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12" y="2141537"/>
            <a:ext cx="435133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DE6893-722F-BF68-DD48-5DD62B4C08DB}"/>
              </a:ext>
            </a:extLst>
          </p:cNvPr>
          <p:cNvSpPr txBox="1"/>
          <p:nvPr/>
        </p:nvSpPr>
        <p:spPr>
          <a:xfrm>
            <a:off x="699247" y="3288414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[gregg]$ ls</a:t>
            </a:r>
          </a:p>
        </p:txBody>
      </p:sp>
      <p:pic>
        <p:nvPicPr>
          <p:cNvPr id="8" name="Graphic 7" descr="Folder Search with solid fill">
            <a:extLst>
              <a:ext uri="{FF2B5EF4-FFF2-40B4-BE49-F238E27FC236}">
                <a16:creationId xmlns:a16="http://schemas.microsoft.com/office/drawing/2014/main" id="{F5368EBA-1C1B-949F-7BA0-45B23330A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114643"/>
            <a:ext cx="914400" cy="914400"/>
          </a:xfrm>
          <a:prstGeom prst="rect">
            <a:avLst/>
          </a:prstGeom>
        </p:spPr>
      </p:pic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E1C7597E-7189-7F2D-9D7E-DCFC18B092B2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4526150" y="2571843"/>
            <a:ext cx="1112650" cy="17453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EDB3F06-CE4D-7AC4-DB07-BFD4599E7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553" y="2144618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3F5B8B-BE13-5E69-BFB3-8C6AFC407B56}"/>
              </a:ext>
            </a:extLst>
          </p:cNvPr>
          <p:cNvSpPr txBox="1"/>
          <p:nvPr/>
        </p:nvSpPr>
        <p:spPr>
          <a:xfrm>
            <a:off x="9253178" y="238717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/bin/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A5DC7C-B020-9AB4-737F-E4EABD4AC2A4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553200" y="2571843"/>
            <a:ext cx="26999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532C612-FDF5-AAA6-4E85-9AB95E93E485}"/>
              </a:ext>
            </a:extLst>
          </p:cNvPr>
          <p:cNvGrpSpPr/>
          <p:nvPr/>
        </p:nvGrpSpPr>
        <p:grpSpPr>
          <a:xfrm>
            <a:off x="9448341" y="3421781"/>
            <a:ext cx="562174" cy="793750"/>
            <a:chOff x="7387881" y="3180927"/>
            <a:chExt cx="793750" cy="109601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215CCD6-B695-B77D-865E-D56EB0468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00" t="52231" r="80037" b="2857"/>
            <a:stretch>
              <a:fillRect/>
            </a:stretch>
          </p:blipFill>
          <p:spPr>
            <a:xfrm>
              <a:off x="7387881" y="3180927"/>
              <a:ext cx="793750" cy="109601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912915E-CEE8-4459-CB7B-34685C03B214}"/>
                </a:ext>
              </a:extLst>
            </p:cNvPr>
            <p:cNvSpPr txBox="1"/>
            <p:nvPr/>
          </p:nvSpPr>
          <p:spPr>
            <a:xfrm>
              <a:off x="7459706" y="4000526"/>
              <a:ext cx="603019" cy="215444"/>
            </a:xfrm>
            <a:prstGeom prst="rect">
              <a:avLst/>
            </a:prstGeom>
            <a:solidFill>
              <a:srgbClr val="EE1C23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ls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30B1371-E8B2-653D-A293-0A5316726239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9729428" y="2938368"/>
            <a:ext cx="0" cy="483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-up of a black and white text&#10;&#10;AI-generated content may be incorrect.">
            <a:extLst>
              <a:ext uri="{FF2B5EF4-FFF2-40B4-BE49-F238E27FC236}">
                <a16:creationId xmlns:a16="http://schemas.microsoft.com/office/drawing/2014/main" id="{C3EF7F38-1469-89FF-5642-E41D00ADED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800" y="3724662"/>
            <a:ext cx="31496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37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4654C-6D6C-A53C-BB82-DBF28210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4CF5D-235A-2DAA-A1C0-367845D3B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12" y="12629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$PATH is list of directories to search for programs</a:t>
            </a:r>
          </a:p>
        </p:txBody>
      </p:sp>
      <p:pic>
        <p:nvPicPr>
          <p:cNvPr id="5" name="Content Placeholder 4" descr="A drawing of a computer with a speech bubble&#10;&#10;AI-generated content may be incorrect.">
            <a:extLst>
              <a:ext uri="{FF2B5EF4-FFF2-40B4-BE49-F238E27FC236}">
                <a16:creationId xmlns:a16="http://schemas.microsoft.com/office/drawing/2014/main" id="{735F6FF6-CCC5-6106-ED7F-86062E517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12" y="2141537"/>
            <a:ext cx="435133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608A8E-E428-331A-0920-2A3AAC93A925}"/>
              </a:ext>
            </a:extLst>
          </p:cNvPr>
          <p:cNvSpPr txBox="1"/>
          <p:nvPr/>
        </p:nvSpPr>
        <p:spPr>
          <a:xfrm>
            <a:off x="699247" y="3288414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[gregg]$ ls</a:t>
            </a:r>
          </a:p>
        </p:txBody>
      </p:sp>
      <p:pic>
        <p:nvPicPr>
          <p:cNvPr id="8" name="Graphic 7" descr="Folder Search with solid fill">
            <a:extLst>
              <a:ext uri="{FF2B5EF4-FFF2-40B4-BE49-F238E27FC236}">
                <a16:creationId xmlns:a16="http://schemas.microsoft.com/office/drawing/2014/main" id="{E10395E1-EB12-07CB-FB0B-37F06044A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114643"/>
            <a:ext cx="914400" cy="914400"/>
          </a:xfrm>
          <a:prstGeom prst="rect">
            <a:avLst/>
          </a:prstGeom>
        </p:spPr>
      </p:pic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29A6BEF4-3856-AA4D-A107-C2F69FA28C0A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4526150" y="2571843"/>
            <a:ext cx="1112650" cy="17453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7F35104-FED9-21E2-12C4-A13C4D7C2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553" y="2144618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8022EEE-DFEF-4BB6-4275-E63727A0DBD9}"/>
              </a:ext>
            </a:extLst>
          </p:cNvPr>
          <p:cNvSpPr txBox="1"/>
          <p:nvPr/>
        </p:nvSpPr>
        <p:spPr>
          <a:xfrm>
            <a:off x="9253178" y="238717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/bin/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B7DEA8-89C1-FA35-1092-FE71851D4091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553200" y="2571843"/>
            <a:ext cx="26999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A0AAED4F-64B9-FE6D-88A7-8E43E270B0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1582" y="3029043"/>
            <a:ext cx="5143213" cy="339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477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C00AD-C4C7-D25B-7B11-406D19448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59" y="150443"/>
            <a:ext cx="10515600" cy="1325563"/>
          </a:xfrm>
        </p:spPr>
        <p:txBody>
          <a:bodyPr/>
          <a:lstStyle/>
          <a:p>
            <a:r>
              <a:rPr lang="en-US" dirty="0"/>
              <a:t>$PATH is an </a:t>
            </a:r>
            <a:r>
              <a:rPr lang="en-US" b="1" dirty="0"/>
              <a:t>environmental variable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FADDB-581D-EF4A-B959-D3FB63301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3076" cy="95464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/>
              <a:t>Shortcuts/keywords that are assigned on startup to configure your workspace</a:t>
            </a:r>
          </a:p>
          <a:p>
            <a:pPr marL="0" indent="0">
              <a:buNone/>
            </a:pPr>
            <a:r>
              <a:rPr lang="en-US"/>
              <a:t>Usually starts with $</a:t>
            </a:r>
          </a:p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A8B417-A532-83EF-81F1-4FCA9D6EC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32086"/>
              </p:ext>
            </p:extLst>
          </p:nvPr>
        </p:nvGraphicFramePr>
        <p:xfrm>
          <a:off x="1" y="3015482"/>
          <a:ext cx="12191999" cy="236651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855492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8336507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530907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$PATH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 colon-separated list of directories that contain software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$HOME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  <a:cs typeface="Consolas" panose="020B0609020204030204" pitchFamily="49" charset="0"/>
                        </a:rPr>
                        <a:t>points to the home directory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475109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$PWD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the current working directory (print working directory)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451648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(on Cannon) points to the scratch directory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451648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prints the current user of the terminal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29966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C0AFDD5-8541-8A4E-7FD7-371508E330B4}"/>
              </a:ext>
            </a:extLst>
          </p:cNvPr>
          <p:cNvSpPr txBox="1"/>
          <p:nvPr/>
        </p:nvSpPr>
        <p:spPr>
          <a:xfrm>
            <a:off x="1470454" y="5993027"/>
            <a:ext cx="953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printenv lists all environmental variables. Usually set by software to help computer find things</a:t>
            </a:r>
          </a:p>
        </p:txBody>
      </p:sp>
    </p:spTree>
    <p:extLst>
      <p:ext uri="{BB962C8B-B14F-4D97-AF65-F5344CB8AC3E}">
        <p14:creationId xmlns:p14="http://schemas.microsoft.com/office/powerpoint/2010/main" val="234473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08516-9E1E-ACD1-D23E-BF7084B12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6B1D2-6080-FB9D-0C34-F2B410742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828" y="78109"/>
            <a:ext cx="10515600" cy="1325563"/>
          </a:xfrm>
        </p:spPr>
        <p:txBody>
          <a:bodyPr/>
          <a:lstStyle/>
          <a:p>
            <a:r>
              <a:rPr lang="en-US" dirty="0"/>
              <a:t>You can modify environmental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568C22-B889-19BD-EF3E-CD9C80587A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63" t="52639" r="61135" b="2858"/>
          <a:stretch>
            <a:fillRect/>
          </a:stretch>
        </p:blipFill>
        <p:spPr>
          <a:xfrm>
            <a:off x="8369988" y="5926066"/>
            <a:ext cx="580767" cy="786531"/>
          </a:xfrm>
          <a:prstGeom prst="rect">
            <a:avLst/>
          </a:prstGeom>
        </p:spPr>
      </p:pic>
      <p:pic>
        <p:nvPicPr>
          <p:cNvPr id="6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EF3B96D-2431-E199-48F2-F8B35586F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2050" y="5221682"/>
            <a:ext cx="654628" cy="65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C6B69C6-ECAC-1EB8-276E-1E667DEA91F3}"/>
              </a:ext>
            </a:extLst>
          </p:cNvPr>
          <p:cNvCxnSpPr>
            <a:cxnSpLocks/>
          </p:cNvCxnSpPr>
          <p:nvPr/>
        </p:nvCxnSpPr>
        <p:spPr>
          <a:xfrm flipV="1">
            <a:off x="9785846" y="4809827"/>
            <a:ext cx="307432" cy="488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D1E4E58-F760-A81C-466E-20F9CFA630AC}"/>
              </a:ext>
            </a:extLst>
          </p:cNvPr>
          <p:cNvSpPr txBox="1"/>
          <p:nvPr/>
        </p:nvSpPr>
        <p:spPr>
          <a:xfrm>
            <a:off x="9063114" y="546020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code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98E4278-40DF-DF2B-1A3B-A244CDB185BC}"/>
              </a:ext>
            </a:extLst>
          </p:cNvPr>
          <p:cNvCxnSpPr>
            <a:cxnSpLocks/>
          </p:cNvCxnSpPr>
          <p:nvPr/>
        </p:nvCxnSpPr>
        <p:spPr>
          <a:xfrm flipV="1">
            <a:off x="9063114" y="5818158"/>
            <a:ext cx="458460" cy="292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125803E-2C15-6C0C-5C44-1E57A8BE9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1078" y="14312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CA57F167-CAD5-2BEE-CBA3-7D90B011530C}"/>
              </a:ext>
            </a:extLst>
          </p:cNvPr>
          <p:cNvSpPr txBox="1"/>
          <p:nvPr/>
        </p:nvSpPr>
        <p:spPr>
          <a:xfrm>
            <a:off x="9731703" y="169068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/Users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C61428E-F88E-1122-375D-12CF885CB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7903" y="2336508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C40B5E6-4693-4D46-71BB-8D7636EF535B}"/>
              </a:ext>
            </a:extLst>
          </p:cNvPr>
          <p:cNvCxnSpPr>
            <a:cxnSpLocks/>
          </p:cNvCxnSpPr>
          <p:nvPr/>
        </p:nvCxnSpPr>
        <p:spPr>
          <a:xfrm flipV="1">
            <a:off x="10206230" y="2129024"/>
            <a:ext cx="0" cy="3686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0FDE2D1B-A7DF-CF51-2D8A-11073603B069}"/>
              </a:ext>
            </a:extLst>
          </p:cNvPr>
          <p:cNvSpPr txBox="1"/>
          <p:nvPr/>
        </p:nvSpPr>
        <p:spPr>
          <a:xfrm>
            <a:off x="9731703" y="2610702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leima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53A3E7A-E0BD-F692-5530-64ACD89BE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8662" y="3301793"/>
            <a:ext cx="624276" cy="62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8416E191-A087-93F7-E147-55C4077A81EA}"/>
              </a:ext>
            </a:extLst>
          </p:cNvPr>
          <p:cNvSpPr txBox="1"/>
          <p:nvPr/>
        </p:nvSpPr>
        <p:spPr>
          <a:xfrm>
            <a:off x="9886293" y="3499939"/>
            <a:ext cx="709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Projects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01B3FC6-E4C1-0FA9-71B6-562172226F80}"/>
              </a:ext>
            </a:extLst>
          </p:cNvPr>
          <p:cNvCxnSpPr>
            <a:cxnSpLocks/>
          </p:cNvCxnSpPr>
          <p:nvPr/>
        </p:nvCxnSpPr>
        <p:spPr>
          <a:xfrm flipV="1">
            <a:off x="10195329" y="3094678"/>
            <a:ext cx="16066" cy="3343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DCF1568-D0D3-A4E3-3339-AB9D3415C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6678" y="4111000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DF0C4B1-6E01-2C72-9260-5A395B0F7106}"/>
              </a:ext>
            </a:extLst>
          </p:cNvPr>
          <p:cNvCxnSpPr>
            <a:cxnSpLocks/>
          </p:cNvCxnSpPr>
          <p:nvPr/>
        </p:nvCxnSpPr>
        <p:spPr>
          <a:xfrm>
            <a:off x="10263553" y="3926069"/>
            <a:ext cx="0" cy="341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956D404-FA45-6B75-48C6-C2FA1A25762A}"/>
              </a:ext>
            </a:extLst>
          </p:cNvPr>
          <p:cNvSpPr txBox="1"/>
          <p:nvPr/>
        </p:nvSpPr>
        <p:spPr>
          <a:xfrm>
            <a:off x="9739002" y="4409742"/>
            <a:ext cx="1049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my_project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587915A-5654-8F82-92F2-91F832ED02EE}"/>
              </a:ext>
            </a:extLst>
          </p:cNvPr>
          <p:cNvSpPr txBox="1"/>
          <p:nvPr/>
        </p:nvSpPr>
        <p:spPr>
          <a:xfrm>
            <a:off x="671113" y="3874564"/>
            <a:ext cx="74939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Have an executable you want to reference without typing out the full path?</a:t>
            </a:r>
          </a:p>
          <a:p>
            <a:r>
              <a:rPr lang="en-US"/>
              <a:t>Add it to the end of the $PATH</a:t>
            </a:r>
          </a:p>
          <a:p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&gt;PATH=$PATH:/path/to/directory</a:t>
            </a:r>
          </a:p>
          <a:p>
            <a:endParaRPr lang="en-US"/>
          </a:p>
          <a:p>
            <a:r>
              <a:rPr lang="en-US"/>
              <a:t>say_hello.sh will now be able to be referenced from anywhere</a:t>
            </a:r>
          </a:p>
        </p:txBody>
      </p:sp>
      <p:pic>
        <p:nvPicPr>
          <p:cNvPr id="4" name="Picture 3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B7928689-8B82-4F40-B5FA-DA2BCB2EA7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078"/>
          <a:stretch>
            <a:fillRect/>
          </a:stretch>
        </p:blipFill>
        <p:spPr>
          <a:xfrm>
            <a:off x="671113" y="1981200"/>
            <a:ext cx="7772400" cy="1686944"/>
          </a:xfrm>
          <a:prstGeom prst="rect">
            <a:avLst/>
          </a:prstGeom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CF9EB43-72A9-875E-6FA5-C9F54F4CE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0474" y="5222921"/>
            <a:ext cx="654628" cy="65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AEC0CE5-23EA-C7F9-5A02-40809C659475}"/>
              </a:ext>
            </a:extLst>
          </p:cNvPr>
          <p:cNvSpPr txBox="1"/>
          <p:nvPr/>
        </p:nvSpPr>
        <p:spPr>
          <a:xfrm>
            <a:off x="10291538" y="546020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data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6C4055-DF21-26DF-0D40-035C7E132444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10373353" y="4926866"/>
            <a:ext cx="394435" cy="2960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295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32B23-E4DA-12FF-F407-9DF6A047D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0D5762-30CF-0D1C-E739-811E6121DD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63" t="52639" r="61135" b="2858"/>
          <a:stretch>
            <a:fillRect/>
          </a:stretch>
        </p:blipFill>
        <p:spPr>
          <a:xfrm>
            <a:off x="8369988" y="5926066"/>
            <a:ext cx="580767" cy="786531"/>
          </a:xfrm>
          <a:prstGeom prst="rect">
            <a:avLst/>
          </a:prstGeom>
        </p:spPr>
      </p:pic>
      <p:pic>
        <p:nvPicPr>
          <p:cNvPr id="6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D609471-4FA8-9684-A3D9-3F5E630D4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2050" y="5221682"/>
            <a:ext cx="654628" cy="65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624F840-AAB7-5FC5-FAFA-E82E56176339}"/>
              </a:ext>
            </a:extLst>
          </p:cNvPr>
          <p:cNvCxnSpPr>
            <a:cxnSpLocks/>
          </p:cNvCxnSpPr>
          <p:nvPr/>
        </p:nvCxnSpPr>
        <p:spPr>
          <a:xfrm flipV="1">
            <a:off x="9785846" y="4809827"/>
            <a:ext cx="307432" cy="488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009C57C-2D1C-0EA7-7B72-A30E1BF72CDE}"/>
              </a:ext>
            </a:extLst>
          </p:cNvPr>
          <p:cNvSpPr txBox="1"/>
          <p:nvPr/>
        </p:nvSpPr>
        <p:spPr>
          <a:xfrm>
            <a:off x="9063114" y="546020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code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0C4EE4A-0733-99C7-B8D2-99A5E5189593}"/>
              </a:ext>
            </a:extLst>
          </p:cNvPr>
          <p:cNvCxnSpPr>
            <a:cxnSpLocks/>
          </p:cNvCxnSpPr>
          <p:nvPr/>
        </p:nvCxnSpPr>
        <p:spPr>
          <a:xfrm flipV="1">
            <a:off x="9063114" y="5818158"/>
            <a:ext cx="458460" cy="292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16DDE60-B426-4B83-E106-A3137FB1E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1078" y="14312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2AB67F56-08B3-A3B7-B312-5E7E7A4BDCBE}"/>
              </a:ext>
            </a:extLst>
          </p:cNvPr>
          <p:cNvSpPr txBox="1"/>
          <p:nvPr/>
        </p:nvSpPr>
        <p:spPr>
          <a:xfrm>
            <a:off x="9731703" y="169068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/Users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B9E4D51-66DE-A1E2-281B-BF3CDE924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7903" y="2336508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423A12F-56BF-2D06-894E-80F8B4B4DC6C}"/>
              </a:ext>
            </a:extLst>
          </p:cNvPr>
          <p:cNvCxnSpPr>
            <a:cxnSpLocks/>
          </p:cNvCxnSpPr>
          <p:nvPr/>
        </p:nvCxnSpPr>
        <p:spPr>
          <a:xfrm flipV="1">
            <a:off x="10206230" y="2129024"/>
            <a:ext cx="0" cy="3686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B9925043-EA07-66FC-AD7A-B13A25710D20}"/>
              </a:ext>
            </a:extLst>
          </p:cNvPr>
          <p:cNvSpPr txBox="1"/>
          <p:nvPr/>
        </p:nvSpPr>
        <p:spPr>
          <a:xfrm>
            <a:off x="9731703" y="2610702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leima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040430A-E16B-3864-EDDD-D685A94B8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8662" y="3301793"/>
            <a:ext cx="624276" cy="62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0C954B27-97DF-38F1-7F4C-875B77E7193B}"/>
              </a:ext>
            </a:extLst>
          </p:cNvPr>
          <p:cNvSpPr txBox="1"/>
          <p:nvPr/>
        </p:nvSpPr>
        <p:spPr>
          <a:xfrm>
            <a:off x="9886293" y="3499939"/>
            <a:ext cx="709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Projects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3AAA3F8-9726-5A5B-6C63-5277E7369BF3}"/>
              </a:ext>
            </a:extLst>
          </p:cNvPr>
          <p:cNvCxnSpPr>
            <a:cxnSpLocks/>
          </p:cNvCxnSpPr>
          <p:nvPr/>
        </p:nvCxnSpPr>
        <p:spPr>
          <a:xfrm flipV="1">
            <a:off x="10195329" y="3094678"/>
            <a:ext cx="16066" cy="3343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A6149EA-034B-3046-8187-56432C9F3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6678" y="4111000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BD8A7B1-87B5-17FD-C12A-372712D24A6E}"/>
              </a:ext>
            </a:extLst>
          </p:cNvPr>
          <p:cNvCxnSpPr>
            <a:cxnSpLocks/>
          </p:cNvCxnSpPr>
          <p:nvPr/>
        </p:nvCxnSpPr>
        <p:spPr>
          <a:xfrm>
            <a:off x="10263553" y="3926069"/>
            <a:ext cx="0" cy="341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9770F07-0F37-5859-EF11-27E516718879}"/>
              </a:ext>
            </a:extLst>
          </p:cNvPr>
          <p:cNvSpPr txBox="1"/>
          <p:nvPr/>
        </p:nvSpPr>
        <p:spPr>
          <a:xfrm>
            <a:off x="9739002" y="4409742"/>
            <a:ext cx="1049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my_project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AE130BE-1501-3213-5078-82F52BCAAB27}"/>
              </a:ext>
            </a:extLst>
          </p:cNvPr>
          <p:cNvSpPr txBox="1"/>
          <p:nvPr/>
        </p:nvSpPr>
        <p:spPr>
          <a:xfrm>
            <a:off x="671113" y="3874564"/>
            <a:ext cx="74939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Have an executable you want to reference without typing out the full path?</a:t>
            </a:r>
          </a:p>
          <a:p>
            <a:r>
              <a:rPr lang="en-US"/>
              <a:t>Add it to the end of the $PATH</a:t>
            </a:r>
          </a:p>
          <a:p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&gt;PATH=$PATH:/path/to/directory</a:t>
            </a:r>
          </a:p>
          <a:p>
            <a:endParaRPr lang="en-US"/>
          </a:p>
          <a:p>
            <a:r>
              <a:rPr lang="en-US"/>
              <a:t>say_hello.sh will now be able to be referenced from anywhere</a:t>
            </a:r>
          </a:p>
        </p:txBody>
      </p:sp>
      <p:pic>
        <p:nvPicPr>
          <p:cNvPr id="4" name="Picture 3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053EBEF3-640D-DAF6-D1B7-7BE930145F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837"/>
          <a:stretch>
            <a:fillRect/>
          </a:stretch>
        </p:blipFill>
        <p:spPr>
          <a:xfrm>
            <a:off x="671113" y="1976636"/>
            <a:ext cx="7772400" cy="1691508"/>
          </a:xfrm>
          <a:prstGeom prst="rect">
            <a:avLst/>
          </a:prstGeom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FEB5DCD-A440-2836-1A33-EF2A6574A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0474" y="5222921"/>
            <a:ext cx="654628" cy="65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9058787-646A-2322-74E8-1C4D25DF08AF}"/>
              </a:ext>
            </a:extLst>
          </p:cNvPr>
          <p:cNvSpPr txBox="1"/>
          <p:nvPr/>
        </p:nvSpPr>
        <p:spPr>
          <a:xfrm>
            <a:off x="10291538" y="546020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data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BB1282-5A23-F3ED-FAA9-85F202D5706D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10373353" y="4926866"/>
            <a:ext cx="394435" cy="2960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5FAEC90-A102-D763-F33E-E4FD080002F7}"/>
              </a:ext>
            </a:extLst>
          </p:cNvPr>
          <p:cNvSpPr txBox="1"/>
          <p:nvPr/>
        </p:nvSpPr>
        <p:spPr>
          <a:xfrm>
            <a:off x="0" y="6163497"/>
            <a:ext cx="1219200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!!This will only last for this session!!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76633D8-4860-33AC-D205-6E47278BD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828" y="78109"/>
            <a:ext cx="10515600" cy="1325563"/>
          </a:xfrm>
        </p:spPr>
        <p:txBody>
          <a:bodyPr/>
          <a:lstStyle/>
          <a:p>
            <a:r>
              <a:rPr lang="en-US" dirty="0"/>
              <a:t>You can modify environmental variables</a:t>
            </a:r>
          </a:p>
        </p:txBody>
      </p:sp>
    </p:spTree>
    <p:extLst>
      <p:ext uri="{BB962C8B-B14F-4D97-AF65-F5344CB8AC3E}">
        <p14:creationId xmlns:p14="http://schemas.microsoft.com/office/powerpoint/2010/main" val="3567205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C9696-FAD6-7082-98EF-1186D6BDD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98" y="125157"/>
            <a:ext cx="10515600" cy="1325563"/>
          </a:xfrm>
        </p:spPr>
        <p:txBody>
          <a:bodyPr/>
          <a:lstStyle/>
          <a:p>
            <a:r>
              <a:rPr lang="en-US" dirty="0"/>
              <a:t>You can make new shell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7F16E7-DA12-D037-8003-CE6E7DAD8A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63" t="52639" r="61135" b="2858"/>
          <a:stretch>
            <a:fillRect/>
          </a:stretch>
        </p:blipFill>
        <p:spPr>
          <a:xfrm>
            <a:off x="10495387" y="5949744"/>
            <a:ext cx="580767" cy="786531"/>
          </a:xfrm>
          <a:prstGeom prst="rect">
            <a:avLst/>
          </a:prstGeom>
        </p:spPr>
      </p:pic>
      <p:pic>
        <p:nvPicPr>
          <p:cNvPr id="6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642D03F-A3B9-12FE-806C-7D7C3BF92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8925" y="5622430"/>
            <a:ext cx="654628" cy="65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E231F79-3D2B-6B2E-B2A4-B0661CAB906C}"/>
              </a:ext>
            </a:extLst>
          </p:cNvPr>
          <p:cNvCxnSpPr>
            <a:cxnSpLocks/>
          </p:cNvCxnSpPr>
          <p:nvPr/>
        </p:nvCxnSpPr>
        <p:spPr>
          <a:xfrm flipV="1">
            <a:off x="9928662" y="5309444"/>
            <a:ext cx="33988" cy="4386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082B893-51F0-3D68-B0C7-B967E12CA56C}"/>
              </a:ext>
            </a:extLst>
          </p:cNvPr>
          <p:cNvSpPr txBox="1"/>
          <p:nvPr/>
        </p:nvSpPr>
        <p:spPr>
          <a:xfrm>
            <a:off x="9469406" y="5830517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software/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CF233D3-D813-4DDE-2AA4-810A7FEEBB9E}"/>
              </a:ext>
            </a:extLst>
          </p:cNvPr>
          <p:cNvCxnSpPr>
            <a:cxnSpLocks/>
            <a:endCxn id="64" idx="2"/>
          </p:cNvCxnSpPr>
          <p:nvPr/>
        </p:nvCxnSpPr>
        <p:spPr>
          <a:xfrm flipH="1" flipV="1">
            <a:off x="9936239" y="6277058"/>
            <a:ext cx="518180" cy="2158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4FE6D3C-6F02-6CE2-36E7-30A4D1495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1954" y="4868924"/>
            <a:ext cx="576368" cy="57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9F4B571-23E1-A474-0254-54E251B96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571" y="388431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BE91775-667B-EE6B-5DF8-569485532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1078" y="14312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3647EF8D-864C-D4A0-2F7A-12CD9D7E98F9}"/>
              </a:ext>
            </a:extLst>
          </p:cNvPr>
          <p:cNvSpPr txBox="1"/>
          <p:nvPr/>
        </p:nvSpPr>
        <p:spPr>
          <a:xfrm>
            <a:off x="9731703" y="169068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CAAC16D-393C-2C27-FF1D-FF70503A4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7903" y="2336508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7A69604-A13D-F8AE-965C-F8CC1CC3504C}"/>
              </a:ext>
            </a:extLst>
          </p:cNvPr>
          <p:cNvCxnSpPr>
            <a:cxnSpLocks/>
          </p:cNvCxnSpPr>
          <p:nvPr/>
        </p:nvCxnSpPr>
        <p:spPr>
          <a:xfrm flipV="1">
            <a:off x="10206230" y="2129024"/>
            <a:ext cx="0" cy="3686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7BA04205-9115-CD62-6467-73C5A3D963B7}"/>
              </a:ext>
            </a:extLst>
          </p:cNvPr>
          <p:cNvSpPr txBox="1"/>
          <p:nvPr/>
        </p:nvSpPr>
        <p:spPr>
          <a:xfrm>
            <a:off x="9731703" y="2610702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F31BE85-A230-3297-F858-0040707FA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6725" y="3449433"/>
            <a:ext cx="520230" cy="52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174C9E6F-CBE6-B1A5-9C04-2F3B589563C7}"/>
              </a:ext>
            </a:extLst>
          </p:cNvPr>
          <p:cNvSpPr txBox="1"/>
          <p:nvPr/>
        </p:nvSpPr>
        <p:spPr>
          <a:xfrm>
            <a:off x="9869853" y="3622708"/>
            <a:ext cx="7490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home*/</a:t>
            </a:r>
          </a:p>
        </p:txBody>
      </p:sp>
      <p:pic>
        <p:nvPicPr>
          <p:cNvPr id="10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91CE427-EF32-7E6B-3649-32BF482C8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198" y="3449433"/>
            <a:ext cx="520230" cy="52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C1E740CE-4698-683F-889B-E522E733B831}"/>
              </a:ext>
            </a:extLst>
          </p:cNvPr>
          <p:cNvSpPr txBox="1"/>
          <p:nvPr/>
        </p:nvSpPr>
        <p:spPr>
          <a:xfrm>
            <a:off x="10618936" y="3602426"/>
            <a:ext cx="8457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netscratch</a:t>
            </a:r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32876F0-E145-DD59-74D6-DED25C133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5133" y="3421772"/>
            <a:ext cx="520230" cy="52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88491863-0586-F607-8947-2F3A3996D433}"/>
              </a:ext>
            </a:extLst>
          </p:cNvPr>
          <p:cNvSpPr txBox="1"/>
          <p:nvPr/>
        </p:nvSpPr>
        <p:spPr>
          <a:xfrm>
            <a:off x="9113110" y="3589615"/>
            <a:ext cx="6242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holy*/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20854F1D-CF88-F5F6-FBD2-F80B554CEC3F}"/>
              </a:ext>
            </a:extLst>
          </p:cNvPr>
          <p:cNvCxnSpPr>
            <a:cxnSpLocks/>
          </p:cNvCxnSpPr>
          <p:nvPr/>
        </p:nvCxnSpPr>
        <p:spPr>
          <a:xfrm flipH="1" flipV="1">
            <a:off x="10204778" y="3016329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66E7606-2606-C7BC-D6D1-6C8E0E364871}"/>
              </a:ext>
            </a:extLst>
          </p:cNvPr>
          <p:cNvCxnSpPr>
            <a:cxnSpLocks/>
          </p:cNvCxnSpPr>
          <p:nvPr/>
        </p:nvCxnSpPr>
        <p:spPr>
          <a:xfrm flipV="1">
            <a:off x="9561830" y="3010629"/>
            <a:ext cx="398711" cy="354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91368004-5155-53A2-BD9A-0720D51358C5}"/>
              </a:ext>
            </a:extLst>
          </p:cNvPr>
          <p:cNvCxnSpPr>
            <a:cxnSpLocks/>
          </p:cNvCxnSpPr>
          <p:nvPr/>
        </p:nvCxnSpPr>
        <p:spPr>
          <a:xfrm>
            <a:off x="10445191" y="3051332"/>
            <a:ext cx="453196" cy="3531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1515958-8790-BC9A-DA34-80AA7BF8B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373" y="4137506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F6E2E58-40B2-1B94-E4A2-4560BEC76478}"/>
              </a:ext>
            </a:extLst>
          </p:cNvPr>
          <p:cNvCxnSpPr>
            <a:cxnSpLocks/>
          </p:cNvCxnSpPr>
          <p:nvPr/>
        </p:nvCxnSpPr>
        <p:spPr>
          <a:xfrm>
            <a:off x="9425248" y="3884318"/>
            <a:ext cx="0" cy="4154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D1179B4-E42F-2DC6-4F42-AC547B834AAE}"/>
              </a:ext>
            </a:extLst>
          </p:cNvPr>
          <p:cNvSpPr txBox="1"/>
          <p:nvPr/>
        </p:nvSpPr>
        <p:spPr>
          <a:xfrm>
            <a:off x="8914650" y="4484836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&lt;pi name&gt;_lab/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55F5DD10-B443-FC67-35CB-D8FBC31BB595}"/>
              </a:ext>
            </a:extLst>
          </p:cNvPr>
          <p:cNvCxnSpPr>
            <a:cxnSpLocks/>
          </p:cNvCxnSpPr>
          <p:nvPr/>
        </p:nvCxnSpPr>
        <p:spPr>
          <a:xfrm>
            <a:off x="9508135" y="4862851"/>
            <a:ext cx="223568" cy="157909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3B391D83-B3EC-B27E-2249-DD9CE9260661}"/>
              </a:ext>
            </a:extLst>
          </p:cNvPr>
          <p:cNvSpPr txBox="1"/>
          <p:nvPr/>
        </p:nvSpPr>
        <p:spPr>
          <a:xfrm>
            <a:off x="9455587" y="5093316"/>
            <a:ext cx="1049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Lab/</a:t>
            </a:r>
          </a:p>
        </p:txBody>
      </p:sp>
      <p:pic>
        <p:nvPicPr>
          <p:cNvPr id="134" name="Picture 13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62BB2DDB-98A4-C9A2-931E-FFE01EC6C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219" y="1690687"/>
            <a:ext cx="5499100" cy="1422400"/>
          </a:xfrm>
          <a:prstGeom prst="rect">
            <a:avLst/>
          </a:prstGeom>
        </p:spPr>
      </p:pic>
      <p:sp>
        <p:nvSpPr>
          <p:cNvPr id="135" name="TextBox 134">
            <a:extLst>
              <a:ext uri="{FF2B5EF4-FFF2-40B4-BE49-F238E27FC236}">
                <a16:creationId xmlns:a16="http://schemas.microsoft.com/office/drawing/2014/main" id="{9AA74995-1747-5C73-0583-D82CE58F79B7}"/>
              </a:ext>
            </a:extLst>
          </p:cNvPr>
          <p:cNvSpPr txBox="1"/>
          <p:nvPr/>
        </p:nvSpPr>
        <p:spPr>
          <a:xfrm>
            <a:off x="1756350" y="3452145"/>
            <a:ext cx="43396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TEST</a:t>
            </a:r>
            <a:r>
              <a:rPr lang="en-US" sz="200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</a:t>
            </a:r>
            <a:r>
              <a:rPr lang="en-US" sz="2000">
                <a:solidFill>
                  <a:schemeClr val="accent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$TEST</a:t>
            </a:r>
            <a:r>
              <a:rPr lang="en-US" sz="2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 obi wan kenobi"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6A97ABC-4679-4F69-8CEC-94275E6D4625}"/>
              </a:ext>
            </a:extLst>
          </p:cNvPr>
          <p:cNvCxnSpPr>
            <a:cxnSpLocks/>
            <a:endCxn id="138" idx="0"/>
          </p:cNvCxnSpPr>
          <p:nvPr/>
        </p:nvCxnSpPr>
        <p:spPr>
          <a:xfrm flipH="1">
            <a:off x="1119781" y="3819728"/>
            <a:ext cx="902964" cy="4537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623D6EB7-8C7E-0DF6-95BA-B4DCBBDD1CC3}"/>
              </a:ext>
            </a:extLst>
          </p:cNvPr>
          <p:cNvSpPr txBox="1"/>
          <p:nvPr/>
        </p:nvSpPr>
        <p:spPr>
          <a:xfrm>
            <a:off x="353942" y="4273471"/>
            <a:ext cx="1531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EE1C23"/>
                </a:solidFill>
              </a:rPr>
              <a:t>variable you want to set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09A67A1-9474-F8F0-E6B2-A2BA872C01B3}"/>
              </a:ext>
            </a:extLst>
          </p:cNvPr>
          <p:cNvCxnSpPr>
            <a:cxnSpLocks/>
          </p:cNvCxnSpPr>
          <p:nvPr/>
        </p:nvCxnSpPr>
        <p:spPr>
          <a:xfrm flipH="1">
            <a:off x="2506637" y="3787201"/>
            <a:ext cx="26637" cy="5888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4D5FD827-0EE0-623F-5676-18F741AC9E03}"/>
              </a:ext>
            </a:extLst>
          </p:cNvPr>
          <p:cNvSpPr txBox="1"/>
          <p:nvPr/>
        </p:nvSpPr>
        <p:spPr>
          <a:xfrm>
            <a:off x="1710979" y="4295474"/>
            <a:ext cx="16731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accent4"/>
                </a:solidFill>
              </a:rPr>
              <a:t>assign right side to variable on left</a:t>
            </a: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E3F698CA-B26F-F3C6-D685-8421CF1F1769}"/>
              </a:ext>
            </a:extLst>
          </p:cNvPr>
          <p:cNvCxnSpPr>
            <a:cxnSpLocks/>
          </p:cNvCxnSpPr>
          <p:nvPr/>
        </p:nvCxnSpPr>
        <p:spPr>
          <a:xfrm>
            <a:off x="3190265" y="3851225"/>
            <a:ext cx="759179" cy="849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3384152A-25E8-9C9D-9E7C-E5750BEE26F1}"/>
              </a:ext>
            </a:extLst>
          </p:cNvPr>
          <p:cNvSpPr txBox="1"/>
          <p:nvPr/>
        </p:nvSpPr>
        <p:spPr>
          <a:xfrm>
            <a:off x="3725242" y="4677817"/>
            <a:ext cx="1673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accent6"/>
                </a:solidFill>
              </a:rPr>
              <a:t>interpolates to </a:t>
            </a:r>
            <a:r>
              <a:rPr lang="en-US" sz="1600">
                <a:solidFill>
                  <a:schemeClr val="accent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hello there</a:t>
            </a:r>
          </a:p>
        </p:txBody>
      </p:sp>
      <p:sp>
        <p:nvSpPr>
          <p:cNvPr id="146" name="Right Bracket 145">
            <a:extLst>
              <a:ext uri="{FF2B5EF4-FFF2-40B4-BE49-F238E27FC236}">
                <a16:creationId xmlns:a16="http://schemas.microsoft.com/office/drawing/2014/main" id="{AF0239BC-A7A1-60B3-3503-3D4637A40A6E}"/>
              </a:ext>
            </a:extLst>
          </p:cNvPr>
          <p:cNvSpPr/>
          <p:nvPr/>
        </p:nvSpPr>
        <p:spPr>
          <a:xfrm rot="5400000">
            <a:off x="4233743" y="2207023"/>
            <a:ext cx="163626" cy="3299630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8FAE556B-2E2D-06AC-24BE-417617826E8F}"/>
              </a:ext>
            </a:extLst>
          </p:cNvPr>
          <p:cNvCxnSpPr>
            <a:cxnSpLocks/>
          </p:cNvCxnSpPr>
          <p:nvPr/>
        </p:nvCxnSpPr>
        <p:spPr>
          <a:xfrm>
            <a:off x="5276268" y="3969663"/>
            <a:ext cx="759179" cy="849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146B3C2E-2656-5264-7AD4-F06BE90CC632}"/>
              </a:ext>
            </a:extLst>
          </p:cNvPr>
          <p:cNvSpPr txBox="1"/>
          <p:nvPr/>
        </p:nvSpPr>
        <p:spPr>
          <a:xfrm>
            <a:off x="5990378" y="4738043"/>
            <a:ext cx="2501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two strings concatenated together to be assigned to the left side</a:t>
            </a:r>
          </a:p>
        </p:txBody>
      </p:sp>
    </p:spTree>
    <p:extLst>
      <p:ext uri="{BB962C8B-B14F-4D97-AF65-F5344CB8AC3E}">
        <p14:creationId xmlns:p14="http://schemas.microsoft.com/office/powerpoint/2010/main" val="4273786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F5538-E070-905A-6CDA-1BCECDB5F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C9661A-FFE2-EDB9-77C4-3EE33F558D5F}"/>
              </a:ext>
            </a:extLst>
          </p:cNvPr>
          <p:cNvSpPr txBox="1"/>
          <p:nvPr/>
        </p:nvSpPr>
        <p:spPr>
          <a:xfrm>
            <a:off x="0" y="6163497"/>
            <a:ext cx="1219200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shell variables only exist in the shell. Other programs won’t be able to find it unless you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export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6622834-36DF-3480-AA39-715B4D669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93063"/>
            <a:ext cx="5702300" cy="2197100"/>
          </a:xfrm>
          <a:prstGeom prst="rect">
            <a:avLst/>
          </a:prstGeom>
        </p:spPr>
      </p:pic>
      <p:sp>
        <p:nvSpPr>
          <p:cNvPr id="7" name="Internal Storage 6">
            <a:extLst>
              <a:ext uri="{FF2B5EF4-FFF2-40B4-BE49-F238E27FC236}">
                <a16:creationId xmlns:a16="http://schemas.microsoft.com/office/drawing/2014/main" id="{8D6FE369-FEE1-38AD-C33C-43ACAE6EC55B}"/>
              </a:ext>
            </a:extLst>
          </p:cNvPr>
          <p:cNvSpPr/>
          <p:nvPr/>
        </p:nvSpPr>
        <p:spPr>
          <a:xfrm>
            <a:off x="8273143" y="1993063"/>
            <a:ext cx="2960914" cy="3340937"/>
          </a:xfrm>
          <a:prstGeom prst="flowChartInternal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#! /bin/sh</a:t>
            </a:r>
          </a:p>
          <a:p>
            <a:endParaRPr lang="en-US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echo "this is my variable: "$TEST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B40D29-387A-1A92-4587-812FF1815A50}"/>
              </a:ext>
            </a:extLst>
          </p:cNvPr>
          <p:cNvSpPr txBox="1"/>
          <p:nvPr/>
        </p:nvSpPr>
        <p:spPr>
          <a:xfrm>
            <a:off x="8153400" y="1649727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say_hello.sh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9087798-8B40-80B6-CF57-53EF3B2D1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98" y="125157"/>
            <a:ext cx="10515600" cy="1325563"/>
          </a:xfrm>
        </p:spPr>
        <p:txBody>
          <a:bodyPr/>
          <a:lstStyle/>
          <a:p>
            <a:r>
              <a:rPr lang="en-US" dirty="0"/>
              <a:t>You can make new shell variables</a:t>
            </a:r>
          </a:p>
        </p:txBody>
      </p:sp>
    </p:spTree>
    <p:extLst>
      <p:ext uri="{BB962C8B-B14F-4D97-AF65-F5344CB8AC3E}">
        <p14:creationId xmlns:p14="http://schemas.microsoft.com/office/powerpoint/2010/main" val="2721359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10DB8-A317-3BE4-2FF9-AB669BBB9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0490-8931-ADE3-B138-5C3EC71CE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Aliases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Because some commands are long and I use them a lot</a:t>
            </a:r>
          </a:p>
        </p:txBody>
      </p:sp>
      <p:pic>
        <p:nvPicPr>
          <p:cNvPr id="1026" name="Picture 2" descr="US Politics Megathread - Page 1183 - ESOCommunity">
            <a:extLst>
              <a:ext uri="{FF2B5EF4-FFF2-40B4-BE49-F238E27FC236}">
                <a16:creationId xmlns:a16="http://schemas.microsoft.com/office/drawing/2014/main" id="{D448016E-1292-EB2D-C871-84609F084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83" y="782741"/>
            <a:ext cx="1681145" cy="112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CCC3FCE-680F-11E2-A48B-1320E331FA42}"/>
              </a:ext>
            </a:extLst>
          </p:cNvPr>
          <p:cNvSpPr txBox="1"/>
          <p:nvPr/>
        </p:nvSpPr>
        <p:spPr>
          <a:xfrm>
            <a:off x="1490628" y="2436175"/>
            <a:ext cx="9210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Aliases</a:t>
            </a:r>
            <a:r>
              <a:rPr lang="en-US" sz="3200" dirty="0"/>
              <a:t> allow you to create command </a:t>
            </a:r>
            <a:r>
              <a:rPr lang="en-US" sz="3200" b="1" dirty="0"/>
              <a:t>shortcuts.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1B5906-AA3B-23FB-D322-B57956EB2E8D}"/>
              </a:ext>
            </a:extLst>
          </p:cNvPr>
          <p:cNvSpPr txBox="1"/>
          <p:nvPr/>
        </p:nvSpPr>
        <p:spPr>
          <a:xfrm>
            <a:off x="0" y="3667103"/>
            <a:ext cx="12192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cd my/very/very/very/long/path/with/lots/of/numbers235u/for/some/reason/</a:t>
            </a:r>
          </a:p>
        </p:txBody>
      </p:sp>
    </p:spTree>
    <p:extLst>
      <p:ext uri="{BB962C8B-B14F-4D97-AF65-F5344CB8AC3E}">
        <p14:creationId xmlns:p14="http://schemas.microsoft.com/office/powerpoint/2010/main" val="1792221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A32C1-608C-B0B6-BFD7-EC50314A8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30692-B132-2B76-32C4-65164247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Aliases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Because some commands are long and I use them a lot</a:t>
            </a:r>
          </a:p>
        </p:txBody>
      </p:sp>
      <p:pic>
        <p:nvPicPr>
          <p:cNvPr id="1026" name="Picture 2" descr="US Politics Megathread - Page 1183 - ESOCommunity">
            <a:extLst>
              <a:ext uri="{FF2B5EF4-FFF2-40B4-BE49-F238E27FC236}">
                <a16:creationId xmlns:a16="http://schemas.microsoft.com/office/drawing/2014/main" id="{6BBF6CCB-F7B5-807D-EAC3-CED7CF4EF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83" y="782741"/>
            <a:ext cx="1681145" cy="112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EC5CB1A-3D60-7035-FFF8-460AE8837E1E}"/>
              </a:ext>
            </a:extLst>
          </p:cNvPr>
          <p:cNvSpPr txBox="1"/>
          <p:nvPr/>
        </p:nvSpPr>
        <p:spPr>
          <a:xfrm>
            <a:off x="1490628" y="2436175"/>
            <a:ext cx="9210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Aliases</a:t>
            </a:r>
            <a:r>
              <a:rPr lang="en-US" sz="3200" dirty="0"/>
              <a:t> allow you to create command </a:t>
            </a:r>
            <a:r>
              <a:rPr lang="en-US" sz="3200" b="1" dirty="0"/>
              <a:t>shortcuts.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950094-9CC1-8608-2D11-03BEFC489C42}"/>
              </a:ext>
            </a:extLst>
          </p:cNvPr>
          <p:cNvSpPr txBox="1"/>
          <p:nvPr/>
        </p:nvSpPr>
        <p:spPr>
          <a:xfrm>
            <a:off x="0" y="3667103"/>
            <a:ext cx="12192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cd my/very/very/very/long/path/with/lots/of/numbers235u/for/some/reason/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1DB756-B052-275F-BA86-99F09D502836}"/>
              </a:ext>
            </a:extLst>
          </p:cNvPr>
          <p:cNvSpPr txBox="1"/>
          <p:nvPr/>
        </p:nvSpPr>
        <p:spPr>
          <a:xfrm>
            <a:off x="0" y="4256791"/>
            <a:ext cx="12192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alias ‘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cdp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=cd my/very/very/very/long/path/with/lots/of/numbers235u/for/some/reason/’ </a:t>
            </a:r>
          </a:p>
        </p:txBody>
      </p:sp>
    </p:spTree>
    <p:extLst>
      <p:ext uri="{BB962C8B-B14F-4D97-AF65-F5344CB8AC3E}">
        <p14:creationId xmlns:p14="http://schemas.microsoft.com/office/powerpoint/2010/main" val="32137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0A8E0-6278-0DAC-8092-090EF823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6046-38FD-6F2C-E0F4-B5AB8B17E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9960"/>
            <a:ext cx="10515600" cy="1325563"/>
          </a:xfrm>
        </p:spPr>
        <p:txBody>
          <a:bodyPr/>
          <a:lstStyle/>
          <a:p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Aliases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Because some commands are long and I use them a lot</a:t>
            </a:r>
          </a:p>
        </p:txBody>
      </p:sp>
      <p:pic>
        <p:nvPicPr>
          <p:cNvPr id="1026" name="Picture 2" descr="US Politics Megathread - Page 1183 - ESOCommunity">
            <a:extLst>
              <a:ext uri="{FF2B5EF4-FFF2-40B4-BE49-F238E27FC236}">
                <a16:creationId xmlns:a16="http://schemas.microsoft.com/office/drawing/2014/main" id="{D50FA429-DC6C-3746-A812-E7B9B49B2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83" y="782741"/>
            <a:ext cx="1681145" cy="112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7CBBEF8-FA55-59DC-18D8-E39DC7597551}"/>
              </a:ext>
            </a:extLst>
          </p:cNvPr>
          <p:cNvSpPr txBox="1"/>
          <p:nvPr/>
        </p:nvSpPr>
        <p:spPr>
          <a:xfrm>
            <a:off x="1490628" y="2436175"/>
            <a:ext cx="9210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Aliases</a:t>
            </a:r>
            <a:r>
              <a:rPr lang="en-US" sz="3200" dirty="0"/>
              <a:t> allow you to create command </a:t>
            </a:r>
            <a:r>
              <a:rPr lang="en-US" sz="3200" b="1" dirty="0"/>
              <a:t>shortcuts.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99E7A3-DD58-FED0-E6B2-A979E319A2CB}"/>
              </a:ext>
            </a:extLst>
          </p:cNvPr>
          <p:cNvSpPr txBox="1"/>
          <p:nvPr/>
        </p:nvSpPr>
        <p:spPr>
          <a:xfrm>
            <a:off x="0" y="3667103"/>
            <a:ext cx="12192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cd my/very/very/very/long/path/with/lots/of/numbers235u/for/some/reason/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AC82C2-F5D4-71E3-836A-423D1AC67180}"/>
              </a:ext>
            </a:extLst>
          </p:cNvPr>
          <p:cNvSpPr txBox="1"/>
          <p:nvPr/>
        </p:nvSpPr>
        <p:spPr>
          <a:xfrm>
            <a:off x="0" y="4256791"/>
            <a:ext cx="12192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alias ‘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cdp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=cd my/very/very/very/long/path/with/lots/of/numbers235u/for/some/reason/’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740E36-5FE7-F8BC-B960-69FD8DD5C448}"/>
              </a:ext>
            </a:extLst>
          </p:cNvPr>
          <p:cNvSpPr txBox="1"/>
          <p:nvPr/>
        </p:nvSpPr>
        <p:spPr>
          <a:xfrm>
            <a:off x="0" y="4846479"/>
            <a:ext cx="12192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cdp</a:t>
            </a:r>
            <a:endParaRPr lang="en-US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975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A62D3-A7EE-A1B7-9BFA-923432F7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22" y="198263"/>
            <a:ext cx="10515600" cy="1325563"/>
          </a:xfrm>
        </p:spPr>
        <p:txBody>
          <a:bodyPr/>
          <a:lstStyle/>
          <a:p>
            <a:r>
              <a:rPr lang="en-US" dirty="0"/>
              <a:t>Caution: do not overwrite environmental variables with other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A3217-E4FB-D691-64F2-46F106D5F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Don’t assign anything else to the variables below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10265A-8961-FC9C-EE76-448D0D750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417561"/>
              </p:ext>
            </p:extLst>
          </p:nvPr>
        </p:nvGraphicFramePr>
        <p:xfrm>
          <a:off x="1" y="3015482"/>
          <a:ext cx="12191999" cy="236651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855492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8336507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530907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$PATH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 colon-separated list of directories that contain software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$HOME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  <a:cs typeface="Consolas" panose="020B0609020204030204" pitchFamily="49" charset="0"/>
                        </a:rPr>
                        <a:t>points to the home directory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475109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$PWD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the current working directory (print working directory)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451648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(on Cannon) points to the scratch directory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451648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$USER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prints the current user of the terminal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299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605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5CD9C-7087-8679-9B04-F061F1A1B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2648F3-0D78-643C-0160-3FC465AE6E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9DFF3E-B115-56CF-2899-1927B2C668B0}"/>
              </a:ext>
            </a:extLst>
          </p:cNvPr>
          <p:cNvSpPr txBox="1"/>
          <p:nvPr/>
        </p:nvSpPr>
        <p:spPr>
          <a:xfrm>
            <a:off x="0" y="1258957"/>
            <a:ext cx="121920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Customizing your environment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CD8033-6BB7-D76B-2EEF-AF997A0BD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096" y="2452592"/>
            <a:ext cx="3961807" cy="396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52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3A2B5-D6C7-FAA2-918E-AC503630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A0D3CD-DD0B-4711-3203-A4FC22526F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0BD18-44BF-17CB-AC61-535FE83C109D}"/>
              </a:ext>
            </a:extLst>
          </p:cNvPr>
          <p:cNvSpPr txBox="1"/>
          <p:nvPr/>
        </p:nvSpPr>
        <p:spPr>
          <a:xfrm>
            <a:off x="0" y="1258957"/>
            <a:ext cx="121920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Customizing your </a:t>
            </a:r>
            <a:r>
              <a:rPr lang="en-US" sz="3600" u="sng" dirty="0"/>
              <a:t>environment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983385-A998-4354-E43E-3A9E9FCF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096" y="2452592"/>
            <a:ext cx="3961807" cy="396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95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44740-BA9C-99C2-3ED3-F43BB1DA0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7F1F-ADDC-89AA-5625-DDFBE29E9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" y="-2152"/>
            <a:ext cx="10515600" cy="1325563"/>
          </a:xfrm>
        </p:spPr>
        <p:txBody>
          <a:bodyPr/>
          <a:lstStyle/>
          <a:p>
            <a:r>
              <a:rPr lang="en-US" dirty="0"/>
              <a:t>What to we mean by “environment”?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4B098F5-2DFE-EBCD-E47A-77F16171A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D7848C-4382-135A-CE81-6047D173E098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3E90353-1D67-3E24-503E-8F3FBFAF0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71946B0-9BD0-DD5E-17C6-255B73D4C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2EF2C5D-BA7E-B243-437F-140AC9D39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AD94045-7343-A471-C368-C7392BC4F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18BB2DB-805C-4E32-7110-C7BC5CBA1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142E29F-C180-DE78-C678-650C7E8D28C6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80A96B-A05A-FB70-E71D-FB5C7DFCF3EE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14B20C-902E-18B5-63AF-AE6FF28A3470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233F24-DE51-7294-49FB-5A63EF2B27A1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906E9ED-0FBD-5A36-981A-AD31BB262A43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3FA4952-D8E9-F553-9D24-E11D60E952BC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03A4BC-A2EE-C990-4E80-30F57B25389F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8C6450-0EEE-F21D-E2AC-3E6F9F3D59F0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9B4A9E-0D90-FB01-2CA1-8F05F9B23EC1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8CAD00-CFCB-56FE-812B-D22C18D812C3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02C688-548D-807A-BF31-59D2A18609DD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7997C28-BD10-62FA-47AE-F67C31BC4DAE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D6FBA2F-B22A-8407-2CA2-5525E444AEA1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FF844-88EE-3775-70F9-7F6232F49E58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8BDFF6-1ABB-B299-260D-CAFE52F23D5F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C0C6437-06A0-A61F-0B62-5523877A97D0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851D29-D9DD-B2D0-5024-68F2E7B53763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B4C3104-51BD-4A3E-DECB-3D55BE489F03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6229126-A973-3CAC-54D6-B1E1C1B2599A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5F04D9C-2AFB-E1D6-1EEC-903E5118B6B4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24F5419-188E-B360-DC4E-C638720D545F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1F1C1D0-FA3C-7505-28BC-E41222EBA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4235589-0A49-1DF5-FAF2-4A465E75DD28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A17CE42-5C27-4954-9560-8DD5A987E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7CD29B4-B90A-F12D-5096-0910CDC2196B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EB61F6F-CE72-C8CD-1698-D6CF9312A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7AD9FC9-7028-2E74-F8AD-ECEE080B3091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F58C9D6-E6FB-9A38-7D74-CA6D65A9152F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C73CC9B-BD1F-F739-1C75-69D6026E14E5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467EAF0-B90A-91CC-9FCD-54EF42F9B92C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8FEC01C-FA47-10D4-015A-AFA371C8B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AA67E68-021D-B094-C86B-EC039F930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37E9457-EEF4-08BC-FE81-9E635190F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7F1A70B-1E18-D021-5530-6F4054DA6334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C48D345-D83B-103D-B9E9-C2A37A1AC0C9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BF21D8A-FBEF-4D1C-AE5F-E855187BDE07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2986A6C-8543-B2BB-A268-915F3A7DB207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040B53-C5CE-B4E4-E097-3EB02B6CABA5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834F168-D3D3-C560-6694-F01BEF75BDF4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0FB03CF-DD59-816F-C66A-C18225B2968B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B0A0639-E8D1-826B-B4D4-FEDB8775B3F1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B351B96-DA3A-59D9-465D-7585D59094BC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CBDD3C7-66C9-A04F-2A4D-A04F7A3B0953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A15CA27-E045-073A-8ECF-9080E47E67A0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FF09899-8F84-9BCD-54EC-61688C79B70D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ED7B683-BE1A-E7DC-04A8-636ED2041006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D2CA34D-6E67-4FCF-FCD9-53EF1D16922E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71B2C22-27B1-2443-4126-FAE8B211FA2F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30EA3F1-883B-FA31-DE95-5B51689BA36E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16642E4-E8A1-81F8-7C11-DBAB0B6D3B6E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9F91E93-9E2C-A713-CA66-50EDF77DE34E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ADF3589-2E76-4DF2-AB4E-138C6153A4B4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E0C7427-E4DC-8665-C090-249CACD67D0E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4819EBB-36BA-13C7-9EB6-39A1F63D7E8A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F70308BE-72F2-608E-D356-70CCAB9097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7B1BD45-F1DB-D384-DCD9-FB03B97A77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EA1DE08-AB01-E329-F23C-8CB0957B3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1475E39-6273-A211-47D1-B12E51EC9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B05E130C-B653-16B5-53D0-438F117252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ABEE58E6-78B8-3FCA-085C-22F43FEB05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5011E3D2-7F1B-F1CF-B613-A5397B7BA7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23D91F1F-7794-6BF4-0157-57174779E2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617AAC9-5681-FBDA-7CE9-507F63C6F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B47F9EE1-8F79-F3A4-F51F-10F9F8BB8A1E}"/>
              </a:ext>
            </a:extLst>
          </p:cNvPr>
          <p:cNvSpPr/>
          <p:nvPr/>
        </p:nvSpPr>
        <p:spPr>
          <a:xfrm rot="19422002">
            <a:off x="3789893" y="3170865"/>
            <a:ext cx="299201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73F50882-141B-736B-EACC-94AF7FA13E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2965" y="1610077"/>
            <a:ext cx="5329277" cy="797966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9A4AFCC0-3B8D-4687-89BC-7284197662BD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939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E592E-8DED-CF1F-194E-C45D90D47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780B1-813E-5C8E-9916-19A991A72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" y="-2152"/>
            <a:ext cx="10515600" cy="1325563"/>
          </a:xfrm>
        </p:spPr>
        <p:txBody>
          <a:bodyPr/>
          <a:lstStyle/>
          <a:p>
            <a:r>
              <a:rPr lang="en-US" dirty="0"/>
              <a:t>What to we mean by “environment”?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2B5ED03-462E-AC33-0C7B-99B300412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D34B2A-8712-D2B2-C334-F2A1622B5054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BC35B7A-A359-708A-0507-F62CE71B9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67455BC-B83C-FCA8-D9AC-6E970A919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806C040-0565-46F7-DB77-91233E32C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BBAADC7-D553-F817-0E8F-9E25B179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EED1153-736A-4829-9555-EF7ED0051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CA0C47-5AF1-4B14-F5A2-6E8BE143E44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CB989C-ED30-8DD8-BECB-36987B731118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6760AD-3C7F-6732-6EF2-BB91374C5462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5151DA-DBB0-0C44-FCDA-235A57004E5E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AD6A16-627C-C8E4-54C4-BFC576F91DF0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D2CAA77-F952-8080-7FBF-20723124C2AA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2D8D55-3295-9D82-4A74-46BB3F3726D6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3547B5-4B00-C3D2-CCDC-CB502B0904E2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F2A560-38DD-E87C-AB32-679872B85E59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6D794A-6ABB-8ACB-01EE-1A9EF61A5D84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A741BC6-7974-AE38-9B5F-21F908A06776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57EF746-8025-9946-9702-278CA7978516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F1BA832-AA56-40D9-89AD-90EA8D20617F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C6B9BA-FC62-505E-EC56-659FCE640297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1C92885-6485-D654-1068-D78803D5C6D0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B5BB5D6-A9F1-066B-AAE8-19797308CF19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0FD51E-8E4B-2BE5-C181-0A5FC647527B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20B76F1-D037-DC3F-F7B5-5D49A9AD421A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E60CC2E-EF19-BE3C-376C-4C3EA8E72305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A2311A3-1088-E713-C5AD-12A33373DAB8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50EAA00-B726-E914-3BBA-16F975B3B702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AFEBDC0-2CCF-81B6-FA6E-0D69AD24C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9B426E2-84EC-28F2-6E80-EBC6375C6D4C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844A9BF-7FC6-B1E3-67A3-10A26CF6A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19ACD43-133E-3745-4C6E-3845A18E0C09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863A6E3-3940-D6E0-5087-0E828478A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4F75FD3-25FA-C837-91E4-B7A69522FDF8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F629FC4-458D-6825-A379-FAE5CE9BE472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58A3796-D0AA-F97D-86A1-580530ECA7FC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2EDAF35-8AD9-0A06-B9A7-B73EBA8F9443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C3ED1E4-829D-D6C7-C35C-A35758698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2D9DE0F-7C5A-4444-5D52-4D576BA13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BC46F95-D380-23C5-53E1-982769D01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B4D6114-5473-5CFA-01E7-70A6676D3448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F095A50-3C96-2DB2-2934-822454DD804A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0F10E0F-5576-26A9-A3A6-F6122E591B7E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4635E72-61F1-425C-1EBD-11DB5414967E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BEE32A-B932-2E91-E308-11699A1A6CAD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81F02E8-65C0-7A89-A501-F690D8D5F153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6E5FA27-9FD2-EE17-9671-1BC35EF852E4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E2F66E6-2470-72F2-2ABA-56C089D5469F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D10FBE5-4AF8-9AEB-3085-7FA961361E06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86C5D8B-BCED-C403-1FDC-1FE4CF0799A9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148A381-962C-65D6-26F9-6DCDF95ED5F8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09427B3-1B8E-6AAB-46B1-AA3FBDFF2DF9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D006918-DBDD-F34F-E2F9-43BC8DF09528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AF2D622-E530-EAC1-7776-64D671205120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05BE1CA-64BC-5937-E585-48BF950EC29C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92A5E84-F18B-BD91-C85E-1B5676EB25FC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1902229-ADB2-918F-DBE7-0A8E443300D1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82214C1-81B5-E0F7-9C4F-36D5C166C91C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3F075AE-FD89-013A-AD58-4D7573519A2F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9F3B9C5-0CA6-102A-55DB-4D0C5BB922EB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D0B413-6B03-0D83-41D0-0CD1334CE54F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5004FDDF-1559-D3E6-4A24-7D9E7C62B0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2DD0FB98-C973-DC7E-779E-2678F39288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6BEF6E5-C4B2-CA8F-6ED7-9C08532D1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F476DD6-C738-C00F-2396-C250D203D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17EA1EFE-C690-F284-1944-9431913990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7DA61C30-BCE3-69C9-ECEF-069D5179FB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D6B1E372-9A4E-A600-47E0-19C3AB3414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E42E4F52-82FA-0260-5097-FD039BC858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E56FF5C-8760-BCBB-8FA2-2658CE05E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69B0B007-1CE1-180E-81A7-3FEC25BC17A9}"/>
              </a:ext>
            </a:extLst>
          </p:cNvPr>
          <p:cNvSpPr/>
          <p:nvPr/>
        </p:nvSpPr>
        <p:spPr>
          <a:xfrm rot="19422002">
            <a:off x="3789893" y="3170865"/>
            <a:ext cx="299201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9DEB1C4D-25AE-3533-1034-3CA8D659D5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2965" y="1610077"/>
            <a:ext cx="5329277" cy="797966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32F7E8E1-C05C-9A00-8E29-5F395C0DD912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15C03C-4DF9-11DB-ADDD-D3CC48CA7C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533" y="3296240"/>
            <a:ext cx="618835" cy="6188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98DA42-B03E-DD32-086B-7573733F0B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211" y="4118504"/>
            <a:ext cx="618835" cy="618837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3B57F584-D830-7DBE-2DB6-1EB7D5AF050D}"/>
              </a:ext>
            </a:extLst>
          </p:cNvPr>
          <p:cNvSpPr txBox="1"/>
          <p:nvPr/>
        </p:nvSpPr>
        <p:spPr>
          <a:xfrm>
            <a:off x="8403386" y="3462506"/>
            <a:ext cx="874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$PATH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C790686-22B8-6861-491F-AC22C5CCCD16}"/>
              </a:ext>
            </a:extLst>
          </p:cNvPr>
          <p:cNvSpPr txBox="1"/>
          <p:nvPr/>
        </p:nvSpPr>
        <p:spPr>
          <a:xfrm>
            <a:off x="8140819" y="3831838"/>
            <a:ext cx="1399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aliases and functions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DE40D83-5CEA-12AD-ACC3-1B8D8419064E}"/>
              </a:ext>
            </a:extLst>
          </p:cNvPr>
          <p:cNvSpPr txBox="1"/>
          <p:nvPr/>
        </p:nvSpPr>
        <p:spPr>
          <a:xfrm>
            <a:off x="8760626" y="4466346"/>
            <a:ext cx="2222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$LD_LIBRARY_PATH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E9E02B8-D38A-5A43-51DB-EB396A11EFCF}"/>
              </a:ext>
            </a:extLst>
          </p:cNvPr>
          <p:cNvSpPr txBox="1"/>
          <p:nvPr/>
        </p:nvSpPr>
        <p:spPr>
          <a:xfrm>
            <a:off x="9320010" y="3379878"/>
            <a:ext cx="2085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other environment variables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48B3EC0-8357-3BD0-200C-2C7F2CF009EB}"/>
              </a:ext>
            </a:extLst>
          </p:cNvPr>
          <p:cNvSpPr txBox="1"/>
          <p:nvPr/>
        </p:nvSpPr>
        <p:spPr>
          <a:xfrm>
            <a:off x="6762457" y="3884076"/>
            <a:ext cx="11369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.</a:t>
            </a:r>
            <a:r>
              <a:rPr lang="en-US" sz="1050" dirty="0" err="1">
                <a:latin typeface="Consolas" panose="020B0609020204030204" pitchFamily="49" charset="0"/>
              </a:rPr>
              <a:t>bash_profile</a:t>
            </a:r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65988CF-0573-8AF6-06D8-5B3EC9AFB1BB}"/>
              </a:ext>
            </a:extLst>
          </p:cNvPr>
          <p:cNvSpPr txBox="1"/>
          <p:nvPr/>
        </p:nvSpPr>
        <p:spPr>
          <a:xfrm>
            <a:off x="7540195" y="4713116"/>
            <a:ext cx="7368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.</a:t>
            </a:r>
            <a:r>
              <a:rPr lang="en-US" sz="1050" dirty="0" err="1">
                <a:latin typeface="Consolas" panose="020B0609020204030204" pitchFamily="49" charset="0"/>
              </a:rPr>
              <a:t>bashrc</a:t>
            </a:r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85" name="Cloud 84">
            <a:extLst>
              <a:ext uri="{FF2B5EF4-FFF2-40B4-BE49-F238E27FC236}">
                <a16:creationId xmlns:a16="http://schemas.microsoft.com/office/drawing/2014/main" id="{13C13174-7C1A-771F-1FD3-DFC5F55AD3FB}"/>
              </a:ext>
            </a:extLst>
          </p:cNvPr>
          <p:cNvSpPr/>
          <p:nvPr/>
        </p:nvSpPr>
        <p:spPr>
          <a:xfrm>
            <a:off x="6226499" y="2939608"/>
            <a:ext cx="5911191" cy="2338859"/>
          </a:xfrm>
          <a:prstGeom prst="cloud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7804122-FC3D-76F0-B804-CC6FEE8A7626}"/>
              </a:ext>
            </a:extLst>
          </p:cNvPr>
          <p:cNvSpPr txBox="1"/>
          <p:nvPr/>
        </p:nvSpPr>
        <p:spPr>
          <a:xfrm>
            <a:off x="7206011" y="2643924"/>
            <a:ext cx="398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Your current </a:t>
            </a:r>
            <a:r>
              <a:rPr lang="en-US" b="1" dirty="0">
                <a:solidFill>
                  <a:schemeClr val="accent2"/>
                </a:solidFill>
              </a:rPr>
              <a:t>environment</a:t>
            </a:r>
          </a:p>
        </p:txBody>
      </p:sp>
    </p:spTree>
    <p:extLst>
      <p:ext uri="{BB962C8B-B14F-4D97-AF65-F5344CB8AC3E}">
        <p14:creationId xmlns:p14="http://schemas.microsoft.com/office/powerpoint/2010/main" val="19508122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157FD-EEA8-6045-70C5-C6D8EEEE4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3D75A-2EE5-9E5D-661C-DED1E6D08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" y="-2152"/>
            <a:ext cx="10515600" cy="1325563"/>
          </a:xfrm>
        </p:spPr>
        <p:txBody>
          <a:bodyPr/>
          <a:lstStyle/>
          <a:p>
            <a:r>
              <a:rPr lang="en-US" dirty="0"/>
              <a:t>What to we mean by “environment”?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C189B8E-D0A9-6CC5-88DB-9570EEDE4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6A586C-D96C-A008-9334-366441DA3C2A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2487FB3-D08B-E359-B5D3-99D6CCE22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8D6E114-DDE8-B935-137F-728B331A8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53E1134-0C0B-34AB-E933-7B474DF6C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4473E14-0E9B-84C8-706C-0428FF306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7C470D7-5557-2008-E2D2-0FB2B66FD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8A2214-53F3-7181-5072-B8241E5B9A46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F23506-7932-3C67-CFB8-09F893ABD33C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8A78EC-1060-CA30-50B3-F841EAD56A1F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5DECDA-6EB9-D511-9F20-618A79E03A81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00737A-2454-C98A-1CFA-43BBE48D15EA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3D4E40C-E531-DF65-E3CA-D01E4BF2292A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7BDB05-44CC-04F8-86A1-B8CA59D85781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DDE178-1AA2-6FC5-BB78-455D4493A331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45ACAF-62F5-216A-89CB-487B125B056F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62EB32-E670-4F1F-EC99-C2C5F6650A88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86F77F-1011-79D1-CA50-DE0EBF36779D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D71A69-5834-07E2-ED65-1204930D6527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2C2E5EB-D482-89D3-B79B-EEA34947F4B3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E259410-97A8-9707-95C8-8D7BD62217BF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1FDCDD7-A4DE-7B56-7D59-CC8E0EB4CD98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C15E94A-A45B-372D-DA65-2A84E142A19A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E172F01-29BA-A8A4-789B-C0856D4DFBC4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C4D82D-CE4B-0596-7597-DB423F133D71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FEAAA81-1DD3-136F-11A8-DCB1107AAD28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EF0013C-0F38-9EE6-78E6-A9A55EC6DA54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2F2BB7B-59AA-707C-7B6F-224DCFF9127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4B82B24-A48A-A729-E951-CCFCAE919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45C4E8F-2831-79C0-D577-0D6656E29A3D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0BDD929-486E-1125-195E-67BBF2D01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D3C6A6D-2F7B-3D0D-D351-C724D4965C3D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DAD5AF5-D48B-27E4-4A1F-D72D40EB9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E7720D2-4263-F22D-CDBD-BA95C3526619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45BAB98-BAC7-7733-D498-66A9C6E2F945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18DF501-2146-AA3C-634E-CB572BC1ACC4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D9BF19C-A671-0D61-4A15-3FC92201E258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576396D-9C3C-A5A3-2B8C-8930805DD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0E2445F-27A7-45D2-6C54-28D1A7872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029CBA4-C841-FFA4-4798-20A2F105C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C4A402A-417D-48C3-5A01-23F1DDA77C79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2685681-75CB-76AB-A640-DC9F259E0113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4EEF8EF-2054-9F28-6873-2F554A2174A4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535691B-E66A-B8E3-015D-35A5876F79B8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0593EF-F514-7DB8-ED2A-67088954B491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297996-6542-0E9A-0848-51B19B16AAF4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4B32E75-5CCA-B584-3BB1-074480F5D876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6A86930-DBF2-53B5-9523-B2D007C9A6DA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372DBE4-356F-92C0-5125-AB186AB03F22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1026842-54CD-9D66-2B8F-D66DBE139628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382E73B-395D-4A2F-D5B7-35339FC02C4C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BD0FB07-59B2-10D6-B2C3-1FA74418F30C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6172117-CFF1-6194-F969-1FBECA1DF12A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72192F-2FCC-68CD-785C-FE357DEE4BF5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859F737-DB86-0F27-1280-E5D19CF4D70D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CF29FB0-06E0-6DF2-5A86-7EEF46A0187A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65EEE00-54ED-2496-CD70-1E5387953C31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A9FD929-B748-45A2-13FE-E08B0EC8A4DC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5977ACC-0AFE-C2BF-D8A8-F55DD58CD33F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96C5D82-5701-3AEB-3B10-50A5529E0F6B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22243B6-814D-7501-4A70-27CC67F3EFC7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E2CFB7BD-74BF-342E-0601-B8273CE37E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FDAF343D-DEF5-BD14-D2D8-DE6C9C6C65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76DDE04-3CDE-B5AA-35FD-F8866C21E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216D3A5-8D75-F528-9D28-E01E347A9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BCBFDC78-EB69-208E-EC74-4C08D42B4F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EC636E73-F815-EE00-C0D8-36539E6D60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F91D6E21-17A7-4C8F-A5AD-225381242B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3E2A4217-A49E-99CC-4073-294E47D27E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467131B-4A73-4B70-2F1A-FCE2D7C9E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F60DA216-85B3-B1DD-6B49-F457CDFEFBF3}"/>
              </a:ext>
            </a:extLst>
          </p:cNvPr>
          <p:cNvSpPr/>
          <p:nvPr/>
        </p:nvSpPr>
        <p:spPr>
          <a:xfrm rot="19422002">
            <a:off x="3789893" y="3170865"/>
            <a:ext cx="299201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88DE0280-D80C-C8B5-AD70-C7C79A4465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2965" y="1610077"/>
            <a:ext cx="5329277" cy="797966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96730424-E29F-27A9-95F6-B55BA3D08C77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9CE344-E506-7C9F-B6B2-B88C69045A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533" y="3296240"/>
            <a:ext cx="618835" cy="6188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3CEE3F-545C-BB37-0FA7-E39C118F02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211" y="4118504"/>
            <a:ext cx="618835" cy="618837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EFE7F9A4-5415-C3B0-D702-62DAB8856F0C}"/>
              </a:ext>
            </a:extLst>
          </p:cNvPr>
          <p:cNvSpPr txBox="1"/>
          <p:nvPr/>
        </p:nvSpPr>
        <p:spPr>
          <a:xfrm>
            <a:off x="8403386" y="3462506"/>
            <a:ext cx="874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$PATH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9CCF3B4-9141-49A9-0C3B-5A7BD6C1F74E}"/>
              </a:ext>
            </a:extLst>
          </p:cNvPr>
          <p:cNvSpPr txBox="1"/>
          <p:nvPr/>
        </p:nvSpPr>
        <p:spPr>
          <a:xfrm>
            <a:off x="8140819" y="3831838"/>
            <a:ext cx="1399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aliases and functions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779D4E5-B002-0283-D3D3-3849A2BED4DA}"/>
              </a:ext>
            </a:extLst>
          </p:cNvPr>
          <p:cNvSpPr txBox="1"/>
          <p:nvPr/>
        </p:nvSpPr>
        <p:spPr>
          <a:xfrm>
            <a:off x="8760626" y="4466346"/>
            <a:ext cx="2222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$LD_LIBRARY_PATH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2D06533-485C-CDAF-2A25-41DD38055B34}"/>
              </a:ext>
            </a:extLst>
          </p:cNvPr>
          <p:cNvSpPr txBox="1"/>
          <p:nvPr/>
        </p:nvSpPr>
        <p:spPr>
          <a:xfrm>
            <a:off x="9320010" y="3379878"/>
            <a:ext cx="2085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other environment variables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D21108-55AB-F0C6-90F4-18D0DAF414EC}"/>
              </a:ext>
            </a:extLst>
          </p:cNvPr>
          <p:cNvSpPr txBox="1"/>
          <p:nvPr/>
        </p:nvSpPr>
        <p:spPr>
          <a:xfrm>
            <a:off x="6762457" y="3884076"/>
            <a:ext cx="11369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.</a:t>
            </a:r>
            <a:r>
              <a:rPr lang="en-US" sz="1050" dirty="0" err="1">
                <a:latin typeface="Consolas" panose="020B0609020204030204" pitchFamily="49" charset="0"/>
              </a:rPr>
              <a:t>bash_profile</a:t>
            </a:r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4ED2818-2B86-8CFF-DD50-8E4FE73FD203}"/>
              </a:ext>
            </a:extLst>
          </p:cNvPr>
          <p:cNvSpPr txBox="1"/>
          <p:nvPr/>
        </p:nvSpPr>
        <p:spPr>
          <a:xfrm>
            <a:off x="7540195" y="4713116"/>
            <a:ext cx="7368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.</a:t>
            </a:r>
            <a:r>
              <a:rPr lang="en-US" sz="1050" dirty="0" err="1">
                <a:latin typeface="Consolas" panose="020B0609020204030204" pitchFamily="49" charset="0"/>
              </a:rPr>
              <a:t>bashrc</a:t>
            </a:r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85" name="Cloud 84">
            <a:extLst>
              <a:ext uri="{FF2B5EF4-FFF2-40B4-BE49-F238E27FC236}">
                <a16:creationId xmlns:a16="http://schemas.microsoft.com/office/drawing/2014/main" id="{D3E9A3E8-3D1B-5E4C-0100-0F3407AEAA2E}"/>
              </a:ext>
            </a:extLst>
          </p:cNvPr>
          <p:cNvSpPr/>
          <p:nvPr/>
        </p:nvSpPr>
        <p:spPr>
          <a:xfrm>
            <a:off x="6226499" y="2939608"/>
            <a:ext cx="5911191" cy="2338859"/>
          </a:xfrm>
          <a:prstGeom prst="cloud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8620EA6-2F81-EC62-5718-CDE242597B13}"/>
              </a:ext>
            </a:extLst>
          </p:cNvPr>
          <p:cNvSpPr txBox="1"/>
          <p:nvPr/>
        </p:nvSpPr>
        <p:spPr>
          <a:xfrm>
            <a:off x="7103571" y="5624641"/>
            <a:ext cx="4246281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 computers where your user does not have full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permissions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you will have trouble installing software</a:t>
            </a:r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7" name="&quot;No&quot; Symbol 14">
            <a:extLst>
              <a:ext uri="{FF2B5EF4-FFF2-40B4-BE49-F238E27FC236}">
                <a16:creationId xmlns:a16="http://schemas.microsoft.com/office/drawing/2014/main" id="{9A4E9F3F-5266-2BBF-FF17-508EC655005E}"/>
              </a:ext>
            </a:extLst>
          </p:cNvPr>
          <p:cNvSpPr/>
          <p:nvPr/>
        </p:nvSpPr>
        <p:spPr>
          <a:xfrm>
            <a:off x="247324" y="3030821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&quot;No&quot; Symbol 14">
            <a:extLst>
              <a:ext uri="{FF2B5EF4-FFF2-40B4-BE49-F238E27FC236}">
                <a16:creationId xmlns:a16="http://schemas.microsoft.com/office/drawing/2014/main" id="{845F1044-2009-3988-7A7F-AA344083755F}"/>
              </a:ext>
            </a:extLst>
          </p:cNvPr>
          <p:cNvSpPr/>
          <p:nvPr/>
        </p:nvSpPr>
        <p:spPr>
          <a:xfrm>
            <a:off x="988592" y="3030637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9" name="&quot;No&quot; Symbol 14">
            <a:extLst>
              <a:ext uri="{FF2B5EF4-FFF2-40B4-BE49-F238E27FC236}">
                <a16:creationId xmlns:a16="http://schemas.microsoft.com/office/drawing/2014/main" id="{00EC3BB3-E408-6393-EF94-5A54E1BA9578}"/>
              </a:ext>
            </a:extLst>
          </p:cNvPr>
          <p:cNvSpPr/>
          <p:nvPr/>
        </p:nvSpPr>
        <p:spPr>
          <a:xfrm>
            <a:off x="2896973" y="3030092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0" name="&quot;No&quot; Symbol 14">
            <a:extLst>
              <a:ext uri="{FF2B5EF4-FFF2-40B4-BE49-F238E27FC236}">
                <a16:creationId xmlns:a16="http://schemas.microsoft.com/office/drawing/2014/main" id="{54F50466-4728-12EB-1B03-A0ACDD8CD2AB}"/>
              </a:ext>
            </a:extLst>
          </p:cNvPr>
          <p:cNvSpPr/>
          <p:nvPr/>
        </p:nvSpPr>
        <p:spPr>
          <a:xfrm>
            <a:off x="3634948" y="3038840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1" name="&quot;No&quot; Symbol 14">
            <a:extLst>
              <a:ext uri="{FF2B5EF4-FFF2-40B4-BE49-F238E27FC236}">
                <a16:creationId xmlns:a16="http://schemas.microsoft.com/office/drawing/2014/main" id="{2B80CEB3-5BBB-7427-84F5-48A1EBBD7FAA}"/>
              </a:ext>
            </a:extLst>
          </p:cNvPr>
          <p:cNvSpPr/>
          <p:nvPr/>
        </p:nvSpPr>
        <p:spPr>
          <a:xfrm>
            <a:off x="2965288" y="4076454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2" name="&quot;No&quot; Symbol 14">
            <a:extLst>
              <a:ext uri="{FF2B5EF4-FFF2-40B4-BE49-F238E27FC236}">
                <a16:creationId xmlns:a16="http://schemas.microsoft.com/office/drawing/2014/main" id="{53847454-6704-051A-F4EF-1BFF21A5BDC4}"/>
              </a:ext>
            </a:extLst>
          </p:cNvPr>
          <p:cNvSpPr/>
          <p:nvPr/>
        </p:nvSpPr>
        <p:spPr>
          <a:xfrm>
            <a:off x="917931" y="4064623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3" name="&quot;No&quot; Symbol 14">
            <a:extLst>
              <a:ext uri="{FF2B5EF4-FFF2-40B4-BE49-F238E27FC236}">
                <a16:creationId xmlns:a16="http://schemas.microsoft.com/office/drawing/2014/main" id="{4EFB378B-091E-411B-07C9-9197C068BF48}"/>
              </a:ext>
            </a:extLst>
          </p:cNvPr>
          <p:cNvSpPr/>
          <p:nvPr/>
        </p:nvSpPr>
        <p:spPr>
          <a:xfrm>
            <a:off x="8559501" y="3379878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4" name="&quot;No&quot; Symbol 14">
            <a:extLst>
              <a:ext uri="{FF2B5EF4-FFF2-40B4-BE49-F238E27FC236}">
                <a16:creationId xmlns:a16="http://schemas.microsoft.com/office/drawing/2014/main" id="{BBF6D5D9-DE5C-48C1-39C3-2375D33F7E92}"/>
              </a:ext>
            </a:extLst>
          </p:cNvPr>
          <p:cNvSpPr/>
          <p:nvPr/>
        </p:nvSpPr>
        <p:spPr>
          <a:xfrm>
            <a:off x="10040622" y="3432825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5" name="&quot;No&quot; Symbol 14">
            <a:extLst>
              <a:ext uri="{FF2B5EF4-FFF2-40B4-BE49-F238E27FC236}">
                <a16:creationId xmlns:a16="http://schemas.microsoft.com/office/drawing/2014/main" id="{1AAA9987-ED2C-F828-1D81-1BFB005F856E}"/>
              </a:ext>
            </a:extLst>
          </p:cNvPr>
          <p:cNvSpPr/>
          <p:nvPr/>
        </p:nvSpPr>
        <p:spPr>
          <a:xfrm>
            <a:off x="9530523" y="4391377"/>
            <a:ext cx="561988" cy="498934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667EEA1-D367-E175-EA2F-5E995DF57715}"/>
              </a:ext>
            </a:extLst>
          </p:cNvPr>
          <p:cNvSpPr txBox="1"/>
          <p:nvPr/>
        </p:nvSpPr>
        <p:spPr>
          <a:xfrm>
            <a:off x="7206011" y="2643924"/>
            <a:ext cx="398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Your current </a:t>
            </a:r>
            <a:r>
              <a:rPr lang="en-US" b="1" dirty="0">
                <a:solidFill>
                  <a:schemeClr val="accent2"/>
                </a:solidFill>
              </a:rPr>
              <a:t>environment</a:t>
            </a:r>
          </a:p>
        </p:txBody>
      </p:sp>
    </p:spTree>
    <p:extLst>
      <p:ext uri="{BB962C8B-B14F-4D97-AF65-F5344CB8AC3E}">
        <p14:creationId xmlns:p14="http://schemas.microsoft.com/office/powerpoint/2010/main" val="187393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3FD08-1AEE-79CD-4344-9D1C6DCC8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7D72F-2077-A648-6DE9-DFF7B542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" y="-2152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Software environments edit aspects of your default environment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1B62221-7A9E-2C37-AA0F-8426BFDC7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7C90EB-81C4-750F-533F-B611676BC307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589EC80-93F3-5572-C5CE-6CC557295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85D454B-E8CE-9D8E-7D2E-796D8DF17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040851A-9DCC-8AC3-4CF2-2B4065B36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BB6ED4C-A8A4-AFA5-DC22-8E82DFF2F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DA41926-23C6-23DF-4E1C-04CEA828E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93FDB87-AC43-8E3F-B257-3A34ADDC7EC4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A389BC-CCCA-E738-9E82-FBCC11F91A2A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C9DDCD-22B7-0546-C407-39F4D7E57AE1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1D0FFC-0882-6D9D-338C-47BC29246B78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0588CB-F9AF-FFE9-D68A-34688AC2704F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F53DCF1-67DF-9915-D653-CAAF45AF42F0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CDE1F6-3C75-E537-5DB4-C6F8B5698017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7806AE-ACBC-DD93-A8FF-C4F91C6D8A89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CAE2CB-AA86-F152-3009-3B21C82E235B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3C26B40-66BB-6957-9AC5-F5172A98EF87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80C5C8-0D80-BA23-209C-7B53984EAAEF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03D494D-1433-18EE-588C-32CACF6502C3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29DA55D-ADA7-7600-F240-E7424023CBEF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670B3AD-BD49-4FF2-D58F-23CFEF4F9B04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7F558E8-2C90-C5DE-1063-196B5AED6E56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DE99500-9935-E122-2AD1-44C604FDB14A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56B4A0E-282B-395A-0451-969212A3C86B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353C098-E14D-97D3-20A9-8670D058C5BA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C2CBFE0-9451-E353-04F3-12B3BB41F6D4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33E020D-E978-F603-0D97-C99688D4217F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8AE7F51-8C02-B9CA-4D37-3D7072162BEA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E400F47-F080-B5D7-1CA6-74BB088AB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A1582BC-E433-326F-473B-BD5FA2F9BF2A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370607F-0D71-D1BB-B8BB-EA06F06B1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E97B468-F393-FA12-AC5B-19A228674270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269D8AE-5BFB-638F-AD7E-DDD368DE8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0FE7934-9904-39B9-39EA-EB016A48BBA9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2D8B96D-8CE2-C58A-1631-E49E774D5526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4FE68A9-8EA5-0EFD-C43D-A6704866C9EB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794B0B7-5025-05CC-8622-878790E7A4DB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8EED74A-4507-7F93-EB69-337018FD9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589FEC0-84C4-74DB-C640-22691F88D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D39E38C-ADEC-FF4B-7F40-2A0AEDB2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DDBB396-1494-F7BC-140B-31971DD06638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B196087-C95B-8D27-622A-5D039EA03C5E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4CA3013-8905-08DD-F0E3-28444C8933CD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0900E10-E65F-B08D-E758-AA91288816D2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C9F9C9-E4DB-A24C-707F-AE7092C8B26B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1E397A-1437-B65E-0050-D89BC3362C92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DDBF209-23E4-ED54-2EA8-1EB888240A15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D9A23B7-C1C6-2B39-4A74-CD6526EC9DB9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C26C516-9637-0E90-78BF-E92DCBD346F5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056743D-FBD9-DDBD-4729-5174242ED5D9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D4065C4-FB83-8AB3-AA88-E8E691236EC2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7C47564-04D7-11CE-99B7-781ABA8BEBC4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203B42F-E713-6E85-4C8F-7418306D2FAF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F53390D-8332-DBBF-8465-A7BFD3328F78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CC22663-21A1-ADA6-AF41-156608058B65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8318550-74B5-85F7-60C8-552B37383EAD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01EC1F3-50E6-52FE-945F-F8E38717FB29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5344D7E-A726-2761-9A1E-A129CBB5B533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B237FCC-A3A9-D8EB-7026-1E1E7F358409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6CDCC46-216A-8C73-BB89-2E89D762032C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096C3F7-8052-0E32-CE89-CB54AC94A91F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EF693B8A-0253-8EDA-0F4E-28BBBE37F9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7B02C86-71DD-1BF4-ABCC-95C3877988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086C526-F407-33D2-BD89-60FA1B892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3865C7B-6495-731D-9313-8511E21A4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A1CC79A-6911-2355-6D03-FF3BB1BDEC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9CC5295B-D695-6A61-71BD-D85D5A7132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80CEC2A8-0611-5656-6078-D9A55BA1DF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DD60C259-2FD9-60EC-703B-90E8F2E08F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730C1C1-8E44-0C96-4A60-9BC03A8F6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46A0E1BE-94E4-E69A-D733-26EC05C9F0E2}"/>
              </a:ext>
            </a:extLst>
          </p:cNvPr>
          <p:cNvSpPr/>
          <p:nvPr/>
        </p:nvSpPr>
        <p:spPr>
          <a:xfrm rot="19422002">
            <a:off x="3789893" y="3170865"/>
            <a:ext cx="299201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26B4861-32A0-40E4-17B3-4B0E36E10BFF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437D7D-AECE-A625-455E-7B92F70A37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533" y="3296240"/>
            <a:ext cx="618835" cy="6188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9BFA56-7A1D-20E9-48AB-4533468445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211" y="4118504"/>
            <a:ext cx="618835" cy="618837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0F6ECC15-84F4-A44A-95F1-2F0B79CC8A67}"/>
              </a:ext>
            </a:extLst>
          </p:cNvPr>
          <p:cNvSpPr txBox="1"/>
          <p:nvPr/>
        </p:nvSpPr>
        <p:spPr>
          <a:xfrm>
            <a:off x="8403386" y="3462506"/>
            <a:ext cx="874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$PATH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00B060-C468-4B07-30E9-5869D59EA76F}"/>
              </a:ext>
            </a:extLst>
          </p:cNvPr>
          <p:cNvSpPr txBox="1"/>
          <p:nvPr/>
        </p:nvSpPr>
        <p:spPr>
          <a:xfrm>
            <a:off x="8140819" y="3831838"/>
            <a:ext cx="1399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aliases and functions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639E18C-A104-186C-BED9-EB09FC7C0087}"/>
              </a:ext>
            </a:extLst>
          </p:cNvPr>
          <p:cNvSpPr txBox="1"/>
          <p:nvPr/>
        </p:nvSpPr>
        <p:spPr>
          <a:xfrm>
            <a:off x="8760626" y="4466346"/>
            <a:ext cx="2222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$LD_LIBRARY_PATH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9BCF14A-C331-64E8-1364-1AF951CE8C56}"/>
              </a:ext>
            </a:extLst>
          </p:cNvPr>
          <p:cNvSpPr txBox="1"/>
          <p:nvPr/>
        </p:nvSpPr>
        <p:spPr>
          <a:xfrm>
            <a:off x="9320010" y="3379878"/>
            <a:ext cx="2085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other environment variables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BCB69E4-790C-FF19-7386-789A48D50263}"/>
              </a:ext>
            </a:extLst>
          </p:cNvPr>
          <p:cNvSpPr txBox="1"/>
          <p:nvPr/>
        </p:nvSpPr>
        <p:spPr>
          <a:xfrm>
            <a:off x="6762457" y="3884076"/>
            <a:ext cx="11369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.</a:t>
            </a:r>
            <a:r>
              <a:rPr lang="en-US" sz="1050" dirty="0" err="1">
                <a:latin typeface="Consolas" panose="020B0609020204030204" pitchFamily="49" charset="0"/>
              </a:rPr>
              <a:t>bash_profile</a:t>
            </a:r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DC7D23C-E6E0-7319-71FF-01A259DD9E16}"/>
              </a:ext>
            </a:extLst>
          </p:cNvPr>
          <p:cNvSpPr txBox="1"/>
          <p:nvPr/>
        </p:nvSpPr>
        <p:spPr>
          <a:xfrm>
            <a:off x="7540195" y="4713116"/>
            <a:ext cx="7368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.</a:t>
            </a:r>
            <a:r>
              <a:rPr lang="en-US" sz="1050" dirty="0" err="1">
                <a:latin typeface="Consolas" panose="020B0609020204030204" pitchFamily="49" charset="0"/>
              </a:rPr>
              <a:t>bashrc</a:t>
            </a:r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85" name="Cloud 84">
            <a:extLst>
              <a:ext uri="{FF2B5EF4-FFF2-40B4-BE49-F238E27FC236}">
                <a16:creationId xmlns:a16="http://schemas.microsoft.com/office/drawing/2014/main" id="{FB70129A-3073-5040-866F-B0A075DD95A9}"/>
              </a:ext>
            </a:extLst>
          </p:cNvPr>
          <p:cNvSpPr/>
          <p:nvPr/>
        </p:nvSpPr>
        <p:spPr>
          <a:xfrm>
            <a:off x="6226499" y="2939608"/>
            <a:ext cx="5911191" cy="2338859"/>
          </a:xfrm>
          <a:prstGeom prst="cloud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8EB7AE7-BC62-8867-DC02-85D03E9A768D}"/>
              </a:ext>
            </a:extLst>
          </p:cNvPr>
          <p:cNvSpPr txBox="1"/>
          <p:nvPr/>
        </p:nvSpPr>
        <p:spPr>
          <a:xfrm>
            <a:off x="7103571" y="5624641"/>
            <a:ext cx="4246281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Software environments change environment variables to locations where you have write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permission</a:t>
            </a:r>
          </a:p>
        </p:txBody>
      </p:sp>
      <p:sp>
        <p:nvSpPr>
          <p:cNvPr id="87" name="&quot;No&quot; Symbol 14">
            <a:extLst>
              <a:ext uri="{FF2B5EF4-FFF2-40B4-BE49-F238E27FC236}">
                <a16:creationId xmlns:a16="http://schemas.microsoft.com/office/drawing/2014/main" id="{37076F15-F7CA-6846-3D16-888860582531}"/>
              </a:ext>
            </a:extLst>
          </p:cNvPr>
          <p:cNvSpPr/>
          <p:nvPr/>
        </p:nvSpPr>
        <p:spPr>
          <a:xfrm>
            <a:off x="247324" y="3030821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&quot;No&quot; Symbol 14">
            <a:extLst>
              <a:ext uri="{FF2B5EF4-FFF2-40B4-BE49-F238E27FC236}">
                <a16:creationId xmlns:a16="http://schemas.microsoft.com/office/drawing/2014/main" id="{6A53521E-2432-34F3-8CD5-82832A731E56}"/>
              </a:ext>
            </a:extLst>
          </p:cNvPr>
          <p:cNvSpPr/>
          <p:nvPr/>
        </p:nvSpPr>
        <p:spPr>
          <a:xfrm>
            <a:off x="988592" y="3030637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9" name="&quot;No&quot; Symbol 14">
            <a:extLst>
              <a:ext uri="{FF2B5EF4-FFF2-40B4-BE49-F238E27FC236}">
                <a16:creationId xmlns:a16="http://schemas.microsoft.com/office/drawing/2014/main" id="{7E09721D-B1B8-1F11-0880-9E541A2D6F46}"/>
              </a:ext>
            </a:extLst>
          </p:cNvPr>
          <p:cNvSpPr/>
          <p:nvPr/>
        </p:nvSpPr>
        <p:spPr>
          <a:xfrm>
            <a:off x="2896973" y="3030092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0" name="&quot;No&quot; Symbol 14">
            <a:extLst>
              <a:ext uri="{FF2B5EF4-FFF2-40B4-BE49-F238E27FC236}">
                <a16:creationId xmlns:a16="http://schemas.microsoft.com/office/drawing/2014/main" id="{4F6E4C56-939B-36FB-58FA-BDC9695DB558}"/>
              </a:ext>
            </a:extLst>
          </p:cNvPr>
          <p:cNvSpPr/>
          <p:nvPr/>
        </p:nvSpPr>
        <p:spPr>
          <a:xfrm>
            <a:off x="3634948" y="3038840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1" name="&quot;No&quot; Symbol 14">
            <a:extLst>
              <a:ext uri="{FF2B5EF4-FFF2-40B4-BE49-F238E27FC236}">
                <a16:creationId xmlns:a16="http://schemas.microsoft.com/office/drawing/2014/main" id="{E84A7BC9-2B3D-6151-A929-DA2345048CFD}"/>
              </a:ext>
            </a:extLst>
          </p:cNvPr>
          <p:cNvSpPr/>
          <p:nvPr/>
        </p:nvSpPr>
        <p:spPr>
          <a:xfrm>
            <a:off x="2965288" y="4076454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2" name="&quot;No&quot; Symbol 14">
            <a:extLst>
              <a:ext uri="{FF2B5EF4-FFF2-40B4-BE49-F238E27FC236}">
                <a16:creationId xmlns:a16="http://schemas.microsoft.com/office/drawing/2014/main" id="{DB1ED135-F2B2-634B-CDCE-F1B1FB5D5A1D}"/>
              </a:ext>
            </a:extLst>
          </p:cNvPr>
          <p:cNvSpPr/>
          <p:nvPr/>
        </p:nvSpPr>
        <p:spPr>
          <a:xfrm>
            <a:off x="917931" y="4064623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E75F747-F56B-DEDC-4FF8-8D0778D77167}"/>
              </a:ext>
            </a:extLst>
          </p:cNvPr>
          <p:cNvSpPr txBox="1"/>
          <p:nvPr/>
        </p:nvSpPr>
        <p:spPr>
          <a:xfrm>
            <a:off x="7206011" y="2643924"/>
            <a:ext cx="398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Your </a:t>
            </a:r>
            <a:r>
              <a:rPr lang="en-US" b="1" dirty="0" err="1">
                <a:solidFill>
                  <a:schemeClr val="accent2"/>
                </a:solidFill>
              </a:rPr>
              <a:t>conda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environment</a:t>
            </a: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C3A8AE3A-1379-2AE7-A048-FC6355CA7C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7848" y="1425170"/>
            <a:ext cx="4957979" cy="1224739"/>
          </a:xfrm>
          <a:prstGeom prst="rect">
            <a:avLst/>
          </a:prstGeom>
        </p:spPr>
      </p:pic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548DD67B-1FE0-37D2-54D9-E5539C31AF18}"/>
              </a:ext>
            </a:extLst>
          </p:cNvPr>
          <p:cNvSpPr/>
          <p:nvPr/>
        </p:nvSpPr>
        <p:spPr>
          <a:xfrm>
            <a:off x="7789353" y="1778048"/>
            <a:ext cx="1488252" cy="23276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Green Check Mark Svg">
            <a:extLst>
              <a:ext uri="{FF2B5EF4-FFF2-40B4-BE49-F238E27FC236}">
                <a16:creationId xmlns:a16="http://schemas.microsoft.com/office/drawing/2014/main" id="{DFE5B6EB-A602-C99C-668C-5BB15565D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8046" y="3350082"/>
            <a:ext cx="528740" cy="44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4" descr="Green Check Mark Svg">
            <a:extLst>
              <a:ext uri="{FF2B5EF4-FFF2-40B4-BE49-F238E27FC236}">
                <a16:creationId xmlns:a16="http://schemas.microsoft.com/office/drawing/2014/main" id="{E971F1B7-703C-B1EB-4150-1803041C4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441" y="3249599"/>
            <a:ext cx="528740" cy="44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4" descr="Green Check Mark Svg">
            <a:extLst>
              <a:ext uri="{FF2B5EF4-FFF2-40B4-BE49-F238E27FC236}">
                <a16:creationId xmlns:a16="http://schemas.microsoft.com/office/drawing/2014/main" id="{FA465ADF-D1CE-033B-1278-B70CFB9CE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6124" y="4376874"/>
            <a:ext cx="528740" cy="44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4" descr="Green Check Mark Svg">
            <a:extLst>
              <a:ext uri="{FF2B5EF4-FFF2-40B4-BE49-F238E27FC236}">
                <a16:creationId xmlns:a16="http://schemas.microsoft.com/office/drawing/2014/main" id="{596AAFA1-EAAC-C9A3-2C88-88D302425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879" y="4104397"/>
            <a:ext cx="528740" cy="44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15136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ACC57-A53B-615D-9E27-D5A7EC056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12" y="18255"/>
            <a:ext cx="10515600" cy="1325563"/>
          </a:xfrm>
        </p:spPr>
        <p:txBody>
          <a:bodyPr/>
          <a:lstStyle/>
          <a:p>
            <a:r>
              <a:rPr lang="en-US" dirty="0"/>
              <a:t>Customizing your shell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571D3-7002-63A1-52E8-C36493669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Run commands (including changing env/shell variables) each time you start a new session</a:t>
            </a:r>
          </a:p>
          <a:p>
            <a:r>
              <a:rPr lang="en-US" dirty="0"/>
              <a:t>Put commands in a hidden file that begins with a “.”</a:t>
            </a:r>
          </a:p>
          <a:p>
            <a:pPr lvl="1"/>
            <a:r>
              <a:rPr lang="en-US" dirty="0"/>
              <a:t>Use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ls -a </a:t>
            </a:r>
            <a:r>
              <a:rPr lang="en-US" dirty="0"/>
              <a:t>to see them</a:t>
            </a:r>
          </a:p>
          <a:p>
            <a:pPr lvl="1"/>
            <a:r>
              <a:rPr lang="en-US" dirty="0"/>
              <a:t>That is why they are called </a:t>
            </a:r>
            <a:r>
              <a:rPr lang="en-US" b="1" dirty="0"/>
              <a:t>dot files</a:t>
            </a:r>
            <a:endParaRPr lang="en-US" dirty="0"/>
          </a:p>
          <a:p>
            <a:r>
              <a:rPr lang="en-US" dirty="0"/>
              <a:t>Use caution! It is possible to “break” your shell, and it can be a big pain to fix it…</a:t>
            </a:r>
          </a:p>
          <a:p>
            <a:endParaRPr lang="en-US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8B59D1F-759D-72EC-2AD7-631641758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244" y="5002077"/>
            <a:ext cx="53213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79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576E8-8A74-E308-2FC5-F4F33504B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825" y="124844"/>
            <a:ext cx="10515600" cy="1325563"/>
          </a:xfrm>
        </p:spPr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bashrc</a:t>
            </a:r>
            <a:r>
              <a:rPr lang="en-US" dirty="0"/>
              <a:t> vs .</a:t>
            </a:r>
            <a:r>
              <a:rPr lang="en-US" dirty="0" err="1"/>
              <a:t>bash_profile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8A38A-FB61-BC0E-2A76-CABE6477D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are startup config files, usually in your home (aka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~</a:t>
            </a:r>
            <a:r>
              <a:rPr lang="en-US" dirty="0"/>
              <a:t>) directory</a:t>
            </a:r>
          </a:p>
          <a:p>
            <a:r>
              <a:rPr lang="en-US" b="1" dirty="0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US" b="1" dirty="0" err="1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bash_profile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or </a:t>
            </a:r>
            <a:r>
              <a:rPr lang="en-US" b="1" dirty="0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.profile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/>
              <a:t>is run only once, upon login</a:t>
            </a:r>
          </a:p>
          <a:p>
            <a:pPr lvl="1"/>
            <a:r>
              <a:rPr lang="en-US" dirty="0"/>
              <a:t>Sources (aka runs) the </a:t>
            </a:r>
            <a:r>
              <a:rPr lang="en-US" b="1" dirty="0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US" b="1" dirty="0" err="1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bashrc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/>
              <a:t>file (won’t do so otherwise!)</a:t>
            </a:r>
          </a:p>
          <a:p>
            <a:pPr lvl="1"/>
            <a:r>
              <a:rPr lang="en-US" i="1" dirty="0"/>
              <a:t>Generally, this is all you want in here</a:t>
            </a:r>
          </a:p>
          <a:p>
            <a:r>
              <a:rPr lang="en-US" b="1" dirty="0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US" b="1" dirty="0" err="1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bashrc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 err="1"/>
              <a:t>is</a:t>
            </a:r>
            <a:r>
              <a:rPr lang="en-US" dirty="0"/>
              <a:t> read anytime a shell is opened (assuming it has been sourced)</a:t>
            </a:r>
          </a:p>
          <a:p>
            <a:pPr lvl="1"/>
            <a:r>
              <a:rPr lang="en-US" dirty="0"/>
              <a:t>E.g. if you connect to an interactive node after logging in using `</a:t>
            </a:r>
            <a:r>
              <a:rPr lang="en-US" dirty="0" err="1"/>
              <a:t>salloc</a:t>
            </a:r>
            <a:r>
              <a:rPr lang="en-US" dirty="0"/>
              <a:t>`</a:t>
            </a:r>
          </a:p>
          <a:p>
            <a:pPr lvl="1"/>
            <a:r>
              <a:rPr lang="en-US" i="1" dirty="0"/>
              <a:t>TL;DR when using Cannon, put your customizations in 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385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E26E7-5AF7-F7D4-FD6F-2C12F7561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73" y="116009"/>
            <a:ext cx="10515600" cy="1325563"/>
          </a:xfrm>
        </p:spPr>
        <p:txBody>
          <a:bodyPr/>
          <a:lstStyle/>
          <a:p>
            <a:r>
              <a:rPr lang="en-US" dirty="0"/>
              <a:t>What can you put in your .</a:t>
            </a:r>
            <a:r>
              <a:rPr lang="en-US" dirty="0" err="1"/>
              <a:t>bashrc</a:t>
            </a:r>
            <a:r>
              <a:rPr lang="en-US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9C99C-9D34-CC8C-D21E-654A16018449}"/>
              </a:ext>
            </a:extLst>
          </p:cNvPr>
          <p:cNvSpPr txBox="1"/>
          <p:nvPr/>
        </p:nvSpPr>
        <p:spPr>
          <a:xfrm>
            <a:off x="1124885" y="1349828"/>
            <a:ext cx="952857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Source global definitions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[ -f /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etc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bashrc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]; then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 /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etc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bashrc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User specific aliases and functions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load modules</a:t>
            </a:r>
          </a:p>
          <a:p>
            <a:r>
              <a:rPr lang="en-US" dirty="0">
                <a:solidFill>
                  <a:schemeClr val="accent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module load </a:t>
            </a:r>
            <a:r>
              <a:rPr lang="en-US" dirty="0" err="1">
                <a:solidFill>
                  <a:schemeClr val="accent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jdk</a:t>
            </a:r>
            <a:endParaRPr lang="en-US" dirty="0">
              <a:solidFill>
                <a:schemeClr val="accent6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solidFill>
                  <a:schemeClr val="accent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module load python</a:t>
            </a: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add relevant folders to $PATH</a:t>
            </a:r>
          </a:p>
          <a:p>
            <a:r>
              <a:rPr lang="en-US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export PATH=$PATH:/n/holylfs05/LABS/informatics/Users/lei/bin/</a:t>
            </a:r>
          </a:p>
          <a:p>
            <a:endParaRPr lang="en-US" dirty="0">
              <a:solidFill>
                <a:schemeClr val="accent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make aliases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alias ls='ls --color=always’</a:t>
            </a:r>
          </a:p>
          <a:p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alias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sal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=‘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salloc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--partition test --mem 8GB -c 2 --time 0-04:00’</a:t>
            </a: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source secret API keys</a:t>
            </a:r>
          </a:p>
          <a:p>
            <a:r>
              <a:rPr lang="en-US" dirty="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[ -f "$HOME/.secrets/api_keys.sh" ]; then</a:t>
            </a:r>
          </a:p>
          <a:p>
            <a:r>
              <a:rPr lang="en-US" dirty="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. "$HOME/.secrets/api_keys.sh"</a:t>
            </a:r>
          </a:p>
          <a:p>
            <a:r>
              <a:rPr lang="en-US" dirty="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</a:t>
            </a:r>
          </a:p>
          <a:p>
            <a:endParaRPr lang="en-US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F2C4A414-FAAC-8067-461B-923E0EDD9BDA}"/>
              </a:ext>
            </a:extLst>
          </p:cNvPr>
          <p:cNvSpPr/>
          <p:nvPr/>
        </p:nvSpPr>
        <p:spPr>
          <a:xfrm>
            <a:off x="6585857" y="1441627"/>
            <a:ext cx="381000" cy="8674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2E8080-03B5-F333-BAA3-3A64C47FD4C0}"/>
              </a:ext>
            </a:extLst>
          </p:cNvPr>
          <p:cNvSpPr txBox="1"/>
          <p:nvPr/>
        </p:nvSpPr>
        <p:spPr>
          <a:xfrm>
            <a:off x="7043057" y="1690688"/>
            <a:ext cx="234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don’t change this part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611D9D-388F-7DB2-2333-BADCB0E9C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300" y="4748212"/>
            <a:ext cx="56515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02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7053B-3A59-B2E1-64A6-2E5017D1F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E42996-3482-1C2D-B002-2F40E1E08E82}"/>
              </a:ext>
            </a:extLst>
          </p:cNvPr>
          <p:cNvSpPr txBox="1"/>
          <p:nvPr/>
        </p:nvSpPr>
        <p:spPr>
          <a:xfrm>
            <a:off x="239485" y="1997886"/>
            <a:ext cx="117130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make custom functions</a:t>
            </a:r>
          </a:p>
          <a:p>
            <a:r>
              <a:rPr lang="en-US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function loadmodules {</a:t>
            </a:r>
          </a:p>
          <a:p>
            <a:r>
              <a:rPr lang="en-US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module load python</a:t>
            </a:r>
          </a:p>
          <a:p>
            <a:r>
              <a:rPr lang="en-US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source ~/lab_name/spack/setup-env.sh</a:t>
            </a:r>
          </a:p>
          <a:p>
            <a:r>
              <a:rPr lang="en-US" dirty="0">
                <a:solidFill>
                  <a:schemeClr val="accent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customize your command prompt</a:t>
            </a:r>
          </a:p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complicated syntax, ask an LLM</a:t>
            </a:r>
          </a:p>
          <a:p>
            <a:r>
              <a:rPr lang="en-US" dirty="0">
                <a:solidFill>
                  <a:schemeClr val="accent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export PS1="\[\033[36m\]\u\[\033[m\]@\[\033[32m\]\h:\[\033[33;1m\]\w\[\033[m\]\$ "</a:t>
            </a: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48F029-6368-0F20-DE55-F817A2714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104" y="4887327"/>
            <a:ext cx="2755900" cy="2286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AF05605-6E45-CCE3-7EF1-77E927093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73" y="116009"/>
            <a:ext cx="10515600" cy="1325563"/>
          </a:xfrm>
        </p:spPr>
        <p:txBody>
          <a:bodyPr/>
          <a:lstStyle/>
          <a:p>
            <a:r>
              <a:rPr lang="en-US" dirty="0"/>
              <a:t>What can you put in your .</a:t>
            </a:r>
            <a:r>
              <a:rPr lang="en-US" dirty="0" err="1"/>
              <a:t>bashrc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55623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6C9F0-D4FD-679A-2170-454AFE7D4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95" y="158217"/>
            <a:ext cx="10515600" cy="1325563"/>
          </a:xfrm>
        </p:spPr>
        <p:txBody>
          <a:bodyPr/>
          <a:lstStyle/>
          <a:p>
            <a:r>
              <a:rPr lang="en-US" dirty="0"/>
              <a:t>How do I not mess everything up?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351D6-D179-EA99-9C28-9B7C267A1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 backup of your .</a:t>
            </a:r>
            <a:r>
              <a:rPr lang="en-US" dirty="0" err="1"/>
              <a:t>bashrc</a:t>
            </a:r>
            <a:endParaRPr lang="en-US" dirty="0"/>
          </a:p>
          <a:p>
            <a:pPr lvl="1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cp .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bashrc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.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bashrc.bak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Only change one thing at a time</a:t>
            </a:r>
          </a:p>
          <a:p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Have two windows open and only edit the .</a:t>
            </a:r>
            <a:r>
              <a:rPr lang="en-US" dirty="0" err="1">
                <a:ea typeface="Menlo" panose="020B0609030804020204" pitchFamily="49" charset="0"/>
                <a:cs typeface="Menlo" panose="020B0609030804020204" pitchFamily="49" charset="0"/>
              </a:rPr>
              <a:t>bashrc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 in one in case you totally mess up</a:t>
            </a:r>
          </a:p>
          <a:p>
            <a:pPr lvl="1"/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the backup window will have the old settings</a:t>
            </a:r>
          </a:p>
        </p:txBody>
      </p:sp>
    </p:spTree>
    <p:extLst>
      <p:ext uri="{BB962C8B-B14F-4D97-AF65-F5344CB8AC3E}">
        <p14:creationId xmlns:p14="http://schemas.microsoft.com/office/powerpoint/2010/main" val="10981901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2E44D4-F660-E93A-C8FC-1CCE90E48A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79DCB1-B601-7BC0-6D11-C3453465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90855"/>
            <a:ext cx="12192000" cy="97162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multitasking in the terminal</a:t>
            </a:r>
          </a:p>
        </p:txBody>
      </p:sp>
      <p:pic>
        <p:nvPicPr>
          <p:cNvPr id="3" name="Graphic 2" descr="Cmd Terminal with solid fill">
            <a:extLst>
              <a:ext uri="{FF2B5EF4-FFF2-40B4-BE49-F238E27FC236}">
                <a16:creationId xmlns:a16="http://schemas.microsoft.com/office/drawing/2014/main" id="{ADB97312-F69E-3A49-0DE0-C7CFBB752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1600" y="1613266"/>
            <a:ext cx="914400" cy="914400"/>
          </a:xfrm>
          <a:prstGeom prst="rect">
            <a:avLst/>
          </a:prstGeom>
        </p:spPr>
      </p:pic>
      <p:pic>
        <p:nvPicPr>
          <p:cNvPr id="6" name="Graphic 5" descr="Cmd Terminal with solid fill">
            <a:extLst>
              <a:ext uri="{FF2B5EF4-FFF2-40B4-BE49-F238E27FC236}">
                <a16:creationId xmlns:a16="http://schemas.microsoft.com/office/drawing/2014/main" id="{DA1FD494-F497-70B0-4667-D4B77E310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1857" y="1833523"/>
            <a:ext cx="914400" cy="914400"/>
          </a:xfrm>
          <a:prstGeom prst="rect">
            <a:avLst/>
          </a:prstGeom>
        </p:spPr>
      </p:pic>
      <p:pic>
        <p:nvPicPr>
          <p:cNvPr id="7" name="Graphic 6" descr="Cmd Terminal with solid fill">
            <a:extLst>
              <a:ext uri="{FF2B5EF4-FFF2-40B4-BE49-F238E27FC236}">
                <a16:creationId xmlns:a16="http://schemas.microsoft.com/office/drawing/2014/main" id="{0EF55EBA-825A-AB3B-7EFF-850E6C42D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205378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16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4A5A-D006-D3A4-8AD9-070B76920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7CFAAB85-BA51-837C-1316-00B519EE4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9" y="178240"/>
            <a:ext cx="10515600" cy="13255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4578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88B1D-29D2-A19C-2A58-C8EE78327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A0B595B5-1660-9602-E6D4-BAFFFE64F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9" y="17824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Processes running on your computer are paused or stopped when you turn off your computer</a:t>
            </a:r>
          </a:p>
        </p:txBody>
      </p:sp>
      <p:pic>
        <p:nvPicPr>
          <p:cNvPr id="7" name="Graphic 6" descr="Cmd Terminal with solid fill">
            <a:extLst>
              <a:ext uri="{FF2B5EF4-FFF2-40B4-BE49-F238E27FC236}">
                <a16:creationId xmlns:a16="http://schemas.microsoft.com/office/drawing/2014/main" id="{39942C94-AA78-71C2-E97B-F83AE8EA4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9424" y="2227818"/>
            <a:ext cx="914400" cy="914400"/>
          </a:xfrm>
          <a:prstGeom prst="rect">
            <a:avLst/>
          </a:prstGeom>
        </p:spPr>
      </p:pic>
      <p:pic>
        <p:nvPicPr>
          <p:cNvPr id="8" name="Graphic 7" descr="Programmer female with solid fill">
            <a:extLst>
              <a:ext uri="{FF2B5EF4-FFF2-40B4-BE49-F238E27FC236}">
                <a16:creationId xmlns:a16="http://schemas.microsoft.com/office/drawing/2014/main" id="{1575D858-028E-EC08-7908-F73963BBC9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662" y="2148447"/>
            <a:ext cx="914400" cy="914400"/>
          </a:xfrm>
          <a:prstGeom prst="rect">
            <a:avLst/>
          </a:prstGeom>
        </p:spPr>
      </p:pic>
      <p:sp>
        <p:nvSpPr>
          <p:cNvPr id="9" name="Left-Right Arrow 22">
            <a:extLst>
              <a:ext uri="{FF2B5EF4-FFF2-40B4-BE49-F238E27FC236}">
                <a16:creationId xmlns:a16="http://schemas.microsoft.com/office/drawing/2014/main" id="{886F2101-4565-2383-D972-F8DB9E8486C7}"/>
              </a:ext>
            </a:extLst>
          </p:cNvPr>
          <p:cNvSpPr/>
          <p:nvPr/>
        </p:nvSpPr>
        <p:spPr>
          <a:xfrm>
            <a:off x="3025067" y="2624927"/>
            <a:ext cx="914401" cy="5365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40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EF0BD-6898-FC94-3821-4FCCEB2EE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1B8DC9B8-E7D9-7F1F-E9ED-FDCAF2210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9" y="17824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Processes running on your computer are paused or stopped when you turn off your computer</a:t>
            </a:r>
          </a:p>
        </p:txBody>
      </p:sp>
      <p:sp>
        <p:nvSpPr>
          <p:cNvPr id="2" name="&quot;No&quot; Symbol 36">
            <a:extLst>
              <a:ext uri="{FF2B5EF4-FFF2-40B4-BE49-F238E27FC236}">
                <a16:creationId xmlns:a16="http://schemas.microsoft.com/office/drawing/2014/main" id="{28FE065A-727E-B51A-AED6-F3652C446271}"/>
              </a:ext>
            </a:extLst>
          </p:cNvPr>
          <p:cNvSpPr/>
          <p:nvPr/>
        </p:nvSpPr>
        <p:spPr>
          <a:xfrm>
            <a:off x="3201273" y="2405260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Graphic 8" descr="Cmd Terminal with solid fill">
            <a:extLst>
              <a:ext uri="{FF2B5EF4-FFF2-40B4-BE49-F238E27FC236}">
                <a16:creationId xmlns:a16="http://schemas.microsoft.com/office/drawing/2014/main" id="{25E18624-44B6-46EF-8DB2-5126F065D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9424" y="2227818"/>
            <a:ext cx="914400" cy="914400"/>
          </a:xfrm>
          <a:prstGeom prst="rect">
            <a:avLst/>
          </a:prstGeom>
        </p:spPr>
      </p:pic>
      <p:pic>
        <p:nvPicPr>
          <p:cNvPr id="11" name="Graphic 10" descr="Programmer female with solid fill">
            <a:extLst>
              <a:ext uri="{FF2B5EF4-FFF2-40B4-BE49-F238E27FC236}">
                <a16:creationId xmlns:a16="http://schemas.microsoft.com/office/drawing/2014/main" id="{57F0CA65-15F8-A3E4-C1C4-85490ED6E3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662" y="2148447"/>
            <a:ext cx="914400" cy="914400"/>
          </a:xfrm>
          <a:prstGeom prst="rect">
            <a:avLst/>
          </a:prstGeom>
        </p:spPr>
      </p:pic>
      <p:sp>
        <p:nvSpPr>
          <p:cNvPr id="13" name="Left-Right Arrow 22">
            <a:extLst>
              <a:ext uri="{FF2B5EF4-FFF2-40B4-BE49-F238E27FC236}">
                <a16:creationId xmlns:a16="http://schemas.microsoft.com/office/drawing/2014/main" id="{4DB133AE-9EAF-DDD3-79FD-D7118B8E6AEB}"/>
              </a:ext>
            </a:extLst>
          </p:cNvPr>
          <p:cNvSpPr/>
          <p:nvPr/>
        </p:nvSpPr>
        <p:spPr>
          <a:xfrm>
            <a:off x="3025067" y="2624927"/>
            <a:ext cx="914401" cy="5365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432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60795-F7D7-B23B-5F0D-F31F31CAB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86EC6BA4-8724-1829-4760-45A500ED7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9" y="17824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Similarly, when you are connected to a server, processes are stopped when you disconnect</a:t>
            </a:r>
          </a:p>
        </p:txBody>
      </p:sp>
      <p:pic>
        <p:nvPicPr>
          <p:cNvPr id="15" name="Graphic 14" descr="Cmd Terminal with solid fill">
            <a:extLst>
              <a:ext uri="{FF2B5EF4-FFF2-40B4-BE49-F238E27FC236}">
                <a16:creationId xmlns:a16="http://schemas.microsoft.com/office/drawing/2014/main" id="{0C218917-9C93-A2F7-66C9-0BBC6DB44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9424" y="2227818"/>
            <a:ext cx="914400" cy="914400"/>
          </a:xfrm>
          <a:prstGeom prst="rect">
            <a:avLst/>
          </a:prstGeom>
        </p:spPr>
      </p:pic>
      <p:pic>
        <p:nvPicPr>
          <p:cNvPr id="16" name="Graphic 15" descr="Programmer female with solid fill">
            <a:extLst>
              <a:ext uri="{FF2B5EF4-FFF2-40B4-BE49-F238E27FC236}">
                <a16:creationId xmlns:a16="http://schemas.microsoft.com/office/drawing/2014/main" id="{A7570B12-0BA8-B0B3-35C7-C4AB597C17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662" y="2148447"/>
            <a:ext cx="914400" cy="914400"/>
          </a:xfrm>
          <a:prstGeom prst="rect">
            <a:avLst/>
          </a:prstGeom>
        </p:spPr>
      </p:pic>
      <p:sp>
        <p:nvSpPr>
          <p:cNvPr id="18" name="Left-Right Arrow 22">
            <a:extLst>
              <a:ext uri="{FF2B5EF4-FFF2-40B4-BE49-F238E27FC236}">
                <a16:creationId xmlns:a16="http://schemas.microsoft.com/office/drawing/2014/main" id="{8F00F610-F150-E122-ABF1-88E4E401252D}"/>
              </a:ext>
            </a:extLst>
          </p:cNvPr>
          <p:cNvSpPr/>
          <p:nvPr/>
        </p:nvSpPr>
        <p:spPr>
          <a:xfrm>
            <a:off x="3025067" y="2624927"/>
            <a:ext cx="914401" cy="5365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Graphic 18" descr="Server with solid fill">
            <a:extLst>
              <a:ext uri="{FF2B5EF4-FFF2-40B4-BE49-F238E27FC236}">
                <a16:creationId xmlns:a16="http://schemas.microsoft.com/office/drawing/2014/main" id="{805CE101-5B45-4B56-86CA-EBA85A573A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5996" y="2273061"/>
            <a:ext cx="914400" cy="914400"/>
          </a:xfrm>
          <a:prstGeom prst="rect">
            <a:avLst/>
          </a:prstGeom>
        </p:spPr>
      </p:pic>
      <p:pic>
        <p:nvPicPr>
          <p:cNvPr id="20" name="Graphic 19" descr="Wireless router outline">
            <a:extLst>
              <a:ext uri="{FF2B5EF4-FFF2-40B4-BE49-F238E27FC236}">
                <a16:creationId xmlns:a16="http://schemas.microsoft.com/office/drawing/2014/main" id="{5D700FB6-C1EA-C16F-B1FD-84210449CA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65486" y="1997852"/>
            <a:ext cx="687166" cy="687166"/>
          </a:xfrm>
          <a:prstGeom prst="rect">
            <a:avLst/>
          </a:prstGeom>
        </p:spPr>
      </p:pic>
      <p:pic>
        <p:nvPicPr>
          <p:cNvPr id="21" name="Graphic 20" descr="Cmd Terminal with solid fill">
            <a:extLst>
              <a:ext uri="{FF2B5EF4-FFF2-40B4-BE49-F238E27FC236}">
                <a16:creationId xmlns:a16="http://schemas.microsoft.com/office/drawing/2014/main" id="{2E9B2FD7-9978-3FD4-EAE5-2F7B57F78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234" y="2233989"/>
            <a:ext cx="914400" cy="914400"/>
          </a:xfrm>
          <a:prstGeom prst="rect">
            <a:avLst/>
          </a:prstGeom>
        </p:spPr>
      </p:pic>
      <p:sp>
        <p:nvSpPr>
          <p:cNvPr id="22" name="Left-Right Arrow 22">
            <a:extLst>
              <a:ext uri="{FF2B5EF4-FFF2-40B4-BE49-F238E27FC236}">
                <a16:creationId xmlns:a16="http://schemas.microsoft.com/office/drawing/2014/main" id="{692FA8C6-9568-E15B-36F5-C972FF09E606}"/>
              </a:ext>
            </a:extLst>
          </p:cNvPr>
          <p:cNvSpPr/>
          <p:nvPr/>
        </p:nvSpPr>
        <p:spPr>
          <a:xfrm>
            <a:off x="4883824" y="2610001"/>
            <a:ext cx="1412410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-Right Arrow 23">
            <a:extLst>
              <a:ext uri="{FF2B5EF4-FFF2-40B4-BE49-F238E27FC236}">
                <a16:creationId xmlns:a16="http://schemas.microsoft.com/office/drawing/2014/main" id="{A80B5B13-65D0-7DB2-1C35-0A7A33FC19C8}"/>
              </a:ext>
            </a:extLst>
          </p:cNvPr>
          <p:cNvSpPr/>
          <p:nvPr/>
        </p:nvSpPr>
        <p:spPr>
          <a:xfrm>
            <a:off x="7210633" y="2610000"/>
            <a:ext cx="986531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95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3E380-92D0-BD87-A032-77D7D8861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8E59F7C8-9413-DE7D-0DED-AF34A431C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9" y="17824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Similarly, when you are connected to a server, processes are stopped when you disconnect</a:t>
            </a:r>
          </a:p>
        </p:txBody>
      </p:sp>
      <p:pic>
        <p:nvPicPr>
          <p:cNvPr id="10" name="Graphic 9" descr="Cmd Terminal with solid fill">
            <a:extLst>
              <a:ext uri="{FF2B5EF4-FFF2-40B4-BE49-F238E27FC236}">
                <a16:creationId xmlns:a16="http://schemas.microsoft.com/office/drawing/2014/main" id="{FCA9139F-018E-9CB5-E75C-38AD49077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9424" y="2227818"/>
            <a:ext cx="914400" cy="914400"/>
          </a:xfrm>
          <a:prstGeom prst="rect">
            <a:avLst/>
          </a:prstGeom>
        </p:spPr>
      </p:pic>
      <p:pic>
        <p:nvPicPr>
          <p:cNvPr id="12" name="Graphic 11" descr="Programmer female with solid fill">
            <a:extLst>
              <a:ext uri="{FF2B5EF4-FFF2-40B4-BE49-F238E27FC236}">
                <a16:creationId xmlns:a16="http://schemas.microsoft.com/office/drawing/2014/main" id="{DFAB99F0-274C-7538-86A3-858FF246E8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662" y="2148447"/>
            <a:ext cx="914400" cy="914400"/>
          </a:xfrm>
          <a:prstGeom prst="rect">
            <a:avLst/>
          </a:prstGeom>
        </p:spPr>
      </p:pic>
      <p:sp>
        <p:nvSpPr>
          <p:cNvPr id="4" name="Left-Right Arrow 22">
            <a:extLst>
              <a:ext uri="{FF2B5EF4-FFF2-40B4-BE49-F238E27FC236}">
                <a16:creationId xmlns:a16="http://schemas.microsoft.com/office/drawing/2014/main" id="{AC2D9F2E-5E9A-89E1-5D7C-3D7A82BE1596}"/>
              </a:ext>
            </a:extLst>
          </p:cNvPr>
          <p:cNvSpPr/>
          <p:nvPr/>
        </p:nvSpPr>
        <p:spPr>
          <a:xfrm>
            <a:off x="3025067" y="2624927"/>
            <a:ext cx="914401" cy="5365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Server with solid fill">
            <a:extLst>
              <a:ext uri="{FF2B5EF4-FFF2-40B4-BE49-F238E27FC236}">
                <a16:creationId xmlns:a16="http://schemas.microsoft.com/office/drawing/2014/main" id="{C2A5B437-2BAD-5C03-E06B-45BBBA66B3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5996" y="2273061"/>
            <a:ext cx="914400" cy="914400"/>
          </a:xfrm>
          <a:prstGeom prst="rect">
            <a:avLst/>
          </a:prstGeom>
        </p:spPr>
      </p:pic>
      <p:pic>
        <p:nvPicPr>
          <p:cNvPr id="5" name="Graphic 4" descr="Wireless router outline">
            <a:extLst>
              <a:ext uri="{FF2B5EF4-FFF2-40B4-BE49-F238E27FC236}">
                <a16:creationId xmlns:a16="http://schemas.microsoft.com/office/drawing/2014/main" id="{B1237E5A-4A97-ABB3-EE99-20F703479B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65486" y="1997852"/>
            <a:ext cx="687166" cy="687166"/>
          </a:xfrm>
          <a:prstGeom prst="rect">
            <a:avLst/>
          </a:prstGeom>
        </p:spPr>
      </p:pic>
      <p:pic>
        <p:nvPicPr>
          <p:cNvPr id="6" name="Graphic 5" descr="Cmd Terminal with solid fill">
            <a:extLst>
              <a:ext uri="{FF2B5EF4-FFF2-40B4-BE49-F238E27FC236}">
                <a16:creationId xmlns:a16="http://schemas.microsoft.com/office/drawing/2014/main" id="{F14542E8-32C4-478E-C674-4CBB5DE8F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234" y="2233989"/>
            <a:ext cx="914400" cy="914400"/>
          </a:xfrm>
          <a:prstGeom prst="rect">
            <a:avLst/>
          </a:prstGeom>
        </p:spPr>
      </p:pic>
      <p:sp>
        <p:nvSpPr>
          <p:cNvPr id="7" name="Left-Right Arrow 22">
            <a:extLst>
              <a:ext uri="{FF2B5EF4-FFF2-40B4-BE49-F238E27FC236}">
                <a16:creationId xmlns:a16="http://schemas.microsoft.com/office/drawing/2014/main" id="{89A9FA3A-920B-1995-72F6-F8AC04DB1A66}"/>
              </a:ext>
            </a:extLst>
          </p:cNvPr>
          <p:cNvSpPr/>
          <p:nvPr/>
        </p:nvSpPr>
        <p:spPr>
          <a:xfrm>
            <a:off x="4883824" y="2610001"/>
            <a:ext cx="1412410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-Right Arrow 23">
            <a:extLst>
              <a:ext uri="{FF2B5EF4-FFF2-40B4-BE49-F238E27FC236}">
                <a16:creationId xmlns:a16="http://schemas.microsoft.com/office/drawing/2014/main" id="{EB927D62-1072-CEAC-FE4F-E8CBAFE66A7F}"/>
              </a:ext>
            </a:extLst>
          </p:cNvPr>
          <p:cNvSpPr/>
          <p:nvPr/>
        </p:nvSpPr>
        <p:spPr>
          <a:xfrm>
            <a:off x="7210633" y="2610000"/>
            <a:ext cx="986531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&quot;No&quot; Symbol 36">
            <a:extLst>
              <a:ext uri="{FF2B5EF4-FFF2-40B4-BE49-F238E27FC236}">
                <a16:creationId xmlns:a16="http://schemas.microsoft.com/office/drawing/2014/main" id="{0F7D2E64-3834-DA87-4859-E6AD1BBE06E4}"/>
              </a:ext>
            </a:extLst>
          </p:cNvPr>
          <p:cNvSpPr/>
          <p:nvPr/>
        </p:nvSpPr>
        <p:spPr>
          <a:xfrm>
            <a:off x="5329738" y="2273061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&quot;No&quot; Symbol 36">
            <a:extLst>
              <a:ext uri="{FF2B5EF4-FFF2-40B4-BE49-F238E27FC236}">
                <a16:creationId xmlns:a16="http://schemas.microsoft.com/office/drawing/2014/main" id="{0BD6B094-BE6A-B5AB-A11E-100DE3AEB095}"/>
              </a:ext>
            </a:extLst>
          </p:cNvPr>
          <p:cNvSpPr/>
          <p:nvPr/>
        </p:nvSpPr>
        <p:spPr>
          <a:xfrm>
            <a:off x="6472439" y="2438525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&quot;No&quot; Symbol 36">
            <a:extLst>
              <a:ext uri="{FF2B5EF4-FFF2-40B4-BE49-F238E27FC236}">
                <a16:creationId xmlns:a16="http://schemas.microsoft.com/office/drawing/2014/main" id="{C909EF98-6E6A-3DCE-5592-FE341E775182}"/>
              </a:ext>
            </a:extLst>
          </p:cNvPr>
          <p:cNvSpPr/>
          <p:nvPr/>
        </p:nvSpPr>
        <p:spPr>
          <a:xfrm>
            <a:off x="7422904" y="2405260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0432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C9D40-9C41-E760-1E66-CF553151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76EDB958-8DF3-B5F3-998C-E7608B3C3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9" y="17824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Similarly, when you are connected to a server, processes are stopped when you disconnect</a:t>
            </a:r>
          </a:p>
        </p:txBody>
      </p:sp>
      <p:pic>
        <p:nvPicPr>
          <p:cNvPr id="10" name="Graphic 9" descr="Cmd Terminal with solid fill">
            <a:extLst>
              <a:ext uri="{FF2B5EF4-FFF2-40B4-BE49-F238E27FC236}">
                <a16:creationId xmlns:a16="http://schemas.microsoft.com/office/drawing/2014/main" id="{CC345F8E-9FD4-2265-437B-0740762D0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9424" y="2227818"/>
            <a:ext cx="914400" cy="914400"/>
          </a:xfrm>
          <a:prstGeom prst="rect">
            <a:avLst/>
          </a:prstGeom>
        </p:spPr>
      </p:pic>
      <p:pic>
        <p:nvPicPr>
          <p:cNvPr id="12" name="Graphic 11" descr="Programmer female with solid fill">
            <a:extLst>
              <a:ext uri="{FF2B5EF4-FFF2-40B4-BE49-F238E27FC236}">
                <a16:creationId xmlns:a16="http://schemas.microsoft.com/office/drawing/2014/main" id="{755B15C0-1332-6A45-72B9-204D423CB2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662" y="2148447"/>
            <a:ext cx="914400" cy="914400"/>
          </a:xfrm>
          <a:prstGeom prst="rect">
            <a:avLst/>
          </a:prstGeom>
        </p:spPr>
      </p:pic>
      <p:sp>
        <p:nvSpPr>
          <p:cNvPr id="4" name="Left-Right Arrow 22">
            <a:extLst>
              <a:ext uri="{FF2B5EF4-FFF2-40B4-BE49-F238E27FC236}">
                <a16:creationId xmlns:a16="http://schemas.microsoft.com/office/drawing/2014/main" id="{6795D61A-34BC-CBE8-A80D-56ED2F73108F}"/>
              </a:ext>
            </a:extLst>
          </p:cNvPr>
          <p:cNvSpPr/>
          <p:nvPr/>
        </p:nvSpPr>
        <p:spPr>
          <a:xfrm>
            <a:off x="3025067" y="2624927"/>
            <a:ext cx="914401" cy="5365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Server with solid fill">
            <a:extLst>
              <a:ext uri="{FF2B5EF4-FFF2-40B4-BE49-F238E27FC236}">
                <a16:creationId xmlns:a16="http://schemas.microsoft.com/office/drawing/2014/main" id="{BC1DDD1F-2033-47FB-36F4-5A56A711EC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5996" y="2273061"/>
            <a:ext cx="914400" cy="914400"/>
          </a:xfrm>
          <a:prstGeom prst="rect">
            <a:avLst/>
          </a:prstGeom>
        </p:spPr>
      </p:pic>
      <p:pic>
        <p:nvPicPr>
          <p:cNvPr id="5" name="Graphic 4" descr="Wireless router outline">
            <a:extLst>
              <a:ext uri="{FF2B5EF4-FFF2-40B4-BE49-F238E27FC236}">
                <a16:creationId xmlns:a16="http://schemas.microsoft.com/office/drawing/2014/main" id="{41A37A29-2B69-35D0-62E4-E5C59D2D70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65486" y="1997852"/>
            <a:ext cx="687166" cy="687166"/>
          </a:xfrm>
          <a:prstGeom prst="rect">
            <a:avLst/>
          </a:prstGeom>
        </p:spPr>
      </p:pic>
      <p:pic>
        <p:nvPicPr>
          <p:cNvPr id="6" name="Graphic 5" descr="Cmd Terminal with solid fill">
            <a:extLst>
              <a:ext uri="{FF2B5EF4-FFF2-40B4-BE49-F238E27FC236}">
                <a16:creationId xmlns:a16="http://schemas.microsoft.com/office/drawing/2014/main" id="{5D011611-0DF9-65FA-F019-28137E39C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234" y="2233989"/>
            <a:ext cx="914400" cy="914400"/>
          </a:xfrm>
          <a:prstGeom prst="rect">
            <a:avLst/>
          </a:prstGeom>
        </p:spPr>
      </p:pic>
      <p:sp>
        <p:nvSpPr>
          <p:cNvPr id="7" name="Left-Right Arrow 22">
            <a:extLst>
              <a:ext uri="{FF2B5EF4-FFF2-40B4-BE49-F238E27FC236}">
                <a16:creationId xmlns:a16="http://schemas.microsoft.com/office/drawing/2014/main" id="{CD654F23-FA67-163C-2A0D-B1D3324EE030}"/>
              </a:ext>
            </a:extLst>
          </p:cNvPr>
          <p:cNvSpPr/>
          <p:nvPr/>
        </p:nvSpPr>
        <p:spPr>
          <a:xfrm>
            <a:off x="4883824" y="2610001"/>
            <a:ext cx="1412410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-Right Arrow 23">
            <a:extLst>
              <a:ext uri="{FF2B5EF4-FFF2-40B4-BE49-F238E27FC236}">
                <a16:creationId xmlns:a16="http://schemas.microsoft.com/office/drawing/2014/main" id="{38ADCC58-C233-A472-948A-FB19799C0E5E}"/>
              </a:ext>
            </a:extLst>
          </p:cNvPr>
          <p:cNvSpPr/>
          <p:nvPr/>
        </p:nvSpPr>
        <p:spPr>
          <a:xfrm>
            <a:off x="7210633" y="2610000"/>
            <a:ext cx="986531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&quot;No&quot; Symbol 36">
            <a:extLst>
              <a:ext uri="{FF2B5EF4-FFF2-40B4-BE49-F238E27FC236}">
                <a16:creationId xmlns:a16="http://schemas.microsoft.com/office/drawing/2014/main" id="{47F696D3-7E78-33B6-C0F9-6B7F71FE868D}"/>
              </a:ext>
            </a:extLst>
          </p:cNvPr>
          <p:cNvSpPr/>
          <p:nvPr/>
        </p:nvSpPr>
        <p:spPr>
          <a:xfrm>
            <a:off x="5329738" y="2273061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&quot;No&quot; Symbol 36">
            <a:extLst>
              <a:ext uri="{FF2B5EF4-FFF2-40B4-BE49-F238E27FC236}">
                <a16:creationId xmlns:a16="http://schemas.microsoft.com/office/drawing/2014/main" id="{98A35D4B-399C-FB93-390C-A7C2BAB2EB64}"/>
              </a:ext>
            </a:extLst>
          </p:cNvPr>
          <p:cNvSpPr/>
          <p:nvPr/>
        </p:nvSpPr>
        <p:spPr>
          <a:xfrm>
            <a:off x="6472439" y="2438525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&quot;No&quot; Symbol 36">
            <a:extLst>
              <a:ext uri="{FF2B5EF4-FFF2-40B4-BE49-F238E27FC236}">
                <a16:creationId xmlns:a16="http://schemas.microsoft.com/office/drawing/2014/main" id="{E900C9ED-03D0-2AAF-2B63-74CAF344FBA6}"/>
              </a:ext>
            </a:extLst>
          </p:cNvPr>
          <p:cNvSpPr/>
          <p:nvPr/>
        </p:nvSpPr>
        <p:spPr>
          <a:xfrm>
            <a:off x="7422904" y="2405260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18DBFA-1954-4CF2-8903-E25994A51B5A}"/>
              </a:ext>
            </a:extLst>
          </p:cNvPr>
          <p:cNvSpPr txBox="1"/>
          <p:nvPr/>
        </p:nvSpPr>
        <p:spPr>
          <a:xfrm>
            <a:off x="0" y="3754367"/>
            <a:ext cx="12192000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Many programs could take hours or days to run.</a:t>
            </a:r>
          </a:p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can we keep them running when we disconnect?</a:t>
            </a:r>
          </a:p>
        </p:txBody>
      </p:sp>
    </p:spTree>
    <p:extLst>
      <p:ext uri="{BB962C8B-B14F-4D97-AF65-F5344CB8AC3E}">
        <p14:creationId xmlns:p14="http://schemas.microsoft.com/office/powerpoint/2010/main" val="37495474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2C294-93E7-7A7E-C5FA-0183C0290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78AF3BE-E62B-B11E-B983-A5D38E3A6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9" y="17824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Similarly, when you are connected to a server, processes are stopped when you disconnect</a:t>
            </a:r>
          </a:p>
        </p:txBody>
      </p:sp>
      <p:pic>
        <p:nvPicPr>
          <p:cNvPr id="10" name="Graphic 9" descr="Cmd Terminal with solid fill">
            <a:extLst>
              <a:ext uri="{FF2B5EF4-FFF2-40B4-BE49-F238E27FC236}">
                <a16:creationId xmlns:a16="http://schemas.microsoft.com/office/drawing/2014/main" id="{B5EB7790-8C57-3645-D2E9-7D458B8EC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9424" y="2227818"/>
            <a:ext cx="914400" cy="914400"/>
          </a:xfrm>
          <a:prstGeom prst="rect">
            <a:avLst/>
          </a:prstGeom>
        </p:spPr>
      </p:pic>
      <p:pic>
        <p:nvPicPr>
          <p:cNvPr id="12" name="Graphic 11" descr="Programmer female with solid fill">
            <a:extLst>
              <a:ext uri="{FF2B5EF4-FFF2-40B4-BE49-F238E27FC236}">
                <a16:creationId xmlns:a16="http://schemas.microsoft.com/office/drawing/2014/main" id="{BAEFCFC0-9C35-2EE9-2E91-66BEAAC302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9662" y="2148447"/>
            <a:ext cx="914400" cy="914400"/>
          </a:xfrm>
          <a:prstGeom prst="rect">
            <a:avLst/>
          </a:prstGeom>
        </p:spPr>
      </p:pic>
      <p:sp>
        <p:nvSpPr>
          <p:cNvPr id="4" name="Left-Right Arrow 22">
            <a:extLst>
              <a:ext uri="{FF2B5EF4-FFF2-40B4-BE49-F238E27FC236}">
                <a16:creationId xmlns:a16="http://schemas.microsoft.com/office/drawing/2014/main" id="{E0F7B1D5-1491-FDA1-BAA0-5B6DFCF0DEC3}"/>
              </a:ext>
            </a:extLst>
          </p:cNvPr>
          <p:cNvSpPr/>
          <p:nvPr/>
        </p:nvSpPr>
        <p:spPr>
          <a:xfrm>
            <a:off x="3025067" y="2624927"/>
            <a:ext cx="914401" cy="5365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Server with solid fill">
            <a:extLst>
              <a:ext uri="{FF2B5EF4-FFF2-40B4-BE49-F238E27FC236}">
                <a16:creationId xmlns:a16="http://schemas.microsoft.com/office/drawing/2014/main" id="{5817F535-D44D-29B9-93D4-6A6DED91F7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5996" y="2273061"/>
            <a:ext cx="914400" cy="914400"/>
          </a:xfrm>
          <a:prstGeom prst="rect">
            <a:avLst/>
          </a:prstGeom>
        </p:spPr>
      </p:pic>
      <p:pic>
        <p:nvPicPr>
          <p:cNvPr id="5" name="Graphic 4" descr="Wireless router outline">
            <a:extLst>
              <a:ext uri="{FF2B5EF4-FFF2-40B4-BE49-F238E27FC236}">
                <a16:creationId xmlns:a16="http://schemas.microsoft.com/office/drawing/2014/main" id="{57A0D9FC-1328-1077-2357-037A6FF94A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65486" y="1997852"/>
            <a:ext cx="687166" cy="687166"/>
          </a:xfrm>
          <a:prstGeom prst="rect">
            <a:avLst/>
          </a:prstGeom>
        </p:spPr>
      </p:pic>
      <p:pic>
        <p:nvPicPr>
          <p:cNvPr id="6" name="Graphic 5" descr="Cmd Terminal with solid fill">
            <a:extLst>
              <a:ext uri="{FF2B5EF4-FFF2-40B4-BE49-F238E27FC236}">
                <a16:creationId xmlns:a16="http://schemas.microsoft.com/office/drawing/2014/main" id="{A671E4A8-2D07-7892-2DD3-E83BC7DBD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234" y="2233989"/>
            <a:ext cx="914400" cy="914400"/>
          </a:xfrm>
          <a:prstGeom prst="rect">
            <a:avLst/>
          </a:prstGeom>
        </p:spPr>
      </p:pic>
      <p:sp>
        <p:nvSpPr>
          <p:cNvPr id="7" name="Left-Right Arrow 22">
            <a:extLst>
              <a:ext uri="{FF2B5EF4-FFF2-40B4-BE49-F238E27FC236}">
                <a16:creationId xmlns:a16="http://schemas.microsoft.com/office/drawing/2014/main" id="{79EC28F3-88BF-AEFF-BDCC-1FB930C11BEA}"/>
              </a:ext>
            </a:extLst>
          </p:cNvPr>
          <p:cNvSpPr/>
          <p:nvPr/>
        </p:nvSpPr>
        <p:spPr>
          <a:xfrm>
            <a:off x="4883824" y="2610001"/>
            <a:ext cx="1412410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-Right Arrow 23">
            <a:extLst>
              <a:ext uri="{FF2B5EF4-FFF2-40B4-BE49-F238E27FC236}">
                <a16:creationId xmlns:a16="http://schemas.microsoft.com/office/drawing/2014/main" id="{759DB84E-CF53-9C2D-9210-7957C4E1675F}"/>
              </a:ext>
            </a:extLst>
          </p:cNvPr>
          <p:cNvSpPr/>
          <p:nvPr/>
        </p:nvSpPr>
        <p:spPr>
          <a:xfrm>
            <a:off x="7210633" y="2610000"/>
            <a:ext cx="986531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&quot;No&quot; Symbol 36">
            <a:extLst>
              <a:ext uri="{FF2B5EF4-FFF2-40B4-BE49-F238E27FC236}">
                <a16:creationId xmlns:a16="http://schemas.microsoft.com/office/drawing/2014/main" id="{64E93076-4180-23B0-1229-98093D160B23}"/>
              </a:ext>
            </a:extLst>
          </p:cNvPr>
          <p:cNvSpPr/>
          <p:nvPr/>
        </p:nvSpPr>
        <p:spPr>
          <a:xfrm>
            <a:off x="5329738" y="2273061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&quot;No&quot; Symbol 36">
            <a:extLst>
              <a:ext uri="{FF2B5EF4-FFF2-40B4-BE49-F238E27FC236}">
                <a16:creationId xmlns:a16="http://schemas.microsoft.com/office/drawing/2014/main" id="{45045DA0-EC40-EE33-0F3D-B848C3D6D68E}"/>
              </a:ext>
            </a:extLst>
          </p:cNvPr>
          <p:cNvSpPr/>
          <p:nvPr/>
        </p:nvSpPr>
        <p:spPr>
          <a:xfrm>
            <a:off x="6472439" y="2438525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&quot;No&quot; Symbol 36">
            <a:extLst>
              <a:ext uri="{FF2B5EF4-FFF2-40B4-BE49-F238E27FC236}">
                <a16:creationId xmlns:a16="http://schemas.microsoft.com/office/drawing/2014/main" id="{CF7FD04E-9014-94BD-1366-19FB12AD4CA1}"/>
              </a:ext>
            </a:extLst>
          </p:cNvPr>
          <p:cNvSpPr/>
          <p:nvPr/>
        </p:nvSpPr>
        <p:spPr>
          <a:xfrm>
            <a:off x="7422904" y="2405260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D7370F-F58E-BD53-FB1D-159568D660E4}"/>
              </a:ext>
            </a:extLst>
          </p:cNvPr>
          <p:cNvSpPr txBox="1"/>
          <p:nvPr/>
        </p:nvSpPr>
        <p:spPr>
          <a:xfrm>
            <a:off x="0" y="3754367"/>
            <a:ext cx="12192000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Many programs could take hours or days to run.</a:t>
            </a:r>
          </a:p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can we keep them running when we disconnect?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1D55FE-7C44-09F6-2941-EC47AFD74316}"/>
              </a:ext>
            </a:extLst>
          </p:cNvPr>
          <p:cNvSpPr txBox="1"/>
          <p:nvPr/>
        </p:nvSpPr>
        <p:spPr>
          <a:xfrm>
            <a:off x="858143" y="4935582"/>
            <a:ext cx="106571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</a:t>
            </a:r>
            <a:r>
              <a:rPr lang="en-US" dirty="0" err="1">
                <a:latin typeface="Consolas" panose="020B0609020204030204" pitchFamily="49" charset="0"/>
                <a:ea typeface="Source Sans Pro" panose="020B0503030403020204" pitchFamily="34" charset="0"/>
              </a:rPr>
              <a:t>nohup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command</a:t>
            </a:r>
          </a:p>
          <a:p>
            <a:pPr marL="342900" indent="-342900">
              <a:buAutoNum type="arabicPeriod"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Submit your job to the cluster with </a:t>
            </a:r>
            <a:r>
              <a:rPr lang="en-US" dirty="0" err="1">
                <a:latin typeface="Consolas" panose="020B0609020204030204" pitchFamily="49" charset="0"/>
                <a:ea typeface="Source Sans Pro" panose="020B0503030403020204" pitchFamily="34" charset="0"/>
              </a:rPr>
              <a:t>sbatch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a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terminal multiplexer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like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screen</a:t>
            </a:r>
            <a:endParaRPr lang="en-US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0726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12A0D-FA43-956E-6C92-379299C4B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B7C198B0-9602-75A5-8D9B-3CC2BE473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02" y="136903"/>
            <a:ext cx="10515600" cy="1325563"/>
          </a:xfrm>
        </p:spPr>
        <p:txBody>
          <a:bodyPr/>
          <a:lstStyle/>
          <a:p>
            <a:r>
              <a:rPr lang="en-US" b="1" dirty="0"/>
              <a:t>Terminal multiplexers</a:t>
            </a:r>
            <a:r>
              <a:rPr lang="en-US" dirty="0"/>
              <a:t> allow you to open shells within your shell</a:t>
            </a:r>
          </a:p>
        </p:txBody>
      </p:sp>
      <p:pic>
        <p:nvPicPr>
          <p:cNvPr id="10" name="Graphic 9" descr="Cmd Terminal with solid fill">
            <a:extLst>
              <a:ext uri="{FF2B5EF4-FFF2-40B4-BE49-F238E27FC236}">
                <a16:creationId xmlns:a16="http://schemas.microsoft.com/office/drawing/2014/main" id="{0D72A47C-A90A-44D7-C70F-1BF5B45BE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4790" y="2127702"/>
            <a:ext cx="914400" cy="914400"/>
          </a:xfrm>
          <a:prstGeom prst="rect">
            <a:avLst/>
          </a:prstGeom>
        </p:spPr>
      </p:pic>
      <p:pic>
        <p:nvPicPr>
          <p:cNvPr id="12" name="Graphic 11" descr="Programmer female with solid fill">
            <a:extLst>
              <a:ext uri="{FF2B5EF4-FFF2-40B4-BE49-F238E27FC236}">
                <a16:creationId xmlns:a16="http://schemas.microsoft.com/office/drawing/2014/main" id="{06690783-F4BC-6D8B-746E-28D85FECFB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028" y="2048331"/>
            <a:ext cx="914400" cy="914400"/>
          </a:xfrm>
          <a:prstGeom prst="rect">
            <a:avLst/>
          </a:prstGeom>
        </p:spPr>
      </p:pic>
      <p:pic>
        <p:nvPicPr>
          <p:cNvPr id="14" name="Graphic 13" descr="Server with solid fill">
            <a:extLst>
              <a:ext uri="{FF2B5EF4-FFF2-40B4-BE49-F238E27FC236}">
                <a16:creationId xmlns:a16="http://schemas.microsoft.com/office/drawing/2014/main" id="{72D5DB3D-69C0-B233-2CB6-693ED8A860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2686" y="2117065"/>
            <a:ext cx="914400" cy="914400"/>
          </a:xfrm>
          <a:prstGeom prst="rect">
            <a:avLst/>
          </a:prstGeom>
        </p:spPr>
      </p:pic>
      <p:pic>
        <p:nvPicPr>
          <p:cNvPr id="16" name="Graphic 15" descr="Wireless router outline">
            <a:extLst>
              <a:ext uri="{FF2B5EF4-FFF2-40B4-BE49-F238E27FC236}">
                <a16:creationId xmlns:a16="http://schemas.microsoft.com/office/drawing/2014/main" id="{824A5BA3-7DEE-C6B1-44E3-4927912E77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19206" y="1862227"/>
            <a:ext cx="687166" cy="687166"/>
          </a:xfrm>
          <a:prstGeom prst="rect">
            <a:avLst/>
          </a:prstGeom>
        </p:spPr>
      </p:pic>
      <p:pic>
        <p:nvPicPr>
          <p:cNvPr id="19" name="Graphic 18" descr="Cmd Terminal with solid fill">
            <a:extLst>
              <a:ext uri="{FF2B5EF4-FFF2-40B4-BE49-F238E27FC236}">
                <a16:creationId xmlns:a16="http://schemas.microsoft.com/office/drawing/2014/main" id="{584133EB-EB19-A6DA-4EF1-E79ACF938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4527" y="2118517"/>
            <a:ext cx="914400" cy="914400"/>
          </a:xfrm>
          <a:prstGeom prst="rect">
            <a:avLst/>
          </a:prstGeom>
        </p:spPr>
      </p:pic>
      <p:sp>
        <p:nvSpPr>
          <p:cNvPr id="23" name="Left-Right Arrow 22">
            <a:extLst>
              <a:ext uri="{FF2B5EF4-FFF2-40B4-BE49-F238E27FC236}">
                <a16:creationId xmlns:a16="http://schemas.microsoft.com/office/drawing/2014/main" id="{A32005C3-3BF6-98C4-1AF3-FC7C1ED50519}"/>
              </a:ext>
            </a:extLst>
          </p:cNvPr>
          <p:cNvSpPr/>
          <p:nvPr/>
        </p:nvSpPr>
        <p:spPr>
          <a:xfrm>
            <a:off x="3769190" y="2509885"/>
            <a:ext cx="1412410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-Right Arrow 23">
            <a:extLst>
              <a:ext uri="{FF2B5EF4-FFF2-40B4-BE49-F238E27FC236}">
                <a16:creationId xmlns:a16="http://schemas.microsoft.com/office/drawing/2014/main" id="{EA6A50B4-A1C7-53F1-12DA-6A6959364932}"/>
              </a:ext>
            </a:extLst>
          </p:cNvPr>
          <p:cNvSpPr/>
          <p:nvPr/>
        </p:nvSpPr>
        <p:spPr>
          <a:xfrm>
            <a:off x="9009303" y="2509883"/>
            <a:ext cx="1593383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FDEC332-3300-510D-443E-80EE2B48B175}"/>
              </a:ext>
            </a:extLst>
          </p:cNvPr>
          <p:cNvSpPr/>
          <p:nvPr/>
        </p:nvSpPr>
        <p:spPr>
          <a:xfrm>
            <a:off x="6589264" y="1897735"/>
            <a:ext cx="2059400" cy="24761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Cmd Terminal with solid fill">
            <a:extLst>
              <a:ext uri="{FF2B5EF4-FFF2-40B4-BE49-F238E27FC236}">
                <a16:creationId xmlns:a16="http://schemas.microsoft.com/office/drawing/2014/main" id="{F8E7EC2D-CE35-FEEA-9C1A-6F9B0C985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3392562"/>
            <a:ext cx="914400" cy="9144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AFD5868-802C-3780-1E34-F761B709DF1F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5742180" y="2962731"/>
            <a:ext cx="975636" cy="88703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Graphic 7" descr="Cmd Terminal with solid fill">
            <a:extLst>
              <a:ext uri="{FF2B5EF4-FFF2-40B4-BE49-F238E27FC236}">
                <a16:creationId xmlns:a16="http://schemas.microsoft.com/office/drawing/2014/main" id="{30EF51FE-8368-9532-9527-B6B9A8AA4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2742378"/>
            <a:ext cx="914400" cy="914400"/>
          </a:xfrm>
          <a:prstGeom prst="rect">
            <a:avLst/>
          </a:prstGeom>
        </p:spPr>
      </p:pic>
      <p:pic>
        <p:nvPicPr>
          <p:cNvPr id="9" name="Graphic 8" descr="Cmd Terminal with solid fill">
            <a:extLst>
              <a:ext uri="{FF2B5EF4-FFF2-40B4-BE49-F238E27FC236}">
                <a16:creationId xmlns:a16="http://schemas.microsoft.com/office/drawing/2014/main" id="{12A7C8F2-D80D-8DA6-1302-2B47408F4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2092193"/>
            <a:ext cx="914400" cy="914400"/>
          </a:xfrm>
          <a:prstGeom prst="rect">
            <a:avLst/>
          </a:prstGeom>
        </p:spPr>
      </p:pic>
      <p:sp>
        <p:nvSpPr>
          <p:cNvPr id="11" name="Right Brace 10">
            <a:extLst>
              <a:ext uri="{FF2B5EF4-FFF2-40B4-BE49-F238E27FC236}">
                <a16:creationId xmlns:a16="http://schemas.microsoft.com/office/drawing/2014/main" id="{7AD1C7AD-28B1-580B-2886-4BE2A2326DD4}"/>
              </a:ext>
            </a:extLst>
          </p:cNvPr>
          <p:cNvSpPr/>
          <p:nvPr/>
        </p:nvSpPr>
        <p:spPr>
          <a:xfrm>
            <a:off x="7659458" y="2405743"/>
            <a:ext cx="989206" cy="914400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E2225-328C-2C0C-301B-CB24F23FA693}"/>
              </a:ext>
            </a:extLst>
          </p:cNvPr>
          <p:cNvSpPr txBox="1"/>
          <p:nvPr/>
        </p:nvSpPr>
        <p:spPr>
          <a:xfrm>
            <a:off x="8608527" y="2532742"/>
            <a:ext cx="17417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other screens you can switch between</a:t>
            </a:r>
          </a:p>
        </p:txBody>
      </p:sp>
      <p:sp>
        <p:nvSpPr>
          <p:cNvPr id="4" name="Left-Right Arrow 22">
            <a:extLst>
              <a:ext uri="{FF2B5EF4-FFF2-40B4-BE49-F238E27FC236}">
                <a16:creationId xmlns:a16="http://schemas.microsoft.com/office/drawing/2014/main" id="{F8596700-2ABA-7358-5FCD-3F90F4DC89F5}"/>
              </a:ext>
            </a:extLst>
          </p:cNvPr>
          <p:cNvSpPr/>
          <p:nvPr/>
        </p:nvSpPr>
        <p:spPr>
          <a:xfrm>
            <a:off x="1909434" y="2505531"/>
            <a:ext cx="914401" cy="5365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EB2E6E-7A4B-95ED-639E-68C4AFF725FF}"/>
              </a:ext>
            </a:extLst>
          </p:cNvPr>
          <p:cNvSpPr txBox="1"/>
          <p:nvPr/>
        </p:nvSpPr>
        <p:spPr>
          <a:xfrm>
            <a:off x="6777028" y="1907527"/>
            <a:ext cx="178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screen sessions</a:t>
            </a:r>
          </a:p>
        </p:txBody>
      </p:sp>
    </p:spTree>
    <p:extLst>
      <p:ext uri="{BB962C8B-B14F-4D97-AF65-F5344CB8AC3E}">
        <p14:creationId xmlns:p14="http://schemas.microsoft.com/office/powerpoint/2010/main" val="667024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55E38-C32D-C2FE-D228-EDB96017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5C80A1D-296D-2A55-8EEB-D151B72B4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43" y="151864"/>
            <a:ext cx="10515600" cy="1325563"/>
          </a:xfrm>
        </p:spPr>
        <p:txBody>
          <a:bodyPr/>
          <a:lstStyle/>
          <a:p>
            <a:r>
              <a:rPr lang="en-US" dirty="0"/>
              <a:t>Shells within the multiplexer persist even when you log off</a:t>
            </a:r>
          </a:p>
        </p:txBody>
      </p:sp>
      <p:pic>
        <p:nvPicPr>
          <p:cNvPr id="10" name="Graphic 9" descr="Cmd Terminal with solid fill">
            <a:extLst>
              <a:ext uri="{FF2B5EF4-FFF2-40B4-BE49-F238E27FC236}">
                <a16:creationId xmlns:a16="http://schemas.microsoft.com/office/drawing/2014/main" id="{429D6F11-2B0D-A94E-66C4-0117EB42C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4790" y="2127702"/>
            <a:ext cx="914400" cy="914400"/>
          </a:xfrm>
          <a:prstGeom prst="rect">
            <a:avLst/>
          </a:prstGeom>
        </p:spPr>
      </p:pic>
      <p:pic>
        <p:nvPicPr>
          <p:cNvPr id="12" name="Graphic 11" descr="Programmer female with solid fill">
            <a:extLst>
              <a:ext uri="{FF2B5EF4-FFF2-40B4-BE49-F238E27FC236}">
                <a16:creationId xmlns:a16="http://schemas.microsoft.com/office/drawing/2014/main" id="{C4497BF3-0370-2E02-459C-AB238006F4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028" y="2048331"/>
            <a:ext cx="914400" cy="914400"/>
          </a:xfrm>
          <a:prstGeom prst="rect">
            <a:avLst/>
          </a:prstGeom>
        </p:spPr>
      </p:pic>
      <p:pic>
        <p:nvPicPr>
          <p:cNvPr id="14" name="Graphic 13" descr="Server with solid fill">
            <a:extLst>
              <a:ext uri="{FF2B5EF4-FFF2-40B4-BE49-F238E27FC236}">
                <a16:creationId xmlns:a16="http://schemas.microsoft.com/office/drawing/2014/main" id="{655EB89D-4842-D484-5E9D-FBFDC8C2BA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2686" y="2117065"/>
            <a:ext cx="914400" cy="914400"/>
          </a:xfrm>
          <a:prstGeom prst="rect">
            <a:avLst/>
          </a:prstGeom>
        </p:spPr>
      </p:pic>
      <p:pic>
        <p:nvPicPr>
          <p:cNvPr id="19" name="Graphic 18" descr="Cmd Terminal with solid fill">
            <a:extLst>
              <a:ext uri="{FF2B5EF4-FFF2-40B4-BE49-F238E27FC236}">
                <a16:creationId xmlns:a16="http://schemas.microsoft.com/office/drawing/2014/main" id="{E6E296E6-C09C-ED53-EBE7-C79E506D0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4527" y="2118517"/>
            <a:ext cx="914400" cy="914400"/>
          </a:xfrm>
          <a:prstGeom prst="rect">
            <a:avLst/>
          </a:prstGeom>
        </p:spPr>
      </p:pic>
      <p:sp>
        <p:nvSpPr>
          <p:cNvPr id="24" name="Left-Right Arrow 23">
            <a:extLst>
              <a:ext uri="{FF2B5EF4-FFF2-40B4-BE49-F238E27FC236}">
                <a16:creationId xmlns:a16="http://schemas.microsoft.com/office/drawing/2014/main" id="{9EB8D6FD-0C57-949A-9342-2DAB738B827B}"/>
              </a:ext>
            </a:extLst>
          </p:cNvPr>
          <p:cNvSpPr/>
          <p:nvPr/>
        </p:nvSpPr>
        <p:spPr>
          <a:xfrm>
            <a:off x="9009303" y="2509883"/>
            <a:ext cx="1593383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Arrow 25">
            <a:extLst>
              <a:ext uri="{FF2B5EF4-FFF2-40B4-BE49-F238E27FC236}">
                <a16:creationId xmlns:a16="http://schemas.microsoft.com/office/drawing/2014/main" id="{C611D5C9-56DE-B235-E3A5-912E2A38734F}"/>
              </a:ext>
            </a:extLst>
          </p:cNvPr>
          <p:cNvSpPr/>
          <p:nvPr/>
        </p:nvSpPr>
        <p:spPr>
          <a:xfrm>
            <a:off x="1970314" y="2532743"/>
            <a:ext cx="772886" cy="4571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BFDDFD4-3A36-C3EE-16A0-F3A8EFF80344}"/>
              </a:ext>
            </a:extLst>
          </p:cNvPr>
          <p:cNvSpPr/>
          <p:nvPr/>
        </p:nvSpPr>
        <p:spPr>
          <a:xfrm>
            <a:off x="6589264" y="1897735"/>
            <a:ext cx="2059400" cy="24761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61B624-3D17-DFA4-1D04-267519A936A3}"/>
              </a:ext>
            </a:extLst>
          </p:cNvPr>
          <p:cNvSpPr txBox="1"/>
          <p:nvPr/>
        </p:nvSpPr>
        <p:spPr>
          <a:xfrm>
            <a:off x="6777028" y="1907527"/>
            <a:ext cx="178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screen sessions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3D03EF00-95D4-D6CC-325B-732F33A4463C}"/>
              </a:ext>
            </a:extLst>
          </p:cNvPr>
          <p:cNvSpPr/>
          <p:nvPr/>
        </p:nvSpPr>
        <p:spPr>
          <a:xfrm>
            <a:off x="7659458" y="2405743"/>
            <a:ext cx="515713" cy="160779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&quot;No&quot; Symbol 3">
            <a:extLst>
              <a:ext uri="{FF2B5EF4-FFF2-40B4-BE49-F238E27FC236}">
                <a16:creationId xmlns:a16="http://schemas.microsoft.com/office/drawing/2014/main" id="{62CD087F-3983-922A-60C8-D048EAD0465E}"/>
              </a:ext>
            </a:extLst>
          </p:cNvPr>
          <p:cNvSpPr/>
          <p:nvPr/>
        </p:nvSpPr>
        <p:spPr>
          <a:xfrm>
            <a:off x="5483058" y="2327772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&quot;No&quot; Symbol 14">
            <a:extLst>
              <a:ext uri="{FF2B5EF4-FFF2-40B4-BE49-F238E27FC236}">
                <a16:creationId xmlns:a16="http://schemas.microsoft.com/office/drawing/2014/main" id="{A3CE2251-88E9-BA43-8D79-0BBFACF04340}"/>
              </a:ext>
            </a:extLst>
          </p:cNvPr>
          <p:cNvSpPr/>
          <p:nvPr/>
        </p:nvSpPr>
        <p:spPr>
          <a:xfrm>
            <a:off x="4164438" y="2338409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282708-36E3-8F1B-457C-5A906D4E84C2}"/>
              </a:ext>
            </a:extLst>
          </p:cNvPr>
          <p:cNvSpPr txBox="1"/>
          <p:nvPr/>
        </p:nvSpPr>
        <p:spPr>
          <a:xfrm>
            <a:off x="8695158" y="2831395"/>
            <a:ext cx="2221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still running,</a:t>
            </a:r>
          </a:p>
          <a:p>
            <a:r>
              <a:rPr lang="en-US"/>
              <a:t>you can find these if you log back in!*</a:t>
            </a:r>
          </a:p>
        </p:txBody>
      </p:sp>
      <p:pic>
        <p:nvPicPr>
          <p:cNvPr id="5" name="Graphic 4" descr="Cmd Terminal with solid fill">
            <a:extLst>
              <a:ext uri="{FF2B5EF4-FFF2-40B4-BE49-F238E27FC236}">
                <a16:creationId xmlns:a16="http://schemas.microsoft.com/office/drawing/2014/main" id="{F3962651-6EAC-2ABD-1AA5-94421D00B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3392562"/>
            <a:ext cx="914400" cy="914400"/>
          </a:xfrm>
          <a:prstGeom prst="rect">
            <a:avLst/>
          </a:prstGeom>
        </p:spPr>
      </p:pic>
      <p:pic>
        <p:nvPicPr>
          <p:cNvPr id="16" name="Graphic 15" descr="Cmd Terminal with solid fill">
            <a:extLst>
              <a:ext uri="{FF2B5EF4-FFF2-40B4-BE49-F238E27FC236}">
                <a16:creationId xmlns:a16="http://schemas.microsoft.com/office/drawing/2014/main" id="{2730CF70-96A4-B6E8-6170-3CB0EBF61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2742378"/>
            <a:ext cx="914400" cy="914400"/>
          </a:xfrm>
          <a:prstGeom prst="rect">
            <a:avLst/>
          </a:prstGeom>
        </p:spPr>
      </p:pic>
      <p:pic>
        <p:nvPicPr>
          <p:cNvPr id="20" name="Graphic 19" descr="Cmd Terminal with solid fill">
            <a:extLst>
              <a:ext uri="{FF2B5EF4-FFF2-40B4-BE49-F238E27FC236}">
                <a16:creationId xmlns:a16="http://schemas.microsoft.com/office/drawing/2014/main" id="{D54209CD-7E53-9EF4-BBE4-A4D099881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2092193"/>
            <a:ext cx="914400" cy="914400"/>
          </a:xfrm>
          <a:prstGeom prst="rect">
            <a:avLst/>
          </a:prstGeom>
        </p:spPr>
      </p:pic>
      <p:pic>
        <p:nvPicPr>
          <p:cNvPr id="21" name="Graphic 20" descr="Wireless router outline">
            <a:extLst>
              <a:ext uri="{FF2B5EF4-FFF2-40B4-BE49-F238E27FC236}">
                <a16:creationId xmlns:a16="http://schemas.microsoft.com/office/drawing/2014/main" id="{079840CC-9011-A365-ABBF-AA51D13433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19206" y="1862227"/>
            <a:ext cx="687166" cy="687166"/>
          </a:xfrm>
          <a:prstGeom prst="rect">
            <a:avLst/>
          </a:prstGeom>
        </p:spPr>
      </p:pic>
      <p:sp>
        <p:nvSpPr>
          <p:cNvPr id="22" name="Left-Right Arrow 22">
            <a:extLst>
              <a:ext uri="{FF2B5EF4-FFF2-40B4-BE49-F238E27FC236}">
                <a16:creationId xmlns:a16="http://schemas.microsoft.com/office/drawing/2014/main" id="{E750339F-1F34-01C6-653B-EBDE6AA068BE}"/>
              </a:ext>
            </a:extLst>
          </p:cNvPr>
          <p:cNvSpPr/>
          <p:nvPr/>
        </p:nvSpPr>
        <p:spPr>
          <a:xfrm>
            <a:off x="3769190" y="2509885"/>
            <a:ext cx="1412410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51AABD-6051-03C0-C491-CBE209971214}"/>
              </a:ext>
            </a:extLst>
          </p:cNvPr>
          <p:cNvSpPr txBox="1"/>
          <p:nvPr/>
        </p:nvSpPr>
        <p:spPr>
          <a:xfrm>
            <a:off x="0" y="4768330"/>
            <a:ext cx="1219200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When you disconnect, screens are still active</a:t>
            </a:r>
          </a:p>
        </p:txBody>
      </p:sp>
    </p:spTree>
    <p:extLst>
      <p:ext uri="{BB962C8B-B14F-4D97-AF65-F5344CB8AC3E}">
        <p14:creationId xmlns:p14="http://schemas.microsoft.com/office/powerpoint/2010/main" val="41261373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333B7-B08D-E51B-6F7D-065115613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794DAAD6-0DC9-871F-1FF9-357E38C49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43" y="151864"/>
            <a:ext cx="10515600" cy="1325563"/>
          </a:xfrm>
        </p:spPr>
        <p:txBody>
          <a:bodyPr/>
          <a:lstStyle/>
          <a:p>
            <a:r>
              <a:rPr lang="en-US" dirty="0"/>
              <a:t>Shells within the multiplexer persist even when you log off</a:t>
            </a:r>
          </a:p>
        </p:txBody>
      </p:sp>
      <p:pic>
        <p:nvPicPr>
          <p:cNvPr id="10" name="Graphic 9" descr="Cmd Terminal with solid fill">
            <a:extLst>
              <a:ext uri="{FF2B5EF4-FFF2-40B4-BE49-F238E27FC236}">
                <a16:creationId xmlns:a16="http://schemas.microsoft.com/office/drawing/2014/main" id="{A0AD9B3C-40E0-DE78-CE16-D16B946E9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4790" y="2127702"/>
            <a:ext cx="914400" cy="914400"/>
          </a:xfrm>
          <a:prstGeom prst="rect">
            <a:avLst/>
          </a:prstGeom>
        </p:spPr>
      </p:pic>
      <p:pic>
        <p:nvPicPr>
          <p:cNvPr id="12" name="Graphic 11" descr="Programmer female with solid fill">
            <a:extLst>
              <a:ext uri="{FF2B5EF4-FFF2-40B4-BE49-F238E27FC236}">
                <a16:creationId xmlns:a16="http://schemas.microsoft.com/office/drawing/2014/main" id="{4C2F5D4B-B184-043C-888E-F2CCE32DA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028" y="2048331"/>
            <a:ext cx="914400" cy="914400"/>
          </a:xfrm>
          <a:prstGeom prst="rect">
            <a:avLst/>
          </a:prstGeom>
        </p:spPr>
      </p:pic>
      <p:pic>
        <p:nvPicPr>
          <p:cNvPr id="14" name="Graphic 13" descr="Server with solid fill">
            <a:extLst>
              <a:ext uri="{FF2B5EF4-FFF2-40B4-BE49-F238E27FC236}">
                <a16:creationId xmlns:a16="http://schemas.microsoft.com/office/drawing/2014/main" id="{F3A7BEC4-16AB-F968-E9CB-775658E68B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2686" y="2117065"/>
            <a:ext cx="914400" cy="914400"/>
          </a:xfrm>
          <a:prstGeom prst="rect">
            <a:avLst/>
          </a:prstGeom>
        </p:spPr>
      </p:pic>
      <p:pic>
        <p:nvPicPr>
          <p:cNvPr id="19" name="Graphic 18" descr="Cmd Terminal with solid fill">
            <a:extLst>
              <a:ext uri="{FF2B5EF4-FFF2-40B4-BE49-F238E27FC236}">
                <a16:creationId xmlns:a16="http://schemas.microsoft.com/office/drawing/2014/main" id="{0303D88C-7F0A-24F8-2EF6-1720AAC9E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4527" y="2118517"/>
            <a:ext cx="914400" cy="914400"/>
          </a:xfrm>
          <a:prstGeom prst="rect">
            <a:avLst/>
          </a:prstGeom>
        </p:spPr>
      </p:pic>
      <p:sp>
        <p:nvSpPr>
          <p:cNvPr id="24" name="Left-Right Arrow 23">
            <a:extLst>
              <a:ext uri="{FF2B5EF4-FFF2-40B4-BE49-F238E27FC236}">
                <a16:creationId xmlns:a16="http://schemas.microsoft.com/office/drawing/2014/main" id="{3E5F106B-9667-7ED0-BBA9-D50FD72265A6}"/>
              </a:ext>
            </a:extLst>
          </p:cNvPr>
          <p:cNvSpPr/>
          <p:nvPr/>
        </p:nvSpPr>
        <p:spPr>
          <a:xfrm>
            <a:off x="9009303" y="2509883"/>
            <a:ext cx="1593383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Arrow 25">
            <a:extLst>
              <a:ext uri="{FF2B5EF4-FFF2-40B4-BE49-F238E27FC236}">
                <a16:creationId xmlns:a16="http://schemas.microsoft.com/office/drawing/2014/main" id="{A979A50F-A0B7-6651-B927-30247E4B29F8}"/>
              </a:ext>
            </a:extLst>
          </p:cNvPr>
          <p:cNvSpPr/>
          <p:nvPr/>
        </p:nvSpPr>
        <p:spPr>
          <a:xfrm>
            <a:off x="1970314" y="2532743"/>
            <a:ext cx="772886" cy="4571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F10804A-2A35-DCBA-B7B6-9683D765883E}"/>
              </a:ext>
            </a:extLst>
          </p:cNvPr>
          <p:cNvSpPr/>
          <p:nvPr/>
        </p:nvSpPr>
        <p:spPr>
          <a:xfrm>
            <a:off x="6589264" y="1897735"/>
            <a:ext cx="2059400" cy="24761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2255B1-3BA3-7CC2-A06C-396560A84A09}"/>
              </a:ext>
            </a:extLst>
          </p:cNvPr>
          <p:cNvSpPr txBox="1"/>
          <p:nvPr/>
        </p:nvSpPr>
        <p:spPr>
          <a:xfrm>
            <a:off x="6777028" y="1907527"/>
            <a:ext cx="178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screen sessions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A653B09B-BD0E-0CB0-DAD5-076FAA60D57C}"/>
              </a:ext>
            </a:extLst>
          </p:cNvPr>
          <p:cNvSpPr/>
          <p:nvPr/>
        </p:nvSpPr>
        <p:spPr>
          <a:xfrm>
            <a:off x="7659458" y="2405743"/>
            <a:ext cx="515713" cy="160779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&quot;No&quot; Symbol 3">
            <a:extLst>
              <a:ext uri="{FF2B5EF4-FFF2-40B4-BE49-F238E27FC236}">
                <a16:creationId xmlns:a16="http://schemas.microsoft.com/office/drawing/2014/main" id="{CA3DDD36-25F5-CD02-E7B5-8D6428D6A83B}"/>
              </a:ext>
            </a:extLst>
          </p:cNvPr>
          <p:cNvSpPr/>
          <p:nvPr/>
        </p:nvSpPr>
        <p:spPr>
          <a:xfrm>
            <a:off x="5483058" y="2327772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&quot;No&quot; Symbol 14">
            <a:extLst>
              <a:ext uri="{FF2B5EF4-FFF2-40B4-BE49-F238E27FC236}">
                <a16:creationId xmlns:a16="http://schemas.microsoft.com/office/drawing/2014/main" id="{189A7362-7874-4220-C077-8D9232A5D849}"/>
              </a:ext>
            </a:extLst>
          </p:cNvPr>
          <p:cNvSpPr/>
          <p:nvPr/>
        </p:nvSpPr>
        <p:spPr>
          <a:xfrm>
            <a:off x="4164438" y="2338409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02C591-3A9C-32B0-55F5-320C1EAD6096}"/>
              </a:ext>
            </a:extLst>
          </p:cNvPr>
          <p:cNvSpPr txBox="1"/>
          <p:nvPr/>
        </p:nvSpPr>
        <p:spPr>
          <a:xfrm>
            <a:off x="8695158" y="2831395"/>
            <a:ext cx="2221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still running,</a:t>
            </a:r>
          </a:p>
          <a:p>
            <a:r>
              <a:rPr lang="en-US"/>
              <a:t>you can find these if you log back in!*</a:t>
            </a:r>
          </a:p>
        </p:txBody>
      </p:sp>
      <p:pic>
        <p:nvPicPr>
          <p:cNvPr id="5" name="Graphic 4" descr="Cmd Terminal with solid fill">
            <a:extLst>
              <a:ext uri="{FF2B5EF4-FFF2-40B4-BE49-F238E27FC236}">
                <a16:creationId xmlns:a16="http://schemas.microsoft.com/office/drawing/2014/main" id="{00834252-3B10-5C39-EDEC-15BC000D0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3392562"/>
            <a:ext cx="914400" cy="914400"/>
          </a:xfrm>
          <a:prstGeom prst="rect">
            <a:avLst/>
          </a:prstGeom>
        </p:spPr>
      </p:pic>
      <p:pic>
        <p:nvPicPr>
          <p:cNvPr id="16" name="Graphic 15" descr="Cmd Terminal with solid fill">
            <a:extLst>
              <a:ext uri="{FF2B5EF4-FFF2-40B4-BE49-F238E27FC236}">
                <a16:creationId xmlns:a16="http://schemas.microsoft.com/office/drawing/2014/main" id="{2646BE7B-ABE8-7307-3D91-B934517E0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2742378"/>
            <a:ext cx="914400" cy="914400"/>
          </a:xfrm>
          <a:prstGeom prst="rect">
            <a:avLst/>
          </a:prstGeom>
        </p:spPr>
      </p:pic>
      <p:pic>
        <p:nvPicPr>
          <p:cNvPr id="20" name="Graphic 19" descr="Cmd Terminal with solid fill">
            <a:extLst>
              <a:ext uri="{FF2B5EF4-FFF2-40B4-BE49-F238E27FC236}">
                <a16:creationId xmlns:a16="http://schemas.microsoft.com/office/drawing/2014/main" id="{E250B9DE-3F10-E8B4-E19A-400D9F68A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2092193"/>
            <a:ext cx="914400" cy="914400"/>
          </a:xfrm>
          <a:prstGeom prst="rect">
            <a:avLst/>
          </a:prstGeom>
        </p:spPr>
      </p:pic>
      <p:pic>
        <p:nvPicPr>
          <p:cNvPr id="21" name="Graphic 20" descr="Wireless router outline">
            <a:extLst>
              <a:ext uri="{FF2B5EF4-FFF2-40B4-BE49-F238E27FC236}">
                <a16:creationId xmlns:a16="http://schemas.microsoft.com/office/drawing/2014/main" id="{CD115DAE-8E14-1E3E-AE86-0F5A7C69AD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19206" y="1862227"/>
            <a:ext cx="687166" cy="687166"/>
          </a:xfrm>
          <a:prstGeom prst="rect">
            <a:avLst/>
          </a:prstGeom>
        </p:spPr>
      </p:pic>
      <p:sp>
        <p:nvSpPr>
          <p:cNvPr id="22" name="Left-Right Arrow 22">
            <a:extLst>
              <a:ext uri="{FF2B5EF4-FFF2-40B4-BE49-F238E27FC236}">
                <a16:creationId xmlns:a16="http://schemas.microsoft.com/office/drawing/2014/main" id="{50CF48FE-CDA8-CFA1-76FD-3DB053A77B8D}"/>
              </a:ext>
            </a:extLst>
          </p:cNvPr>
          <p:cNvSpPr/>
          <p:nvPr/>
        </p:nvSpPr>
        <p:spPr>
          <a:xfrm>
            <a:off x="3769190" y="2509885"/>
            <a:ext cx="1412410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DC22CA-6329-FD11-25D2-638488540989}"/>
              </a:ext>
            </a:extLst>
          </p:cNvPr>
          <p:cNvSpPr txBox="1"/>
          <p:nvPr/>
        </p:nvSpPr>
        <p:spPr>
          <a:xfrm>
            <a:off x="0" y="4768330"/>
            <a:ext cx="1219200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When you disconnect, screens are still active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E5DE40-F635-4FC9-7685-AC9B278C082A}"/>
              </a:ext>
            </a:extLst>
          </p:cNvPr>
          <p:cNvSpPr txBox="1"/>
          <p:nvPr/>
        </p:nvSpPr>
        <p:spPr>
          <a:xfrm>
            <a:off x="0" y="5739770"/>
            <a:ext cx="1219200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*as long as you login to the same login node</a:t>
            </a:r>
          </a:p>
        </p:txBody>
      </p:sp>
    </p:spTree>
    <p:extLst>
      <p:ext uri="{BB962C8B-B14F-4D97-AF65-F5344CB8AC3E}">
        <p14:creationId xmlns:p14="http://schemas.microsoft.com/office/powerpoint/2010/main" val="10004537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6C49-03A7-FB29-D0CD-DFB3E5755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How to connect to a particular login node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BCAA140-C994-0442-5F8C-8E94D75CB167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9C5CD57-5874-76D6-2E15-82AF85515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7BC2256-7D9A-EF5C-BA1C-C0B9193BF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AF05653-4B01-C32C-67B5-F81FB6252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EA82D84-CBD9-910D-58F3-68EA1A7F2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ssh</a:t>
            </a:r>
            <a:r>
              <a:rPr lang="en-US" dirty="0"/>
              <a:t> command to connect to a remote computer: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ssh &lt;username&gt;@login.rc.fas.harvard.edu</a:t>
            </a:r>
            <a:endParaRPr lang="en-US" sz="2000" dirty="0">
              <a:solidFill>
                <a:schemeClr val="bg1">
                  <a:lumMod val="95000"/>
                </a:schemeClr>
              </a:solidFill>
              <a:highlight>
                <a:srgbClr val="000000"/>
              </a:highlight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2FBFE8A-CE7E-FAB8-A7AA-28615BEC57CC}"/>
              </a:ext>
            </a:extLst>
          </p:cNvPr>
          <p:cNvSpPr/>
          <p:nvPr/>
        </p:nvSpPr>
        <p:spPr>
          <a:xfrm>
            <a:off x="6261342" y="358440"/>
            <a:ext cx="3221617" cy="23276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527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F39C-3CDE-D799-B316-11D1C030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CA697CB-DAFA-25C5-CD14-DD59129FB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018" y="0"/>
            <a:ext cx="628198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D7B049-5408-B5E7-2B8C-FF3F1FEB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How to connect to a particular login node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CBCAE4-AAD2-7993-8AFC-891B87F91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ssh</a:t>
            </a:r>
            <a:r>
              <a:rPr lang="en-US" dirty="0"/>
              <a:t> command to connect to a remote computer:</a:t>
            </a:r>
          </a:p>
          <a:p>
            <a:endParaRPr lang="en-US" dirty="0"/>
          </a:p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ssh &lt;username&gt;@login.rc.fas.harvard.edu</a:t>
            </a:r>
            <a:endParaRPr lang="en-US" sz="1400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ssh &lt;username&gt;@&lt;login node name&gt;.rc.fas.harvard.edu</a:t>
            </a:r>
            <a:endParaRPr lang="en-US" sz="1400" dirty="0">
              <a:solidFill>
                <a:schemeClr val="bg1">
                  <a:lumMod val="95000"/>
                </a:schemeClr>
              </a:solidFill>
              <a:highlight>
                <a:srgbClr val="000000"/>
              </a:highlight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519009-705E-0D7A-85DE-FCFD961F2544}"/>
              </a:ext>
            </a:extLst>
          </p:cNvPr>
          <p:cNvSpPr/>
          <p:nvPr/>
        </p:nvSpPr>
        <p:spPr>
          <a:xfrm>
            <a:off x="6521646" y="325068"/>
            <a:ext cx="3221617" cy="23276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AB5A368A-A594-A26A-7871-1D2F45E9EEA2}"/>
              </a:ext>
            </a:extLst>
          </p:cNvPr>
          <p:cNvSpPr/>
          <p:nvPr/>
        </p:nvSpPr>
        <p:spPr>
          <a:xfrm>
            <a:off x="3206750" y="3604164"/>
            <a:ext cx="166861" cy="7942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B53040-076A-0699-E4CC-6FCA9187CB13}"/>
              </a:ext>
            </a:extLst>
          </p:cNvPr>
          <p:cNvSpPr/>
          <p:nvPr/>
        </p:nvSpPr>
        <p:spPr>
          <a:xfrm>
            <a:off x="2135418" y="4588930"/>
            <a:ext cx="1715741" cy="23276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210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25BB-B2AF-7847-1C16-1316B8C8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B27306A0-4BE5-5ADE-22EB-07D014097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40" y="118828"/>
            <a:ext cx="10515600" cy="1325563"/>
          </a:xfrm>
        </p:spPr>
        <p:txBody>
          <a:bodyPr/>
          <a:lstStyle/>
          <a:p>
            <a:r>
              <a:rPr lang="en-US" dirty="0"/>
              <a:t>Screen allows you to run multiple things at once from a single login</a:t>
            </a:r>
          </a:p>
        </p:txBody>
      </p:sp>
      <p:pic>
        <p:nvPicPr>
          <p:cNvPr id="10" name="Graphic 9" descr="Cmd Terminal with solid fill">
            <a:extLst>
              <a:ext uri="{FF2B5EF4-FFF2-40B4-BE49-F238E27FC236}">
                <a16:creationId xmlns:a16="http://schemas.microsoft.com/office/drawing/2014/main" id="{BCDA57F0-58DE-2761-AD25-A8D315539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4790" y="2127702"/>
            <a:ext cx="914400" cy="914400"/>
          </a:xfrm>
          <a:prstGeom prst="rect">
            <a:avLst/>
          </a:prstGeom>
        </p:spPr>
      </p:pic>
      <p:pic>
        <p:nvPicPr>
          <p:cNvPr id="12" name="Graphic 11" descr="Programmer female with solid fill">
            <a:extLst>
              <a:ext uri="{FF2B5EF4-FFF2-40B4-BE49-F238E27FC236}">
                <a16:creationId xmlns:a16="http://schemas.microsoft.com/office/drawing/2014/main" id="{C4E2A229-6EAF-93CC-570D-C756CAA7CB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028" y="2048331"/>
            <a:ext cx="914400" cy="914400"/>
          </a:xfrm>
          <a:prstGeom prst="rect">
            <a:avLst/>
          </a:prstGeom>
        </p:spPr>
      </p:pic>
      <p:pic>
        <p:nvPicPr>
          <p:cNvPr id="14" name="Graphic 13" descr="Server with solid fill">
            <a:extLst>
              <a:ext uri="{FF2B5EF4-FFF2-40B4-BE49-F238E27FC236}">
                <a16:creationId xmlns:a16="http://schemas.microsoft.com/office/drawing/2014/main" id="{0171AE9F-82F7-20EE-841A-F9496B3EB8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2686" y="2117065"/>
            <a:ext cx="914400" cy="914400"/>
          </a:xfrm>
          <a:prstGeom prst="rect">
            <a:avLst/>
          </a:prstGeom>
        </p:spPr>
      </p:pic>
      <p:pic>
        <p:nvPicPr>
          <p:cNvPr id="16" name="Graphic 15" descr="Wireless router outline">
            <a:extLst>
              <a:ext uri="{FF2B5EF4-FFF2-40B4-BE49-F238E27FC236}">
                <a16:creationId xmlns:a16="http://schemas.microsoft.com/office/drawing/2014/main" id="{67B5E3B5-7CB7-75BF-8452-E28B0E7242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87593" y="1897736"/>
            <a:ext cx="687166" cy="687166"/>
          </a:xfrm>
          <a:prstGeom prst="rect">
            <a:avLst/>
          </a:prstGeom>
        </p:spPr>
      </p:pic>
      <p:pic>
        <p:nvPicPr>
          <p:cNvPr id="19" name="Graphic 18" descr="Cmd Terminal with solid fill">
            <a:extLst>
              <a:ext uri="{FF2B5EF4-FFF2-40B4-BE49-F238E27FC236}">
                <a16:creationId xmlns:a16="http://schemas.microsoft.com/office/drawing/2014/main" id="{09D52F3C-71AF-C436-7DD5-DCCF80017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4527" y="2118517"/>
            <a:ext cx="914400" cy="914400"/>
          </a:xfrm>
          <a:prstGeom prst="rect">
            <a:avLst/>
          </a:prstGeom>
        </p:spPr>
      </p:pic>
      <p:sp>
        <p:nvSpPr>
          <p:cNvPr id="23" name="Left-Right Arrow 22">
            <a:extLst>
              <a:ext uri="{FF2B5EF4-FFF2-40B4-BE49-F238E27FC236}">
                <a16:creationId xmlns:a16="http://schemas.microsoft.com/office/drawing/2014/main" id="{DC4B5C1D-9F35-9362-EC2F-C7DFD3426823}"/>
              </a:ext>
            </a:extLst>
          </p:cNvPr>
          <p:cNvSpPr/>
          <p:nvPr/>
        </p:nvSpPr>
        <p:spPr>
          <a:xfrm>
            <a:off x="3769190" y="2509885"/>
            <a:ext cx="1412410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-Right Arrow 23">
            <a:extLst>
              <a:ext uri="{FF2B5EF4-FFF2-40B4-BE49-F238E27FC236}">
                <a16:creationId xmlns:a16="http://schemas.microsoft.com/office/drawing/2014/main" id="{69419650-F82D-5750-B458-670CF23BA2AC}"/>
              </a:ext>
            </a:extLst>
          </p:cNvPr>
          <p:cNvSpPr/>
          <p:nvPr/>
        </p:nvSpPr>
        <p:spPr>
          <a:xfrm>
            <a:off x="9009303" y="2509883"/>
            <a:ext cx="1593383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Arrow 25">
            <a:extLst>
              <a:ext uri="{FF2B5EF4-FFF2-40B4-BE49-F238E27FC236}">
                <a16:creationId xmlns:a16="http://schemas.microsoft.com/office/drawing/2014/main" id="{5667FC07-CDEA-B5D1-7375-FC81A9029800}"/>
              </a:ext>
            </a:extLst>
          </p:cNvPr>
          <p:cNvSpPr/>
          <p:nvPr/>
        </p:nvSpPr>
        <p:spPr>
          <a:xfrm>
            <a:off x="1970314" y="2532743"/>
            <a:ext cx="772886" cy="4571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A9BFD3F-312B-ECA9-D613-CB911EF49AAA}"/>
              </a:ext>
            </a:extLst>
          </p:cNvPr>
          <p:cNvSpPr/>
          <p:nvPr/>
        </p:nvSpPr>
        <p:spPr>
          <a:xfrm>
            <a:off x="6589264" y="1897735"/>
            <a:ext cx="2059400" cy="24761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6B69EA-090C-62F0-3377-4A2688931A68}"/>
              </a:ext>
            </a:extLst>
          </p:cNvPr>
          <p:cNvSpPr txBox="1"/>
          <p:nvPr/>
        </p:nvSpPr>
        <p:spPr>
          <a:xfrm>
            <a:off x="6868598" y="1943036"/>
            <a:ext cx="1675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screen session</a:t>
            </a:r>
          </a:p>
        </p:txBody>
      </p:sp>
      <p:pic>
        <p:nvPicPr>
          <p:cNvPr id="15" name="Graphic 14" descr="Hourglass Finished with solid fill">
            <a:extLst>
              <a:ext uri="{FF2B5EF4-FFF2-40B4-BE49-F238E27FC236}">
                <a16:creationId xmlns:a16="http://schemas.microsoft.com/office/drawing/2014/main" id="{82DC9ABC-DF6E-D536-E0B6-6FA2E221A8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43095" y="2329954"/>
            <a:ext cx="620544" cy="620544"/>
          </a:xfrm>
          <a:prstGeom prst="rect">
            <a:avLst/>
          </a:prstGeom>
        </p:spPr>
      </p:pic>
      <p:pic>
        <p:nvPicPr>
          <p:cNvPr id="18" name="Graphic 17" descr="Hourglass Finished with solid fill">
            <a:extLst>
              <a:ext uri="{FF2B5EF4-FFF2-40B4-BE49-F238E27FC236}">
                <a16:creationId xmlns:a16="http://schemas.microsoft.com/office/drawing/2014/main" id="{846F6913-DF87-23C6-A9E6-8325F3875D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37700" y="2995858"/>
            <a:ext cx="620544" cy="620544"/>
          </a:xfrm>
          <a:prstGeom prst="rect">
            <a:avLst/>
          </a:prstGeom>
        </p:spPr>
      </p:pic>
      <p:pic>
        <p:nvPicPr>
          <p:cNvPr id="6" name="Graphic 5" descr="Cmd Terminal with solid fill">
            <a:extLst>
              <a:ext uri="{FF2B5EF4-FFF2-40B4-BE49-F238E27FC236}">
                <a16:creationId xmlns:a16="http://schemas.microsoft.com/office/drawing/2014/main" id="{CDDF277F-0695-7F26-CF07-C3661AB0E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3392562"/>
            <a:ext cx="914400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342B6D-E109-B371-C03E-75300B7ECE12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5742180" y="2962731"/>
            <a:ext cx="975636" cy="88703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" name="Graphic 12" descr="Cmd Terminal with solid fill">
            <a:extLst>
              <a:ext uri="{FF2B5EF4-FFF2-40B4-BE49-F238E27FC236}">
                <a16:creationId xmlns:a16="http://schemas.microsoft.com/office/drawing/2014/main" id="{A348A74C-B8A4-AA2B-3EAB-893CED529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2742378"/>
            <a:ext cx="914400" cy="914400"/>
          </a:xfrm>
          <a:prstGeom prst="rect">
            <a:avLst/>
          </a:prstGeom>
        </p:spPr>
      </p:pic>
      <p:pic>
        <p:nvPicPr>
          <p:cNvPr id="20" name="Graphic 19" descr="Cmd Terminal with solid fill">
            <a:extLst>
              <a:ext uri="{FF2B5EF4-FFF2-40B4-BE49-F238E27FC236}">
                <a16:creationId xmlns:a16="http://schemas.microsoft.com/office/drawing/2014/main" id="{9BE5F20F-4115-D2B5-0DD1-8ABBA5E78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816" y="20921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678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4B10-623E-B3D4-8B54-D21BE997D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13" y="167438"/>
            <a:ext cx="10515600" cy="1325563"/>
          </a:xfrm>
        </p:spPr>
        <p:txBody>
          <a:bodyPr/>
          <a:lstStyle/>
          <a:p>
            <a:r>
              <a:rPr lang="en-US" dirty="0"/>
              <a:t>Very basic screen commands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8017AE4-4BE6-8051-C1E6-9430CDBFFE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8395682"/>
              </p:ext>
            </p:extLst>
          </p:nvPr>
        </p:nvGraphicFramePr>
        <p:xfrm>
          <a:off x="838200" y="1825625"/>
          <a:ext cx="10515600" cy="25958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764537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95029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What it does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423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screen -S </a:t>
                      </a:r>
                      <a:r>
                        <a:rPr lang="en-US" dirty="0" err="1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sessionname</a:t>
                      </a:r>
                      <a:endParaRPr lang="en-US" dirty="0">
                        <a:latin typeface="Consolas" panose="020B060902020403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Start a new screen session with name sessionname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618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screen -ls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List all screen sessions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531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screen -r </a:t>
                      </a:r>
                      <a:r>
                        <a:rPr lang="en-US" dirty="0" err="1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sessionname</a:t>
                      </a:r>
                      <a:endParaRPr lang="en-US" dirty="0">
                        <a:latin typeface="Consolas" panose="020B060902020403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Reconnect to a particular session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63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Ctrl+a</a:t>
                      </a:r>
                      <a:r>
                        <a:rPr lang="en-US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Detach (and leave running)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025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Ctrl+a</a:t>
                      </a:r>
                      <a:r>
                        <a:rPr lang="en-US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k </a:t>
                      </a:r>
                      <a:r>
                        <a:rPr lang="en-US" dirty="0">
                          <a:latin typeface="Menlo" panose="020B0609030804020204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or</a:t>
                      </a:r>
                      <a:r>
                        <a:rPr lang="en-US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exit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Close current screen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694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Ctrl+a</a:t>
                      </a:r>
                      <a:r>
                        <a:rPr lang="en-US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pull up help menu of shortcuts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02201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452FC82-BE1E-FE84-C214-F3DE5E7B3F0C}"/>
              </a:ext>
            </a:extLst>
          </p:cNvPr>
          <p:cNvSpPr txBox="1"/>
          <p:nvPr/>
        </p:nvSpPr>
        <p:spPr>
          <a:xfrm>
            <a:off x="1527986" y="4827451"/>
            <a:ext cx="91360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Start a screen session with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screen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 or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screen -S name</a:t>
            </a: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 if you want to give it a name.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Run your long task.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ea typeface="Menlo" panose="020B0609030804020204" pitchFamily="49" charset="0"/>
                <a:cs typeface="Menlo" panose="020B0609030804020204" pitchFamily="49" charset="0"/>
              </a:rPr>
              <a:t>Detach your screen to go do something else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Go back to your screen with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screen -r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0873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1D25B-5B15-D283-D30F-A1CD670F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02399-3D19-8A53-0363-73AD94A05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Useful shell shortcuts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6787B5-4F12-38B7-3116-08792149CEAA}"/>
              </a:ext>
            </a:extLst>
          </p:cNvPr>
          <p:cNvGraphicFramePr>
            <a:graphicFrameLocks noGrp="1"/>
          </p:cNvGraphicFramePr>
          <p:nvPr/>
        </p:nvGraphicFramePr>
        <p:xfrm>
          <a:off x="0" y="1106227"/>
          <a:ext cx="12191999" cy="54152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855492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8336507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..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Shortcut to use in paths meaning, “one directory above”. </a:t>
                      </a:r>
                    </a:p>
                    <a:p>
                      <a:endParaRPr lang="en-US" sz="1600" b="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../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means one directory above the current working directory</a:t>
                      </a: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../../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means two directories above the current working directory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 </a:t>
                      </a:r>
                      <a:endParaRPr lang="en-US" sz="16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~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Many systems use this to mean, “the path to the current user’s home directory”.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cd ~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will change directory to your home directory no matter where you are in the filesystem.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cd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Change to the previous directory no matter where </a:t>
                      </a:r>
                      <a:r>
                        <a:rPr lang="en-US" sz="1600" b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it is.</a:t>
                      </a:r>
                      <a:endParaRPr lang="en-US" sz="1600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[tab]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When typing paths for a command, hitting tab will autocomplete file names.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</a:t>
                      </a:r>
                      <a:r>
                        <a:rPr lang="en-US" sz="1600" b="1" dirty="0" err="1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dir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[tab]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-&gt; 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directory1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If more than one file matches the substring typed, they will all be displayed for you to keep typing: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</a:t>
                      </a:r>
                      <a:r>
                        <a:rPr lang="en-US" sz="1600" b="1" dirty="0" err="1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dir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[tab]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-&gt; directory1 directory2 directory3 -&gt; 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directory3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[up arrow]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Scroll through previous commands.</a:t>
                      </a:r>
                      <a:endParaRPr lang="en-US" sz="1600" b="0" dirty="0">
                        <a:highlight>
                          <a:srgbClr val="FFFF00"/>
                        </a:highlight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0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Ctrl+C</a:t>
                      </a:r>
                      <a:endParaRPr lang="en-US" sz="16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Cancel currently running process.</a:t>
                      </a:r>
                      <a:r>
                        <a:rPr lang="en-US" sz="1600" b="0" dirty="0"/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4917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Select text to copy, right click to paste.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bg1">
                            <a:lumMod val="95000"/>
                          </a:schemeClr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3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124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10931</TotalTime>
  <Words>2520</Words>
  <Application>Microsoft Office PowerPoint</Application>
  <PresentationFormat>Widescreen</PresentationFormat>
  <Paragraphs>426</Paragraphs>
  <Slides>46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Aptos</vt:lpstr>
      <vt:lpstr>Aptos Display</vt:lpstr>
      <vt:lpstr>Arial</vt:lpstr>
      <vt:lpstr>Consolas</vt:lpstr>
      <vt:lpstr>Menlo</vt:lpstr>
      <vt:lpstr>Source Sans Pro</vt:lpstr>
      <vt:lpstr>Office Theme</vt:lpstr>
      <vt:lpstr>$ Command line 101: $ Tips &amp; tricks for aspiring power users $ Work smarter not harder &amp; type less</vt:lpstr>
      <vt:lpstr>File systems are user-facing ways to organize information on a computer</vt:lpstr>
      <vt:lpstr>You can interact with the file system of a computer through text interfaces called command lines*</vt:lpstr>
      <vt:lpstr>How does our concept of file systems translate to text-based computing?</vt:lpstr>
      <vt:lpstr>How does our concept of file systems translate to text-based computing?</vt:lpstr>
      <vt:lpstr>How does our concept of file systems translate to text-based computing?</vt:lpstr>
      <vt:lpstr>Common commands for interacting with the filesystem</vt:lpstr>
      <vt:lpstr>How do commands work?</vt:lpstr>
      <vt:lpstr>All progams live somewhere in your computer</vt:lpstr>
      <vt:lpstr>$PATH is list of directories to search for programs</vt:lpstr>
      <vt:lpstr>$PATH is an environmental variable</vt:lpstr>
      <vt:lpstr>You can modify environmental variables</vt:lpstr>
      <vt:lpstr>You can modify environmental variables</vt:lpstr>
      <vt:lpstr>You can make new shell variables</vt:lpstr>
      <vt:lpstr>You can make new shell variables</vt:lpstr>
      <vt:lpstr>Aliases: Because some commands are long and I use them a lot</vt:lpstr>
      <vt:lpstr>Aliases: Because some commands are long and I use them a lot</vt:lpstr>
      <vt:lpstr>Aliases: Because some commands are long and I use them a lot</vt:lpstr>
      <vt:lpstr>Caution: do not overwrite environmental variables with other stuff</vt:lpstr>
      <vt:lpstr>PowerPoint Presentation</vt:lpstr>
      <vt:lpstr>PowerPoint Presentation</vt:lpstr>
      <vt:lpstr>What to we mean by “environment”?</vt:lpstr>
      <vt:lpstr>What to we mean by “environment”?</vt:lpstr>
      <vt:lpstr>What to we mean by “environment”?</vt:lpstr>
      <vt:lpstr>Software environments edit aspects of your default environment</vt:lpstr>
      <vt:lpstr>Customizing your shell environment</vt:lpstr>
      <vt:lpstr>.bashrc vs .bash_profile</vt:lpstr>
      <vt:lpstr>What can you put in your .bashrc?</vt:lpstr>
      <vt:lpstr>What can you put in your .bashrc?</vt:lpstr>
      <vt:lpstr>How do I not mess everything up?</vt:lpstr>
      <vt:lpstr>multitasking in the terminal</vt:lpstr>
      <vt:lpstr>PowerPoint Presentation</vt:lpstr>
      <vt:lpstr>Processes running on your computer are paused or stopped when you turn off your computer</vt:lpstr>
      <vt:lpstr>Processes running on your computer are paused or stopped when you turn off your computer</vt:lpstr>
      <vt:lpstr>Similarly, when you are connected to a server, processes are stopped when you disconnect</vt:lpstr>
      <vt:lpstr>Similarly, when you are connected to a server, processes are stopped when you disconnect</vt:lpstr>
      <vt:lpstr>Similarly, when you are connected to a server, processes are stopped when you disconnect</vt:lpstr>
      <vt:lpstr>Similarly, when you are connected to a server, processes are stopped when you disconnect</vt:lpstr>
      <vt:lpstr>Terminal multiplexers allow you to open shells within your shell</vt:lpstr>
      <vt:lpstr>Shells within the multiplexer persist even when you log off</vt:lpstr>
      <vt:lpstr>Shells within the multiplexer persist even when you log off</vt:lpstr>
      <vt:lpstr>How to connect to a particular login node</vt:lpstr>
      <vt:lpstr>How to connect to a particular login node</vt:lpstr>
      <vt:lpstr>Screen allows you to run multiple things at once from a single login</vt:lpstr>
      <vt:lpstr>Very basic screen commands</vt:lpstr>
      <vt:lpstr>Useful shell shortcuts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Khost, Danielle Emerson</dc:creator>
  <cp:lastModifiedBy>Thomas, Gregg</cp:lastModifiedBy>
  <cp:revision>22</cp:revision>
  <dcterms:created xsi:type="dcterms:W3CDTF">2026-01-30T18:57:29Z</dcterms:created>
  <dcterms:modified xsi:type="dcterms:W3CDTF">2026-02-18T15:22:52Z</dcterms:modified>
</cp:coreProperties>
</file>