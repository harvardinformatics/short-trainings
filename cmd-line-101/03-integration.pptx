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256" r:id="rId2"/>
    <p:sldId id="448" r:id="rId3"/>
    <p:sldId id="367" r:id="rId4"/>
    <p:sldId id="368" r:id="rId5"/>
    <p:sldId id="373" r:id="rId6"/>
    <p:sldId id="369" r:id="rId7"/>
    <p:sldId id="370" r:id="rId8"/>
    <p:sldId id="371" r:id="rId9"/>
    <p:sldId id="372" r:id="rId10"/>
    <p:sldId id="374" r:id="rId11"/>
    <p:sldId id="375" r:id="rId12"/>
    <p:sldId id="264" r:id="rId13"/>
    <p:sldId id="423" r:id="rId14"/>
    <p:sldId id="273" r:id="rId15"/>
    <p:sldId id="434" r:id="rId16"/>
    <p:sldId id="433" r:id="rId17"/>
    <p:sldId id="432" r:id="rId18"/>
    <p:sldId id="439" r:id="rId19"/>
    <p:sldId id="438" r:id="rId20"/>
    <p:sldId id="437" r:id="rId21"/>
    <p:sldId id="436" r:id="rId22"/>
    <p:sldId id="435" r:id="rId23"/>
    <p:sldId id="440" r:id="rId24"/>
    <p:sldId id="274" r:id="rId25"/>
    <p:sldId id="429" r:id="rId26"/>
    <p:sldId id="446" r:id="rId27"/>
    <p:sldId id="266" r:id="rId28"/>
    <p:sldId id="447" r:id="rId29"/>
    <p:sldId id="262" r:id="rId30"/>
    <p:sldId id="267" r:id="rId31"/>
    <p:sldId id="445" r:id="rId32"/>
    <p:sldId id="444" r:id="rId33"/>
    <p:sldId id="443" r:id="rId34"/>
    <p:sldId id="268" r:id="rId35"/>
    <p:sldId id="430" r:id="rId36"/>
    <p:sldId id="271" r:id="rId37"/>
    <p:sldId id="272" r:id="rId38"/>
    <p:sldId id="270" r:id="rId39"/>
    <p:sldId id="441" r:id="rId40"/>
    <p:sldId id="431" r:id="rId41"/>
    <p:sldId id="442" r:id="rId42"/>
    <p:sldId id="376" r:id="rId43"/>
    <p:sldId id="381" r:id="rId44"/>
    <p:sldId id="269" r:id="rId45"/>
    <p:sldId id="377" r:id="rId46"/>
    <p:sldId id="382" r:id="rId47"/>
    <p:sldId id="378" r:id="rId48"/>
    <p:sldId id="380" r:id="rId49"/>
    <p:sldId id="383" r:id="rId50"/>
    <p:sldId id="408" r:id="rId51"/>
    <p:sldId id="384" r:id="rId52"/>
    <p:sldId id="385" r:id="rId53"/>
    <p:sldId id="386" r:id="rId54"/>
    <p:sldId id="387" r:id="rId55"/>
    <p:sldId id="388" r:id="rId56"/>
    <p:sldId id="389" r:id="rId57"/>
    <p:sldId id="391" r:id="rId58"/>
    <p:sldId id="392" r:id="rId59"/>
    <p:sldId id="393" r:id="rId60"/>
    <p:sldId id="395" r:id="rId61"/>
    <p:sldId id="394" r:id="rId62"/>
    <p:sldId id="390" r:id="rId63"/>
    <p:sldId id="352" r:id="rId64"/>
    <p:sldId id="397" r:id="rId65"/>
    <p:sldId id="398" r:id="rId66"/>
    <p:sldId id="399" r:id="rId67"/>
    <p:sldId id="411" r:id="rId68"/>
    <p:sldId id="400" r:id="rId69"/>
    <p:sldId id="410" r:id="rId70"/>
    <p:sldId id="401" r:id="rId71"/>
    <p:sldId id="402" r:id="rId72"/>
    <p:sldId id="403" r:id="rId73"/>
    <p:sldId id="404" r:id="rId74"/>
    <p:sldId id="421" r:id="rId75"/>
    <p:sldId id="405" r:id="rId76"/>
    <p:sldId id="406" r:id="rId77"/>
    <p:sldId id="412" r:id="rId78"/>
    <p:sldId id="415" r:id="rId79"/>
    <p:sldId id="414" r:id="rId80"/>
    <p:sldId id="416" r:id="rId81"/>
    <p:sldId id="417" r:id="rId82"/>
    <p:sldId id="418" r:id="rId83"/>
    <p:sldId id="419" r:id="rId84"/>
    <p:sldId id="407" r:id="rId85"/>
    <p:sldId id="420" r:id="rId86"/>
    <p:sldId id="396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FF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60665-F2D6-47BB-955B-EBDD4EFB024B}" v="59" dt="2026-01-12T17:30:55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5" autoAdjust="0"/>
    <p:restoredTop sz="96194" autoAdjust="0"/>
  </p:normalViewPr>
  <p:slideViewPr>
    <p:cSldViewPr snapToGrid="0">
      <p:cViewPr varScale="1">
        <p:scale>
          <a:sx n="155" d="100"/>
          <a:sy n="155" d="100"/>
        </p:scale>
        <p:origin x="3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Gregg" userId="dfa61f86-18d4-44e1-a72b-c953fd59092c" providerId="ADAL" clId="{5B53906A-5F1B-43C2-814B-DA37BB59EAFF}"/>
    <pc:docChg chg="undo custSel addSld modSld">
      <pc:chgData name="Thomas, Gregg" userId="dfa61f86-18d4-44e1-a72b-c953fd59092c" providerId="ADAL" clId="{5B53906A-5F1B-43C2-814B-DA37BB59EAFF}" dt="2026-01-12T19:10:55.244" v="225" actId="1076"/>
      <pc:docMkLst>
        <pc:docMk/>
      </pc:docMkLst>
      <pc:sldChg chg="addSp delSp modSp new mod">
        <pc:chgData name="Thomas, Gregg" userId="dfa61f86-18d4-44e1-a72b-c953fd59092c" providerId="ADAL" clId="{5B53906A-5F1B-43C2-814B-DA37BB59EAFF}" dt="2026-01-12T19:10:55.244" v="225" actId="1076"/>
        <pc:sldMkLst>
          <pc:docMk/>
          <pc:sldMk cId="2047572788" sldId="264"/>
        </pc:sldMkLst>
        <pc:spChg chg="mod">
          <ac:chgData name="Thomas, Gregg" userId="dfa61f86-18d4-44e1-a72b-c953fd59092c" providerId="ADAL" clId="{5B53906A-5F1B-43C2-814B-DA37BB59EAFF}" dt="2026-01-12T17:35:29.058" v="224" actId="1076"/>
          <ac:spMkLst>
            <pc:docMk/>
            <pc:sldMk cId="2047572788" sldId="264"/>
            <ac:spMk id="2" creationId="{DF741E71-7AE5-46DF-818C-18790936B086}"/>
          </ac:spMkLst>
        </pc:spChg>
        <pc:spChg chg="del">
          <ac:chgData name="Thomas, Gregg" userId="dfa61f86-18d4-44e1-a72b-c953fd59092c" providerId="ADAL" clId="{5B53906A-5F1B-43C2-814B-DA37BB59EAFF}" dt="2026-01-12T16:47:21.416" v="41" actId="478"/>
          <ac:spMkLst>
            <pc:docMk/>
            <pc:sldMk cId="2047572788" sldId="264"/>
            <ac:spMk id="3" creationId="{38DC1B9A-A37A-E1D4-B035-67949A62D3C8}"/>
          </ac:spMkLst>
        </pc:spChg>
        <pc:spChg chg="add mod ord">
          <ac:chgData name="Thomas, Gregg" userId="dfa61f86-18d4-44e1-a72b-c953fd59092c" providerId="ADAL" clId="{5B53906A-5F1B-43C2-814B-DA37BB59EAFF}" dt="2026-01-12T17:26:55.184" v="161" actId="167"/>
          <ac:spMkLst>
            <pc:docMk/>
            <pc:sldMk cId="2047572788" sldId="264"/>
            <ac:spMk id="31" creationId="{EDA08AC4-3306-B323-E664-176D998FFC77}"/>
          </ac:spMkLst>
        </pc:spChg>
        <pc:spChg chg="add mod ord">
          <ac:chgData name="Thomas, Gregg" userId="dfa61f86-18d4-44e1-a72b-c953fd59092c" providerId="ADAL" clId="{5B53906A-5F1B-43C2-814B-DA37BB59EAFF}" dt="2026-01-12T17:26:58.399" v="162" actId="167"/>
          <ac:spMkLst>
            <pc:docMk/>
            <pc:sldMk cId="2047572788" sldId="264"/>
            <ac:spMk id="32" creationId="{51B9FE04-4F55-82F6-7D3B-9D3FDAAEB69C}"/>
          </ac:spMkLst>
        </pc:spChg>
        <pc:spChg chg="add mod">
          <ac:chgData name="Thomas, Gregg" userId="dfa61f86-18d4-44e1-a72b-c953fd59092c" providerId="ADAL" clId="{5B53906A-5F1B-43C2-814B-DA37BB59EAFF}" dt="2026-01-12T19:10:55.244" v="225" actId="1076"/>
          <ac:spMkLst>
            <pc:docMk/>
            <pc:sldMk cId="2047572788" sldId="264"/>
            <ac:spMk id="33" creationId="{7E84D6F2-6EE2-B419-A676-B2BF98570B7E}"/>
          </ac:spMkLst>
        </pc:spChg>
        <pc:spChg chg="add mod">
          <ac:chgData name="Thomas, Gregg" userId="dfa61f86-18d4-44e1-a72b-c953fd59092c" providerId="ADAL" clId="{5B53906A-5F1B-43C2-814B-DA37BB59EAFF}" dt="2026-01-12T17:28:15.623" v="185" actId="14100"/>
          <ac:spMkLst>
            <pc:docMk/>
            <pc:sldMk cId="2047572788" sldId="264"/>
            <ac:spMk id="34" creationId="{F6310EDC-33E2-5316-50DF-6273866577E2}"/>
          </ac:spMkLst>
        </pc:spChg>
        <pc:spChg chg="add mod">
          <ac:chgData name="Thomas, Gregg" userId="dfa61f86-18d4-44e1-a72b-c953fd59092c" providerId="ADAL" clId="{5B53906A-5F1B-43C2-814B-DA37BB59EAFF}" dt="2026-01-12T17:30:39.485" v="205" actId="207"/>
          <ac:spMkLst>
            <pc:docMk/>
            <pc:sldMk cId="2047572788" sldId="264"/>
            <ac:spMk id="35" creationId="{39FBB656-5C75-CA4C-3DC7-1A646CE9BFD1}"/>
          </ac:spMkLst>
        </pc:spChg>
        <pc:spChg chg="add mod">
          <ac:chgData name="Thomas, Gregg" userId="dfa61f86-18d4-44e1-a72b-c953fd59092c" providerId="ADAL" clId="{5B53906A-5F1B-43C2-814B-DA37BB59EAFF}" dt="2026-01-12T17:30:53.995" v="215" actId="122"/>
          <ac:spMkLst>
            <pc:docMk/>
            <pc:sldMk cId="2047572788" sldId="264"/>
            <ac:spMk id="36" creationId="{516EED6D-D2E6-FF2E-AE3F-D584AD454EB0}"/>
          </ac:spMkLst>
        </pc:spChg>
        <pc:spChg chg="add mod">
          <ac:chgData name="Thomas, Gregg" userId="dfa61f86-18d4-44e1-a72b-c953fd59092c" providerId="ADAL" clId="{5B53906A-5F1B-43C2-814B-DA37BB59EAFF}" dt="2026-01-12T17:31:01.320" v="223" actId="20577"/>
          <ac:spMkLst>
            <pc:docMk/>
            <pc:sldMk cId="2047572788" sldId="264"/>
            <ac:spMk id="37" creationId="{FD58A2BE-3B76-B2CB-C7A4-4F5AFFAC1C53}"/>
          </ac:spMkLst>
        </pc:spChg>
        <pc:picChg chg="add mod ord">
          <ac:chgData name="Thomas, Gregg" userId="dfa61f86-18d4-44e1-a72b-c953fd59092c" providerId="ADAL" clId="{5B53906A-5F1B-43C2-814B-DA37BB59EAFF}" dt="2026-01-12T17:26:51.874" v="160" actId="167"/>
          <ac:picMkLst>
            <pc:docMk/>
            <pc:sldMk cId="2047572788" sldId="264"/>
            <ac:picMk id="5" creationId="{55CC7405-C3B0-EE6F-CD91-E0E70C4C3DF5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7" creationId="{38E0C665-C657-2B70-2660-4579A48574C6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9" creationId="{40089CA3-3024-FA4B-FC04-FBD800992578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1" creationId="{D0CFFDB9-76D0-E9E4-0FBF-CDF12BEC392A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3" creationId="{49A1967A-7754-67A8-E0A8-09A64FBC5DCC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5" creationId="{175CF639-8765-92BF-3C5A-3E406FF6297D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7" creationId="{9BD05213-6F6D-F56F-E652-40FF085C79E4}"/>
          </ac:picMkLst>
        </pc:picChg>
        <pc:picChg chg="add mod">
          <ac:chgData name="Thomas, Gregg" userId="dfa61f86-18d4-44e1-a72b-c953fd59092c" providerId="ADAL" clId="{5B53906A-5F1B-43C2-814B-DA37BB59EAFF}" dt="2026-01-12T17:26:23.499" v="154" actId="1076"/>
          <ac:picMkLst>
            <pc:docMk/>
            <pc:sldMk cId="2047572788" sldId="264"/>
            <ac:picMk id="18" creationId="{4688334E-3270-164C-83A3-3BD69ECFA1F8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0" creationId="{48A11280-63F0-0F42-FB77-B86A9A92A3B5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2" creationId="{C1666496-3631-9CE8-8E96-0F69B56986CC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4" creationId="{1B0A5A39-D787-B18D-F216-9CCC4E9B70DD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6" creationId="{6CDD06F5-5798-4625-9BAB-C3EAA4B5E0E2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8" creationId="{2B3E9378-FC77-024A-C990-8F64F8610B08}"/>
          </ac:picMkLst>
        </pc:picChg>
        <pc:picChg chg="add mod">
          <ac:chgData name="Thomas, Gregg" userId="dfa61f86-18d4-44e1-a72b-c953fd59092c" providerId="ADAL" clId="{5B53906A-5F1B-43C2-814B-DA37BB59EAFF}" dt="2026-01-12T17:25:37.265" v="148" actId="1076"/>
          <ac:picMkLst>
            <pc:docMk/>
            <pc:sldMk cId="2047572788" sldId="264"/>
            <ac:picMk id="1026" creationId="{209708CE-B8B5-13D4-7A35-5FE64F8EF603}"/>
          </ac:picMkLst>
        </pc:picChg>
        <pc:cxnChg chg="add del mod">
          <ac:chgData name="Thomas, Gregg" userId="dfa61f86-18d4-44e1-a72b-c953fd59092c" providerId="ADAL" clId="{5B53906A-5F1B-43C2-814B-DA37BB59EAFF}" dt="2026-01-12T17:25:20.636" v="145" actId="478"/>
          <ac:cxnSpMkLst>
            <pc:docMk/>
            <pc:sldMk cId="2047572788" sldId="264"/>
            <ac:cxnSpMk id="30" creationId="{23F3CE45-A1ED-DC9F-4718-E70B518E5C7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C97FA-6859-4219-8E5C-CDE43325068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7EF8-35D8-4635-8F46-65E701D7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9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A8D5-1816-D769-E674-A2F55AA7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DFAA9-B5A4-EC96-1D8A-45E2AA457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26FC7-3FBA-F0D3-2707-01A50CDC2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63F2-72D8-5E6F-1712-B7B91ED25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25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0DD8-5255-68D4-CCDB-35E748216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03259-0DD3-1016-EA4E-DBE5B0627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BC086-A5F7-549E-7C95-A26CE3447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24F7C-4F2F-3959-64AE-9A3B763B5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40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Caveats:</a:t>
            </a:r>
            <a:br>
              <a:rPr lang="en-US"/>
            </a:br>
            <a:r>
              <a:rPr lang="en-US"/>
              <a:t>* We are not covering the structure of the cluster. For that see FAS RC’s getting started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We are not covering cold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Storage is changing but these general concepts will be the same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30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38B0-C04D-3DFE-693A-30E916DA3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5015A-367D-45E2-05DD-BBF3EF68F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FBA80-CBC4-FC09-4A80-C9FBA29ED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Caveats:</a:t>
            </a:r>
            <a:br>
              <a:rPr lang="en-US"/>
            </a:br>
            <a:r>
              <a:rPr lang="en-US"/>
              <a:t>* We are not covering the structure of the cluster. For that see FAS RC’s getting started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We are not covering cold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Storage is changing but these general concepts will be the same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4C0A-84DA-2DA5-FDE0-DC3FB2350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8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B339B-8D5C-4D96-A540-9C0FDCD6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1503B-0AE1-C008-F3CC-AE1407D20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2AAE9-B68F-9187-DF88-8740A85E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all intents and purposes, the Home directory is useless for storing files, so we’re going to collapse that into lab share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BEDA7-FF99-EC90-DB42-5B28390BF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16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1FF7-9C4D-D663-5F98-B0C98AEC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7023-4507-47E1-689D-21DF8481A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8EFF2-3CBC-6339-E50A-6830BAF0F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all intents and purposes, the Home directory is useless for storing files, so we’re going to collapse that into lab share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9B0D9-DB31-F19C-833D-6C40F7FDB9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03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5188-F088-5B84-2BF7-EA3C4300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8033A-295D-2A76-8070-C8293A660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FB4E9-1CDB-47C3-3E0C-142DDCF48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all intents and purposes, the Home directory is useless for storing files, so we’re going to collapse that into lab share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3AC9A-8099-447D-E30A-D759E66F6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56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346D-ED1D-1773-B373-664221FE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2BF1B-4033-C963-0AD7-8DFE7885A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8E755-95DD-E4CB-BF1F-82E359331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 of rsync: won’t duplicate copy files if it already exists at the destination. Can make exact mirrors of a file system (--delete option). You can do a dry run with -n or --dry-run. You can use rsync to transfer between cluster and your local machine, but we won’t go over that because there are better ways.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2AF5C-BD7A-6720-4538-E1A0BA9AF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95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F8741-27D4-9363-6F89-CC4642684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AC723-28EE-CC79-FD3C-263791B27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F7E1F-4718-603B-716D-8C119695E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 of rsync: won’t duplicate copy files if it already exists at the destination. Can make exact mirrors of a file system (--delete option). You can do a dry run with -n or --dry-run. You can use rsync to transfer between cluster and your local machine, but we won’t go over that because there are better ways.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BF4DD-F5F6-93ED-2DA3-64507C3DD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09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DEB43-7C49-EA02-C2B9-3B6375238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25F7E-231A-1148-C68A-F3BB27BC4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8A74D-8645-2392-36DA-ABAFD1B87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 of rsync: won’t duplicate copy files if it already exists at the destination. Can make exact mirrors of a file system (--delete option). You can do a dry run with -n or --dry-run. You can use rsync to transfer between cluster and your local machine, but we won’t go over that because there are better ways.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9C274-8550-5183-E017-839282F46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09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66E0-643A-49AD-68F2-34ACC02A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DF07E-09B6-25F2-1D42-D0F2280AC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A6F01-F157-3A39-A726-8E5DE47EB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 of rsync: won’t duplicate copy files if it already exists at the destination. Can make exact mirrors of a file system (--delete option). You can do a dry run with -n or --dry-run. You can use rsync to transfer between cluster and your local machine, but we won’t go over that because there are better ways.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7D28D-856A-2003-DC3C-BC5AF7DBC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62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A92F4-BE06-03DD-C27F-5BE08287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604A2-3DB3-33F5-D4C8-D1D610748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D8BE4-9FDC-0E48-4CEC-D16902A67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 of rsync: won’t duplicate copy files if it already exists at the destination. Can make exact mirrors of a file system (--delete option). You can do a dry run with -n or --dry-run. You can use rsync to transfer between cluster and your local machine, but we won’t go over that because there are better ways.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CBC6-242C-D072-040A-3286CAE41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80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0CA1-DD83-498D-4F85-6EAFC7BE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6994A-9582-2766-E281-20326CC2E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DA02F-A28D-F1B5-03CD-5ECD9BAB4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33C34-6BEC-2774-C6B3-BB3E26BAA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6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177B1-9DA0-8EB6-EA3A-5758521F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ED369-FF7E-5F90-356F-5EE93545F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02BB7-0379-BB96-2001-13DDB9511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62534-4134-04A2-6C90-61F6808B9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22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745B-21ED-96A2-BCA3-A5641C31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06805-026B-31C7-F533-BD39D089F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C6153-3EB5-C1B4-C9BA-B07FEF55E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all intents and purposes, the Home directory is useless for storing files, so we’re going to collapse that into lab share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73D51-70C8-213D-0810-ADDEA4F0B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63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F7D8-34F2-9090-A9B9-A836B32F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54980-0D1D-3DC2-4B1E-9E1A4C93F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316F3-3C41-4070-B96E-E95ED0956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all intents and purposes, the Home directory is useless for storing files, so we’re going to collapse that into lab share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97D32-5BFF-4FFB-822F-E94C45CE2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51DA7-F7B0-6F41-9300-BA9FC6DA2392}" type="slidenum"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94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C42A-3694-A63E-DA70-6339A946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2D647-94E1-8896-CAC6-CAB1B97DB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04F5F-80F6-6EC3-C110-4F56522A2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919FD-5C58-879C-0860-4BD81516E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2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EA3D-B2C1-41C9-CDD7-CB4420EB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C3D59-98BE-A293-56F7-55495EF9C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B93E5-039C-3D5F-864B-7C4B24F5A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C8153-6DC9-8543-B3F1-080D63314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47BB-328D-FF3A-FB21-C2AB4A1EE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CBC7B-F803-DA30-CA98-C6284C45A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BB0C9-5C46-5743-7C97-CAD33CE2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F9FB9-2CA0-2543-5417-D7421A62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344-6593-D270-E0AA-510F663D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6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8AA3-9D6F-9430-308A-99C78F69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74C4-A43B-4353-5502-EEC333B84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F9EB-D537-F4E6-2143-9E299646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C9785-5C44-AAEE-9589-27B60D76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C731D-FFE4-E910-3729-5A5FA0A2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5753-30DA-0041-F9C7-4689ADD3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030D8-828D-362C-8C79-CE937C42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B502-A81D-31AE-785E-05521DB8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66DCB-53A6-A59F-7686-55E50DB6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1C17-8C4B-F6F4-7048-EF360E4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2F24-0C5C-42F4-34EE-09B02305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0161-6115-3CF5-98B1-3ABA9AC56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E2086-6D7B-D3AE-2EB0-06B44B90D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7C4DD-4F37-EB27-5F9B-59F1E4F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3B38E-2674-E0C5-AB77-A3BE6F59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A4B83-8F8B-BD62-FD6E-30DC3398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0E5A-16B4-3B0E-FC93-CDB5C333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D4433-462D-44DC-04E1-76FA81708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1FFCE-C634-D05C-7A08-11A57C24B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EBF-5524-E0DF-51DF-49FF65577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88635-2421-1408-D696-042A7E989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723EA-C66B-D5DD-2C01-5248F98C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EE0B4A-65F4-469B-60A5-DEF4E298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F7A78-99B2-3912-AAB8-81A7C6E1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1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9443-3A16-2BC7-241C-1596D519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5A24F-89D2-EA15-8B23-95206959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5A6D1-B48F-B4A0-C9E4-866CAA89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359F8-0A96-CFA6-E1F0-8BB0640A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7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1CFBE-F7FB-CF48-EBE3-0C57DDEC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7362B-5155-791F-73FA-797E26CD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D6765-BE8F-C44E-4F04-66EBB4FB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D917-261C-5BD0-2D6C-9FEA862F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869C-AE14-6F78-A445-A81793C0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 sz="2800"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A71C5-46D8-27B5-F9CD-05F12B3E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51826-B3F4-049E-7886-0C3EE980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E6308-38BC-1C56-6E54-71B7754F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A414B-03C9-F1BC-FB04-2C3DBB56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0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3D03-2901-2129-A288-A07681BB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C4847-A851-5A29-55FB-D389E5581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C6C24-2F46-8EC1-F152-D75C248BD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83BB1-662F-456E-A8C5-E323F3C8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0F2D2-E491-27EB-3EE4-CC74533F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AF1B6-F600-02CD-2712-46A5226E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3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FA01-476D-06E3-2625-529C89DE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E60B3-0289-23F1-AA3E-C329D0046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6CE0-748B-4DED-5C0A-584BECE2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75F-B147-EC17-45C6-A3F6AF99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8D3A9-EA87-3F85-FA7C-929D3C73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0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3E630-7CDD-A00C-0C1C-8489F7DDA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5212F-156E-2230-8A9C-F0F2DD89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11F81-02ED-EA91-3B81-75B01A09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10AEC-F8B8-12E0-8AD5-4B1B9D6E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EE0A-818E-4525-8FF3-910A877A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6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EBC2B-1543-4583-56C1-662CAA6F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C8960-F417-898E-F329-5ADB01C8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3D27B-60B5-B8BE-0564-3B226551A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CB47E-54BC-47CE-8C53-06DEDDAC739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96DC-6CE0-1CDF-E069-385112DE6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F6372-0427-7AE6-B2FE-23F3E0648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3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5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hyperlink" Target="https://upload.wikimedia.org/wikipedia/commons/1/12/Google_Drive_icon_%282020%29.svg" TargetMode="External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5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hyperlink" Target="https://upload.wikimedia.org/wikipedia/commons/1/12/Google_Drive_icon_%282020%29.svg" TargetMode="External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5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hyperlink" Target="https://upload.wikimedia.org/wikipedia/commons/1/12/Google_Drive_icon_%282020%29.svg" TargetMode="External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6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6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3.png"/><Relationship Id="rId4" Type="http://schemas.openxmlformats.org/officeDocument/2006/relationships/hyperlink" Target="https://upload.wikimedia.org/wikipedia/commons/1/12/Google_Drive_icon_%282020%29.svg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rclone.org/drive/" TargetMode="External"/><Relationship Id="rId7" Type="http://schemas.openxmlformats.org/officeDocument/2006/relationships/image" Target="../media/image23.png"/><Relationship Id="rId2" Type="http://schemas.openxmlformats.org/officeDocument/2006/relationships/hyperlink" Target="https://docs.rc.fas.harvard.edu/kb/rclon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pload.wikimedia.org/wikipedia/commons/1/12/Google_Drive_icon_%282020%29.svg" TargetMode="Externa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2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0.png"/><Relationship Id="rId7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png"/><Relationship Id="rId10" Type="http://schemas.openxmlformats.org/officeDocument/2006/relationships/image" Target="../media/image28.svg"/><Relationship Id="rId4" Type="http://schemas.openxmlformats.org/officeDocument/2006/relationships/hyperlink" Target="https://filezilla-project.org/" TargetMode="External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9.png"/><Relationship Id="rId7" Type="http://schemas.openxmlformats.org/officeDocument/2006/relationships/image" Target="../media/image18.svg"/><Relationship Id="rId2" Type="http://schemas.openxmlformats.org/officeDocument/2006/relationships/hyperlink" Target="https://docs.rc.fas.harvard.edu/kb/sftp-file-transf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7.svg"/><Relationship Id="rId4" Type="http://schemas.openxmlformats.org/officeDocument/2006/relationships/image" Target="../media/image13.png"/><Relationship Id="rId9" Type="http://schemas.openxmlformats.org/officeDocument/2006/relationships/image" Target="../media/image28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9.png"/><Relationship Id="rId7" Type="http://schemas.openxmlformats.org/officeDocument/2006/relationships/image" Target="../media/image18.svg"/><Relationship Id="rId2" Type="http://schemas.openxmlformats.org/officeDocument/2006/relationships/hyperlink" Target="https://docs.rc.fas.harvard.edu/kb/sftp-file-transf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7.svg"/><Relationship Id="rId4" Type="http://schemas.openxmlformats.org/officeDocument/2006/relationships/image" Target="../media/image13.png"/><Relationship Id="rId9" Type="http://schemas.openxmlformats.org/officeDocument/2006/relationships/image" Target="../media/image2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hyperlink" Target="https://docs.rc.fas.harvard.edu/kb/mounting-storage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2.png"/><Relationship Id="rId7" Type="http://schemas.openxmlformats.org/officeDocument/2006/relationships/image" Target="../media/image14.svg"/><Relationship Id="rId2" Type="http://schemas.openxmlformats.org/officeDocument/2006/relationships/hyperlink" Target="https://canvas.harvard.edu/courses/157915/pages/globus-overview-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SOlgZpC9K4?feature=oembed" TargetMode="External"/><Relationship Id="rId4" Type="http://schemas.openxmlformats.org/officeDocument/2006/relationships/hyperlink" Target="https://www.youtube.com/watch?v=YSOlgZpC9K4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anvas.harvard.edu/courses/157915/pages/globus-overview-2" TargetMode="External"/><Relationship Id="rId2" Type="http://schemas.openxmlformats.org/officeDocument/2006/relationships/hyperlink" Target="https://canvas.harvard.edu/courses/157915/pages/globus-how-to-share-with-collaborators?module_item_id=1883742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28.svg"/><Relationship Id="rId9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5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hyperlink" Target="https://upload.wikimedia.org/wikipedia/commons/1/12/Google_Drive_icon_%282020%29.svg" TargetMode="External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5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hyperlink" Target="https://upload.wikimedia.org/wikipedia/commons/1/12/Google_Drive_icon_%282020%29.svg" TargetMode="External"/><Relationship Id="rId10" Type="http://schemas.openxmlformats.org/officeDocument/2006/relationships/image" Target="../media/image18.svg"/><Relationship Id="rId19" Type="http://schemas.openxmlformats.org/officeDocument/2006/relationships/image" Target="../media/image27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remote/remote-overview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rc.fas.harvard.edu/kb/vscode-remote-development-via-ssh-or-tunnel/" TargetMode="Externa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docs.rc.fas.harvard.edu/kb/virtual-desktop/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8677DF-0627-BDC6-9C23-C3EBC33F69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D15E9-D3C5-4D56-EC73-260C90963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09"/>
            <a:ext cx="12192000" cy="120491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Command line 101: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Integrating local and cluster 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930FF-0D52-8019-4787-F80035CF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4103"/>
            <a:ext cx="10668000" cy="257333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Harvard FAS Informatics virtual training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Thursday, February 5, 2026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140393-AEA2-A958-0E1D-DBF9A848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570941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9B39F-034A-8AD7-D24B-1126D90A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163F42-833F-B876-0B1F-89F14C9C6D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9206F-6B5F-8C05-3597-A871427C22F1}"/>
              </a:ext>
            </a:extLst>
          </p:cNvPr>
          <p:cNvSpPr txBox="1"/>
          <p:nvPr/>
        </p:nvSpPr>
        <p:spPr>
          <a:xfrm>
            <a:off x="1173591" y="1382286"/>
            <a:ext cx="9844818" cy="40934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>
                <a:latin typeface="Consolas" panose="020B0609020204030204" pitchFamily="49" charset="0"/>
                <a:ea typeface="Source Sans Pro" panose="020B0503030403020204" pitchFamily="34" charset="0"/>
              </a:rPr>
              <a:t>Topics covered</a:t>
            </a:r>
          </a:p>
          <a:p>
            <a:pPr marL="742950" indent="-742950">
              <a:buAutoNum type="arabicPeriod"/>
            </a:pPr>
            <a:r>
              <a:rPr lang="en-US" sz="3200" dirty="0">
                <a:latin typeface="Consolas" panose="020B0609020204030204" pitchFamily="49" charset="0"/>
                <a:ea typeface="Source Sans Pro" panose="020B0503030403020204" pitchFamily="34" charset="0"/>
              </a:rPr>
              <a:t>Running commands on the cluster</a:t>
            </a:r>
          </a:p>
          <a:p>
            <a:pPr marL="742950" indent="-742950">
              <a:buAutoNum type="arabicPeriod"/>
            </a:pP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marL="742950" indent="-742950">
              <a:buAutoNum type="arabicPeriod"/>
            </a:pPr>
            <a:r>
              <a:rPr lang="en-US" sz="3200" dirty="0">
                <a:latin typeface="Consolas" panose="020B0609020204030204" pitchFamily="49" charset="0"/>
                <a:ea typeface="Source Sans Pro" panose="020B0503030403020204" pitchFamily="34" charset="0"/>
              </a:rPr>
              <a:t>Transferring files to and from the cluster</a:t>
            </a:r>
          </a:p>
          <a:p>
            <a:pPr marL="742950" indent="-742950">
              <a:buAutoNum type="arabicPeriod"/>
            </a:pP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marL="742950" indent="-742950">
              <a:buAutoNum type="arabicPeriod"/>
            </a:pPr>
            <a:r>
              <a:rPr lang="en-US" sz="3200" dirty="0">
                <a:latin typeface="Consolas" panose="020B0609020204030204" pitchFamily="49" charset="0"/>
                <a:ea typeface="Source Sans Pro" panose="020B0503030403020204" pitchFamily="34" charset="0"/>
              </a:rPr>
              <a:t>Viewing and editing files on the cluster</a:t>
            </a:r>
          </a:p>
        </p:txBody>
      </p:sp>
    </p:spTree>
    <p:extLst>
      <p:ext uri="{BB962C8B-B14F-4D97-AF65-F5344CB8AC3E}">
        <p14:creationId xmlns:p14="http://schemas.microsoft.com/office/powerpoint/2010/main" val="11360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FD27-AA88-7F93-E597-9E500F5D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C96D81-84A0-2C8C-F6B6-F83320A980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9AF39F-F0A1-17E8-7E79-568EF55B6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103" y="1905288"/>
            <a:ext cx="5393793" cy="4315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40FF75-3CC8-9187-0CAD-DCF9318FD91E}"/>
              </a:ext>
            </a:extLst>
          </p:cNvPr>
          <p:cNvSpPr txBox="1"/>
          <p:nvPr/>
        </p:nvSpPr>
        <p:spPr>
          <a:xfrm>
            <a:off x="0" y="1258957"/>
            <a:ext cx="1219200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Running commands on the cluster:</a:t>
            </a:r>
          </a:p>
          <a:p>
            <a:pPr algn="ctr"/>
            <a:r>
              <a:rPr lang="en-US" sz="3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Connecting to the cluster with </a:t>
            </a:r>
            <a:r>
              <a:rPr lang="en-US" sz="3600" dirty="0">
                <a:latin typeface="Consolas" panose="020B0609020204030204" pitchFamily="49" charset="0"/>
                <a:ea typeface="Source Sans Pro" panose="020B0503030403020204" pitchFamily="34" charset="0"/>
              </a:rPr>
              <a:t>ssh</a:t>
            </a:r>
          </a:p>
        </p:txBody>
      </p:sp>
    </p:spTree>
    <p:extLst>
      <p:ext uri="{BB962C8B-B14F-4D97-AF65-F5344CB8AC3E}">
        <p14:creationId xmlns:p14="http://schemas.microsoft.com/office/powerpoint/2010/main" val="122867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8EDD-9D42-DC45-A302-CADA3AA8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856D-661B-3705-D151-0212ED91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D5142E-48CF-7C1F-A79B-CBC8616B1CFC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16D58E-B85E-6D89-7243-2E4B38AE5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16F9E81-B602-A95E-3F2C-5CDA7B665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DA77FA8-27A6-7C38-9031-E2ED01C26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716D190-C6AD-4CA2-006A-A0EE1E81D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indent="0" algn="ctr">
              <a:buNone/>
              <a:defRPr/>
            </a:pPr>
            <a:r>
              <a:rPr lang="en-US" sz="2600" dirty="0">
                <a:solidFill>
                  <a:prstClr val="white">
                    <a:lumMod val="95000"/>
                  </a:prstClr>
                </a:solidFill>
                <a:highlight>
                  <a:srgbClr val="000000"/>
                </a:highlight>
                <a:latin typeface="Consolas" panose="020B0609020204030204" pitchFamily="49" charset="0"/>
                <a:ea typeface="+mn-ea"/>
              </a:rPr>
              <a:t>ssh &lt;username&gt;@&lt;server name&gt;</a:t>
            </a: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A61488-EC3D-3527-A316-997ACFF1481B}"/>
              </a:ext>
            </a:extLst>
          </p:cNvPr>
          <p:cNvSpPr/>
          <p:nvPr/>
        </p:nvSpPr>
        <p:spPr>
          <a:xfrm>
            <a:off x="6261342" y="358440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AE80E7-7113-7851-724F-0AFB2EC6DF2F}"/>
              </a:ext>
            </a:extLst>
          </p:cNvPr>
          <p:cNvSpPr/>
          <p:nvPr/>
        </p:nvSpPr>
        <p:spPr>
          <a:xfrm>
            <a:off x="317500" y="3689131"/>
            <a:ext cx="5555155" cy="2585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0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EBCB-F327-2667-6A5A-D652E3EA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078C-BB19-128F-7883-71EE43A7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B5169E-9D95-A043-D3F3-E6BE20FF359E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AAC112-0999-900F-1D3B-8B88AE3BA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A21681-0F28-EEA1-BF87-1995B32C2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7202485-F05A-1CEF-D7DE-4886C7FEE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60DF920-6022-3816-B1B9-36A9E6630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ssh &lt;username&gt;@login.rc.fas.harvard.edu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035A13-1407-163C-E313-D386B4B98C3B}"/>
              </a:ext>
            </a:extLst>
          </p:cNvPr>
          <p:cNvSpPr/>
          <p:nvPr/>
        </p:nvSpPr>
        <p:spPr>
          <a:xfrm>
            <a:off x="6261342" y="358440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4EAAB-D141-AE71-EDEC-2BA733E567C7}"/>
              </a:ext>
            </a:extLst>
          </p:cNvPr>
          <p:cNvSpPr/>
          <p:nvPr/>
        </p:nvSpPr>
        <p:spPr>
          <a:xfrm>
            <a:off x="317500" y="3689131"/>
            <a:ext cx="5555155" cy="2585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0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4849-5803-5748-1EBE-A1BECFD1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F3EE-B2CA-A443-942C-435A1E0D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3CA5676-658D-544C-F61A-AB562F04E30A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C5473F9-A218-96FF-69BC-D95D82E94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2FF4009-3C4B-EE81-2EB7-1D0E7F24B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00B2669-7ECC-09AE-0EA4-6D3B99DDF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0388D8A-7703-66E9-46BA-A4CF98F05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Source Sans Pro" panose="020B0503030403020204" pitchFamily="34" charset="0"/>
                <a:cs typeface="+mn-cs"/>
              </a:rPr>
              <a:t>ssh &lt;username&gt;@login.rc.fas.harvard.edu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Source Sans Pro" panose="020B0503030403020204" pitchFamily="34" charset="0"/>
              <a:cs typeface="+mn-cs"/>
            </a:endParaRP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7F9BEB-5B21-DD09-4EDD-D23816003471}"/>
              </a:ext>
            </a:extLst>
          </p:cNvPr>
          <p:cNvSpPr/>
          <p:nvPr/>
        </p:nvSpPr>
        <p:spPr>
          <a:xfrm>
            <a:off x="6233951" y="484564"/>
            <a:ext cx="5850318" cy="745146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77A87-A101-D546-CDD4-32BD19FBEA0A}"/>
              </a:ext>
            </a:extLst>
          </p:cNvPr>
          <p:cNvSpPr/>
          <p:nvPr/>
        </p:nvSpPr>
        <p:spPr>
          <a:xfrm>
            <a:off x="317500" y="5155324"/>
            <a:ext cx="5342321" cy="1119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2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687F-82E1-C8BE-D3A9-4290383B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C2F4-1D12-7BAB-5D5F-28731A73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270401-4287-8135-37EC-12D01EF6ACB8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9A253C-ED1B-31A3-9D46-24709499B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4D88F8-4982-7EE4-E3C8-3E57B917D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C5B6C31-823F-AE3E-8480-25BC567B3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2EDA57C-49AE-BBE2-CE9D-A5F310850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Source Sans Pro" panose="020B0503030403020204" pitchFamily="34" charset="0"/>
                <a:cs typeface="+mn-cs"/>
              </a:rPr>
              <a:t>ssh &lt;username&gt;@login.rc.fas.harvard.edu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Source Sans Pro" panose="020B0503030403020204" pitchFamily="34" charset="0"/>
              <a:cs typeface="+mn-cs"/>
            </a:endParaRP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45D073-AA96-B70A-E7DE-6E2919D8957A}"/>
              </a:ext>
            </a:extLst>
          </p:cNvPr>
          <p:cNvSpPr/>
          <p:nvPr/>
        </p:nvSpPr>
        <p:spPr>
          <a:xfrm>
            <a:off x="6233952" y="1115185"/>
            <a:ext cx="3375131" cy="343125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5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699E-B2C8-3AFD-BD0A-929AA477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EDC1-43D6-BECA-F1CE-B5592568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BA56DA-F4DA-A535-745E-057CAD81A469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DD0528-66FA-AC4F-9A82-8066ED072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E6441A-0054-18DB-8CDD-2A3434A3B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D1C940D-DA90-F44B-5A04-2119182CC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9B46E9-8CC7-B71A-3919-032FFD4D8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Cannon displays an informative welcome message.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0DE28F-609E-4B5F-1D1C-5C93A0B944B9}"/>
              </a:ext>
            </a:extLst>
          </p:cNvPr>
          <p:cNvSpPr/>
          <p:nvPr/>
        </p:nvSpPr>
        <p:spPr>
          <a:xfrm>
            <a:off x="6181004" y="1404031"/>
            <a:ext cx="4247886" cy="4988437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23F8-23AD-77CB-F86B-AA89036E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2E84-97B9-84B9-04CD-C86CBB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869B80-6503-29F3-E3BD-66CA9C71104F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964529-A256-DC68-9830-0E749BE82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02CB478-57AB-BD1D-26D1-35DC3D2CE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CDBC44-8206-91E8-0FFC-CD7B91B38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A11DE9E-DC37-84FD-F2B4-959D81914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Cannon displays an informative welcome message.</a:t>
            </a:r>
          </a:p>
          <a:p>
            <a:endParaRPr lang="en-US" dirty="0"/>
          </a:p>
          <a:p>
            <a:r>
              <a:rPr lang="en-US" dirty="0"/>
              <a:t>But you will mostly know you are connected to a server by the changes to the prompt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0BCFCC-4B82-96D3-92D4-4C19BAECDE32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472892" y="528145"/>
            <a:ext cx="824118" cy="73932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E18ABC-CBD3-F58D-E9EE-AF1DE4F37F91}"/>
              </a:ext>
            </a:extLst>
          </p:cNvPr>
          <p:cNvSpPr txBox="1"/>
          <p:nvPr/>
        </p:nvSpPr>
        <p:spPr>
          <a:xfrm>
            <a:off x="4558942" y="1267468"/>
            <a:ext cx="18279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user name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BF947D-4D70-C964-C08A-A7C855E4A2C8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6813394" y="528145"/>
            <a:ext cx="428109" cy="129748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6D9C85-C60C-BD61-A81C-C04694ADCF38}"/>
              </a:ext>
            </a:extLst>
          </p:cNvPr>
          <p:cNvSpPr txBox="1"/>
          <p:nvPr/>
        </p:nvSpPr>
        <p:spPr>
          <a:xfrm>
            <a:off x="6327553" y="1825625"/>
            <a:ext cx="18279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computer (host) name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93A32F-96D3-DF30-1601-8482411840D6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027448" y="465083"/>
            <a:ext cx="1482094" cy="648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3FA358B-CBD9-66DF-BFBE-3F4C66E630EE}"/>
              </a:ext>
            </a:extLst>
          </p:cNvPr>
          <p:cNvSpPr txBox="1"/>
          <p:nvPr/>
        </p:nvSpPr>
        <p:spPr>
          <a:xfrm>
            <a:off x="8509542" y="652264"/>
            <a:ext cx="18279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working directory</a:t>
            </a:r>
          </a:p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(in many shells, </a:t>
            </a:r>
            <a:r>
              <a:rPr lang="en-US" sz="9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531B96-F898-3201-ACBC-962C74D174F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369973" y="6375408"/>
            <a:ext cx="957580" cy="9070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041FB51-B1A8-53E6-AC2A-4C7D813AE4FB}"/>
              </a:ext>
            </a:extLst>
          </p:cNvPr>
          <p:cNvSpPr txBox="1"/>
          <p:nvPr/>
        </p:nvSpPr>
        <p:spPr>
          <a:xfrm>
            <a:off x="3318726" y="6190742"/>
            <a:ext cx="205124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user name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22991F-9042-B3E8-EC1D-3708F4D7973E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6473916" y="5789586"/>
            <a:ext cx="610172" cy="60288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881FED2-9ACC-34B4-F4AC-9574EBD87A57}"/>
              </a:ext>
            </a:extLst>
          </p:cNvPr>
          <p:cNvSpPr txBox="1"/>
          <p:nvPr/>
        </p:nvSpPr>
        <p:spPr>
          <a:xfrm>
            <a:off x="5490297" y="5143255"/>
            <a:ext cx="1967237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computer (host) name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6D26356-7A6F-BA91-8F6A-34C8E0ADFD57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7565108" y="5604920"/>
            <a:ext cx="664668" cy="81073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793C433-07CE-A876-613E-FB40B1BE421E}"/>
              </a:ext>
            </a:extLst>
          </p:cNvPr>
          <p:cNvSpPr txBox="1"/>
          <p:nvPr/>
        </p:nvSpPr>
        <p:spPr>
          <a:xfrm>
            <a:off x="8229776" y="5143255"/>
            <a:ext cx="18279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working directory</a:t>
            </a:r>
          </a:p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(in many shells, </a:t>
            </a:r>
            <a:r>
              <a:rPr lang="en-US" sz="9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directory)</a:t>
            </a:r>
          </a:p>
        </p:txBody>
      </p:sp>
    </p:spTree>
    <p:extLst>
      <p:ext uri="{BB962C8B-B14F-4D97-AF65-F5344CB8AC3E}">
        <p14:creationId xmlns:p14="http://schemas.microsoft.com/office/powerpoint/2010/main" val="71858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F39C-3CDE-D799-B316-11D1C030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CA697CB-DAFA-25C5-CD14-DD59129FB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018" y="0"/>
            <a:ext cx="628198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7B049-5408-B5E7-2B8C-FF3F1FEB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How to connect to a particular login node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CBCAE4-AAD2-7993-8AFC-891B87F91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&lt;username&gt;@login.rc.fas.harvard.edu</a:t>
            </a:r>
            <a:endParaRPr lang="en-US" sz="1400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&lt;username&gt;@&lt;login node name&gt;.rc.fas.harvard.edu</a:t>
            </a:r>
            <a:endParaRPr lang="en-US" sz="14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519009-705E-0D7A-85DE-FCFD961F2544}"/>
              </a:ext>
            </a:extLst>
          </p:cNvPr>
          <p:cNvSpPr/>
          <p:nvPr/>
        </p:nvSpPr>
        <p:spPr>
          <a:xfrm>
            <a:off x="6521646" y="325068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B5A368A-A594-A26A-7871-1D2F45E9EEA2}"/>
              </a:ext>
            </a:extLst>
          </p:cNvPr>
          <p:cNvSpPr/>
          <p:nvPr/>
        </p:nvSpPr>
        <p:spPr>
          <a:xfrm>
            <a:off x="3206750" y="3604164"/>
            <a:ext cx="166861" cy="7942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B53040-076A-0699-E4CC-6FCA9187CB13}"/>
              </a:ext>
            </a:extLst>
          </p:cNvPr>
          <p:cNvSpPr/>
          <p:nvPr/>
        </p:nvSpPr>
        <p:spPr>
          <a:xfrm>
            <a:off x="2135418" y="4588930"/>
            <a:ext cx="1715741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21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0A4E-5159-5212-7837-C0B685B2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A66FCA-18EA-C955-10DC-95D72774F9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CD130-9E34-3318-E4AC-2BB492044585}"/>
              </a:ext>
            </a:extLst>
          </p:cNvPr>
          <p:cNvSpPr txBox="1"/>
          <p:nvPr/>
        </p:nvSpPr>
        <p:spPr>
          <a:xfrm>
            <a:off x="0" y="1674048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Transferring files to and from the cluster</a:t>
            </a:r>
            <a:endParaRPr lang="en-US" sz="36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4A28F-1B98-8685-6E1B-A19B141F7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314" y="2320379"/>
            <a:ext cx="4427372" cy="325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80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3447-E87F-4FBC-A2BD-A2C4DC82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43" y="70508"/>
            <a:ext cx="10515600" cy="1325563"/>
          </a:xfrm>
        </p:spPr>
        <p:txBody>
          <a:bodyPr/>
          <a:lstStyle/>
          <a:p>
            <a:r>
              <a:rPr lang="en-US" dirty="0"/>
              <a:t>Cluster file system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A9CB-F6CB-D9B1-18D8-A0AF19BCA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9622" y="1579122"/>
            <a:ext cx="6609907" cy="48606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Home directory aka the login node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$HOME</a:t>
            </a:r>
          </a:p>
          <a:p>
            <a:pPr lvl="1"/>
            <a:r>
              <a:rPr lang="en-US" dirty="0"/>
              <a:t>100 GB limit</a:t>
            </a:r>
          </a:p>
          <a:p>
            <a:pPr lvl="1"/>
            <a:r>
              <a:rPr lang="en-US" dirty="0"/>
              <a:t>Should not be used for compute</a:t>
            </a:r>
          </a:p>
          <a:p>
            <a:r>
              <a:rPr lang="en-US" dirty="0"/>
              <a:t>Scratch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/n/netscratch/</a:t>
            </a:r>
            <a:r>
              <a:rPr lang="en-US" dirty="0" err="1">
                <a:latin typeface="Consolas" panose="020B0609020204030204" pitchFamily="49" charset="0"/>
              </a:rPr>
              <a:t>pi_lab</a:t>
            </a:r>
            <a:r>
              <a:rPr lang="en-US" dirty="0">
                <a:latin typeface="Consolas" panose="020B0609020204030204" pitchFamily="49" charset="0"/>
              </a:rPr>
              <a:t>/</a:t>
            </a:r>
          </a:p>
          <a:p>
            <a:pPr lvl="1"/>
            <a:r>
              <a:rPr lang="en-US" dirty="0"/>
              <a:t>No size limit</a:t>
            </a:r>
          </a:p>
          <a:p>
            <a:pPr lvl="1"/>
            <a:r>
              <a:rPr lang="en-US" dirty="0"/>
              <a:t>90 day retention: files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DELETED</a:t>
            </a:r>
            <a:r>
              <a:rPr lang="en-US" dirty="0"/>
              <a:t> after 90 days</a:t>
            </a:r>
          </a:p>
          <a:p>
            <a:pPr lvl="1"/>
            <a:r>
              <a:rPr lang="en-US" dirty="0"/>
              <a:t>Used for compute</a:t>
            </a:r>
          </a:p>
          <a:p>
            <a:r>
              <a:rPr lang="en-US" dirty="0"/>
              <a:t>Lab directory</a:t>
            </a:r>
          </a:p>
          <a:p>
            <a:pPr lvl="1"/>
            <a:r>
              <a:rPr lang="en-US" dirty="0"/>
              <a:t>Path varies</a:t>
            </a:r>
          </a:p>
          <a:p>
            <a:pPr lvl="1"/>
            <a:r>
              <a:rPr lang="en-US" dirty="0"/>
              <a:t>Size limit based on what’s purchased</a:t>
            </a:r>
          </a:p>
          <a:p>
            <a:pPr lvl="1"/>
            <a:r>
              <a:rPr lang="en-US" dirty="0"/>
              <a:t>General storage</a:t>
            </a:r>
          </a:p>
          <a:p>
            <a:endParaRPr lang="en-US" dirty="0"/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5584152-F83C-CBE0-E916-D30CAD5EC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833" y="1323578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A700282-0D53-CD97-178F-A4ABB254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377" y="2999235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F085ECC-D18C-2A8A-51B5-E3AF7771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833" y="4595891"/>
            <a:ext cx="1596656" cy="159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3A3E544-F24F-7658-DEDF-A5061971F067}"/>
              </a:ext>
            </a:extLst>
          </p:cNvPr>
          <p:cNvSpPr txBox="1"/>
          <p:nvPr/>
        </p:nvSpPr>
        <p:spPr>
          <a:xfrm>
            <a:off x="2636911" y="2058954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ea typeface="Source Sans Pro" panose="020B0503030403020204" pitchFamily="34" charset="0"/>
              </a:rPr>
              <a:t>$HOME</a:t>
            </a: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300B88-1108-93B1-B0ED-F6F20D69EC07}"/>
              </a:ext>
            </a:extLst>
          </p:cNvPr>
          <p:cNvSpPr txBox="1"/>
          <p:nvPr/>
        </p:nvSpPr>
        <p:spPr>
          <a:xfrm>
            <a:off x="2569793" y="3704306"/>
            <a:ext cx="1093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ea typeface="Source Sans Pro" panose="020B0503030403020204" pitchFamily="34" charset="0"/>
              </a:rPr>
              <a:t>$SCRATCH</a:t>
            </a: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8AA8CE-394F-1ACA-9F5C-B338C13A9277}"/>
              </a:ext>
            </a:extLst>
          </p:cNvPr>
          <p:cNvSpPr txBox="1"/>
          <p:nvPr/>
        </p:nvSpPr>
        <p:spPr>
          <a:xfrm>
            <a:off x="2515641" y="5300962"/>
            <a:ext cx="1195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ea typeface="Source Sans Pro" panose="020B0503030403020204" pitchFamily="34" charset="0"/>
              </a:rPr>
              <a:t>&lt;pi&gt;_lab/</a:t>
            </a: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400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5220-BBD4-172B-7E55-1B2E60F2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6F0813A-EE87-DD52-A73C-90A26B680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867" y="2728456"/>
            <a:ext cx="1401087" cy="140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0EF926B-FF5E-4159-6EC4-BA00D62C5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867" y="3957430"/>
            <a:ext cx="1401087" cy="140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DBEE91A-2693-57F7-9FE4-AF760846D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867" y="5186404"/>
            <a:ext cx="1401087" cy="140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F3A780-E206-D81D-621B-07400DF14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43" y="70508"/>
            <a:ext cx="10515600" cy="1325563"/>
          </a:xfrm>
        </p:spPr>
        <p:txBody>
          <a:bodyPr/>
          <a:lstStyle/>
          <a:p>
            <a:r>
              <a:rPr lang="en-US" dirty="0"/>
              <a:t>Cluster file system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3FC8E-B555-AD6F-D281-1E60F0110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9622" y="1579122"/>
            <a:ext cx="6609907" cy="48606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Home directory aka the login node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$HOME</a:t>
            </a:r>
          </a:p>
          <a:p>
            <a:pPr lvl="1"/>
            <a:r>
              <a:rPr lang="en-US" dirty="0"/>
              <a:t>100 GB limit</a:t>
            </a:r>
          </a:p>
          <a:p>
            <a:pPr lvl="1"/>
            <a:r>
              <a:rPr lang="en-US" dirty="0"/>
              <a:t>Should not be used for compute</a:t>
            </a:r>
          </a:p>
          <a:p>
            <a:r>
              <a:rPr lang="en-US" dirty="0"/>
              <a:t>Scratch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/n/netscratch/</a:t>
            </a:r>
            <a:r>
              <a:rPr lang="en-US" dirty="0" err="1">
                <a:latin typeface="Consolas" panose="020B0609020204030204" pitchFamily="49" charset="0"/>
              </a:rPr>
              <a:t>pi_lab</a:t>
            </a:r>
            <a:r>
              <a:rPr lang="en-US" dirty="0">
                <a:latin typeface="Consolas" panose="020B0609020204030204" pitchFamily="49" charset="0"/>
              </a:rPr>
              <a:t>/</a:t>
            </a:r>
          </a:p>
          <a:p>
            <a:pPr lvl="1"/>
            <a:r>
              <a:rPr lang="en-US" dirty="0"/>
              <a:t>No size limit</a:t>
            </a:r>
          </a:p>
          <a:p>
            <a:pPr lvl="1"/>
            <a:r>
              <a:rPr lang="en-US" dirty="0"/>
              <a:t>90 day retention: files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DELETED</a:t>
            </a:r>
            <a:r>
              <a:rPr lang="en-US" dirty="0"/>
              <a:t> after 90 days</a:t>
            </a:r>
          </a:p>
          <a:p>
            <a:pPr lvl="1"/>
            <a:r>
              <a:rPr lang="en-US" dirty="0"/>
              <a:t>Used for compute</a:t>
            </a:r>
          </a:p>
          <a:p>
            <a:r>
              <a:rPr lang="en-US" dirty="0"/>
              <a:t>Lab directory</a:t>
            </a:r>
          </a:p>
          <a:p>
            <a:pPr lvl="1"/>
            <a:r>
              <a:rPr lang="en-US" dirty="0"/>
              <a:t>Path varies</a:t>
            </a:r>
          </a:p>
          <a:p>
            <a:pPr lvl="1"/>
            <a:r>
              <a:rPr lang="en-US" dirty="0"/>
              <a:t>Size limit based on what’s purchased</a:t>
            </a:r>
          </a:p>
          <a:p>
            <a:pPr lvl="1"/>
            <a:r>
              <a:rPr lang="en-US" dirty="0"/>
              <a:t>General storage</a:t>
            </a:r>
          </a:p>
          <a:p>
            <a:r>
              <a:rPr lang="en-US" dirty="0">
                <a:highlight>
                  <a:srgbClr val="FFFF00"/>
                </a:highlight>
              </a:rPr>
              <a:t>Tape Storage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archival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size limit based on what’s purchased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235DA92-E34E-C0C4-B760-6F1595B5E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468" y="1561565"/>
            <a:ext cx="1401087" cy="140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59F67C9-FC06-9A5E-4596-BA8C38F098A2}"/>
              </a:ext>
            </a:extLst>
          </p:cNvPr>
          <p:cNvSpPr txBox="1"/>
          <p:nvPr/>
        </p:nvSpPr>
        <p:spPr>
          <a:xfrm>
            <a:off x="3073761" y="2188352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ea typeface="Source Sans Pro" panose="020B0503030403020204" pitchFamily="34" charset="0"/>
              </a:rPr>
              <a:t>$HOME</a:t>
            </a: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928C7C-CC8A-E85B-192D-D24B52A5A16B}"/>
              </a:ext>
            </a:extLst>
          </p:cNvPr>
          <p:cNvSpPr txBox="1"/>
          <p:nvPr/>
        </p:nvSpPr>
        <p:spPr>
          <a:xfrm>
            <a:off x="3042498" y="3321805"/>
            <a:ext cx="1093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ea typeface="Source Sans Pro" panose="020B0503030403020204" pitchFamily="34" charset="0"/>
              </a:rPr>
              <a:t>$SCRATCH</a:t>
            </a: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3FB7A3-7680-0CBA-498A-EECB0B834474}"/>
              </a:ext>
            </a:extLst>
          </p:cNvPr>
          <p:cNvSpPr txBox="1"/>
          <p:nvPr/>
        </p:nvSpPr>
        <p:spPr>
          <a:xfrm>
            <a:off x="2991890" y="4547943"/>
            <a:ext cx="1195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ea typeface="Source Sans Pro" panose="020B0503030403020204" pitchFamily="34" charset="0"/>
              </a:rPr>
              <a:t>&lt;pi&gt;_lab/</a:t>
            </a: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3BD0C-7759-D601-B130-BE98EB428E9C}"/>
              </a:ext>
            </a:extLst>
          </p:cNvPr>
          <p:cNvSpPr txBox="1"/>
          <p:nvPr/>
        </p:nvSpPr>
        <p:spPr>
          <a:xfrm>
            <a:off x="2952491" y="5774081"/>
            <a:ext cx="1195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Tape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769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1837-9F51-0DDB-C3C7-86BE03B9D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47" y="118091"/>
            <a:ext cx="10515600" cy="1325563"/>
          </a:xfrm>
        </p:spPr>
        <p:txBody>
          <a:bodyPr/>
          <a:lstStyle/>
          <a:p>
            <a:r>
              <a:rPr lang="en-US" dirty="0"/>
              <a:t>Cluster file system review -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7311-25E2-5ABB-3AC2-72B6FC6F4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7012" y="1411942"/>
            <a:ext cx="5006788" cy="5217458"/>
          </a:xfrm>
        </p:spPr>
        <p:txBody>
          <a:bodyPr>
            <a:normAutofit lnSpcReduction="10000"/>
          </a:bodyPr>
          <a:lstStyle/>
          <a:p>
            <a:r>
              <a:rPr lang="en-US"/>
              <a:t>Lab</a:t>
            </a:r>
          </a:p>
          <a:p>
            <a:pPr lvl="1"/>
            <a:r>
              <a:rPr lang="en-US"/>
              <a:t>Only people in your lab can read or write to this folder</a:t>
            </a:r>
          </a:p>
          <a:p>
            <a:r>
              <a:rPr lang="en-US"/>
              <a:t>Everyone</a:t>
            </a:r>
          </a:p>
          <a:p>
            <a:pPr lvl="1"/>
            <a:r>
              <a:rPr lang="en-US"/>
              <a:t>Everyone on the cluster can read/write to this folder</a:t>
            </a:r>
          </a:p>
          <a:p>
            <a:r>
              <a:rPr lang="en-US"/>
              <a:t>User</a:t>
            </a:r>
          </a:p>
          <a:p>
            <a:pPr lvl="1"/>
            <a:r>
              <a:rPr lang="en-US"/>
              <a:t>Only specific users can read/write here</a:t>
            </a:r>
          </a:p>
          <a:p>
            <a:pPr lvl="1"/>
            <a:r>
              <a:rPr lang="en-US"/>
              <a:t>Deprecated, don’t use!</a:t>
            </a:r>
          </a:p>
          <a:p>
            <a:r>
              <a:rPr lang="en-US"/>
              <a:t>In general, you can’t modify/delete/move files created by someone else</a:t>
            </a:r>
          </a:p>
        </p:txBody>
      </p:sp>
      <p:pic>
        <p:nvPicPr>
          <p:cNvPr id="1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477DEA3-3738-928C-9AD7-F93AD3F6E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524" y="1566418"/>
            <a:ext cx="1143387" cy="114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E8F82B-EE8E-2D6E-5690-049AB53122FD}"/>
              </a:ext>
            </a:extLst>
          </p:cNvPr>
          <p:cNvSpPr txBox="1"/>
          <p:nvPr/>
        </p:nvSpPr>
        <p:spPr>
          <a:xfrm>
            <a:off x="1684153" y="2079665"/>
            <a:ext cx="1196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onsolas" panose="020B0609020204030204" pitchFamily="49" charset="0"/>
                <a:ea typeface="Source Sans Pro" panose="020B0503030403020204" pitchFamily="34" charset="0"/>
              </a:rPr>
              <a:t>&lt;pi&gt;_lab/</a:t>
            </a:r>
            <a:endParaRPr lang="en-US" sz="2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1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1E64BD7-6910-E452-E735-292DA9594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054" y="308356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3E0B2B8-885D-C0A5-646F-DC85ED02748B}"/>
              </a:ext>
            </a:extLst>
          </p:cNvPr>
          <p:cNvSpPr txBox="1"/>
          <p:nvPr/>
        </p:nvSpPr>
        <p:spPr>
          <a:xfrm>
            <a:off x="1638170" y="3490203"/>
            <a:ext cx="11846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onsolas" panose="020B0609020204030204" pitchFamily="49" charset="0"/>
                <a:ea typeface="Source Sans Pro" panose="020B0503030403020204" pitchFamily="34" charset="0"/>
              </a:rPr>
              <a:t>Everyone/</a:t>
            </a:r>
            <a:endParaRPr lang="en-US" sz="20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1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1DECB93-F429-4C44-1D1B-74F01FE4F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174" y="3157118"/>
            <a:ext cx="952499" cy="9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715DB2-F657-6B38-E616-8B2F22F06CFC}"/>
              </a:ext>
            </a:extLst>
          </p:cNvPr>
          <p:cNvSpPr txBox="1"/>
          <p:nvPr/>
        </p:nvSpPr>
        <p:spPr>
          <a:xfrm>
            <a:off x="3317576" y="3517281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User</a:t>
            </a:r>
            <a:r>
              <a:rPr lang="en-US" sz="1600" dirty="0">
                <a:latin typeface="Consolas" panose="020B0609020204030204" pitchFamily="49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2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85F2C09-43A7-F1CF-0D86-9B7DA1F8E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24" y="3112414"/>
            <a:ext cx="894810" cy="894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04598BF-A2DF-8B9E-4BB6-177B083D8744}"/>
              </a:ext>
            </a:extLst>
          </p:cNvPr>
          <p:cNvSpPr txBox="1"/>
          <p:nvPr/>
        </p:nvSpPr>
        <p:spPr>
          <a:xfrm>
            <a:off x="239537" y="3460054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ea typeface="Source Sans Pro" panose="020B0503030403020204" pitchFamily="34" charset="0"/>
              </a:rPr>
              <a:t>Lab/</a:t>
            </a:r>
            <a:endParaRPr lang="en-US" sz="3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093B80-2144-69FA-6F5F-AE244F14E25F}"/>
              </a:ext>
            </a:extLst>
          </p:cNvPr>
          <p:cNvCxnSpPr>
            <a:cxnSpLocks/>
          </p:cNvCxnSpPr>
          <p:nvPr/>
        </p:nvCxnSpPr>
        <p:spPr>
          <a:xfrm flipH="1" flipV="1">
            <a:off x="2214304" y="2641152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B9A47B-E495-D8FE-DE9F-5F4E3D09258D}"/>
              </a:ext>
            </a:extLst>
          </p:cNvPr>
          <p:cNvCxnSpPr>
            <a:cxnSpLocks/>
          </p:cNvCxnSpPr>
          <p:nvPr/>
        </p:nvCxnSpPr>
        <p:spPr>
          <a:xfrm flipV="1">
            <a:off x="1149492" y="269584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7B3D2E-5BB7-0659-AD81-33F33C343CF2}"/>
              </a:ext>
            </a:extLst>
          </p:cNvPr>
          <p:cNvCxnSpPr>
            <a:cxnSpLocks/>
          </p:cNvCxnSpPr>
          <p:nvPr/>
        </p:nvCxnSpPr>
        <p:spPr>
          <a:xfrm>
            <a:off x="2758385" y="269418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37DB029-33E0-FBBA-7FCF-A972DA4E4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91" y="4260533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4E0177A-8F0E-C34F-CD01-4E1739D0D599}"/>
              </a:ext>
            </a:extLst>
          </p:cNvPr>
          <p:cNvSpPr txBox="1"/>
          <p:nvPr/>
        </p:nvSpPr>
        <p:spPr>
          <a:xfrm>
            <a:off x="3863593" y="4362058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Consolas" panose="020B0609020204030204" pitchFamily="49" charset="0"/>
                <a:ea typeface="Source Sans Pro" panose="020B0503030403020204" pitchFamily="34" charset="0"/>
              </a:rPr>
              <a:t>lei/</a:t>
            </a:r>
            <a:endParaRPr lang="en-US" sz="12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37AD7D-1206-7E1A-5453-2E068F2401A9}"/>
              </a:ext>
            </a:extLst>
          </p:cNvPr>
          <p:cNvCxnSpPr>
            <a:cxnSpLocks/>
          </p:cNvCxnSpPr>
          <p:nvPr/>
        </p:nvCxnSpPr>
        <p:spPr>
          <a:xfrm>
            <a:off x="3939549" y="4034442"/>
            <a:ext cx="281924" cy="2772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6C9D7B6-3FF4-B472-62F4-D481E3860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165" y="4336145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E914F46-D751-E32F-AFA3-14DC1C7DC0EF}"/>
              </a:ext>
            </a:extLst>
          </p:cNvPr>
          <p:cNvCxnSpPr>
            <a:cxnSpLocks/>
          </p:cNvCxnSpPr>
          <p:nvPr/>
        </p:nvCxnSpPr>
        <p:spPr>
          <a:xfrm flipV="1">
            <a:off x="1842964" y="3963217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5775910-D78C-BCAC-3E98-145705519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8" y="4362058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E90098A-4F81-050F-DDE9-466D7AB2D648}"/>
              </a:ext>
            </a:extLst>
          </p:cNvPr>
          <p:cNvCxnSpPr>
            <a:cxnSpLocks/>
          </p:cNvCxnSpPr>
          <p:nvPr/>
        </p:nvCxnSpPr>
        <p:spPr>
          <a:xfrm flipV="1">
            <a:off x="408971" y="3968428"/>
            <a:ext cx="325496" cy="499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4F88807-BEF1-BC70-CEA8-72EC171B0C82}"/>
              </a:ext>
            </a:extLst>
          </p:cNvPr>
          <p:cNvSpPr txBox="1"/>
          <p:nvPr/>
        </p:nvSpPr>
        <p:spPr>
          <a:xfrm>
            <a:off x="-74049" y="4676925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onsolas" panose="020B0609020204030204" pitchFamily="49" charset="0"/>
                <a:ea typeface="Source Sans Pro" panose="020B0503030403020204" pitchFamily="34" charset="0"/>
              </a:rPr>
              <a:t>projectA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4865BD-55A1-6C59-FC33-F6D5AA22D0E4}"/>
              </a:ext>
            </a:extLst>
          </p:cNvPr>
          <p:cNvSpPr txBox="1"/>
          <p:nvPr/>
        </p:nvSpPr>
        <p:spPr>
          <a:xfrm>
            <a:off x="1308790" y="4673152"/>
            <a:ext cx="952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onsolas" panose="020B0609020204030204" pitchFamily="49" charset="0"/>
                <a:ea typeface="Source Sans Pro" panose="020B0503030403020204" pitchFamily="34" charset="0"/>
              </a:rPr>
              <a:t>ProjectB</a:t>
            </a:r>
          </a:p>
        </p:txBody>
      </p:sp>
      <p:pic>
        <p:nvPicPr>
          <p:cNvPr id="46" name="Graphic 45" descr="Paper outline">
            <a:extLst>
              <a:ext uri="{FF2B5EF4-FFF2-40B4-BE49-F238E27FC236}">
                <a16:creationId xmlns:a16="http://schemas.microsoft.com/office/drawing/2014/main" id="{958AC6A8-DE16-06BF-37F8-BAC2BA0A4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5892" y="5825509"/>
            <a:ext cx="914400" cy="9144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FE4BADB-EEF0-493D-DED6-742ED58173F7}"/>
              </a:ext>
            </a:extLst>
          </p:cNvPr>
          <p:cNvSpPr txBox="1"/>
          <p:nvPr/>
        </p:nvSpPr>
        <p:spPr>
          <a:xfrm>
            <a:off x="173136" y="630535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93EDA8-6E05-06C6-2145-402D01CEA386}"/>
              </a:ext>
            </a:extLst>
          </p:cNvPr>
          <p:cNvCxnSpPr>
            <a:cxnSpLocks/>
          </p:cNvCxnSpPr>
          <p:nvPr/>
        </p:nvCxnSpPr>
        <p:spPr>
          <a:xfrm flipV="1">
            <a:off x="255494" y="5118702"/>
            <a:ext cx="226237" cy="622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BE5C159-B721-C77B-DE89-3050A2CD8914}"/>
              </a:ext>
            </a:extLst>
          </p:cNvPr>
          <p:cNvCxnSpPr>
            <a:cxnSpLocks/>
          </p:cNvCxnSpPr>
          <p:nvPr/>
        </p:nvCxnSpPr>
        <p:spPr>
          <a:xfrm flipH="1" flipV="1">
            <a:off x="723423" y="5134125"/>
            <a:ext cx="664742" cy="65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Graphic 51" descr="Paper outline">
            <a:extLst>
              <a:ext uri="{FF2B5EF4-FFF2-40B4-BE49-F238E27FC236}">
                <a16:creationId xmlns:a16="http://schemas.microsoft.com/office/drawing/2014/main" id="{4A0A34BC-C26E-DD7F-963D-C4BE49C90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571" y="5819538"/>
            <a:ext cx="914400" cy="9144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529C88D-916C-A6B8-CFE5-4975504A0707}"/>
              </a:ext>
            </a:extLst>
          </p:cNvPr>
          <p:cNvSpPr txBox="1"/>
          <p:nvPr/>
        </p:nvSpPr>
        <p:spPr>
          <a:xfrm>
            <a:off x="1177307" y="631653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723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7CC9-D142-C75F-1F29-1B11259A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1E15CACF-2DF7-5EE0-4351-67E9AA6524BB}"/>
              </a:ext>
            </a:extLst>
          </p:cNvPr>
          <p:cNvSpPr txBox="1"/>
          <p:nvPr/>
        </p:nvSpPr>
        <p:spPr>
          <a:xfrm>
            <a:off x="1846904" y="376195"/>
            <a:ext cx="7696772" cy="3763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Cluster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07625A-F82D-3A68-095C-012988F56174}"/>
              </a:ext>
            </a:extLst>
          </p:cNvPr>
          <p:cNvSpPr txBox="1"/>
          <p:nvPr/>
        </p:nvSpPr>
        <p:spPr>
          <a:xfrm>
            <a:off x="6741105" y="5321409"/>
            <a:ext cx="3543820" cy="376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Cloud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6EA0E-9FF5-CB94-5B4F-35406C767D71}"/>
              </a:ext>
            </a:extLst>
          </p:cNvPr>
          <p:cNvSpPr txBox="1"/>
          <p:nvPr/>
        </p:nvSpPr>
        <p:spPr>
          <a:xfrm>
            <a:off x="1093817" y="5888425"/>
            <a:ext cx="3543820" cy="3763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E2382C-2EA8-110A-FABF-7E9CB141A6C0}"/>
              </a:ext>
            </a:extLst>
          </p:cNvPr>
          <p:cNvGrpSpPr/>
          <p:nvPr/>
        </p:nvGrpSpPr>
        <p:grpSpPr>
          <a:xfrm>
            <a:off x="2361335" y="800326"/>
            <a:ext cx="1255728" cy="1283732"/>
            <a:chOff x="3032551" y="387638"/>
            <a:chExt cx="1255728" cy="1283732"/>
          </a:xfrm>
        </p:grpSpPr>
        <p:pic>
          <p:nvPicPr>
            <p:cNvPr id="9" name="Graphic 8" descr="Server with solid fill">
              <a:extLst>
                <a:ext uri="{FF2B5EF4-FFF2-40B4-BE49-F238E27FC236}">
                  <a16:creationId xmlns:a16="http://schemas.microsoft.com/office/drawing/2014/main" id="{DFA7ABB9-626E-4241-8021-B4F29F8CC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FE05A3-843F-6BE3-5B38-80E7DD9537BC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CA1BA31-8167-FB06-DFAD-99638F066450}"/>
              </a:ext>
            </a:extLst>
          </p:cNvPr>
          <p:cNvGrpSpPr/>
          <p:nvPr/>
        </p:nvGrpSpPr>
        <p:grpSpPr>
          <a:xfrm>
            <a:off x="5200283" y="800326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CEEFCB1A-7832-9841-626A-D25262C96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6F6E77-8BD6-CDBE-F42A-01D48303E77D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B41D0C0-34F2-CCC7-7BED-3AC8D6975EC5}"/>
              </a:ext>
            </a:extLst>
          </p:cNvPr>
          <p:cNvGrpSpPr/>
          <p:nvPr/>
        </p:nvGrpSpPr>
        <p:grpSpPr>
          <a:xfrm>
            <a:off x="8055816" y="800326"/>
            <a:ext cx="914400" cy="1283732"/>
            <a:chOff x="8288401" y="387638"/>
            <a:chExt cx="914400" cy="1283732"/>
          </a:xfrm>
        </p:grpSpPr>
        <p:pic>
          <p:nvPicPr>
            <p:cNvPr id="4" name="Graphic 3" descr="Server with solid fill">
              <a:extLst>
                <a:ext uri="{FF2B5EF4-FFF2-40B4-BE49-F238E27FC236}">
                  <a16:creationId xmlns:a16="http://schemas.microsoft.com/office/drawing/2014/main" id="{4F7E9D60-71E7-B436-57A4-A7B1050D8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B9AABA-44F2-F9EB-4DB8-6C7D0A673CD1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B70C877-446E-6F12-8BD6-6C7E98D4E82C}"/>
              </a:ext>
            </a:extLst>
          </p:cNvPr>
          <p:cNvGrpSpPr/>
          <p:nvPr/>
        </p:nvGrpSpPr>
        <p:grpSpPr>
          <a:xfrm>
            <a:off x="2285055" y="3538031"/>
            <a:ext cx="1161344" cy="1099066"/>
            <a:chOff x="2170185" y="4087564"/>
            <a:chExt cx="1161344" cy="10990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69E892-5C0B-1A7A-717F-56A74D846F7A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16" name="Graphic 15" descr="Computer with solid fill">
              <a:extLst>
                <a:ext uri="{FF2B5EF4-FFF2-40B4-BE49-F238E27FC236}">
                  <a16:creationId xmlns:a16="http://schemas.microsoft.com/office/drawing/2014/main" id="{3EC55C57-CEA2-1C4E-B0E2-85099ACC3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83FB95-D79B-DE18-5E6D-57894F652824}"/>
              </a:ext>
            </a:extLst>
          </p:cNvPr>
          <p:cNvGrpSpPr/>
          <p:nvPr/>
        </p:nvGrpSpPr>
        <p:grpSpPr>
          <a:xfrm>
            <a:off x="3159863" y="4639654"/>
            <a:ext cx="914400" cy="1176497"/>
            <a:chOff x="5481143" y="3640801"/>
            <a:chExt cx="914400" cy="1176497"/>
          </a:xfrm>
        </p:grpSpPr>
        <p:pic>
          <p:nvPicPr>
            <p:cNvPr id="25" name="Graphic 24" descr="Usb Stick with solid fill">
              <a:extLst>
                <a:ext uri="{FF2B5EF4-FFF2-40B4-BE49-F238E27FC236}">
                  <a16:creationId xmlns:a16="http://schemas.microsoft.com/office/drawing/2014/main" id="{C854C0AE-DCD6-FD32-E6A8-538B56D0A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81143" y="3640801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0EED29-CA0B-4D2A-20CB-A5D259477D9F}"/>
                </a:ext>
              </a:extLst>
            </p:cNvPr>
            <p:cNvSpPr txBox="1"/>
            <p:nvPr/>
          </p:nvSpPr>
          <p:spPr>
            <a:xfrm>
              <a:off x="5662886" y="4447966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usb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6D4D182-DA03-67C7-9166-7741A97400E0}"/>
              </a:ext>
            </a:extLst>
          </p:cNvPr>
          <p:cNvGrpSpPr/>
          <p:nvPr/>
        </p:nvGrpSpPr>
        <p:grpSpPr>
          <a:xfrm>
            <a:off x="7096954" y="3999807"/>
            <a:ext cx="1098955" cy="1283621"/>
            <a:chOff x="7968765" y="3038463"/>
            <a:chExt cx="1098955" cy="1283621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64A7BFA9-6840-E502-1C5E-738D764DC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968765" y="3038463"/>
              <a:ext cx="1098955" cy="109895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4C76421-CBE5-D07D-A27F-07449487EDE4}"/>
                </a:ext>
              </a:extLst>
            </p:cNvPr>
            <p:cNvSpPr txBox="1"/>
            <p:nvPr/>
          </p:nvSpPr>
          <p:spPr>
            <a:xfrm>
              <a:off x="8018169" y="3952752"/>
              <a:ext cx="1000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dropbox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E66BF4E-D236-A0FE-E79E-36C4C967C16F}"/>
              </a:ext>
            </a:extLst>
          </p:cNvPr>
          <p:cNvGrpSpPr/>
          <p:nvPr/>
        </p:nvGrpSpPr>
        <p:grpSpPr>
          <a:xfrm>
            <a:off x="9153537" y="4198557"/>
            <a:ext cx="780278" cy="1039070"/>
            <a:chOff x="9898343" y="3203218"/>
            <a:chExt cx="780278" cy="1039070"/>
          </a:xfrm>
        </p:grpSpPr>
        <p:pic>
          <p:nvPicPr>
            <p:cNvPr id="1026" name="Picture 2">
              <a:hlinkClick r:id="rId15"/>
              <a:extLst>
                <a:ext uri="{FF2B5EF4-FFF2-40B4-BE49-F238E27FC236}">
                  <a16:creationId xmlns:a16="http://schemas.microsoft.com/office/drawing/2014/main" id="{85DBDCF8-3EAA-C1EA-D9A3-AE0FEEAB67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1244DFF-522A-51AA-927A-1697A33CF7E2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gdrive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313479-D01F-FF7D-FC82-F214F5566D53}"/>
              </a:ext>
            </a:extLst>
          </p:cNvPr>
          <p:cNvGrpSpPr/>
          <p:nvPr/>
        </p:nvGrpSpPr>
        <p:grpSpPr>
          <a:xfrm>
            <a:off x="1531073" y="4605444"/>
            <a:ext cx="943744" cy="1264365"/>
            <a:chOff x="9899067" y="1970798"/>
            <a:chExt cx="943744" cy="1264365"/>
          </a:xfrm>
        </p:grpSpPr>
        <p:pic>
          <p:nvPicPr>
            <p:cNvPr id="38" name="Graphic 37" descr="Server outline">
              <a:extLst>
                <a:ext uri="{FF2B5EF4-FFF2-40B4-BE49-F238E27FC236}">
                  <a16:creationId xmlns:a16="http://schemas.microsoft.com/office/drawing/2014/main" id="{41156CFB-EEEF-3DB4-A441-4284E92CD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928411" y="1970798"/>
              <a:ext cx="914400" cy="9144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C216288-DE06-0052-6ACA-33BDF6741E99}"/>
                </a:ext>
              </a:extLst>
            </p:cNvPr>
            <p:cNvSpPr txBox="1"/>
            <p:nvPr/>
          </p:nvSpPr>
          <p:spPr>
            <a:xfrm>
              <a:off x="9899067" y="2865831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NAS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5375A5E-1B53-4C5C-6827-59D9503A8D14}"/>
              </a:ext>
            </a:extLst>
          </p:cNvPr>
          <p:cNvSpPr/>
          <p:nvPr/>
        </p:nvSpPr>
        <p:spPr>
          <a:xfrm>
            <a:off x="1861873" y="170996"/>
            <a:ext cx="7681803" cy="2245757"/>
          </a:xfrm>
          <a:prstGeom prst="roundRect">
            <a:avLst>
              <a:gd name="adj" fmla="val 861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1E5B2F9-41DD-B4A5-34BD-9DD0A0369289}"/>
              </a:ext>
            </a:extLst>
          </p:cNvPr>
          <p:cNvSpPr/>
          <p:nvPr/>
        </p:nvSpPr>
        <p:spPr>
          <a:xfrm>
            <a:off x="1093816" y="3573102"/>
            <a:ext cx="3543821" cy="2908703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Rounded Rectangle 42">
            <a:extLst>
              <a:ext uri="{FF2B5EF4-FFF2-40B4-BE49-F238E27FC236}">
                <a16:creationId xmlns:a16="http://schemas.microsoft.com/office/drawing/2014/main" id="{7472629F-1968-6407-1361-D56820D87EF3}"/>
              </a:ext>
            </a:extLst>
          </p:cNvPr>
          <p:cNvSpPr/>
          <p:nvPr/>
        </p:nvSpPr>
        <p:spPr>
          <a:xfrm>
            <a:off x="6741104" y="3573102"/>
            <a:ext cx="3543821" cy="2296707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717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423F-9ADD-5F01-E540-23ACEE6E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71B0E346-74F2-BE3D-E9A2-E3035C9EF7FB}"/>
              </a:ext>
            </a:extLst>
          </p:cNvPr>
          <p:cNvSpPr txBox="1"/>
          <p:nvPr/>
        </p:nvSpPr>
        <p:spPr>
          <a:xfrm>
            <a:off x="1846904" y="376195"/>
            <a:ext cx="7696772" cy="3763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Cluster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2811D8-DDE1-DFA9-0841-EA7D66428D56}"/>
              </a:ext>
            </a:extLst>
          </p:cNvPr>
          <p:cNvSpPr txBox="1"/>
          <p:nvPr/>
        </p:nvSpPr>
        <p:spPr>
          <a:xfrm>
            <a:off x="6741105" y="5321409"/>
            <a:ext cx="3543820" cy="376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Cloud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EF9039-72DF-0712-3AB4-25551CE5F29B}"/>
              </a:ext>
            </a:extLst>
          </p:cNvPr>
          <p:cNvSpPr txBox="1"/>
          <p:nvPr/>
        </p:nvSpPr>
        <p:spPr>
          <a:xfrm>
            <a:off x="1093817" y="5888425"/>
            <a:ext cx="3543820" cy="3763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A85340D-51C4-01CB-EECB-B7D9BC45916B}"/>
              </a:ext>
            </a:extLst>
          </p:cNvPr>
          <p:cNvGrpSpPr/>
          <p:nvPr/>
        </p:nvGrpSpPr>
        <p:grpSpPr>
          <a:xfrm>
            <a:off x="2361335" y="800326"/>
            <a:ext cx="1255728" cy="1283732"/>
            <a:chOff x="3032551" y="387638"/>
            <a:chExt cx="1255728" cy="1283732"/>
          </a:xfrm>
        </p:grpSpPr>
        <p:pic>
          <p:nvPicPr>
            <p:cNvPr id="9" name="Graphic 8" descr="Server with solid fill">
              <a:extLst>
                <a:ext uri="{FF2B5EF4-FFF2-40B4-BE49-F238E27FC236}">
                  <a16:creationId xmlns:a16="http://schemas.microsoft.com/office/drawing/2014/main" id="{17325F05-72BA-F658-9CFF-F754FAD71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8C839A5-A3CA-B214-C30F-8FC8C1EFCB47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5F22E13-CB8C-EBBE-E3E8-C6962B229DE2}"/>
              </a:ext>
            </a:extLst>
          </p:cNvPr>
          <p:cNvGrpSpPr/>
          <p:nvPr/>
        </p:nvGrpSpPr>
        <p:grpSpPr>
          <a:xfrm>
            <a:off x="5200283" y="800326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233973DE-9FB6-6CE4-D272-0E08F7F16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1BCAA4-3976-0167-1A02-158F7622B1F6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D2C8B52-B70A-9B8C-302B-4A34930A01B4}"/>
              </a:ext>
            </a:extLst>
          </p:cNvPr>
          <p:cNvGrpSpPr/>
          <p:nvPr/>
        </p:nvGrpSpPr>
        <p:grpSpPr>
          <a:xfrm>
            <a:off x="8055816" y="800326"/>
            <a:ext cx="914400" cy="1283732"/>
            <a:chOff x="8288401" y="387638"/>
            <a:chExt cx="914400" cy="1283732"/>
          </a:xfrm>
        </p:grpSpPr>
        <p:pic>
          <p:nvPicPr>
            <p:cNvPr id="4" name="Graphic 3" descr="Server with solid fill">
              <a:extLst>
                <a:ext uri="{FF2B5EF4-FFF2-40B4-BE49-F238E27FC236}">
                  <a16:creationId xmlns:a16="http://schemas.microsoft.com/office/drawing/2014/main" id="{456DF4D2-E6F2-3027-E1F7-EAAEBFAD2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69946C-C467-0B73-EC38-56FEFF97BB5B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B7261E3-F6F1-33A3-7788-2472E87B8DB1}"/>
              </a:ext>
            </a:extLst>
          </p:cNvPr>
          <p:cNvGrpSpPr/>
          <p:nvPr/>
        </p:nvGrpSpPr>
        <p:grpSpPr>
          <a:xfrm>
            <a:off x="2285055" y="3538031"/>
            <a:ext cx="1161344" cy="1099066"/>
            <a:chOff x="2170185" y="4087564"/>
            <a:chExt cx="1161344" cy="10990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9D9B78-D080-63FC-120C-DF2124F672A3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16" name="Graphic 15" descr="Computer with solid fill">
              <a:extLst>
                <a:ext uri="{FF2B5EF4-FFF2-40B4-BE49-F238E27FC236}">
                  <a16:creationId xmlns:a16="http://schemas.microsoft.com/office/drawing/2014/main" id="{A86C197C-34A2-6F45-1E0C-67BBBA0A1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DE4F4C-FF85-0634-7F67-2E6472CAE607}"/>
              </a:ext>
            </a:extLst>
          </p:cNvPr>
          <p:cNvGrpSpPr/>
          <p:nvPr/>
        </p:nvGrpSpPr>
        <p:grpSpPr>
          <a:xfrm>
            <a:off x="3159863" y="4639654"/>
            <a:ext cx="914400" cy="1176497"/>
            <a:chOff x="5481143" y="3640801"/>
            <a:chExt cx="914400" cy="1176497"/>
          </a:xfrm>
        </p:grpSpPr>
        <p:pic>
          <p:nvPicPr>
            <p:cNvPr id="25" name="Graphic 24" descr="Usb Stick with solid fill">
              <a:extLst>
                <a:ext uri="{FF2B5EF4-FFF2-40B4-BE49-F238E27FC236}">
                  <a16:creationId xmlns:a16="http://schemas.microsoft.com/office/drawing/2014/main" id="{AF07AD09-7A02-E2D0-3208-A7578C3AF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81143" y="3640801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91C2D8-223B-A2B0-8AFD-6025196D7BCF}"/>
                </a:ext>
              </a:extLst>
            </p:cNvPr>
            <p:cNvSpPr txBox="1"/>
            <p:nvPr/>
          </p:nvSpPr>
          <p:spPr>
            <a:xfrm>
              <a:off x="5662886" y="4447966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usb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0A99374-035E-09CD-1CDB-A704B022E9BF}"/>
              </a:ext>
            </a:extLst>
          </p:cNvPr>
          <p:cNvGrpSpPr/>
          <p:nvPr/>
        </p:nvGrpSpPr>
        <p:grpSpPr>
          <a:xfrm>
            <a:off x="7096954" y="3999807"/>
            <a:ext cx="1098955" cy="1283621"/>
            <a:chOff x="7968765" y="3038463"/>
            <a:chExt cx="1098955" cy="1283621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3CEF9CD0-21D2-2064-E815-9A817D4E8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968765" y="3038463"/>
              <a:ext cx="1098955" cy="109895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A1CB4F1-E364-B883-FE20-E1E9A2987760}"/>
                </a:ext>
              </a:extLst>
            </p:cNvPr>
            <p:cNvSpPr txBox="1"/>
            <p:nvPr/>
          </p:nvSpPr>
          <p:spPr>
            <a:xfrm>
              <a:off x="8018169" y="3952752"/>
              <a:ext cx="1000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dropbox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1557071-1F47-DA74-9092-15B16BD50280}"/>
              </a:ext>
            </a:extLst>
          </p:cNvPr>
          <p:cNvGrpSpPr/>
          <p:nvPr/>
        </p:nvGrpSpPr>
        <p:grpSpPr>
          <a:xfrm>
            <a:off x="9153537" y="4198557"/>
            <a:ext cx="780278" cy="1039070"/>
            <a:chOff x="9898343" y="3203218"/>
            <a:chExt cx="780278" cy="1039070"/>
          </a:xfrm>
        </p:grpSpPr>
        <p:pic>
          <p:nvPicPr>
            <p:cNvPr id="1026" name="Picture 2">
              <a:hlinkClick r:id="rId15"/>
              <a:extLst>
                <a:ext uri="{FF2B5EF4-FFF2-40B4-BE49-F238E27FC236}">
                  <a16:creationId xmlns:a16="http://schemas.microsoft.com/office/drawing/2014/main" id="{4DB1336D-C76D-4BBE-236A-E739B1FD0A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650E15-1CFE-382E-AD70-2A5AF6E72A56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gdrive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367936C-3361-E6BD-7258-6D34949225AF}"/>
              </a:ext>
            </a:extLst>
          </p:cNvPr>
          <p:cNvGrpSpPr/>
          <p:nvPr/>
        </p:nvGrpSpPr>
        <p:grpSpPr>
          <a:xfrm>
            <a:off x="1531073" y="4605444"/>
            <a:ext cx="943744" cy="1264365"/>
            <a:chOff x="9899067" y="1970798"/>
            <a:chExt cx="943744" cy="1264365"/>
          </a:xfrm>
        </p:grpSpPr>
        <p:pic>
          <p:nvPicPr>
            <p:cNvPr id="38" name="Graphic 37" descr="Server outline">
              <a:extLst>
                <a:ext uri="{FF2B5EF4-FFF2-40B4-BE49-F238E27FC236}">
                  <a16:creationId xmlns:a16="http://schemas.microsoft.com/office/drawing/2014/main" id="{12AC5AD3-CC7C-C069-861D-33B8CF1F2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928411" y="1970798"/>
              <a:ext cx="914400" cy="9144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CBE262B-87FD-FCFA-29C5-D9319CF80556}"/>
                </a:ext>
              </a:extLst>
            </p:cNvPr>
            <p:cNvSpPr txBox="1"/>
            <p:nvPr/>
          </p:nvSpPr>
          <p:spPr>
            <a:xfrm>
              <a:off x="9899067" y="2865831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NAS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DABE40D-1131-C1F8-8EB5-6D9B11741E8D}"/>
              </a:ext>
            </a:extLst>
          </p:cNvPr>
          <p:cNvSpPr/>
          <p:nvPr/>
        </p:nvSpPr>
        <p:spPr>
          <a:xfrm>
            <a:off x="1861873" y="170996"/>
            <a:ext cx="7681803" cy="2245757"/>
          </a:xfrm>
          <a:prstGeom prst="roundRect">
            <a:avLst>
              <a:gd name="adj" fmla="val 861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8F5513E-3393-833F-7BF6-36B6E9EA8D14}"/>
              </a:ext>
            </a:extLst>
          </p:cNvPr>
          <p:cNvSpPr/>
          <p:nvPr/>
        </p:nvSpPr>
        <p:spPr>
          <a:xfrm>
            <a:off x="1093816" y="3573102"/>
            <a:ext cx="3543821" cy="2908703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D883934-6DC0-54C8-76F3-9E1B7B157A63}"/>
              </a:ext>
            </a:extLst>
          </p:cNvPr>
          <p:cNvCxnSpPr/>
          <p:nvPr/>
        </p:nvCxnSpPr>
        <p:spPr>
          <a:xfrm>
            <a:off x="3446399" y="1256260"/>
            <a:ext cx="184750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F7B82C-E9A1-3385-EFC6-FA85324106C5}"/>
              </a:ext>
            </a:extLst>
          </p:cNvPr>
          <p:cNvCxnSpPr/>
          <p:nvPr/>
        </p:nvCxnSpPr>
        <p:spPr>
          <a:xfrm>
            <a:off x="6208308" y="1256260"/>
            <a:ext cx="184750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43A093-872D-F6A0-3E0B-0F6F9F8782B7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3322927" y="1899392"/>
            <a:ext cx="1877356" cy="209583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35CD1F-BB66-BE6D-4193-227C8CEFEAB7}"/>
              </a:ext>
            </a:extLst>
          </p:cNvPr>
          <p:cNvCxnSpPr>
            <a:cxnSpLocks/>
            <a:stCxn id="11" idx="3"/>
            <a:endCxn id="1026" idx="1"/>
          </p:cNvCxnSpPr>
          <p:nvPr/>
        </p:nvCxnSpPr>
        <p:spPr>
          <a:xfrm>
            <a:off x="6301931" y="1899392"/>
            <a:ext cx="2851606" cy="263403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BCA0A5-D575-F13F-6785-0ADB45108DA8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864389" y="2084058"/>
            <a:ext cx="124810" cy="158402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ounded Rectangle 42">
            <a:extLst>
              <a:ext uri="{FF2B5EF4-FFF2-40B4-BE49-F238E27FC236}">
                <a16:creationId xmlns:a16="http://schemas.microsoft.com/office/drawing/2014/main" id="{952208E7-286E-2D0E-B165-5086DFB373C2}"/>
              </a:ext>
            </a:extLst>
          </p:cNvPr>
          <p:cNvSpPr/>
          <p:nvPr/>
        </p:nvSpPr>
        <p:spPr>
          <a:xfrm>
            <a:off x="6741104" y="3573102"/>
            <a:ext cx="3543821" cy="2296707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06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16E8-6652-7398-51A5-127391BF1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CA1DD361-D8D8-A86E-EF95-D679714861E1}"/>
              </a:ext>
            </a:extLst>
          </p:cNvPr>
          <p:cNvSpPr txBox="1"/>
          <p:nvPr/>
        </p:nvSpPr>
        <p:spPr>
          <a:xfrm>
            <a:off x="1846904" y="376195"/>
            <a:ext cx="7696772" cy="3763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Cluster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5BC089-0340-EDB9-B2F2-185C61EC8DE1}"/>
              </a:ext>
            </a:extLst>
          </p:cNvPr>
          <p:cNvSpPr txBox="1"/>
          <p:nvPr/>
        </p:nvSpPr>
        <p:spPr>
          <a:xfrm>
            <a:off x="6741105" y="5321409"/>
            <a:ext cx="3543820" cy="376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Cloud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8D93C-9C59-8BB8-556E-F71C1C2549E4}"/>
              </a:ext>
            </a:extLst>
          </p:cNvPr>
          <p:cNvSpPr txBox="1"/>
          <p:nvPr/>
        </p:nvSpPr>
        <p:spPr>
          <a:xfrm>
            <a:off x="1093817" y="5888425"/>
            <a:ext cx="3543820" cy="3763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612A0FD-9394-5DE7-4E76-A15298E972B8}"/>
              </a:ext>
            </a:extLst>
          </p:cNvPr>
          <p:cNvGrpSpPr/>
          <p:nvPr/>
        </p:nvGrpSpPr>
        <p:grpSpPr>
          <a:xfrm>
            <a:off x="2361335" y="800326"/>
            <a:ext cx="1255728" cy="1283732"/>
            <a:chOff x="3032551" y="387638"/>
            <a:chExt cx="1255728" cy="1283732"/>
          </a:xfrm>
        </p:grpSpPr>
        <p:pic>
          <p:nvPicPr>
            <p:cNvPr id="9" name="Graphic 8" descr="Server with solid fill">
              <a:extLst>
                <a:ext uri="{FF2B5EF4-FFF2-40B4-BE49-F238E27FC236}">
                  <a16:creationId xmlns:a16="http://schemas.microsoft.com/office/drawing/2014/main" id="{A53E3D2D-7BFF-FFD2-7FEC-15AA909EB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FC55E2-DC3A-F334-E987-ED101D2113A0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E46B05-C616-1BEB-701C-249F65CCF0BD}"/>
              </a:ext>
            </a:extLst>
          </p:cNvPr>
          <p:cNvGrpSpPr/>
          <p:nvPr/>
        </p:nvGrpSpPr>
        <p:grpSpPr>
          <a:xfrm>
            <a:off x="5200283" y="800326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2B7F3E1D-B6E8-A7E0-6ECB-109AD186B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045A6E-EA24-DB8D-EEAD-738BBD6BBAB3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56AC32-F3D5-3B24-D682-30DC47B157B7}"/>
              </a:ext>
            </a:extLst>
          </p:cNvPr>
          <p:cNvGrpSpPr/>
          <p:nvPr/>
        </p:nvGrpSpPr>
        <p:grpSpPr>
          <a:xfrm>
            <a:off x="8055816" y="800326"/>
            <a:ext cx="914400" cy="1283732"/>
            <a:chOff x="8288401" y="387638"/>
            <a:chExt cx="914400" cy="1283732"/>
          </a:xfrm>
        </p:grpSpPr>
        <p:pic>
          <p:nvPicPr>
            <p:cNvPr id="4" name="Graphic 3" descr="Server with solid fill">
              <a:extLst>
                <a:ext uri="{FF2B5EF4-FFF2-40B4-BE49-F238E27FC236}">
                  <a16:creationId xmlns:a16="http://schemas.microsoft.com/office/drawing/2014/main" id="{9950CFFB-8C10-BB01-5012-4DE6C99BF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3F1988-FAFC-84AF-A470-C3829FAC3D0D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140F5FA-89F8-E0DC-BB42-27C0C318CFCB}"/>
              </a:ext>
            </a:extLst>
          </p:cNvPr>
          <p:cNvGrpSpPr/>
          <p:nvPr/>
        </p:nvGrpSpPr>
        <p:grpSpPr>
          <a:xfrm>
            <a:off x="2285055" y="3538031"/>
            <a:ext cx="1161344" cy="1099066"/>
            <a:chOff x="2170185" y="4087564"/>
            <a:chExt cx="1161344" cy="10990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5F5DCE-5604-B8D9-D2D7-B3996E8FDFCA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16" name="Graphic 15" descr="Computer with solid fill">
              <a:extLst>
                <a:ext uri="{FF2B5EF4-FFF2-40B4-BE49-F238E27FC236}">
                  <a16:creationId xmlns:a16="http://schemas.microsoft.com/office/drawing/2014/main" id="{E0F3E4FA-4AA9-9171-8B8C-43AF932ED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A4D5BEF-639E-1D29-A49C-A5DA2775836A}"/>
              </a:ext>
            </a:extLst>
          </p:cNvPr>
          <p:cNvGrpSpPr/>
          <p:nvPr/>
        </p:nvGrpSpPr>
        <p:grpSpPr>
          <a:xfrm>
            <a:off x="3159863" y="4639654"/>
            <a:ext cx="914400" cy="1176497"/>
            <a:chOff x="5481143" y="3640801"/>
            <a:chExt cx="914400" cy="1176497"/>
          </a:xfrm>
        </p:grpSpPr>
        <p:pic>
          <p:nvPicPr>
            <p:cNvPr id="25" name="Graphic 24" descr="Usb Stick with solid fill">
              <a:extLst>
                <a:ext uri="{FF2B5EF4-FFF2-40B4-BE49-F238E27FC236}">
                  <a16:creationId xmlns:a16="http://schemas.microsoft.com/office/drawing/2014/main" id="{E0CA30A7-81B8-7138-717F-6E1ED7F54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81143" y="3640801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4236EA-C95E-59BC-FD3A-F4159230E754}"/>
                </a:ext>
              </a:extLst>
            </p:cNvPr>
            <p:cNvSpPr txBox="1"/>
            <p:nvPr/>
          </p:nvSpPr>
          <p:spPr>
            <a:xfrm>
              <a:off x="5662886" y="4447966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usb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1C27D2-D0F7-08C6-97A2-9A919FFC44EE}"/>
              </a:ext>
            </a:extLst>
          </p:cNvPr>
          <p:cNvGrpSpPr/>
          <p:nvPr/>
        </p:nvGrpSpPr>
        <p:grpSpPr>
          <a:xfrm>
            <a:off x="7096954" y="3999807"/>
            <a:ext cx="1098955" cy="1283621"/>
            <a:chOff x="7968765" y="3038463"/>
            <a:chExt cx="1098955" cy="1283621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F1551E8-ECA9-99AA-7EF9-BF2C347EA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968765" y="3038463"/>
              <a:ext cx="1098955" cy="109895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DE51681-A1E5-45DD-AE56-775A292D7A1F}"/>
                </a:ext>
              </a:extLst>
            </p:cNvPr>
            <p:cNvSpPr txBox="1"/>
            <p:nvPr/>
          </p:nvSpPr>
          <p:spPr>
            <a:xfrm>
              <a:off x="8018169" y="3952752"/>
              <a:ext cx="1000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dropbox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8F160DA-A0A2-C61E-A500-1D8AB4B8239D}"/>
              </a:ext>
            </a:extLst>
          </p:cNvPr>
          <p:cNvGrpSpPr/>
          <p:nvPr/>
        </p:nvGrpSpPr>
        <p:grpSpPr>
          <a:xfrm>
            <a:off x="9153537" y="4198557"/>
            <a:ext cx="780278" cy="1039070"/>
            <a:chOff x="9898343" y="3203218"/>
            <a:chExt cx="780278" cy="1039070"/>
          </a:xfrm>
        </p:grpSpPr>
        <p:pic>
          <p:nvPicPr>
            <p:cNvPr id="1026" name="Picture 2">
              <a:hlinkClick r:id="rId15"/>
              <a:extLst>
                <a:ext uri="{FF2B5EF4-FFF2-40B4-BE49-F238E27FC236}">
                  <a16:creationId xmlns:a16="http://schemas.microsoft.com/office/drawing/2014/main" id="{8EE412C4-42D6-18D3-261F-E02FCCBC8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F64841-F362-CB42-F4B9-45BA50298AF3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gdrive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A3E0F6B-C392-0BC1-08A5-2843796270BC}"/>
              </a:ext>
            </a:extLst>
          </p:cNvPr>
          <p:cNvGrpSpPr/>
          <p:nvPr/>
        </p:nvGrpSpPr>
        <p:grpSpPr>
          <a:xfrm>
            <a:off x="1531073" y="4605444"/>
            <a:ext cx="943744" cy="1264365"/>
            <a:chOff x="9899067" y="1970798"/>
            <a:chExt cx="943744" cy="1264365"/>
          </a:xfrm>
        </p:grpSpPr>
        <p:pic>
          <p:nvPicPr>
            <p:cNvPr id="38" name="Graphic 37" descr="Server outline">
              <a:extLst>
                <a:ext uri="{FF2B5EF4-FFF2-40B4-BE49-F238E27FC236}">
                  <a16:creationId xmlns:a16="http://schemas.microsoft.com/office/drawing/2014/main" id="{557B1A1B-0AA8-3A17-5E16-DD65DF2EF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928411" y="1970798"/>
              <a:ext cx="914400" cy="9144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D3AB436-79AA-7A8D-1D71-96B3E00C406C}"/>
                </a:ext>
              </a:extLst>
            </p:cNvPr>
            <p:cNvSpPr txBox="1"/>
            <p:nvPr/>
          </p:nvSpPr>
          <p:spPr>
            <a:xfrm>
              <a:off x="9899067" y="2865831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NAS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722D398-45BF-7E74-988C-A6442FEFDF25}"/>
              </a:ext>
            </a:extLst>
          </p:cNvPr>
          <p:cNvSpPr/>
          <p:nvPr/>
        </p:nvSpPr>
        <p:spPr>
          <a:xfrm>
            <a:off x="1861873" y="170996"/>
            <a:ext cx="7681803" cy="2245757"/>
          </a:xfrm>
          <a:prstGeom prst="roundRect">
            <a:avLst>
              <a:gd name="adj" fmla="val 861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9B00EDE-8C98-3272-72BD-330B161D908F}"/>
              </a:ext>
            </a:extLst>
          </p:cNvPr>
          <p:cNvSpPr/>
          <p:nvPr/>
        </p:nvSpPr>
        <p:spPr>
          <a:xfrm>
            <a:off x="1093816" y="3573102"/>
            <a:ext cx="3543821" cy="2908703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3B13DAD-D664-5E7A-DDDC-2A204D71C809}"/>
              </a:ext>
            </a:extLst>
          </p:cNvPr>
          <p:cNvCxnSpPr/>
          <p:nvPr/>
        </p:nvCxnSpPr>
        <p:spPr>
          <a:xfrm>
            <a:off x="3446399" y="1256260"/>
            <a:ext cx="1847508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3074F4-C254-BC5B-560D-B0C18FDB8D24}"/>
              </a:ext>
            </a:extLst>
          </p:cNvPr>
          <p:cNvCxnSpPr/>
          <p:nvPr/>
        </p:nvCxnSpPr>
        <p:spPr>
          <a:xfrm>
            <a:off x="6208308" y="1256260"/>
            <a:ext cx="184750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6B1EBC-28C0-3F7E-D759-1A5CAEF9D74A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3322927" y="1899392"/>
            <a:ext cx="1877356" cy="2095839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042F31-E182-F9FD-8BE0-47050C56C914}"/>
              </a:ext>
            </a:extLst>
          </p:cNvPr>
          <p:cNvCxnSpPr>
            <a:cxnSpLocks/>
            <a:stCxn id="11" idx="3"/>
            <a:endCxn id="1026" idx="1"/>
          </p:cNvCxnSpPr>
          <p:nvPr/>
        </p:nvCxnSpPr>
        <p:spPr>
          <a:xfrm>
            <a:off x="6301931" y="1899392"/>
            <a:ext cx="2851606" cy="263403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A4CD1C-F3F9-6523-FEEE-E9558299B2A7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864389" y="2084058"/>
            <a:ext cx="124810" cy="1584023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ounded Rectangle 42">
            <a:extLst>
              <a:ext uri="{FF2B5EF4-FFF2-40B4-BE49-F238E27FC236}">
                <a16:creationId xmlns:a16="http://schemas.microsoft.com/office/drawing/2014/main" id="{E837A0BF-9AC5-6F7C-0DFA-084604C71AFD}"/>
              </a:ext>
            </a:extLst>
          </p:cNvPr>
          <p:cNvSpPr/>
          <p:nvPr/>
        </p:nvSpPr>
        <p:spPr>
          <a:xfrm>
            <a:off x="6741104" y="3573102"/>
            <a:ext cx="3543821" cy="2296707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946AE-A48E-8F03-39E5-B32F8E11CF6A}"/>
              </a:ext>
            </a:extLst>
          </p:cNvPr>
          <p:cNvSpPr txBox="1"/>
          <p:nvPr/>
        </p:nvSpPr>
        <p:spPr>
          <a:xfrm>
            <a:off x="5091938" y="2932448"/>
            <a:ext cx="1390871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is what we will be covering</a:t>
            </a:r>
          </a:p>
        </p:txBody>
      </p:sp>
    </p:spTree>
    <p:extLst>
      <p:ext uri="{BB962C8B-B14F-4D97-AF65-F5344CB8AC3E}">
        <p14:creationId xmlns:p14="http://schemas.microsoft.com/office/powerpoint/2010/main" val="3227319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45879-0793-F06D-2D85-00666A345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1F2-4F4E-18F5-A0CE-76DD0CE4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131060"/>
            <a:ext cx="10515600" cy="1325563"/>
          </a:xfrm>
        </p:spPr>
        <p:txBody>
          <a:bodyPr/>
          <a:lstStyle/>
          <a:p>
            <a:r>
              <a:rPr lang="en-US" dirty="0"/>
              <a:t>Command line file transfers: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/>
              <a:t> + </a:t>
            </a:r>
            <a:r>
              <a:rPr lang="en-US" dirty="0" err="1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endParaRPr lang="en-US" dirty="0">
              <a:latin typeface="Consolas" panose="020B060902020403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6231D4-0B02-C70A-E8BA-CD5150C5D4B4}"/>
              </a:ext>
            </a:extLst>
          </p:cNvPr>
          <p:cNvGrpSpPr/>
          <p:nvPr/>
        </p:nvGrpSpPr>
        <p:grpSpPr>
          <a:xfrm>
            <a:off x="8879600" y="182483"/>
            <a:ext cx="1255728" cy="1283732"/>
            <a:chOff x="3032551" y="387638"/>
            <a:chExt cx="1255728" cy="1283732"/>
          </a:xfrm>
        </p:grpSpPr>
        <p:pic>
          <p:nvPicPr>
            <p:cNvPr id="16" name="Graphic 15" descr="Server with solid fill">
              <a:extLst>
                <a:ext uri="{FF2B5EF4-FFF2-40B4-BE49-F238E27FC236}">
                  <a16:creationId xmlns:a16="http://schemas.microsoft.com/office/drawing/2014/main" id="{36469DB5-F681-A65A-52F8-18D1BD9C5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C9B3734-1D3C-FB68-44E8-54EE1D86FFF9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7B38A-78AE-6D81-1243-16F7748F993B}"/>
              </a:ext>
            </a:extLst>
          </p:cNvPr>
          <p:cNvGrpSpPr/>
          <p:nvPr/>
        </p:nvGrpSpPr>
        <p:grpSpPr>
          <a:xfrm>
            <a:off x="10857878" y="175846"/>
            <a:ext cx="1101648" cy="1283732"/>
            <a:chOff x="5643892" y="387638"/>
            <a:chExt cx="1101648" cy="1283732"/>
          </a:xfrm>
        </p:grpSpPr>
        <p:pic>
          <p:nvPicPr>
            <p:cNvPr id="19" name="Graphic 18" descr="Server with solid fill">
              <a:extLst>
                <a:ext uri="{FF2B5EF4-FFF2-40B4-BE49-F238E27FC236}">
                  <a16:creationId xmlns:a16="http://schemas.microsoft.com/office/drawing/2014/main" id="{D8D0A150-FC76-628B-FD9A-53C006B2E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C4C083-DE29-95BA-1D06-1058F0FFF6A2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F6D1DF-9F19-2BB9-949F-C2C56C4BF33D}"/>
              </a:ext>
            </a:extLst>
          </p:cNvPr>
          <p:cNvCxnSpPr>
            <a:cxnSpLocks/>
          </p:cNvCxnSpPr>
          <p:nvPr/>
        </p:nvCxnSpPr>
        <p:spPr>
          <a:xfrm>
            <a:off x="9947189" y="631780"/>
            <a:ext cx="1004313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3C6AAC-4D74-C4A2-D660-BA68A30E4714}"/>
              </a:ext>
            </a:extLst>
          </p:cNvPr>
          <p:cNvSpPr txBox="1"/>
          <p:nvPr/>
        </p:nvSpPr>
        <p:spPr>
          <a:xfrm>
            <a:off x="9998022" y="275418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715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41B07-55E4-1ECF-3FE5-9377E08E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AB66-E6A8-D1D4-CA10-B3F70EFF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131060"/>
            <a:ext cx="10515600" cy="1325563"/>
          </a:xfrm>
        </p:spPr>
        <p:txBody>
          <a:bodyPr/>
          <a:lstStyle/>
          <a:p>
            <a:r>
              <a:rPr lang="en-US" dirty="0"/>
              <a:t>Command line file transfers: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/>
              <a:t> + </a:t>
            </a:r>
            <a:r>
              <a:rPr lang="en-US" dirty="0" err="1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endParaRPr lang="en-US" dirty="0">
              <a:latin typeface="Consolas" panose="020B060902020403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6C4E5A-438F-7898-59A5-FD3B12F1606D}"/>
              </a:ext>
            </a:extLst>
          </p:cNvPr>
          <p:cNvGrpSpPr/>
          <p:nvPr/>
        </p:nvGrpSpPr>
        <p:grpSpPr>
          <a:xfrm>
            <a:off x="8879600" y="182483"/>
            <a:ext cx="1255728" cy="1283732"/>
            <a:chOff x="3032551" y="387638"/>
            <a:chExt cx="1255728" cy="1283732"/>
          </a:xfrm>
        </p:grpSpPr>
        <p:pic>
          <p:nvPicPr>
            <p:cNvPr id="16" name="Graphic 15" descr="Server with solid fill">
              <a:extLst>
                <a:ext uri="{FF2B5EF4-FFF2-40B4-BE49-F238E27FC236}">
                  <a16:creationId xmlns:a16="http://schemas.microsoft.com/office/drawing/2014/main" id="{DACDCA6A-21C1-796B-6918-6FF9A84CB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35C2DF-8EC3-4B46-B5B7-BE86317C92A4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1F6B00-0DB1-A85E-0026-875022D14C55}"/>
              </a:ext>
            </a:extLst>
          </p:cNvPr>
          <p:cNvGrpSpPr/>
          <p:nvPr/>
        </p:nvGrpSpPr>
        <p:grpSpPr>
          <a:xfrm>
            <a:off x="10857878" y="175846"/>
            <a:ext cx="1101648" cy="1283732"/>
            <a:chOff x="5643892" y="387638"/>
            <a:chExt cx="1101648" cy="1283732"/>
          </a:xfrm>
        </p:grpSpPr>
        <p:pic>
          <p:nvPicPr>
            <p:cNvPr id="19" name="Graphic 18" descr="Server with solid fill">
              <a:extLst>
                <a:ext uri="{FF2B5EF4-FFF2-40B4-BE49-F238E27FC236}">
                  <a16:creationId xmlns:a16="http://schemas.microsoft.com/office/drawing/2014/main" id="{E3E9B79C-3CBC-7B28-8D46-C5B8038CF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B5FF7A-18E1-A70E-DE27-C56FB1DB12A5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C8C489-A7E1-E385-E111-FA0000AFCA7F}"/>
              </a:ext>
            </a:extLst>
          </p:cNvPr>
          <p:cNvCxnSpPr>
            <a:cxnSpLocks/>
          </p:cNvCxnSpPr>
          <p:nvPr/>
        </p:nvCxnSpPr>
        <p:spPr>
          <a:xfrm>
            <a:off x="9947189" y="631780"/>
            <a:ext cx="1004313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3480D1-3BDB-3201-2FAF-8127BADDB2D9}"/>
              </a:ext>
            </a:extLst>
          </p:cNvPr>
          <p:cNvSpPr txBox="1"/>
          <p:nvPr/>
        </p:nvSpPr>
        <p:spPr>
          <a:xfrm>
            <a:off x="9998022" y="275418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84AF3B-FD64-9910-0075-65117218DA08}"/>
              </a:ext>
            </a:extLst>
          </p:cNvPr>
          <p:cNvGrpSpPr/>
          <p:nvPr/>
        </p:nvGrpSpPr>
        <p:grpSpPr>
          <a:xfrm>
            <a:off x="10126805" y="1369687"/>
            <a:ext cx="739305" cy="703594"/>
            <a:chOff x="2170185" y="4087564"/>
            <a:chExt cx="1199739" cy="11417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089C2D-38B5-DAB4-5ED8-0538F48D084D}"/>
                </a:ext>
              </a:extLst>
            </p:cNvPr>
            <p:cNvSpPr txBox="1"/>
            <p:nvPr/>
          </p:nvSpPr>
          <p:spPr>
            <a:xfrm>
              <a:off x="2170185" y="4817298"/>
              <a:ext cx="1199739" cy="412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pic>
          <p:nvPicPr>
            <p:cNvPr id="12" name="Graphic 11" descr="Computer with solid fill">
              <a:extLst>
                <a:ext uri="{FF2B5EF4-FFF2-40B4-BE49-F238E27FC236}">
                  <a16:creationId xmlns:a16="http://schemas.microsoft.com/office/drawing/2014/main" id="{79CDD8A0-BE55-7B6F-0065-03D3DE345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8BE10B-4910-1254-D5F5-602EDF7DD020}"/>
              </a:ext>
            </a:extLst>
          </p:cNvPr>
          <p:cNvCxnSpPr>
            <a:cxnSpLocks/>
          </p:cNvCxnSpPr>
          <p:nvPr/>
        </p:nvCxnSpPr>
        <p:spPr>
          <a:xfrm>
            <a:off x="9958918" y="1053079"/>
            <a:ext cx="321924" cy="33724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A8781F-E838-1CD5-EED2-CD03DB9D69C5}"/>
              </a:ext>
            </a:extLst>
          </p:cNvPr>
          <p:cNvCxnSpPr>
            <a:cxnSpLocks/>
          </p:cNvCxnSpPr>
          <p:nvPr/>
        </p:nvCxnSpPr>
        <p:spPr>
          <a:xfrm rot="5400000">
            <a:off x="10647305" y="1067093"/>
            <a:ext cx="321924" cy="33724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2B5511-4A00-5A18-DC3D-15264A3374E6}"/>
              </a:ext>
            </a:extLst>
          </p:cNvPr>
          <p:cNvSpPr txBox="1"/>
          <p:nvPr/>
        </p:nvSpPr>
        <p:spPr>
          <a:xfrm>
            <a:off x="10031741" y="1114692"/>
            <a:ext cx="858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681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185E-7B17-A447-2079-3F7B7A524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E87B-A4D4-9988-F953-554230DB7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131060"/>
            <a:ext cx="10515600" cy="1325563"/>
          </a:xfrm>
        </p:spPr>
        <p:txBody>
          <a:bodyPr/>
          <a:lstStyle/>
          <a:p>
            <a:r>
              <a:rPr lang="en-US" dirty="0"/>
              <a:t>Command line file transfers: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/>
              <a:t> + </a:t>
            </a:r>
            <a:r>
              <a:rPr lang="en-US" dirty="0" err="1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endParaRPr lang="en-US" dirty="0">
              <a:latin typeface="Consolas" panose="020B060902020403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4C67D-30BE-6FB9-4396-6A11984AD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67" y="1687654"/>
            <a:ext cx="6889044" cy="14657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Start an interactive session with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salloc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/>
              <a:t>Use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/>
              <a:t> to multitask</a:t>
            </a:r>
          </a:p>
          <a:p>
            <a:r>
              <a:rPr lang="en-US" dirty="0"/>
              <a:t>Use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r>
              <a:rPr lang="en-US" dirty="0"/>
              <a:t> rather than </a:t>
            </a:r>
            <a:r>
              <a:rPr lang="en-US" dirty="0">
                <a:latin typeface="Consolas" panose="020B0609020204030204" pitchFamily="49" charset="0"/>
              </a:rPr>
              <a:t>cp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mv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157AAF-35D7-4729-99CF-CEE1ED466F53}"/>
              </a:ext>
            </a:extLst>
          </p:cNvPr>
          <p:cNvGrpSpPr/>
          <p:nvPr/>
        </p:nvGrpSpPr>
        <p:grpSpPr>
          <a:xfrm>
            <a:off x="8879600" y="182483"/>
            <a:ext cx="1255728" cy="1283732"/>
            <a:chOff x="3032551" y="387638"/>
            <a:chExt cx="1255728" cy="1283732"/>
          </a:xfrm>
        </p:grpSpPr>
        <p:pic>
          <p:nvPicPr>
            <p:cNvPr id="16" name="Graphic 15" descr="Server with solid fill">
              <a:extLst>
                <a:ext uri="{FF2B5EF4-FFF2-40B4-BE49-F238E27FC236}">
                  <a16:creationId xmlns:a16="http://schemas.microsoft.com/office/drawing/2014/main" id="{A6CD8F06-D34F-F955-C126-05EF43420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E221AC-1A4D-502D-73DA-BA4A085D87D3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7D06D7-8E62-5F60-F871-4C83A11B63B3}"/>
              </a:ext>
            </a:extLst>
          </p:cNvPr>
          <p:cNvGrpSpPr/>
          <p:nvPr/>
        </p:nvGrpSpPr>
        <p:grpSpPr>
          <a:xfrm>
            <a:off x="10857878" y="175846"/>
            <a:ext cx="1101648" cy="1283732"/>
            <a:chOff x="5643892" y="387638"/>
            <a:chExt cx="1101648" cy="1283732"/>
          </a:xfrm>
        </p:grpSpPr>
        <p:pic>
          <p:nvPicPr>
            <p:cNvPr id="19" name="Graphic 18" descr="Server with solid fill">
              <a:extLst>
                <a:ext uri="{FF2B5EF4-FFF2-40B4-BE49-F238E27FC236}">
                  <a16:creationId xmlns:a16="http://schemas.microsoft.com/office/drawing/2014/main" id="{07ECF4EE-23D3-B27E-3E27-088EA4FF4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B25E8B-4130-3CE4-5BAC-7E4278A68EC7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793EC7-51EB-CD75-58A9-5CD2F8000C45}"/>
              </a:ext>
            </a:extLst>
          </p:cNvPr>
          <p:cNvCxnSpPr>
            <a:cxnSpLocks/>
          </p:cNvCxnSpPr>
          <p:nvPr/>
        </p:nvCxnSpPr>
        <p:spPr>
          <a:xfrm>
            <a:off x="9947189" y="631780"/>
            <a:ext cx="1004313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26933E-09D6-7073-55B4-21B8E843CFA5}"/>
              </a:ext>
            </a:extLst>
          </p:cNvPr>
          <p:cNvSpPr txBox="1"/>
          <p:nvPr/>
        </p:nvSpPr>
        <p:spPr>
          <a:xfrm>
            <a:off x="9998022" y="275418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9BFA7E-A309-BA45-9E18-BA5F45709052}"/>
              </a:ext>
            </a:extLst>
          </p:cNvPr>
          <p:cNvGrpSpPr/>
          <p:nvPr/>
        </p:nvGrpSpPr>
        <p:grpSpPr>
          <a:xfrm>
            <a:off x="10126805" y="1369687"/>
            <a:ext cx="739305" cy="703594"/>
            <a:chOff x="2170185" y="4087564"/>
            <a:chExt cx="1199739" cy="11417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15EFFB-F14B-E834-919C-0639502EC968}"/>
                </a:ext>
              </a:extLst>
            </p:cNvPr>
            <p:cNvSpPr txBox="1"/>
            <p:nvPr/>
          </p:nvSpPr>
          <p:spPr>
            <a:xfrm>
              <a:off x="2170185" y="4817298"/>
              <a:ext cx="1199739" cy="412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pic>
          <p:nvPicPr>
            <p:cNvPr id="12" name="Graphic 11" descr="Computer with solid fill">
              <a:extLst>
                <a:ext uri="{FF2B5EF4-FFF2-40B4-BE49-F238E27FC236}">
                  <a16:creationId xmlns:a16="http://schemas.microsoft.com/office/drawing/2014/main" id="{96743BAA-7C94-CA82-C1A4-AD70FE5D1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09FB91-849B-05B4-1B09-843BFF6B1549}"/>
              </a:ext>
            </a:extLst>
          </p:cNvPr>
          <p:cNvCxnSpPr>
            <a:cxnSpLocks/>
          </p:cNvCxnSpPr>
          <p:nvPr/>
        </p:nvCxnSpPr>
        <p:spPr>
          <a:xfrm>
            <a:off x="9958918" y="1053079"/>
            <a:ext cx="321924" cy="33724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D9A8B6-2BB2-9049-8A98-28A5DA4F3988}"/>
              </a:ext>
            </a:extLst>
          </p:cNvPr>
          <p:cNvCxnSpPr>
            <a:cxnSpLocks/>
          </p:cNvCxnSpPr>
          <p:nvPr/>
        </p:nvCxnSpPr>
        <p:spPr>
          <a:xfrm rot="5400000">
            <a:off x="10647305" y="1067093"/>
            <a:ext cx="321924" cy="33724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A077925-5ECB-DC54-9849-E7D45239E9E2}"/>
              </a:ext>
            </a:extLst>
          </p:cNvPr>
          <p:cNvSpPr txBox="1"/>
          <p:nvPr/>
        </p:nvSpPr>
        <p:spPr>
          <a:xfrm>
            <a:off x="10031741" y="1114692"/>
            <a:ext cx="858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224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D406-B15B-3140-26A6-290311CE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24527-0D9E-8F86-1F01-C7257700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131060"/>
            <a:ext cx="10515600" cy="1325563"/>
          </a:xfrm>
        </p:spPr>
        <p:txBody>
          <a:bodyPr/>
          <a:lstStyle/>
          <a:p>
            <a:r>
              <a:rPr lang="en-US" dirty="0"/>
              <a:t>Command line file transfers: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/>
              <a:t> + </a:t>
            </a:r>
            <a:r>
              <a:rPr lang="en-US" dirty="0" err="1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endParaRPr lang="en-US" dirty="0">
              <a:latin typeface="Consolas" panose="020B060902020403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7D90A-8E5F-39DB-CD69-FD2A6D067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67" y="1687654"/>
            <a:ext cx="6889044" cy="14657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Start an interactive session with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salloc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/>
              <a:t>Use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/>
              <a:t> to multitask</a:t>
            </a:r>
          </a:p>
          <a:p>
            <a:r>
              <a:rPr lang="en-US" dirty="0"/>
              <a:t>Use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r>
              <a:rPr lang="en-US" dirty="0"/>
              <a:t> rather than </a:t>
            </a:r>
            <a:r>
              <a:rPr lang="en-US" dirty="0">
                <a:latin typeface="Consolas" panose="020B0609020204030204" pitchFamily="49" charset="0"/>
              </a:rPr>
              <a:t>cp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mv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1929D-00DC-7C94-20FE-25E129EE16BE}"/>
              </a:ext>
            </a:extLst>
          </p:cNvPr>
          <p:cNvSpPr txBox="1"/>
          <p:nvPr/>
        </p:nvSpPr>
        <p:spPr>
          <a:xfrm>
            <a:off x="1642304" y="3213328"/>
            <a:ext cx="4980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[OPTIONS] SOURCE DESTINATION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B84054-32FF-DF1A-FF42-CE6DD0AB5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30" y="3737817"/>
            <a:ext cx="7772400" cy="295329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C15DFED-BD04-3C37-096C-A2773E9E9E24}"/>
              </a:ext>
            </a:extLst>
          </p:cNvPr>
          <p:cNvGrpSpPr/>
          <p:nvPr/>
        </p:nvGrpSpPr>
        <p:grpSpPr>
          <a:xfrm>
            <a:off x="8879600" y="182483"/>
            <a:ext cx="1255728" cy="1283732"/>
            <a:chOff x="3032551" y="387638"/>
            <a:chExt cx="1255728" cy="1283732"/>
          </a:xfrm>
        </p:grpSpPr>
        <p:pic>
          <p:nvPicPr>
            <p:cNvPr id="16" name="Graphic 15" descr="Server with solid fill">
              <a:extLst>
                <a:ext uri="{FF2B5EF4-FFF2-40B4-BE49-F238E27FC236}">
                  <a16:creationId xmlns:a16="http://schemas.microsoft.com/office/drawing/2014/main" id="{77E0B4A3-A6F0-6609-AEEC-AFD508D67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6D18FD-68BD-FF65-2E3B-BA8B24A2CA56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3790D7-B362-43E8-D60F-E0912672C3BD}"/>
              </a:ext>
            </a:extLst>
          </p:cNvPr>
          <p:cNvGrpSpPr/>
          <p:nvPr/>
        </p:nvGrpSpPr>
        <p:grpSpPr>
          <a:xfrm>
            <a:off x="10857878" y="175846"/>
            <a:ext cx="1101648" cy="1283732"/>
            <a:chOff x="5643892" y="387638"/>
            <a:chExt cx="1101648" cy="1283732"/>
          </a:xfrm>
        </p:grpSpPr>
        <p:pic>
          <p:nvPicPr>
            <p:cNvPr id="19" name="Graphic 18" descr="Server with solid fill">
              <a:extLst>
                <a:ext uri="{FF2B5EF4-FFF2-40B4-BE49-F238E27FC236}">
                  <a16:creationId xmlns:a16="http://schemas.microsoft.com/office/drawing/2014/main" id="{442D9AC5-CD1B-4E4E-4E23-E9E1ECB0E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A7520D-6058-D9B9-49F2-58F71DF08CF2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B0CCB0-C152-F167-D4D8-74CC037D91E0}"/>
              </a:ext>
            </a:extLst>
          </p:cNvPr>
          <p:cNvCxnSpPr>
            <a:cxnSpLocks/>
          </p:cNvCxnSpPr>
          <p:nvPr/>
        </p:nvCxnSpPr>
        <p:spPr>
          <a:xfrm>
            <a:off x="9947189" y="631780"/>
            <a:ext cx="1004313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FD4C0EF-685C-C194-FFDF-D716EB4DD22E}"/>
              </a:ext>
            </a:extLst>
          </p:cNvPr>
          <p:cNvSpPr txBox="1"/>
          <p:nvPr/>
        </p:nvSpPr>
        <p:spPr>
          <a:xfrm>
            <a:off x="9998022" y="275418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013FA1-4008-9B50-E921-40DB5D45902E}"/>
              </a:ext>
            </a:extLst>
          </p:cNvPr>
          <p:cNvGrpSpPr/>
          <p:nvPr/>
        </p:nvGrpSpPr>
        <p:grpSpPr>
          <a:xfrm>
            <a:off x="10126805" y="1369687"/>
            <a:ext cx="739305" cy="703594"/>
            <a:chOff x="2170185" y="4087564"/>
            <a:chExt cx="1199739" cy="11417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71A7CA-2EBB-88CC-C0DB-217978683114}"/>
                </a:ext>
              </a:extLst>
            </p:cNvPr>
            <p:cNvSpPr txBox="1"/>
            <p:nvPr/>
          </p:nvSpPr>
          <p:spPr>
            <a:xfrm>
              <a:off x="2170185" y="4817298"/>
              <a:ext cx="1199739" cy="412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pic>
          <p:nvPicPr>
            <p:cNvPr id="12" name="Graphic 11" descr="Computer with solid fill">
              <a:extLst>
                <a:ext uri="{FF2B5EF4-FFF2-40B4-BE49-F238E27FC236}">
                  <a16:creationId xmlns:a16="http://schemas.microsoft.com/office/drawing/2014/main" id="{4CBC7DD0-5AFA-98DA-4906-ED438791F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1EE4FD-88FE-6F44-BF24-6A30C0903147}"/>
              </a:ext>
            </a:extLst>
          </p:cNvPr>
          <p:cNvCxnSpPr>
            <a:cxnSpLocks/>
          </p:cNvCxnSpPr>
          <p:nvPr/>
        </p:nvCxnSpPr>
        <p:spPr>
          <a:xfrm>
            <a:off x="9958918" y="1053079"/>
            <a:ext cx="321924" cy="33724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B1F3D4-2A2B-8F9B-4380-CF76B498EFB5}"/>
              </a:ext>
            </a:extLst>
          </p:cNvPr>
          <p:cNvCxnSpPr>
            <a:cxnSpLocks/>
          </p:cNvCxnSpPr>
          <p:nvPr/>
        </p:nvCxnSpPr>
        <p:spPr>
          <a:xfrm rot="5400000">
            <a:off x="10647305" y="1067093"/>
            <a:ext cx="321924" cy="33724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3F6648-51E1-D7A9-B0EB-15A3941851CE}"/>
              </a:ext>
            </a:extLst>
          </p:cNvPr>
          <p:cNvSpPr txBox="1"/>
          <p:nvPr/>
        </p:nvSpPr>
        <p:spPr>
          <a:xfrm>
            <a:off x="10031741" y="1114692"/>
            <a:ext cx="858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28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ABEB4-B1D3-C374-041F-E287F7A9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09A1-B35E-B0F1-0D06-D865E297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131060"/>
            <a:ext cx="10515600" cy="1325563"/>
          </a:xfrm>
        </p:spPr>
        <p:txBody>
          <a:bodyPr/>
          <a:lstStyle/>
          <a:p>
            <a:r>
              <a:rPr lang="en-US" dirty="0"/>
              <a:t>Command line file transfers: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/>
              <a:t> + </a:t>
            </a:r>
            <a:r>
              <a:rPr lang="en-US" dirty="0" err="1"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endParaRPr lang="en-US" dirty="0">
              <a:latin typeface="Consolas" panose="020B060902020403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2D933-B5BE-2932-58E4-785AAC377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67" y="1687654"/>
            <a:ext cx="6889044" cy="14657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Start an interactive session with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salloc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/>
              <a:t>Use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screen</a:t>
            </a:r>
            <a:r>
              <a:rPr lang="en-US" dirty="0"/>
              <a:t> to multitask</a:t>
            </a:r>
          </a:p>
          <a:p>
            <a:r>
              <a:rPr lang="en-US" dirty="0"/>
              <a:t>Use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r>
              <a:rPr lang="en-US" dirty="0"/>
              <a:t> rather than </a:t>
            </a:r>
            <a:r>
              <a:rPr lang="en-US" dirty="0">
                <a:latin typeface="Consolas" panose="020B0609020204030204" pitchFamily="49" charset="0"/>
              </a:rPr>
              <a:t>cp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mv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A8CA6-928C-857D-9686-F726C1E9956D}"/>
              </a:ext>
            </a:extLst>
          </p:cNvPr>
          <p:cNvSpPr txBox="1"/>
          <p:nvPr/>
        </p:nvSpPr>
        <p:spPr>
          <a:xfrm>
            <a:off x="1642304" y="3213328"/>
            <a:ext cx="4980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rsync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[OPTIONS] SOURCE DESTINATION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FC8E64-AF3D-FFC7-24D0-768EE7941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30" y="3737817"/>
            <a:ext cx="7772400" cy="295329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46254C8-F218-9C05-89BE-C5CCE2E42476}"/>
              </a:ext>
            </a:extLst>
          </p:cNvPr>
          <p:cNvGrpSpPr/>
          <p:nvPr/>
        </p:nvGrpSpPr>
        <p:grpSpPr>
          <a:xfrm>
            <a:off x="8879600" y="182483"/>
            <a:ext cx="1255728" cy="1283732"/>
            <a:chOff x="3032551" y="387638"/>
            <a:chExt cx="1255728" cy="1283732"/>
          </a:xfrm>
        </p:grpSpPr>
        <p:pic>
          <p:nvPicPr>
            <p:cNvPr id="16" name="Graphic 15" descr="Server with solid fill">
              <a:extLst>
                <a:ext uri="{FF2B5EF4-FFF2-40B4-BE49-F238E27FC236}">
                  <a16:creationId xmlns:a16="http://schemas.microsoft.com/office/drawing/2014/main" id="{57916EF6-D5E8-B13A-20D1-D0DD79A39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866A73-6703-2DB4-F60E-BEC5C17C2513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FC26FE-0D43-087F-1015-E9A9A94F12D5}"/>
              </a:ext>
            </a:extLst>
          </p:cNvPr>
          <p:cNvGrpSpPr/>
          <p:nvPr/>
        </p:nvGrpSpPr>
        <p:grpSpPr>
          <a:xfrm>
            <a:off x="10857878" y="175846"/>
            <a:ext cx="1101648" cy="1283732"/>
            <a:chOff x="5643892" y="387638"/>
            <a:chExt cx="1101648" cy="1283732"/>
          </a:xfrm>
        </p:grpSpPr>
        <p:pic>
          <p:nvPicPr>
            <p:cNvPr id="19" name="Graphic 18" descr="Server with solid fill">
              <a:extLst>
                <a:ext uri="{FF2B5EF4-FFF2-40B4-BE49-F238E27FC236}">
                  <a16:creationId xmlns:a16="http://schemas.microsoft.com/office/drawing/2014/main" id="{DFB9B758-8743-CC1C-26B9-B24C17268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D4028F-C02C-BE79-82DB-F75E6B77629D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A4745D-4D13-8124-39F7-BEE073ECA219}"/>
              </a:ext>
            </a:extLst>
          </p:cNvPr>
          <p:cNvCxnSpPr>
            <a:cxnSpLocks/>
          </p:cNvCxnSpPr>
          <p:nvPr/>
        </p:nvCxnSpPr>
        <p:spPr>
          <a:xfrm>
            <a:off x="9947189" y="631780"/>
            <a:ext cx="1004313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13BDC14-5A96-E06D-E130-CED4ECEFAD27}"/>
              </a:ext>
            </a:extLst>
          </p:cNvPr>
          <p:cNvSpPr txBox="1"/>
          <p:nvPr/>
        </p:nvSpPr>
        <p:spPr>
          <a:xfrm>
            <a:off x="9998022" y="275418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F3DCF39-0F4C-E8A3-286B-2A94CB293EF6}"/>
              </a:ext>
            </a:extLst>
          </p:cNvPr>
          <p:cNvGrpSpPr/>
          <p:nvPr/>
        </p:nvGrpSpPr>
        <p:grpSpPr>
          <a:xfrm>
            <a:off x="10126805" y="1369687"/>
            <a:ext cx="739305" cy="703594"/>
            <a:chOff x="2170185" y="4087564"/>
            <a:chExt cx="1199739" cy="11417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E655D1-8A99-F6F7-2B5E-2BCA08E1B1E2}"/>
                </a:ext>
              </a:extLst>
            </p:cNvPr>
            <p:cNvSpPr txBox="1"/>
            <p:nvPr/>
          </p:nvSpPr>
          <p:spPr>
            <a:xfrm>
              <a:off x="2170185" y="4817298"/>
              <a:ext cx="1199739" cy="412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pic>
          <p:nvPicPr>
            <p:cNvPr id="12" name="Graphic 11" descr="Computer with solid fill">
              <a:extLst>
                <a:ext uri="{FF2B5EF4-FFF2-40B4-BE49-F238E27FC236}">
                  <a16:creationId xmlns:a16="http://schemas.microsoft.com/office/drawing/2014/main" id="{A48253F6-5390-E5B6-5A95-11C832C91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7A2A64-D4EE-53B8-8A6E-FA1C3F700623}"/>
              </a:ext>
            </a:extLst>
          </p:cNvPr>
          <p:cNvCxnSpPr>
            <a:cxnSpLocks/>
          </p:cNvCxnSpPr>
          <p:nvPr/>
        </p:nvCxnSpPr>
        <p:spPr>
          <a:xfrm>
            <a:off x="9958918" y="1053079"/>
            <a:ext cx="321924" cy="33724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DB7124-0E05-45BC-0CE1-691370118556}"/>
              </a:ext>
            </a:extLst>
          </p:cNvPr>
          <p:cNvCxnSpPr>
            <a:cxnSpLocks/>
          </p:cNvCxnSpPr>
          <p:nvPr/>
        </p:nvCxnSpPr>
        <p:spPr>
          <a:xfrm rot="5400000">
            <a:off x="10647305" y="1067093"/>
            <a:ext cx="321924" cy="337245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92E748B-C374-2A78-5E92-A490C49D881F}"/>
              </a:ext>
            </a:extLst>
          </p:cNvPr>
          <p:cNvSpPr txBox="1"/>
          <p:nvPr/>
        </p:nvSpPr>
        <p:spPr>
          <a:xfrm>
            <a:off x="10031741" y="1114692"/>
            <a:ext cx="858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latin typeface="Consolas" panose="020B0609020204030204" pitchFamily="49" charset="0"/>
              </a:rPr>
              <a:t>rsync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42FE0-54D5-80EA-88F2-7A29A73BD7F1}"/>
              </a:ext>
            </a:extLst>
          </p:cNvPr>
          <p:cNvSpPr txBox="1"/>
          <p:nvPr/>
        </p:nvSpPr>
        <p:spPr>
          <a:xfrm>
            <a:off x="8265460" y="2660063"/>
            <a:ext cx="392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Helpful options for </a:t>
            </a:r>
            <a:r>
              <a:rPr lang="en-US" u="sng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rsync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B2385E7-0B60-8731-67C1-E38829906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094030"/>
              </p:ext>
            </p:extLst>
          </p:nvPr>
        </p:nvGraphicFramePr>
        <p:xfrm>
          <a:off x="8368850" y="3102782"/>
          <a:ext cx="3572918" cy="3479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1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1957426">
                  <a:extLst>
                    <a:ext uri="{9D8B030D-6E8A-4147-A177-3AD203B41FA5}">
                      <a16:colId xmlns:a16="http://schemas.microsoft.com/office/drawing/2014/main" val="871849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-a</a:t>
                      </a:r>
                      <a:r>
                        <a:rPr lang="en-US" sz="18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</a:t>
                      </a:r>
                      <a:endParaRPr lang="en-US" sz="18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“archive mode”, produces most exact copy</a:t>
                      </a:r>
                      <a:endParaRPr lang="en-US" sz="18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84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Consolas" panose="020B0609020204030204" pitchFamily="49" charset="0"/>
                        </a:rPr>
                        <a:t>-v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“verbose”, prints more stuff</a:t>
                      </a:r>
                      <a:endParaRPr lang="en-US" sz="18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Consolas" panose="020B0609020204030204" pitchFamily="49" charset="0"/>
                        </a:rPr>
                        <a:t>-h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“human readable” makes file sizes make sense</a:t>
                      </a:r>
                      <a:endParaRPr lang="en-US" sz="18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Consolas" panose="020B0609020204030204" pitchFamily="49" charset="0"/>
                        </a:rPr>
                        <a:t>--progress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displays progress</a:t>
                      </a:r>
                      <a:endParaRPr lang="en-US" sz="18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Consolas" panose="020B0609020204030204" pitchFamily="49" charset="0"/>
                        </a:rPr>
                        <a:t>--stats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prints stats at the end</a:t>
                      </a:r>
                      <a:endParaRPr lang="en-US" sz="18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631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99BF-B3FB-3A34-637D-3BEDC9A31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8A56-B887-7EDE-C4D7-DF280E67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006" y="122602"/>
            <a:ext cx="10515600" cy="1325563"/>
          </a:xfrm>
        </p:spPr>
        <p:txBody>
          <a:bodyPr/>
          <a:lstStyle/>
          <a:p>
            <a:r>
              <a:rPr lang="en-US" dirty="0"/>
              <a:t>Transfer between the cluster and Google Drive: </a:t>
            </a:r>
            <a:r>
              <a:rPr lang="en-US" dirty="0" err="1">
                <a:latin typeface="Consolas" panose="020B0609020204030204" pitchFamily="49" charset="0"/>
              </a:rPr>
              <a:t>rclone</a:t>
            </a:r>
            <a:endParaRPr lang="en-US" dirty="0">
              <a:latin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509FB9-4191-E5EA-62CB-C4075CF931A9}"/>
              </a:ext>
            </a:extLst>
          </p:cNvPr>
          <p:cNvGrpSpPr/>
          <p:nvPr/>
        </p:nvGrpSpPr>
        <p:grpSpPr>
          <a:xfrm>
            <a:off x="3142205" y="1686790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C890B700-0E88-C8E7-10B2-0E6B94823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C0A9C9A-B0DC-6B8C-742F-ABE745E4EA2C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4F4594C-D9EF-19BA-3646-0DB2DCFDE2B8}"/>
              </a:ext>
            </a:extLst>
          </p:cNvPr>
          <p:cNvGrpSpPr/>
          <p:nvPr/>
        </p:nvGrpSpPr>
        <p:grpSpPr>
          <a:xfrm>
            <a:off x="5515002" y="1786152"/>
            <a:ext cx="780278" cy="1039070"/>
            <a:chOff x="9898343" y="3203218"/>
            <a:chExt cx="780278" cy="1039070"/>
          </a:xfrm>
        </p:grpSpPr>
        <p:pic>
          <p:nvPicPr>
            <p:cNvPr id="8" name="Picture 2">
              <a:hlinkClick r:id="rId4"/>
              <a:extLst>
                <a:ext uri="{FF2B5EF4-FFF2-40B4-BE49-F238E27FC236}">
                  <a16:creationId xmlns:a16="http://schemas.microsoft.com/office/drawing/2014/main" id="{E893AEE3-2570-508E-850B-9D6BF49245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3ED945-1032-FD62-54A9-D6CEE4C1CC9F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gdrive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E93B4A-153E-A893-1724-7C562E6D930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150229" y="2143990"/>
            <a:ext cx="1255852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E60294-62EC-B004-360B-AA07A45367B3}"/>
              </a:ext>
            </a:extLst>
          </p:cNvPr>
          <p:cNvGrpSpPr/>
          <p:nvPr/>
        </p:nvGrpSpPr>
        <p:grpSpPr>
          <a:xfrm>
            <a:off x="7394008" y="1686790"/>
            <a:ext cx="1255728" cy="1283732"/>
            <a:chOff x="3032551" y="387638"/>
            <a:chExt cx="1255728" cy="1283732"/>
          </a:xfrm>
        </p:grpSpPr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D9E4800E-C88D-6836-0EF9-E81626978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ABB30E-D7B1-4739-EBD9-01589D2233F4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563F7B-3EB8-FA92-AAB4-741D60CE4199}"/>
              </a:ext>
            </a:extLst>
          </p:cNvPr>
          <p:cNvCxnSpPr>
            <a:cxnSpLocks/>
          </p:cNvCxnSpPr>
          <p:nvPr/>
        </p:nvCxnSpPr>
        <p:spPr>
          <a:xfrm>
            <a:off x="6342469" y="2143990"/>
            <a:ext cx="1222203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C82147-48D9-00C0-82C2-77E30C191AEE}"/>
              </a:ext>
            </a:extLst>
          </p:cNvPr>
          <p:cNvSpPr txBox="1"/>
          <p:nvPr/>
        </p:nvSpPr>
        <p:spPr>
          <a:xfrm>
            <a:off x="4348758" y="1805436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rclone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F0876C-E6B8-15C8-789E-9A36C8A6634E}"/>
              </a:ext>
            </a:extLst>
          </p:cNvPr>
          <p:cNvSpPr txBox="1"/>
          <p:nvPr/>
        </p:nvSpPr>
        <p:spPr>
          <a:xfrm>
            <a:off x="6535214" y="1805436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rclone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64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2DC6-8F58-77B7-B438-CEF3873A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006" y="122602"/>
            <a:ext cx="10515600" cy="1325563"/>
          </a:xfrm>
        </p:spPr>
        <p:txBody>
          <a:bodyPr/>
          <a:lstStyle/>
          <a:p>
            <a:r>
              <a:rPr lang="en-US" dirty="0"/>
              <a:t>Transfer between the cluster and Google Drive: </a:t>
            </a:r>
            <a:r>
              <a:rPr lang="en-US" dirty="0" err="1">
                <a:latin typeface="Consolas" panose="020B0609020204030204" pitchFamily="49" charset="0"/>
              </a:rPr>
              <a:t>rclone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7957-9563-935C-119F-4493F389E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08915"/>
            <a:ext cx="10515600" cy="2535495"/>
          </a:xfrm>
        </p:spPr>
        <p:txBody>
          <a:bodyPr/>
          <a:lstStyle/>
          <a:p>
            <a:r>
              <a:rPr lang="en-US" dirty="0"/>
              <a:t>Not great for many small files (2 files per second limit)</a:t>
            </a:r>
          </a:p>
          <a:p>
            <a:r>
              <a:rPr lang="en-US" dirty="0"/>
              <a:t>FASRC Docs</a:t>
            </a:r>
          </a:p>
          <a:p>
            <a:pPr lvl="1"/>
            <a:r>
              <a:rPr lang="en-US" dirty="0">
                <a:hlinkClick r:id="rId2"/>
              </a:rPr>
              <a:t>https://docs.rc.fas.harvard.edu/kb/rclone/</a:t>
            </a:r>
            <a:r>
              <a:rPr lang="en-US" dirty="0"/>
              <a:t> </a:t>
            </a:r>
          </a:p>
          <a:p>
            <a:r>
              <a:rPr lang="en-US" dirty="0"/>
              <a:t>Walkthrough to connect to your google drive</a:t>
            </a:r>
          </a:p>
          <a:p>
            <a:pPr lvl="1"/>
            <a:r>
              <a:rPr lang="en-US" dirty="0">
                <a:hlinkClick r:id="rId3"/>
              </a:rPr>
              <a:t>https://rclone.org/drive/</a:t>
            </a:r>
            <a:r>
              <a:rPr lang="en-US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249D89-F7A3-4C8C-D7FB-2F462AF65A07}"/>
              </a:ext>
            </a:extLst>
          </p:cNvPr>
          <p:cNvGrpSpPr/>
          <p:nvPr/>
        </p:nvGrpSpPr>
        <p:grpSpPr>
          <a:xfrm>
            <a:off x="3142205" y="1686790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FD68547D-3122-D0C4-68D7-23F92E8C3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A9332B-BF49-E644-060B-BBF4C53627D1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7CE38CE-7397-5843-9A0C-58FC659522CF}"/>
              </a:ext>
            </a:extLst>
          </p:cNvPr>
          <p:cNvGrpSpPr/>
          <p:nvPr/>
        </p:nvGrpSpPr>
        <p:grpSpPr>
          <a:xfrm>
            <a:off x="5515002" y="1786152"/>
            <a:ext cx="780278" cy="1039070"/>
            <a:chOff x="9898343" y="3203218"/>
            <a:chExt cx="780278" cy="1039070"/>
          </a:xfrm>
        </p:grpSpPr>
        <p:pic>
          <p:nvPicPr>
            <p:cNvPr id="8" name="Picture 2">
              <a:hlinkClick r:id="rId6"/>
              <a:extLst>
                <a:ext uri="{FF2B5EF4-FFF2-40B4-BE49-F238E27FC236}">
                  <a16:creationId xmlns:a16="http://schemas.microsoft.com/office/drawing/2014/main" id="{444010F7-C350-3D51-35A2-27DA85398E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CBF775-CF6E-FBA8-BD75-F62192797396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gdrive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0B6D67-1C37-606D-E1BF-DDF74D9A820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150229" y="2143990"/>
            <a:ext cx="1255852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529AA6-CE93-59DF-F69F-F74194AB3746}"/>
              </a:ext>
            </a:extLst>
          </p:cNvPr>
          <p:cNvGrpSpPr/>
          <p:nvPr/>
        </p:nvGrpSpPr>
        <p:grpSpPr>
          <a:xfrm>
            <a:off x="7394008" y="1686790"/>
            <a:ext cx="1255728" cy="1283732"/>
            <a:chOff x="3032551" y="387638"/>
            <a:chExt cx="1255728" cy="1283732"/>
          </a:xfrm>
        </p:grpSpPr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B370B1A7-C295-E65E-364F-E35A2CEAB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8BB53B-CC27-03F5-E7A6-B8920B8EBE1A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E1CBEF-D1F5-6A2A-7B57-0C0A9727D41F}"/>
              </a:ext>
            </a:extLst>
          </p:cNvPr>
          <p:cNvCxnSpPr>
            <a:cxnSpLocks/>
          </p:cNvCxnSpPr>
          <p:nvPr/>
        </p:nvCxnSpPr>
        <p:spPr>
          <a:xfrm>
            <a:off x="6342469" y="2143990"/>
            <a:ext cx="1222203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736E192-F822-CDA6-A60F-BAE61A484E56}"/>
              </a:ext>
            </a:extLst>
          </p:cNvPr>
          <p:cNvSpPr txBox="1"/>
          <p:nvPr/>
        </p:nvSpPr>
        <p:spPr>
          <a:xfrm>
            <a:off x="4348758" y="1805436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rclone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C68DE7-6FB1-D1A7-5E99-544266BA3D60}"/>
              </a:ext>
            </a:extLst>
          </p:cNvPr>
          <p:cNvSpPr txBox="1"/>
          <p:nvPr/>
        </p:nvSpPr>
        <p:spPr>
          <a:xfrm>
            <a:off x="6535214" y="1805436"/>
            <a:ext cx="858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rclone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690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5000-E07A-FE66-E039-208E7EC95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7B91-3A6D-6ECD-076F-1F30C8192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19" y="166861"/>
            <a:ext cx="10515600" cy="1325563"/>
          </a:xfrm>
        </p:spPr>
        <p:txBody>
          <a:bodyPr/>
          <a:lstStyle/>
          <a:p>
            <a:r>
              <a:rPr lang="en-US" dirty="0"/>
              <a:t>Command line file transfer commands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2A55DA-5CAE-D186-9A7E-26B451E42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581559"/>
              </p:ext>
            </p:extLst>
          </p:nvPr>
        </p:nvGraphicFramePr>
        <p:xfrm>
          <a:off x="204427" y="1973301"/>
          <a:ext cx="11783145" cy="39928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964191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4818954">
                  <a:extLst>
                    <a:ext uri="{9D8B030D-6E8A-4147-A177-3AD203B41FA5}">
                      <a16:colId xmlns:a16="http://schemas.microsoft.com/office/drawing/2014/main" val="2492426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Consolas" panose="020B0609020204030204" pitchFamily="49" charset="0"/>
                        </a:rPr>
                        <a:t>cp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/</a:t>
                      </a:r>
                      <a:r>
                        <a:rPr lang="en-US" sz="2000" b="0" dirty="0">
                          <a:latin typeface="Consolas" panose="020B0609020204030204" pitchFamily="49" charset="0"/>
                        </a:rPr>
                        <a:t>mv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Computers must be networked already. Good for small transfers.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08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Consolas" panose="020B0609020204030204" pitchFamily="49" charset="0"/>
                        </a:rPr>
                        <a:t>rsync</a:t>
                      </a:r>
                      <a:r>
                        <a:rPr lang="en-US" sz="2000" b="0" dirty="0">
                          <a:latin typeface="Consolas" panose="020B0609020204030204" pitchFamily="49" charset="0"/>
                        </a:rPr>
                        <a:t> [OPTIONS] &lt;SOURCE FILE&gt; &lt;DESTINATION FILE&gt;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Can transfer between networked and non-networked machines.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84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Consolas" panose="020B0609020204030204" pitchFamily="49" charset="0"/>
                        </a:rPr>
                        <a:t>rclone</a:t>
                      </a:r>
                      <a:endParaRPr lang="en-US" sz="2000" b="0" dirty="0"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Good for longer file transfers, cloning without overwriting, and transferring from </a:t>
                      </a:r>
                      <a:r>
                        <a:rPr lang="en-US" sz="20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cloud services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  <a:endParaRPr lang="en-US" sz="20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scp</a:t>
                      </a:r>
                      <a:endParaRPr lang="en-US" sz="2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Similar to </a:t>
                      </a:r>
                      <a:r>
                        <a:rPr lang="en-US" sz="20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rsync</a:t>
                      </a:r>
                      <a:r>
                        <a:rPr lang="en-US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sftp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Similar to </a:t>
                      </a:r>
                      <a:r>
                        <a:rPr lang="en-US" sz="20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rsync</a:t>
                      </a:r>
                      <a:r>
                        <a:rPr lang="en-US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lftp</a:t>
                      </a:r>
                      <a:endParaRPr lang="en-US" sz="2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Similar to </a:t>
                      </a:r>
                      <a:r>
                        <a:rPr lang="en-US" sz="20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rsync</a:t>
                      </a:r>
                      <a:r>
                        <a:rPr lang="en-US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curl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Similar to </a:t>
                      </a:r>
                      <a:r>
                        <a:rPr lang="en-US" sz="20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rsync</a:t>
                      </a:r>
                      <a:r>
                        <a:rPr lang="en-US" sz="20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797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96C64-2773-9344-6B51-1946B83C6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A759C1-2DFA-B200-E5C1-DE19F6FD0E9B}"/>
              </a:ext>
            </a:extLst>
          </p:cNvPr>
          <p:cNvSpPr txBox="1">
            <a:spLocks/>
          </p:cNvSpPr>
          <p:nvPr/>
        </p:nvSpPr>
        <p:spPr>
          <a:xfrm>
            <a:off x="124392" y="1427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 dirty="0"/>
              <a:t>Graphical file transfer programs: </a:t>
            </a:r>
          </a:p>
          <a:p>
            <a:r>
              <a:rPr lang="en-US" b="1" dirty="0"/>
              <a:t>FTP</a:t>
            </a:r>
            <a:r>
              <a:rPr lang="en-US" dirty="0"/>
              <a:t> clients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6C5E75-C053-E2A8-E724-1D7B1BAB57A1}"/>
              </a:ext>
            </a:extLst>
          </p:cNvPr>
          <p:cNvGrpSpPr/>
          <p:nvPr/>
        </p:nvGrpSpPr>
        <p:grpSpPr>
          <a:xfrm>
            <a:off x="8664862" y="244715"/>
            <a:ext cx="1101648" cy="1283732"/>
            <a:chOff x="5643892" y="387638"/>
            <a:chExt cx="1101648" cy="1283732"/>
          </a:xfrm>
        </p:grpSpPr>
        <p:pic>
          <p:nvPicPr>
            <p:cNvPr id="26" name="Graphic 25" descr="Server with solid fill">
              <a:extLst>
                <a:ext uri="{FF2B5EF4-FFF2-40B4-BE49-F238E27FC236}">
                  <a16:creationId xmlns:a16="http://schemas.microsoft.com/office/drawing/2014/main" id="{F8A7DCA9-63FE-B09D-E5F2-307367A45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3A47B8-73D4-4E20-EB46-90E25F179FDC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13D609-1D67-CF67-943E-DD95697A11D2}"/>
              </a:ext>
            </a:extLst>
          </p:cNvPr>
          <p:cNvGrpSpPr/>
          <p:nvPr/>
        </p:nvGrpSpPr>
        <p:grpSpPr>
          <a:xfrm>
            <a:off x="10578256" y="249489"/>
            <a:ext cx="1161344" cy="1099066"/>
            <a:chOff x="2170185" y="4087564"/>
            <a:chExt cx="1161344" cy="109906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737E508-B91D-A9FE-2ED5-E5FABBFAE5F8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30" name="Graphic 29" descr="Computer with solid fill">
              <a:extLst>
                <a:ext uri="{FF2B5EF4-FFF2-40B4-BE49-F238E27FC236}">
                  <a16:creationId xmlns:a16="http://schemas.microsoft.com/office/drawing/2014/main" id="{41420E5C-806F-F52F-E9B9-C11F1540E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6F848B-61C9-6A15-488F-AEB0D888B623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9564130" y="706689"/>
            <a:ext cx="1137598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574808B-405C-541E-23E7-89D461B95216}"/>
              </a:ext>
            </a:extLst>
          </p:cNvPr>
          <p:cNvGrpSpPr/>
          <p:nvPr/>
        </p:nvGrpSpPr>
        <p:grpSpPr>
          <a:xfrm>
            <a:off x="10506350" y="1952942"/>
            <a:ext cx="1255728" cy="1283732"/>
            <a:chOff x="3032551" y="387638"/>
            <a:chExt cx="1255728" cy="1283732"/>
          </a:xfrm>
        </p:grpSpPr>
        <p:pic>
          <p:nvPicPr>
            <p:cNvPr id="33" name="Graphic 32" descr="Server with solid fill">
              <a:extLst>
                <a:ext uri="{FF2B5EF4-FFF2-40B4-BE49-F238E27FC236}">
                  <a16:creationId xmlns:a16="http://schemas.microsoft.com/office/drawing/2014/main" id="{404397CB-16F5-B2D7-C85C-ADC93246E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50A7D8A-11C0-F943-B415-BC7D253257CC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7FD974-F4B5-8476-2326-C02D52B7AB6E}"/>
              </a:ext>
            </a:extLst>
          </p:cNvPr>
          <p:cNvCxnSpPr>
            <a:cxnSpLocks/>
          </p:cNvCxnSpPr>
          <p:nvPr/>
        </p:nvCxnSpPr>
        <p:spPr>
          <a:xfrm>
            <a:off x="11134214" y="1325563"/>
            <a:ext cx="0" cy="65913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65CE29-CB8D-F7BB-4063-1002CCD405D8}"/>
              </a:ext>
            </a:extLst>
          </p:cNvPr>
          <p:cNvSpPr txBox="1"/>
          <p:nvPr/>
        </p:nvSpPr>
        <p:spPr>
          <a:xfrm>
            <a:off x="9688134" y="408865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FTP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73BF6D-948D-3822-8F2F-1B129BD8A3E0}"/>
              </a:ext>
            </a:extLst>
          </p:cNvPr>
          <p:cNvSpPr txBox="1"/>
          <p:nvPr/>
        </p:nvSpPr>
        <p:spPr>
          <a:xfrm>
            <a:off x="10506350" y="1535961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FTP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365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7434-3729-BCE9-2AE9-3D9B7EA8A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AA60A0A5-3043-751C-A03F-4529EC6F3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9" y="2453502"/>
            <a:ext cx="3839510" cy="827679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3F0C2756-27C7-929D-F150-D0D37BA0E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453" y="1721579"/>
            <a:ext cx="5181045" cy="451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6E599DA-EFF6-3861-0321-CE6FA32D9A16}"/>
              </a:ext>
            </a:extLst>
          </p:cNvPr>
          <p:cNvSpPr txBox="1">
            <a:spLocks/>
          </p:cNvSpPr>
          <p:nvPr/>
        </p:nvSpPr>
        <p:spPr>
          <a:xfrm>
            <a:off x="124392" y="1427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 dirty="0"/>
              <a:t>Graphical file transfer programs: </a:t>
            </a:r>
          </a:p>
          <a:p>
            <a:r>
              <a:rPr lang="en-US" b="1" dirty="0"/>
              <a:t>FTP</a:t>
            </a:r>
            <a:r>
              <a:rPr lang="en-US" dirty="0"/>
              <a:t> clients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8E7B06-0EF7-BE2E-AF5D-7EF7782ADDD2}"/>
              </a:ext>
            </a:extLst>
          </p:cNvPr>
          <p:cNvSpPr txBox="1"/>
          <p:nvPr/>
        </p:nvSpPr>
        <p:spPr>
          <a:xfrm>
            <a:off x="1055788" y="3392154"/>
            <a:ext cx="2807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https://filezilla-project.org/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3496133-7831-FEA9-0DCF-2413C8A64FE2}"/>
              </a:ext>
            </a:extLst>
          </p:cNvPr>
          <p:cNvGrpSpPr/>
          <p:nvPr/>
        </p:nvGrpSpPr>
        <p:grpSpPr>
          <a:xfrm>
            <a:off x="8664862" y="244715"/>
            <a:ext cx="1101648" cy="1283732"/>
            <a:chOff x="5643892" y="387638"/>
            <a:chExt cx="1101648" cy="1283732"/>
          </a:xfrm>
        </p:grpSpPr>
        <p:pic>
          <p:nvPicPr>
            <p:cNvPr id="26" name="Graphic 25" descr="Server with solid fill">
              <a:extLst>
                <a:ext uri="{FF2B5EF4-FFF2-40B4-BE49-F238E27FC236}">
                  <a16:creationId xmlns:a16="http://schemas.microsoft.com/office/drawing/2014/main" id="{3631AA85-FDBE-D8F8-2FAE-251C98F73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1D8082D-197E-3A7C-E8DA-389ACBA74095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55D4928-0D64-CDC2-3B27-4E18D8F2F89A}"/>
              </a:ext>
            </a:extLst>
          </p:cNvPr>
          <p:cNvGrpSpPr/>
          <p:nvPr/>
        </p:nvGrpSpPr>
        <p:grpSpPr>
          <a:xfrm>
            <a:off x="10578256" y="249489"/>
            <a:ext cx="1161344" cy="1099066"/>
            <a:chOff x="2170185" y="4087564"/>
            <a:chExt cx="1161344" cy="109906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E678370-7FB6-E664-06CA-DC97EDB9AE81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30" name="Graphic 29" descr="Computer with solid fill">
              <a:extLst>
                <a:ext uri="{FF2B5EF4-FFF2-40B4-BE49-F238E27FC236}">
                  <a16:creationId xmlns:a16="http://schemas.microsoft.com/office/drawing/2014/main" id="{A039966C-8E17-6A04-7627-4346397BB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53EC5E5-C8CC-6889-2553-16C34D761F75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9564130" y="706689"/>
            <a:ext cx="1137598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498216-1019-59D2-A69C-DF04082448B1}"/>
              </a:ext>
            </a:extLst>
          </p:cNvPr>
          <p:cNvGrpSpPr/>
          <p:nvPr/>
        </p:nvGrpSpPr>
        <p:grpSpPr>
          <a:xfrm>
            <a:off x="10506350" y="1952942"/>
            <a:ext cx="1255728" cy="1283732"/>
            <a:chOff x="3032551" y="387638"/>
            <a:chExt cx="1255728" cy="1283732"/>
          </a:xfrm>
        </p:grpSpPr>
        <p:pic>
          <p:nvPicPr>
            <p:cNvPr id="33" name="Graphic 32" descr="Server with solid fill">
              <a:extLst>
                <a:ext uri="{FF2B5EF4-FFF2-40B4-BE49-F238E27FC236}">
                  <a16:creationId xmlns:a16="http://schemas.microsoft.com/office/drawing/2014/main" id="{A1C4E423-EF9D-D4F0-B19D-DC3811DB5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57F68A-CCB4-2A80-6A68-2815A77E4778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A40E269-197D-F739-5D78-0949F542A520}"/>
              </a:ext>
            </a:extLst>
          </p:cNvPr>
          <p:cNvCxnSpPr>
            <a:cxnSpLocks/>
          </p:cNvCxnSpPr>
          <p:nvPr/>
        </p:nvCxnSpPr>
        <p:spPr>
          <a:xfrm>
            <a:off x="11134214" y="1325563"/>
            <a:ext cx="0" cy="65913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0A40241-5FEE-35FE-9B8B-2384ACB71633}"/>
              </a:ext>
            </a:extLst>
          </p:cNvPr>
          <p:cNvSpPr txBox="1"/>
          <p:nvPr/>
        </p:nvSpPr>
        <p:spPr>
          <a:xfrm>
            <a:off x="9688134" y="408865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B7FC57-EA2A-A6BF-7132-8F253597DCEF}"/>
              </a:ext>
            </a:extLst>
          </p:cNvPr>
          <p:cNvSpPr txBox="1"/>
          <p:nvPr/>
        </p:nvSpPr>
        <p:spPr>
          <a:xfrm>
            <a:off x="10300134" y="1523790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446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93D6-549A-49BA-A584-5DDFB867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1132-D36F-FCDF-0153-5AD3B0A7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Filezilla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CE5B7-A4F2-C1A6-E6EC-310606503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Secure File Transfer Protocol (SFTP) application</a:t>
            </a:r>
          </a:p>
          <a:p>
            <a:r>
              <a:rPr lang="en-US" dirty="0"/>
              <a:t>Available on Mac, Windows, and Linux</a:t>
            </a:r>
          </a:p>
          <a:p>
            <a:r>
              <a:rPr lang="en-US" dirty="0"/>
              <a:t>Instructions to set up on FASRC Docs page</a:t>
            </a:r>
          </a:p>
          <a:p>
            <a:pPr lvl="1"/>
            <a:r>
              <a:rPr lang="en-US" dirty="0">
                <a:hlinkClick r:id="rId2"/>
              </a:rPr>
              <a:t>https://docs.rc.fas.harvard.edu/kb/sftp-file-transfer/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043A8133-9255-529E-6661-3323EE983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35" y="408865"/>
            <a:ext cx="3839510" cy="82767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751E95B-BE02-D8A5-4179-8CC33D85F949}"/>
              </a:ext>
            </a:extLst>
          </p:cNvPr>
          <p:cNvGrpSpPr/>
          <p:nvPr/>
        </p:nvGrpSpPr>
        <p:grpSpPr>
          <a:xfrm>
            <a:off x="8664862" y="244715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F8222F7F-523C-F73A-3188-41347C3FD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2FE939-E10D-5A7F-CD7D-0EDA0A5BEACD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C3C16A4-9EEB-0E0E-AA55-95C881C740FD}"/>
              </a:ext>
            </a:extLst>
          </p:cNvPr>
          <p:cNvGrpSpPr/>
          <p:nvPr/>
        </p:nvGrpSpPr>
        <p:grpSpPr>
          <a:xfrm>
            <a:off x="10578256" y="249489"/>
            <a:ext cx="1161344" cy="1099066"/>
            <a:chOff x="2170185" y="4087564"/>
            <a:chExt cx="1161344" cy="10990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6420D4-9951-D0CE-1FD6-050B42E3DFB1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9" name="Graphic 8" descr="Computer with solid fill">
              <a:extLst>
                <a:ext uri="{FF2B5EF4-FFF2-40B4-BE49-F238E27FC236}">
                  <a16:creationId xmlns:a16="http://schemas.microsoft.com/office/drawing/2014/main" id="{35DF95B0-2907-D73A-04A2-73D760D2F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1BD17C-366F-7D19-3E65-BEFF8275BFA7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9564130" y="706689"/>
            <a:ext cx="1137598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3C6387-5287-50D0-E5EE-24B8C304DDB3}"/>
              </a:ext>
            </a:extLst>
          </p:cNvPr>
          <p:cNvGrpSpPr/>
          <p:nvPr/>
        </p:nvGrpSpPr>
        <p:grpSpPr>
          <a:xfrm>
            <a:off x="10506350" y="1952942"/>
            <a:ext cx="1255728" cy="1283732"/>
            <a:chOff x="3032551" y="387638"/>
            <a:chExt cx="1255728" cy="1283732"/>
          </a:xfrm>
        </p:grpSpPr>
        <p:pic>
          <p:nvPicPr>
            <p:cNvPr id="12" name="Graphic 11" descr="Server with solid fill">
              <a:extLst>
                <a:ext uri="{FF2B5EF4-FFF2-40B4-BE49-F238E27FC236}">
                  <a16:creationId xmlns:a16="http://schemas.microsoft.com/office/drawing/2014/main" id="{2BBB0294-525E-A018-3DD3-D322F060D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7634F9-1CE4-AB8F-F211-5FD9FA281BEF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4293D1-4C42-8FF0-ACE9-F3C51EC419D1}"/>
              </a:ext>
            </a:extLst>
          </p:cNvPr>
          <p:cNvCxnSpPr>
            <a:cxnSpLocks/>
          </p:cNvCxnSpPr>
          <p:nvPr/>
        </p:nvCxnSpPr>
        <p:spPr>
          <a:xfrm>
            <a:off x="11134214" y="1325563"/>
            <a:ext cx="0" cy="65913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71B7C2-F21C-CB1D-5941-8BDBF7A62884}"/>
              </a:ext>
            </a:extLst>
          </p:cNvPr>
          <p:cNvSpPr txBox="1"/>
          <p:nvPr/>
        </p:nvSpPr>
        <p:spPr>
          <a:xfrm>
            <a:off x="9688134" y="408865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19BCE2-5582-549B-14E0-A760EA3E48FD}"/>
              </a:ext>
            </a:extLst>
          </p:cNvPr>
          <p:cNvSpPr txBox="1"/>
          <p:nvPr/>
        </p:nvSpPr>
        <p:spPr>
          <a:xfrm>
            <a:off x="10300134" y="1523790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878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E83A7-BB90-949B-0DCA-9859B444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Filezilla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5B4A6-C0CF-0368-01E0-9F66B0F9F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Secure File Transfer Protocol (SFTP) application</a:t>
            </a:r>
          </a:p>
          <a:p>
            <a:r>
              <a:rPr lang="en-US" dirty="0"/>
              <a:t>Available on Mac, Windows, and Linux</a:t>
            </a:r>
          </a:p>
          <a:p>
            <a:r>
              <a:rPr lang="en-US" dirty="0"/>
              <a:t>Instructions to set up on FASRC Docs page</a:t>
            </a:r>
          </a:p>
          <a:p>
            <a:pPr lvl="1"/>
            <a:r>
              <a:rPr lang="en-US" dirty="0">
                <a:hlinkClick r:id="rId2"/>
              </a:rPr>
              <a:t>https://docs.rc.fas.harvard.edu/kb/sftp-file-transfer/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Demo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Open site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Connect to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login.rc.fas.harvard.edu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with SFTP and interactive login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(optional) choose default remote directory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Limit the number of simultaneous connections to 1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5CB52076-0DFD-AFF5-39EE-32B8F0555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35" y="408865"/>
            <a:ext cx="3839510" cy="82767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F423068-7550-9D6E-2BE7-6C028235783E}"/>
              </a:ext>
            </a:extLst>
          </p:cNvPr>
          <p:cNvGrpSpPr/>
          <p:nvPr/>
        </p:nvGrpSpPr>
        <p:grpSpPr>
          <a:xfrm>
            <a:off x="8664862" y="244715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4700A7D3-0BAE-C14E-3C3D-8A3B71E34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9E6100-7B67-983E-67AA-5DFF45B6B25B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E3E69FF-AB20-26FC-BEA7-05181B79A827}"/>
              </a:ext>
            </a:extLst>
          </p:cNvPr>
          <p:cNvGrpSpPr/>
          <p:nvPr/>
        </p:nvGrpSpPr>
        <p:grpSpPr>
          <a:xfrm>
            <a:off x="10578256" y="249489"/>
            <a:ext cx="1161344" cy="1099066"/>
            <a:chOff x="2170185" y="4087564"/>
            <a:chExt cx="1161344" cy="10990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310B73-86A9-4F66-877F-FE44C18D8375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9" name="Graphic 8" descr="Computer with solid fill">
              <a:extLst>
                <a:ext uri="{FF2B5EF4-FFF2-40B4-BE49-F238E27FC236}">
                  <a16:creationId xmlns:a16="http://schemas.microsoft.com/office/drawing/2014/main" id="{40152C68-E64A-0B23-3A97-45C3A9EF6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39BBEB-7642-E02D-7E8C-899D84754A3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9564130" y="706689"/>
            <a:ext cx="1137598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54D16B-997F-657A-724D-A0665C51F957}"/>
              </a:ext>
            </a:extLst>
          </p:cNvPr>
          <p:cNvGrpSpPr/>
          <p:nvPr/>
        </p:nvGrpSpPr>
        <p:grpSpPr>
          <a:xfrm>
            <a:off x="10506350" y="1952942"/>
            <a:ext cx="1255728" cy="1283732"/>
            <a:chOff x="3032551" y="387638"/>
            <a:chExt cx="1255728" cy="1283732"/>
          </a:xfrm>
        </p:grpSpPr>
        <p:pic>
          <p:nvPicPr>
            <p:cNvPr id="12" name="Graphic 11" descr="Server with solid fill">
              <a:extLst>
                <a:ext uri="{FF2B5EF4-FFF2-40B4-BE49-F238E27FC236}">
                  <a16:creationId xmlns:a16="http://schemas.microsoft.com/office/drawing/2014/main" id="{6EB5F08C-B3E1-2CDA-10D2-82314805E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C6BDC4-9D02-DA87-49C5-F66BF455875C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D96ED8A-AB0F-C47A-CE68-AB1B60B2E697}"/>
              </a:ext>
            </a:extLst>
          </p:cNvPr>
          <p:cNvCxnSpPr>
            <a:cxnSpLocks/>
          </p:cNvCxnSpPr>
          <p:nvPr/>
        </p:nvCxnSpPr>
        <p:spPr>
          <a:xfrm>
            <a:off x="11134214" y="1325563"/>
            <a:ext cx="0" cy="65913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F8CA751-EB5F-2B9D-C888-D6F14E38D060}"/>
              </a:ext>
            </a:extLst>
          </p:cNvPr>
          <p:cNvSpPr txBox="1"/>
          <p:nvPr/>
        </p:nvSpPr>
        <p:spPr>
          <a:xfrm>
            <a:off x="9688134" y="408865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ED220A-485E-0531-C7A6-C84F7A902C0A}"/>
              </a:ext>
            </a:extLst>
          </p:cNvPr>
          <p:cNvSpPr txBox="1"/>
          <p:nvPr/>
        </p:nvSpPr>
        <p:spPr>
          <a:xfrm>
            <a:off x="10300134" y="1523790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722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48C4-2FC8-A1A1-3A88-0D9C4F94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74" y="89284"/>
            <a:ext cx="10515600" cy="1325563"/>
          </a:xfrm>
        </p:spPr>
        <p:txBody>
          <a:bodyPr/>
          <a:lstStyle/>
          <a:p>
            <a:r>
              <a:rPr lang="en-US" b="1" dirty="0"/>
              <a:t>Mounting</a:t>
            </a:r>
            <a:r>
              <a:rPr lang="en-US" dirty="0"/>
              <a:t> folders to local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9810C-D812-A3BB-AD05-D961978C0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330" y="2092310"/>
            <a:ext cx="4891216" cy="4351338"/>
          </a:xfrm>
        </p:spPr>
        <p:txBody>
          <a:bodyPr>
            <a:normAutofit/>
          </a:bodyPr>
          <a:lstStyle/>
          <a:p>
            <a:r>
              <a:rPr lang="en-US" dirty="0"/>
              <a:t>Most intuitive, but limited potential use: only tier 1 and tier 2 storage is mountable, not tier 0 or scratch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873E92D-27BA-11EF-6EA7-CF75D0DC3C47}"/>
              </a:ext>
            </a:extLst>
          </p:cNvPr>
          <p:cNvGrpSpPr/>
          <p:nvPr/>
        </p:nvGrpSpPr>
        <p:grpSpPr>
          <a:xfrm>
            <a:off x="8958649" y="579328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03536E63-5F3C-5203-B56A-B3BB466C9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CE85B7-EAE1-3660-3D8C-97B0BCF99685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C4FF97E-AF53-80E4-918B-9354BB3016A7}"/>
              </a:ext>
            </a:extLst>
          </p:cNvPr>
          <p:cNvGrpSpPr/>
          <p:nvPr/>
        </p:nvGrpSpPr>
        <p:grpSpPr>
          <a:xfrm>
            <a:off x="10573797" y="633597"/>
            <a:ext cx="1161344" cy="1099066"/>
            <a:chOff x="2170185" y="4087564"/>
            <a:chExt cx="1161344" cy="10990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A31A3D-6242-701A-5E13-23459AFDD18F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9" name="Graphic 8" descr="Computer with solid fill">
              <a:extLst>
                <a:ext uri="{FF2B5EF4-FFF2-40B4-BE49-F238E27FC236}">
                  <a16:creationId xmlns:a16="http://schemas.microsoft.com/office/drawing/2014/main" id="{54F769C9-F758-C69B-9AD7-B13CA726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459D6D-8F63-59CB-8D0C-D7C91EDB0B7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9873049" y="1090797"/>
            <a:ext cx="824220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Map Google Drive to File Explorer – Mount via CloudMounter">
            <a:extLst>
              <a:ext uri="{FF2B5EF4-FFF2-40B4-BE49-F238E27FC236}">
                <a16:creationId xmlns:a16="http://schemas.microsoft.com/office/drawing/2014/main" id="{8B6FEC7B-A2DF-773B-8E93-0CF94A32E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9" y="1414847"/>
            <a:ext cx="6184126" cy="443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A518AC-20E1-5A33-21BB-4828B230BDE7}"/>
              </a:ext>
            </a:extLst>
          </p:cNvPr>
          <p:cNvSpPr txBox="1"/>
          <p:nvPr/>
        </p:nvSpPr>
        <p:spPr>
          <a:xfrm>
            <a:off x="6331469" y="4488246"/>
            <a:ext cx="5441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hlinkClick r:id="rId7"/>
              </a:rPr>
              <a:t>https://docs.rc.fas.harvard.edu/kb/mounting-storage/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AB89B5-ED71-91F1-4530-537FAE42C416}"/>
              </a:ext>
            </a:extLst>
          </p:cNvPr>
          <p:cNvSpPr txBox="1"/>
          <p:nvPr/>
        </p:nvSpPr>
        <p:spPr>
          <a:xfrm>
            <a:off x="9855762" y="827573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Mount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243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0824-C299-1407-1AED-469839C0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C9D7-E35F-357B-3DC2-BB58FEC3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35" y="125031"/>
            <a:ext cx="10515600" cy="1325563"/>
          </a:xfrm>
        </p:spPr>
        <p:txBody>
          <a:bodyPr/>
          <a:lstStyle/>
          <a:p>
            <a:r>
              <a:rPr lang="en-US" dirty="0"/>
              <a:t>Globus file transfer</a:t>
            </a:r>
          </a:p>
        </p:txBody>
      </p:sp>
      <p:pic>
        <p:nvPicPr>
          <p:cNvPr id="12" name="Content Placeholder 11" descr="A blue and white logo&#10;&#10;AI-generated content may be incorrect.">
            <a:extLst>
              <a:ext uri="{FF2B5EF4-FFF2-40B4-BE49-F238E27FC236}">
                <a16:creationId xmlns:a16="http://schemas.microsoft.com/office/drawing/2014/main" id="{DBF3CBAE-708F-BC1A-A8AC-654297FD5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8915" y="286006"/>
            <a:ext cx="3530600" cy="977900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4E040D5-2C85-AC71-4322-3389EEB11A0E}"/>
              </a:ext>
            </a:extLst>
          </p:cNvPr>
          <p:cNvGrpSpPr/>
          <p:nvPr/>
        </p:nvGrpSpPr>
        <p:grpSpPr>
          <a:xfrm>
            <a:off x="7004246" y="1864519"/>
            <a:ext cx="1255728" cy="1283732"/>
            <a:chOff x="3032551" y="387638"/>
            <a:chExt cx="1255728" cy="1283732"/>
          </a:xfrm>
        </p:grpSpPr>
        <p:pic>
          <p:nvPicPr>
            <p:cNvPr id="14" name="Graphic 13" descr="Server with solid fill">
              <a:extLst>
                <a:ext uri="{FF2B5EF4-FFF2-40B4-BE49-F238E27FC236}">
                  <a16:creationId xmlns:a16="http://schemas.microsoft.com/office/drawing/2014/main" id="{D641AA42-F0B7-DDC2-5184-7C484EDBB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BF1F616-F6AA-6661-2B94-06CE03C18729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A0CAE2-3091-16AF-72B9-42FA76CFF60D}"/>
              </a:ext>
            </a:extLst>
          </p:cNvPr>
          <p:cNvGrpSpPr/>
          <p:nvPr/>
        </p:nvGrpSpPr>
        <p:grpSpPr>
          <a:xfrm>
            <a:off x="8500341" y="1864519"/>
            <a:ext cx="2007281" cy="1541312"/>
            <a:chOff x="5246009" y="387638"/>
            <a:chExt cx="2007281" cy="1541312"/>
          </a:xfrm>
        </p:grpSpPr>
        <p:pic>
          <p:nvPicPr>
            <p:cNvPr id="17" name="Graphic 16" descr="Server with solid fill">
              <a:extLst>
                <a:ext uri="{FF2B5EF4-FFF2-40B4-BE49-F238E27FC236}">
                  <a16:creationId xmlns:a16="http://schemas.microsoft.com/office/drawing/2014/main" id="{0E2AB2AB-4DFC-2E3A-E222-362498431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58B139-6C5D-0CB9-9678-BC7468CA5EF1}"/>
                </a:ext>
              </a:extLst>
            </p:cNvPr>
            <p:cNvSpPr txBox="1"/>
            <p:nvPr/>
          </p:nvSpPr>
          <p:spPr>
            <a:xfrm>
              <a:off x="5246009" y="1282619"/>
              <a:ext cx="20072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  <a:p>
              <a:pPr algn="ctr"/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(</a:t>
              </a:r>
              <a:r>
                <a:rPr lang="en-US" b="1" dirty="0">
                  <a:latin typeface="Consolas" panose="020B0609020204030204" pitchFamily="49" charset="0"/>
                  <a:ea typeface="Source Sans Pro" panose="020B0503030403020204" pitchFamily="34" charset="0"/>
                </a:rPr>
                <a:t>Lab/</a:t>
              </a:r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folder only)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27AA1F-FFBA-64FE-A801-DD1C97192220}"/>
              </a:ext>
            </a:extLst>
          </p:cNvPr>
          <p:cNvGrpSpPr/>
          <p:nvPr/>
        </p:nvGrpSpPr>
        <p:grpSpPr>
          <a:xfrm>
            <a:off x="10762316" y="1864519"/>
            <a:ext cx="914400" cy="1283732"/>
            <a:chOff x="8288401" y="387638"/>
            <a:chExt cx="914400" cy="1283732"/>
          </a:xfrm>
        </p:grpSpPr>
        <p:pic>
          <p:nvPicPr>
            <p:cNvPr id="20" name="Graphic 19" descr="Server with solid fill">
              <a:extLst>
                <a:ext uri="{FF2B5EF4-FFF2-40B4-BE49-F238E27FC236}">
                  <a16:creationId xmlns:a16="http://schemas.microsoft.com/office/drawing/2014/main" id="{D6897317-5367-36B5-903B-C8E31291E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E0E3F6-6BFC-DE3F-8753-C50206CC0948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tape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B75B2D-E672-22C0-7F0A-F6DEE8FFB708}"/>
              </a:ext>
            </a:extLst>
          </p:cNvPr>
          <p:cNvGrpSpPr/>
          <p:nvPr/>
        </p:nvGrpSpPr>
        <p:grpSpPr>
          <a:xfrm>
            <a:off x="9325576" y="3863031"/>
            <a:ext cx="1161344" cy="1099066"/>
            <a:chOff x="2170185" y="4087564"/>
            <a:chExt cx="1161344" cy="109906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08E2B3-619B-9296-0E2C-7675704EE0FA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24" name="Graphic 23" descr="Computer with solid fill">
              <a:extLst>
                <a:ext uri="{FF2B5EF4-FFF2-40B4-BE49-F238E27FC236}">
                  <a16:creationId xmlns:a16="http://schemas.microsoft.com/office/drawing/2014/main" id="{B23607C3-27B7-0FAC-406C-E5433DD92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1D43E0-62E9-BA21-516B-9B2C235B2436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089310" y="2320453"/>
            <a:ext cx="902538" cy="1266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C59A37-10AB-EC64-68A8-4AAF80DD929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9894386" y="2320453"/>
            <a:ext cx="867930" cy="126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C7E9B4-5278-EBD3-B8CA-02DFD2B5F72A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9503982" y="3405831"/>
            <a:ext cx="321400" cy="591971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FF1A71F-1BE1-72A8-27C2-6D8D7C4A2DDF}"/>
              </a:ext>
            </a:extLst>
          </p:cNvPr>
          <p:cNvCxnSpPr>
            <a:cxnSpLocks/>
            <a:stCxn id="24" idx="1"/>
            <a:endCxn id="15" idx="2"/>
          </p:cNvCxnSpPr>
          <p:nvPr/>
        </p:nvCxnSpPr>
        <p:spPr>
          <a:xfrm flipH="1" flipV="1">
            <a:off x="7632110" y="3148251"/>
            <a:ext cx="1816938" cy="117198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C6F6AC-450E-9E1C-DE09-6EA94E6C9259}"/>
              </a:ext>
            </a:extLst>
          </p:cNvPr>
          <p:cNvSpPr txBox="1"/>
          <p:nvPr/>
        </p:nvSpPr>
        <p:spPr>
          <a:xfrm>
            <a:off x="8111182" y="2051348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80FB8B-6C1B-149D-7BB7-AF601EBF28A5}"/>
              </a:ext>
            </a:extLst>
          </p:cNvPr>
          <p:cNvSpPr txBox="1"/>
          <p:nvPr/>
        </p:nvSpPr>
        <p:spPr>
          <a:xfrm>
            <a:off x="8225230" y="3425250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A4BA91-2346-2A8F-B95A-A5A63FE588A3}"/>
              </a:ext>
            </a:extLst>
          </p:cNvPr>
          <p:cNvSpPr txBox="1"/>
          <p:nvPr/>
        </p:nvSpPr>
        <p:spPr>
          <a:xfrm>
            <a:off x="9512861" y="3507473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447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E5DF-DD42-DA91-FC50-53C7F16D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7CB1-E075-C8C9-250B-536991CF5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35" y="125031"/>
            <a:ext cx="10515600" cy="1325563"/>
          </a:xfrm>
        </p:spPr>
        <p:txBody>
          <a:bodyPr/>
          <a:lstStyle/>
          <a:p>
            <a:r>
              <a:rPr lang="en-US" dirty="0"/>
              <a:t>Globus file transfer</a:t>
            </a:r>
          </a:p>
        </p:txBody>
      </p:sp>
      <p:pic>
        <p:nvPicPr>
          <p:cNvPr id="12" name="Content Placeholder 11" descr="A blue and white logo&#10;&#10;AI-generated content may be incorrect.">
            <a:extLst>
              <a:ext uri="{FF2B5EF4-FFF2-40B4-BE49-F238E27FC236}">
                <a16:creationId xmlns:a16="http://schemas.microsoft.com/office/drawing/2014/main" id="{1DFDC6BF-DA23-37A8-94B6-448A4D493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8915" y="286006"/>
            <a:ext cx="3530600" cy="977900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F98E2F0-9A2F-3158-1C95-9EBA27CED635}"/>
              </a:ext>
            </a:extLst>
          </p:cNvPr>
          <p:cNvGrpSpPr/>
          <p:nvPr/>
        </p:nvGrpSpPr>
        <p:grpSpPr>
          <a:xfrm>
            <a:off x="7004246" y="1864519"/>
            <a:ext cx="1255728" cy="1283732"/>
            <a:chOff x="3032551" y="387638"/>
            <a:chExt cx="1255728" cy="1283732"/>
          </a:xfrm>
        </p:grpSpPr>
        <p:pic>
          <p:nvPicPr>
            <p:cNvPr id="14" name="Graphic 13" descr="Server with solid fill">
              <a:extLst>
                <a:ext uri="{FF2B5EF4-FFF2-40B4-BE49-F238E27FC236}">
                  <a16:creationId xmlns:a16="http://schemas.microsoft.com/office/drawing/2014/main" id="{A697F18A-C21B-BCE3-8678-AD9F2F925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967954-E3D6-D3A8-170B-7F4D14A41102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F0A082-2F43-5EE8-EE4D-65E5C0442766}"/>
              </a:ext>
            </a:extLst>
          </p:cNvPr>
          <p:cNvGrpSpPr/>
          <p:nvPr/>
        </p:nvGrpSpPr>
        <p:grpSpPr>
          <a:xfrm>
            <a:off x="8500341" y="1864519"/>
            <a:ext cx="2007281" cy="1541312"/>
            <a:chOff x="5246009" y="387638"/>
            <a:chExt cx="2007281" cy="1541312"/>
          </a:xfrm>
        </p:grpSpPr>
        <p:pic>
          <p:nvPicPr>
            <p:cNvPr id="17" name="Graphic 16" descr="Server with solid fill">
              <a:extLst>
                <a:ext uri="{FF2B5EF4-FFF2-40B4-BE49-F238E27FC236}">
                  <a16:creationId xmlns:a16="http://schemas.microsoft.com/office/drawing/2014/main" id="{DDB6EF02-9EC6-D9D4-38C6-446291CBE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1D0837-BAB1-D793-E292-7222C3DD851A}"/>
                </a:ext>
              </a:extLst>
            </p:cNvPr>
            <p:cNvSpPr txBox="1"/>
            <p:nvPr/>
          </p:nvSpPr>
          <p:spPr>
            <a:xfrm>
              <a:off x="5246009" y="1282619"/>
              <a:ext cx="20072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  <a:p>
              <a:pPr algn="ctr"/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(</a:t>
              </a:r>
              <a:r>
                <a:rPr lang="en-US" b="1" dirty="0">
                  <a:latin typeface="Consolas" panose="020B0609020204030204" pitchFamily="49" charset="0"/>
                  <a:ea typeface="Source Sans Pro" panose="020B0503030403020204" pitchFamily="34" charset="0"/>
                </a:rPr>
                <a:t>Lab/</a:t>
              </a:r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folder only)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B89B073-9060-4751-0446-D814091B8F26}"/>
              </a:ext>
            </a:extLst>
          </p:cNvPr>
          <p:cNvGrpSpPr/>
          <p:nvPr/>
        </p:nvGrpSpPr>
        <p:grpSpPr>
          <a:xfrm>
            <a:off x="10762316" y="1864519"/>
            <a:ext cx="914400" cy="1283732"/>
            <a:chOff x="8288401" y="387638"/>
            <a:chExt cx="914400" cy="1283732"/>
          </a:xfrm>
        </p:grpSpPr>
        <p:pic>
          <p:nvPicPr>
            <p:cNvPr id="20" name="Graphic 19" descr="Server with solid fill">
              <a:extLst>
                <a:ext uri="{FF2B5EF4-FFF2-40B4-BE49-F238E27FC236}">
                  <a16:creationId xmlns:a16="http://schemas.microsoft.com/office/drawing/2014/main" id="{C05BE2F9-0902-E1B3-51A1-24608129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CF41F3-CBCE-DE92-B8B5-10EF1F953506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tape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921D85-79D8-E46D-53E0-FA0DA42EB697}"/>
              </a:ext>
            </a:extLst>
          </p:cNvPr>
          <p:cNvGrpSpPr/>
          <p:nvPr/>
        </p:nvGrpSpPr>
        <p:grpSpPr>
          <a:xfrm>
            <a:off x="9325576" y="3863031"/>
            <a:ext cx="1161344" cy="1099066"/>
            <a:chOff x="2170185" y="4087564"/>
            <a:chExt cx="1161344" cy="109906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54EE4A-7F4A-50C5-FB43-AD31B1591894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24" name="Graphic 23" descr="Computer with solid fill">
              <a:extLst>
                <a:ext uri="{FF2B5EF4-FFF2-40B4-BE49-F238E27FC236}">
                  <a16:creationId xmlns:a16="http://schemas.microsoft.com/office/drawing/2014/main" id="{5F5BEE0F-E9FE-8AE6-B0C3-D97004C99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0FD085-916B-4296-1F2E-28C6E82C33FB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089310" y="2320453"/>
            <a:ext cx="902538" cy="1266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18BD40-78B0-4DD7-BD44-3F5B106D99C9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9894386" y="2320453"/>
            <a:ext cx="867930" cy="126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D9C6C0-0A00-039C-4434-8C9C31DD0B0E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9503982" y="3405831"/>
            <a:ext cx="321400" cy="591971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37A154-2CDB-AF68-9E9B-BB6FCD8B1620}"/>
              </a:ext>
            </a:extLst>
          </p:cNvPr>
          <p:cNvCxnSpPr>
            <a:cxnSpLocks/>
            <a:stCxn id="24" idx="1"/>
            <a:endCxn id="15" idx="2"/>
          </p:cNvCxnSpPr>
          <p:nvPr/>
        </p:nvCxnSpPr>
        <p:spPr>
          <a:xfrm flipH="1" flipV="1">
            <a:off x="7632110" y="3148251"/>
            <a:ext cx="1816938" cy="117198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2A0C04F-2EBD-8DEB-ED2C-2D0CB05BAD1D}"/>
              </a:ext>
            </a:extLst>
          </p:cNvPr>
          <p:cNvSpPr txBox="1"/>
          <p:nvPr/>
        </p:nvSpPr>
        <p:spPr>
          <a:xfrm>
            <a:off x="8111182" y="2051348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D6C44-0142-54B0-CEBE-277753C1DCC3}"/>
              </a:ext>
            </a:extLst>
          </p:cNvPr>
          <p:cNvSpPr txBox="1"/>
          <p:nvPr/>
        </p:nvSpPr>
        <p:spPr>
          <a:xfrm>
            <a:off x="8225230" y="3425250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33E8F-5CBB-4A45-8944-7D1137BF2748}"/>
              </a:ext>
            </a:extLst>
          </p:cNvPr>
          <p:cNvSpPr txBox="1"/>
          <p:nvPr/>
        </p:nvSpPr>
        <p:spPr>
          <a:xfrm>
            <a:off x="9512861" y="3507473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B0C54-8D5F-9CEE-5D40-55F12A21C3AD}"/>
              </a:ext>
            </a:extLst>
          </p:cNvPr>
          <p:cNvSpPr txBox="1"/>
          <p:nvPr/>
        </p:nvSpPr>
        <p:spPr>
          <a:xfrm>
            <a:off x="220722" y="1368198"/>
            <a:ext cx="66128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All purpose transfer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Transfers between clusters and between clusters + your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way to access tape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Great for sharing data with collaborators at other institutions or on other clusters</a:t>
            </a:r>
          </a:p>
        </p:txBody>
      </p:sp>
    </p:spTree>
    <p:extLst>
      <p:ext uri="{BB962C8B-B14F-4D97-AF65-F5344CB8AC3E}">
        <p14:creationId xmlns:p14="http://schemas.microsoft.com/office/powerpoint/2010/main" val="3075462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BE4F-3960-5C80-3CCF-2C0AB3FD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184F-B2D5-B3CB-2F4B-FCCFAF9DB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35" y="125031"/>
            <a:ext cx="10515600" cy="1325563"/>
          </a:xfrm>
        </p:spPr>
        <p:txBody>
          <a:bodyPr/>
          <a:lstStyle/>
          <a:p>
            <a:r>
              <a:rPr lang="en-US" dirty="0"/>
              <a:t>Globus file transfer</a:t>
            </a:r>
          </a:p>
        </p:txBody>
      </p:sp>
      <p:pic>
        <p:nvPicPr>
          <p:cNvPr id="12" name="Content Placeholder 11" descr="A blue and white logo&#10;&#10;AI-generated content may be incorrect.">
            <a:extLst>
              <a:ext uri="{FF2B5EF4-FFF2-40B4-BE49-F238E27FC236}">
                <a16:creationId xmlns:a16="http://schemas.microsoft.com/office/drawing/2014/main" id="{900F2F77-D0FB-DB57-1D29-BFEC7603F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8915" y="286006"/>
            <a:ext cx="3530600" cy="977900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854FCAA-84EA-65E7-9338-1D67C57B4EB3}"/>
              </a:ext>
            </a:extLst>
          </p:cNvPr>
          <p:cNvGrpSpPr/>
          <p:nvPr/>
        </p:nvGrpSpPr>
        <p:grpSpPr>
          <a:xfrm>
            <a:off x="7004246" y="1864519"/>
            <a:ext cx="1255728" cy="1283732"/>
            <a:chOff x="3032551" y="387638"/>
            <a:chExt cx="1255728" cy="1283732"/>
          </a:xfrm>
        </p:grpSpPr>
        <p:pic>
          <p:nvPicPr>
            <p:cNvPr id="14" name="Graphic 13" descr="Server with solid fill">
              <a:extLst>
                <a:ext uri="{FF2B5EF4-FFF2-40B4-BE49-F238E27FC236}">
                  <a16:creationId xmlns:a16="http://schemas.microsoft.com/office/drawing/2014/main" id="{5864BB63-685C-F1C0-31E4-380F8FE57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89B2AE-4FCA-7D41-30FA-55531537A859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E73819A-DA09-2D80-1B7E-376C1A4F7079}"/>
              </a:ext>
            </a:extLst>
          </p:cNvPr>
          <p:cNvGrpSpPr/>
          <p:nvPr/>
        </p:nvGrpSpPr>
        <p:grpSpPr>
          <a:xfrm>
            <a:off x="8500341" y="1864519"/>
            <a:ext cx="2007281" cy="1541312"/>
            <a:chOff x="5246009" y="387638"/>
            <a:chExt cx="2007281" cy="1541312"/>
          </a:xfrm>
        </p:grpSpPr>
        <p:pic>
          <p:nvPicPr>
            <p:cNvPr id="17" name="Graphic 16" descr="Server with solid fill">
              <a:extLst>
                <a:ext uri="{FF2B5EF4-FFF2-40B4-BE49-F238E27FC236}">
                  <a16:creationId xmlns:a16="http://schemas.microsoft.com/office/drawing/2014/main" id="{3ADAC8CB-1C74-F7D6-556E-F1FF10062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94FB44-2B52-A915-0D90-40B240E17A2F}"/>
                </a:ext>
              </a:extLst>
            </p:cNvPr>
            <p:cNvSpPr txBox="1"/>
            <p:nvPr/>
          </p:nvSpPr>
          <p:spPr>
            <a:xfrm>
              <a:off x="5246009" y="1282619"/>
              <a:ext cx="20072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  <a:p>
              <a:pPr algn="ctr"/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(</a:t>
              </a:r>
              <a:r>
                <a:rPr lang="en-US" b="1" dirty="0">
                  <a:latin typeface="Consolas" panose="020B0609020204030204" pitchFamily="49" charset="0"/>
                  <a:ea typeface="Source Sans Pro" panose="020B0503030403020204" pitchFamily="34" charset="0"/>
                </a:rPr>
                <a:t>Lab/</a:t>
              </a:r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folder only)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50E52B-20DF-5132-17A2-9D1DE5048569}"/>
              </a:ext>
            </a:extLst>
          </p:cNvPr>
          <p:cNvGrpSpPr/>
          <p:nvPr/>
        </p:nvGrpSpPr>
        <p:grpSpPr>
          <a:xfrm>
            <a:off x="10762316" y="1864519"/>
            <a:ext cx="914400" cy="1283732"/>
            <a:chOff x="8288401" y="387638"/>
            <a:chExt cx="914400" cy="1283732"/>
          </a:xfrm>
        </p:grpSpPr>
        <p:pic>
          <p:nvPicPr>
            <p:cNvPr id="20" name="Graphic 19" descr="Server with solid fill">
              <a:extLst>
                <a:ext uri="{FF2B5EF4-FFF2-40B4-BE49-F238E27FC236}">
                  <a16:creationId xmlns:a16="http://schemas.microsoft.com/office/drawing/2014/main" id="{0143B5F8-45C3-AD58-BED7-93E48B6A1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CA4A71-572A-B73B-088E-15F8C1810F4F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tape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08EAD9-529E-1800-37FE-1CD1CCF91344}"/>
              </a:ext>
            </a:extLst>
          </p:cNvPr>
          <p:cNvGrpSpPr/>
          <p:nvPr/>
        </p:nvGrpSpPr>
        <p:grpSpPr>
          <a:xfrm>
            <a:off x="9325576" y="3863031"/>
            <a:ext cx="1161344" cy="1099066"/>
            <a:chOff x="2170185" y="4087564"/>
            <a:chExt cx="1161344" cy="109906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8CA52F-6384-A877-2930-31C57C6A18D9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24" name="Graphic 23" descr="Computer with solid fill">
              <a:extLst>
                <a:ext uri="{FF2B5EF4-FFF2-40B4-BE49-F238E27FC236}">
                  <a16:creationId xmlns:a16="http://schemas.microsoft.com/office/drawing/2014/main" id="{FFD0EA4D-599A-41CC-96B3-9AAA50B44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7F3914-F89D-1594-8218-847893233FD4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089310" y="2320453"/>
            <a:ext cx="902538" cy="1266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76C216-1BFB-7A95-09E2-8E989371FFDE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9894386" y="2320453"/>
            <a:ext cx="867930" cy="126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F76B98-5228-20AA-606F-38137237AACB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9503982" y="3405831"/>
            <a:ext cx="321400" cy="591971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074849B-A3B3-3C91-EC36-929AA72026DB}"/>
              </a:ext>
            </a:extLst>
          </p:cNvPr>
          <p:cNvCxnSpPr>
            <a:cxnSpLocks/>
            <a:stCxn id="24" idx="1"/>
            <a:endCxn id="15" idx="2"/>
          </p:cNvCxnSpPr>
          <p:nvPr/>
        </p:nvCxnSpPr>
        <p:spPr>
          <a:xfrm flipH="1" flipV="1">
            <a:off x="7632110" y="3148251"/>
            <a:ext cx="1816938" cy="117198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340AD4-9DF1-4E6D-DD47-76283450A4EC}"/>
              </a:ext>
            </a:extLst>
          </p:cNvPr>
          <p:cNvSpPr txBox="1"/>
          <p:nvPr/>
        </p:nvSpPr>
        <p:spPr>
          <a:xfrm>
            <a:off x="8111182" y="2051348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6D271-CB29-275C-A35A-8DF776062CD1}"/>
              </a:ext>
            </a:extLst>
          </p:cNvPr>
          <p:cNvSpPr txBox="1"/>
          <p:nvPr/>
        </p:nvSpPr>
        <p:spPr>
          <a:xfrm>
            <a:off x="8225230" y="3425250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53064-CADD-0916-EC1C-7B9175736A53}"/>
              </a:ext>
            </a:extLst>
          </p:cNvPr>
          <p:cNvSpPr txBox="1"/>
          <p:nvPr/>
        </p:nvSpPr>
        <p:spPr>
          <a:xfrm>
            <a:off x="9512861" y="3507473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29CD3-B1EB-0FB9-C899-3D65DFD574D1}"/>
              </a:ext>
            </a:extLst>
          </p:cNvPr>
          <p:cNvSpPr txBox="1"/>
          <p:nvPr/>
        </p:nvSpPr>
        <p:spPr>
          <a:xfrm>
            <a:off x="220722" y="1368198"/>
            <a:ext cx="66128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All purpose transfer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Transfers between clusters and between clusters + your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way to access tape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Great for sharing data with collaborators at other institutions or on other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F82FA-F235-4644-C7D3-603D2F83C0A5}"/>
              </a:ext>
            </a:extLst>
          </p:cNvPr>
          <p:cNvSpPr txBox="1"/>
          <p:nvPr/>
        </p:nvSpPr>
        <p:spPr>
          <a:xfrm>
            <a:off x="291711" y="3863031"/>
            <a:ext cx="647088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Source Sans Pro" panose="020B0503030403020204" pitchFamily="34" charset="0"/>
              </a:rPr>
              <a:t>scratch/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Source Sans Pro" panose="020B0503030403020204" pitchFamily="34" charset="0"/>
              </a:rPr>
              <a:t>&lt;pi&gt;_lab/Lab/</a:t>
            </a:r>
            <a:r>
              <a:rPr lang="en-US" sz="2400" dirty="0"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folders are available from Cannon</a:t>
            </a: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(Permissions issue with Everyone folder)</a:t>
            </a:r>
          </a:p>
        </p:txBody>
      </p:sp>
    </p:spTree>
    <p:extLst>
      <p:ext uri="{BB962C8B-B14F-4D97-AF65-F5344CB8AC3E}">
        <p14:creationId xmlns:p14="http://schemas.microsoft.com/office/powerpoint/2010/main" val="3574082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D95E59-A74B-01C0-1551-A181C45FBE89}"/>
              </a:ext>
            </a:extLst>
          </p:cNvPr>
          <p:cNvSpPr/>
          <p:nvPr/>
        </p:nvSpPr>
        <p:spPr>
          <a:xfrm>
            <a:off x="1295610" y="5345603"/>
            <a:ext cx="9600780" cy="10156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Self-paced Globus Training </a:t>
            </a: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2"/>
              </a:rPr>
              <a:t>https://canvas.harvard.edu/courses/157915/pages/globus-overview-2</a:t>
            </a: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C3352-EDA4-E6F7-BD29-7EF02ED09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35" y="125031"/>
            <a:ext cx="10515600" cy="1325563"/>
          </a:xfrm>
        </p:spPr>
        <p:txBody>
          <a:bodyPr/>
          <a:lstStyle/>
          <a:p>
            <a:r>
              <a:rPr lang="en-US" dirty="0"/>
              <a:t>Globus file transfer</a:t>
            </a:r>
          </a:p>
        </p:txBody>
      </p:sp>
      <p:pic>
        <p:nvPicPr>
          <p:cNvPr id="12" name="Content Placeholder 11" descr="A blue and white logo&#10;&#10;AI-generated content may be incorrect.">
            <a:extLst>
              <a:ext uri="{FF2B5EF4-FFF2-40B4-BE49-F238E27FC236}">
                <a16:creationId xmlns:a16="http://schemas.microsoft.com/office/drawing/2014/main" id="{18BB4DA2-9F1F-8984-3899-7A921984A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88915" y="286006"/>
            <a:ext cx="3530600" cy="977900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0C0D0A8-8712-8B1E-A006-D5E9D26DFE9C}"/>
              </a:ext>
            </a:extLst>
          </p:cNvPr>
          <p:cNvGrpSpPr/>
          <p:nvPr/>
        </p:nvGrpSpPr>
        <p:grpSpPr>
          <a:xfrm>
            <a:off x="7004246" y="1864519"/>
            <a:ext cx="1255728" cy="1283732"/>
            <a:chOff x="3032551" y="387638"/>
            <a:chExt cx="1255728" cy="1283732"/>
          </a:xfrm>
        </p:grpSpPr>
        <p:pic>
          <p:nvPicPr>
            <p:cNvPr id="14" name="Graphic 13" descr="Server with solid fill">
              <a:extLst>
                <a:ext uri="{FF2B5EF4-FFF2-40B4-BE49-F238E27FC236}">
                  <a16:creationId xmlns:a16="http://schemas.microsoft.com/office/drawing/2014/main" id="{C0C97CB2-DD67-D896-F12A-B196228B0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6C9877-C3C6-5AF2-4F91-0C2E77863F49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1EEDB2-1E7F-3960-FE5E-16BCF3DA876E}"/>
              </a:ext>
            </a:extLst>
          </p:cNvPr>
          <p:cNvGrpSpPr/>
          <p:nvPr/>
        </p:nvGrpSpPr>
        <p:grpSpPr>
          <a:xfrm>
            <a:off x="8500341" y="1864519"/>
            <a:ext cx="2007281" cy="1541312"/>
            <a:chOff x="5246009" y="387638"/>
            <a:chExt cx="2007281" cy="1541312"/>
          </a:xfrm>
        </p:grpSpPr>
        <p:pic>
          <p:nvPicPr>
            <p:cNvPr id="17" name="Graphic 16" descr="Server with solid fill">
              <a:extLst>
                <a:ext uri="{FF2B5EF4-FFF2-40B4-BE49-F238E27FC236}">
                  <a16:creationId xmlns:a16="http://schemas.microsoft.com/office/drawing/2014/main" id="{160C120C-20E5-FA44-E8D2-066837164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9137EB-63E8-96E0-32DB-B2D5A5504A83}"/>
                </a:ext>
              </a:extLst>
            </p:cNvPr>
            <p:cNvSpPr txBox="1"/>
            <p:nvPr/>
          </p:nvSpPr>
          <p:spPr>
            <a:xfrm>
              <a:off x="5246009" y="1282619"/>
              <a:ext cx="20072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  <a:p>
              <a:pPr algn="ctr"/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(</a:t>
              </a:r>
              <a:r>
                <a:rPr lang="en-US" b="1" dirty="0">
                  <a:latin typeface="Consolas" panose="020B0609020204030204" pitchFamily="49" charset="0"/>
                  <a:ea typeface="Source Sans Pro" panose="020B0503030403020204" pitchFamily="34" charset="0"/>
                </a:rPr>
                <a:t>Lab/</a:t>
              </a:r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folder only)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21FCDB-BC91-5499-88B5-454ECBB0216B}"/>
              </a:ext>
            </a:extLst>
          </p:cNvPr>
          <p:cNvGrpSpPr/>
          <p:nvPr/>
        </p:nvGrpSpPr>
        <p:grpSpPr>
          <a:xfrm>
            <a:off x="10762316" y="1864519"/>
            <a:ext cx="914400" cy="1283732"/>
            <a:chOff x="8288401" y="387638"/>
            <a:chExt cx="914400" cy="1283732"/>
          </a:xfrm>
        </p:grpSpPr>
        <p:pic>
          <p:nvPicPr>
            <p:cNvPr id="20" name="Graphic 19" descr="Server with solid fill">
              <a:extLst>
                <a:ext uri="{FF2B5EF4-FFF2-40B4-BE49-F238E27FC236}">
                  <a16:creationId xmlns:a16="http://schemas.microsoft.com/office/drawing/2014/main" id="{A51301E6-7AB0-7DC2-2E64-5555D01BF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D91346-47A5-17D5-6C72-89C29C450F97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tape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1EE601-1D11-C9A4-F369-0DCF0F1ECFF8}"/>
              </a:ext>
            </a:extLst>
          </p:cNvPr>
          <p:cNvGrpSpPr/>
          <p:nvPr/>
        </p:nvGrpSpPr>
        <p:grpSpPr>
          <a:xfrm>
            <a:off x="9325576" y="3863031"/>
            <a:ext cx="1161344" cy="1099066"/>
            <a:chOff x="2170185" y="4087564"/>
            <a:chExt cx="1161344" cy="109906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8FED3C-1386-6C2C-CD13-513AB2FC4CA4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24" name="Graphic 23" descr="Computer with solid fill">
              <a:extLst>
                <a:ext uri="{FF2B5EF4-FFF2-40B4-BE49-F238E27FC236}">
                  <a16:creationId xmlns:a16="http://schemas.microsoft.com/office/drawing/2014/main" id="{F26564B4-F4C6-74A9-9645-B0E65CE16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EDE44E-402D-751C-98D5-74AB77CC94E2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089310" y="2320453"/>
            <a:ext cx="902538" cy="1266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6BD6DC-7E30-6F68-1C97-3D9FDC55E178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9894386" y="2320453"/>
            <a:ext cx="867930" cy="126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B7D59A-F5EB-3B7E-67CE-FBAD493DD348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9503982" y="3405831"/>
            <a:ext cx="321400" cy="591971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3B81894-193C-0226-7B3A-A2EB6A39F859}"/>
              </a:ext>
            </a:extLst>
          </p:cNvPr>
          <p:cNvCxnSpPr>
            <a:cxnSpLocks/>
            <a:stCxn id="24" idx="1"/>
            <a:endCxn id="15" idx="2"/>
          </p:cNvCxnSpPr>
          <p:nvPr/>
        </p:nvCxnSpPr>
        <p:spPr>
          <a:xfrm flipH="1" flipV="1">
            <a:off x="7632110" y="3148251"/>
            <a:ext cx="1816938" cy="117198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8C1E42-21DF-169E-5267-987CA68EA232}"/>
              </a:ext>
            </a:extLst>
          </p:cNvPr>
          <p:cNvSpPr txBox="1"/>
          <p:nvPr/>
        </p:nvSpPr>
        <p:spPr>
          <a:xfrm>
            <a:off x="8111182" y="2051348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FA996-6714-AAE8-3388-1A2AABB5C2D0}"/>
              </a:ext>
            </a:extLst>
          </p:cNvPr>
          <p:cNvSpPr txBox="1"/>
          <p:nvPr/>
        </p:nvSpPr>
        <p:spPr>
          <a:xfrm>
            <a:off x="8225230" y="3425250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B61EC-F6CA-81A9-A558-B1111E132D2A}"/>
              </a:ext>
            </a:extLst>
          </p:cNvPr>
          <p:cNvSpPr txBox="1"/>
          <p:nvPr/>
        </p:nvSpPr>
        <p:spPr>
          <a:xfrm>
            <a:off x="9512861" y="3507473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E5FE4F-FB90-CE20-C868-C02935C4B254}"/>
              </a:ext>
            </a:extLst>
          </p:cNvPr>
          <p:cNvSpPr txBox="1"/>
          <p:nvPr/>
        </p:nvSpPr>
        <p:spPr>
          <a:xfrm>
            <a:off x="220722" y="1368198"/>
            <a:ext cx="66128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All purpose transfer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Transfers between clusters and between clusters + your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way to access tape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Great for sharing data with collaborators at other institutions or on other clusters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4D81A4-6159-8C61-285C-246E116A49F3}"/>
              </a:ext>
            </a:extLst>
          </p:cNvPr>
          <p:cNvSpPr txBox="1"/>
          <p:nvPr/>
        </p:nvSpPr>
        <p:spPr>
          <a:xfrm>
            <a:off x="291711" y="3863031"/>
            <a:ext cx="647088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Source Sans Pro" panose="020B0503030403020204" pitchFamily="34" charset="0"/>
              </a:rPr>
              <a:t>scratch/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  <a:ea typeface="Source Sans Pro" panose="020B0503030403020204" pitchFamily="34" charset="0"/>
              </a:rPr>
              <a:t>&lt;pi&gt;_lab/Lab/</a:t>
            </a:r>
            <a:r>
              <a:rPr lang="en-US" sz="2400" dirty="0"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folders are available from Cannon</a:t>
            </a: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(Permissions issue with Everyone folder)</a:t>
            </a:r>
          </a:p>
        </p:txBody>
      </p:sp>
    </p:spTree>
    <p:extLst>
      <p:ext uri="{BB962C8B-B14F-4D97-AF65-F5344CB8AC3E}">
        <p14:creationId xmlns:p14="http://schemas.microsoft.com/office/powerpoint/2010/main" val="2119995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FASRC Globus login">
            <a:hlinkClick r:id="" action="ppaction://media"/>
            <a:extLst>
              <a:ext uri="{FF2B5EF4-FFF2-40B4-BE49-F238E27FC236}">
                <a16:creationId xmlns:a16="http://schemas.microsoft.com/office/drawing/2014/main" id="{134D90A9-EE8B-4152-33EF-4DE9375518E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4204" y="0"/>
            <a:ext cx="11623591" cy="65673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795CEB-2990-7E71-FC44-40DF748B407A}"/>
              </a:ext>
            </a:extLst>
          </p:cNvPr>
          <p:cNvSpPr txBox="1"/>
          <p:nvPr/>
        </p:nvSpPr>
        <p:spPr>
          <a:xfrm>
            <a:off x="2985879" y="6550223"/>
            <a:ext cx="6097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https://www.youtube.com/watch?v=YSOlgZpC9K4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672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38FC-AF03-5AD1-8B75-BF5CB035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Create globus collections to share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879E-FC09-152D-AED5-DD1A9FC64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5163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Demo</a:t>
            </a:r>
          </a:p>
          <a:p>
            <a:r>
              <a:rPr lang="en-US" dirty="0"/>
              <a:t>Great way to share with collaborates internal and external to Harvard</a:t>
            </a:r>
          </a:p>
          <a:p>
            <a:r>
              <a:rPr lang="en-US" dirty="0"/>
              <a:t>Collaborators have read-only access so they can copy out but can’t modify</a:t>
            </a:r>
          </a:p>
          <a:p>
            <a:r>
              <a:rPr lang="en-US" dirty="0"/>
              <a:t>Only shares from the </a:t>
            </a:r>
            <a:r>
              <a:rPr lang="en-US" dirty="0">
                <a:latin typeface="Consolas" panose="020B0609020204030204" pitchFamily="49" charset="0"/>
              </a:rPr>
              <a:t>&lt;pi&gt;_lab/Lab/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&lt;pi&gt;_lab/User/</a:t>
            </a:r>
            <a:r>
              <a:rPr lang="en-US" dirty="0"/>
              <a:t> directory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9DD8B0-DD0E-19A3-8245-92DF8E3BCF08}"/>
              </a:ext>
            </a:extLst>
          </p:cNvPr>
          <p:cNvSpPr/>
          <p:nvPr/>
        </p:nvSpPr>
        <p:spPr>
          <a:xfrm>
            <a:off x="1295610" y="5345603"/>
            <a:ext cx="9600780" cy="10156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Self-paced Globus Training </a:t>
            </a: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https://canvas.harvard.edu/courses/157915/pages/globus-overview-2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9291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36AB-B15A-7658-D2C7-3EBF09E3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82" y="198309"/>
            <a:ext cx="10515600" cy="1325563"/>
          </a:xfrm>
        </p:spPr>
        <p:txBody>
          <a:bodyPr/>
          <a:lstStyle/>
          <a:p>
            <a:r>
              <a:rPr lang="en-US" dirty="0"/>
              <a:t>Use globus connect personal to transfer locally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C944-EB32-77DD-4BCE-55270BAAA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Demo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Download globus connect personal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Log in using your HarvardKey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Choose which folder(s) to share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You can now use Globus to transfer from any other collection to your computer</a:t>
            </a:r>
          </a:p>
        </p:txBody>
      </p:sp>
    </p:spTree>
    <p:extLst>
      <p:ext uri="{BB962C8B-B14F-4D97-AF65-F5344CB8AC3E}">
        <p14:creationId xmlns:p14="http://schemas.microsoft.com/office/powerpoint/2010/main" val="29876651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69EA-BD43-F748-482F-3541345A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38" y="206613"/>
            <a:ext cx="10515600" cy="1325563"/>
          </a:xfrm>
        </p:spPr>
        <p:txBody>
          <a:bodyPr/>
          <a:lstStyle/>
          <a:p>
            <a:r>
              <a:rPr lang="en-US" dirty="0"/>
              <a:t>Globus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333B-A9FE-C303-B441-E0E42201A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16" y="1687362"/>
            <a:ext cx="4968574" cy="4351338"/>
          </a:xfrm>
        </p:spPr>
        <p:txBody>
          <a:bodyPr/>
          <a:lstStyle/>
          <a:p>
            <a:r>
              <a:rPr lang="en-US" dirty="0"/>
              <a:t>Bookmark your scratch and lab directory</a:t>
            </a:r>
          </a:p>
          <a:p>
            <a:r>
              <a:rPr lang="en-US" dirty="0"/>
              <a:t>Set up automatic file sync to back up files</a:t>
            </a:r>
          </a:p>
          <a:p>
            <a:r>
              <a:rPr lang="en-US" dirty="0"/>
              <a:t>Write down your lab’s Globus protocols</a:t>
            </a:r>
          </a:p>
        </p:txBody>
      </p:sp>
      <p:pic>
        <p:nvPicPr>
          <p:cNvPr id="39" name="Content Placeholder 11" descr="A blue and white logo&#10;&#10;AI-generated content may be incorrect.">
            <a:extLst>
              <a:ext uri="{FF2B5EF4-FFF2-40B4-BE49-F238E27FC236}">
                <a16:creationId xmlns:a16="http://schemas.microsoft.com/office/drawing/2014/main" id="{86D5A4DD-9CF4-0C13-0212-52259BB5B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915" y="286006"/>
            <a:ext cx="3530600" cy="9779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092322C-8BC1-A24F-CE4D-AC4C3E537894}"/>
              </a:ext>
            </a:extLst>
          </p:cNvPr>
          <p:cNvGrpSpPr/>
          <p:nvPr/>
        </p:nvGrpSpPr>
        <p:grpSpPr>
          <a:xfrm>
            <a:off x="7004246" y="1864519"/>
            <a:ext cx="1255728" cy="1283732"/>
            <a:chOff x="3032551" y="387638"/>
            <a:chExt cx="1255728" cy="1283732"/>
          </a:xfrm>
        </p:grpSpPr>
        <p:pic>
          <p:nvPicPr>
            <p:cNvPr id="41" name="Graphic 40" descr="Server with solid fill">
              <a:extLst>
                <a:ext uri="{FF2B5EF4-FFF2-40B4-BE49-F238E27FC236}">
                  <a16:creationId xmlns:a16="http://schemas.microsoft.com/office/drawing/2014/main" id="{8152541A-876E-97E4-A089-808A57E31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7379645-69BE-4565-4227-6B48437A4F91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netscratch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D6290F-8C91-B844-3D60-F9810003C6A7}"/>
              </a:ext>
            </a:extLst>
          </p:cNvPr>
          <p:cNvGrpSpPr/>
          <p:nvPr/>
        </p:nvGrpSpPr>
        <p:grpSpPr>
          <a:xfrm>
            <a:off x="8500343" y="1864519"/>
            <a:ext cx="2007281" cy="1541312"/>
            <a:chOff x="5246011" y="387638"/>
            <a:chExt cx="2007281" cy="1541312"/>
          </a:xfrm>
        </p:grpSpPr>
        <p:pic>
          <p:nvPicPr>
            <p:cNvPr id="44" name="Graphic 43" descr="Server with solid fill">
              <a:extLst>
                <a:ext uri="{FF2B5EF4-FFF2-40B4-BE49-F238E27FC236}">
                  <a16:creationId xmlns:a16="http://schemas.microsoft.com/office/drawing/2014/main" id="{2DB95DCF-F50C-F0F0-A943-7EA61C38A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2A566F4-4DF5-6285-D8EE-FAD13AFFE6E0}"/>
                </a:ext>
              </a:extLst>
            </p:cNvPr>
            <p:cNvSpPr txBox="1"/>
            <p:nvPr/>
          </p:nvSpPr>
          <p:spPr>
            <a:xfrm>
              <a:off x="5246011" y="1282619"/>
              <a:ext cx="20072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share</a:t>
              </a:r>
            </a:p>
            <a:p>
              <a:pPr algn="ctr"/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(</a:t>
              </a:r>
              <a:r>
                <a:rPr lang="en-US" b="1" dirty="0">
                  <a:latin typeface="Consolas" panose="020B0609020204030204" pitchFamily="49" charset="0"/>
                  <a:ea typeface="Source Sans Pro" panose="020B0503030403020204" pitchFamily="34" charset="0"/>
                </a:rPr>
                <a:t>Lab/</a:t>
              </a:r>
              <a:r>
                <a:rPr 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folder only)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19D6076-8AB4-A64D-19E0-81C62CAD34D6}"/>
              </a:ext>
            </a:extLst>
          </p:cNvPr>
          <p:cNvGrpSpPr/>
          <p:nvPr/>
        </p:nvGrpSpPr>
        <p:grpSpPr>
          <a:xfrm>
            <a:off x="10762316" y="1864519"/>
            <a:ext cx="914400" cy="1283732"/>
            <a:chOff x="8288401" y="387638"/>
            <a:chExt cx="914400" cy="1283732"/>
          </a:xfrm>
        </p:grpSpPr>
        <p:pic>
          <p:nvPicPr>
            <p:cNvPr id="47" name="Graphic 46" descr="Server with solid fill">
              <a:extLst>
                <a:ext uri="{FF2B5EF4-FFF2-40B4-BE49-F238E27FC236}">
                  <a16:creationId xmlns:a16="http://schemas.microsoft.com/office/drawing/2014/main" id="{4F6D84C9-FE4E-18EC-4BCD-086ABF30B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A83F902-4316-D534-E67A-2650EA6C2310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tape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44978E1-7794-5337-5359-CA86286A8103}"/>
              </a:ext>
            </a:extLst>
          </p:cNvPr>
          <p:cNvGrpSpPr/>
          <p:nvPr/>
        </p:nvGrpSpPr>
        <p:grpSpPr>
          <a:xfrm>
            <a:off x="9325576" y="3863031"/>
            <a:ext cx="1161344" cy="1099066"/>
            <a:chOff x="2170185" y="4087564"/>
            <a:chExt cx="1161344" cy="109906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59F3D0-0AE1-7CD4-62B4-991A421DD581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51" name="Graphic 50" descr="Computer with solid fill">
              <a:extLst>
                <a:ext uri="{FF2B5EF4-FFF2-40B4-BE49-F238E27FC236}">
                  <a16:creationId xmlns:a16="http://schemas.microsoft.com/office/drawing/2014/main" id="{A0F48DFE-9306-F28C-53D2-533539D0D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FCB6FF-DA0F-C0F8-396F-640E47E83702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8089310" y="2320453"/>
            <a:ext cx="902538" cy="1266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1FD8204-69D9-8D00-9A00-9A84FD2C3FFC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9894386" y="2320453"/>
            <a:ext cx="867930" cy="126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CB2908F-38A1-82CC-0C1D-272A611BE7C2}"/>
              </a:ext>
            </a:extLst>
          </p:cNvPr>
          <p:cNvCxnSpPr>
            <a:cxnSpLocks/>
            <a:endCxn id="45" idx="2"/>
          </p:cNvCxnSpPr>
          <p:nvPr/>
        </p:nvCxnSpPr>
        <p:spPr>
          <a:xfrm flipH="1" flipV="1">
            <a:off x="9503984" y="3405831"/>
            <a:ext cx="321398" cy="591971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7F21215-3B11-99FF-EBDC-AF618D6D9573}"/>
              </a:ext>
            </a:extLst>
          </p:cNvPr>
          <p:cNvCxnSpPr>
            <a:cxnSpLocks/>
            <a:stCxn id="51" idx="1"/>
            <a:endCxn id="42" idx="2"/>
          </p:cNvCxnSpPr>
          <p:nvPr/>
        </p:nvCxnSpPr>
        <p:spPr>
          <a:xfrm flipH="1" flipV="1">
            <a:off x="7632110" y="3148251"/>
            <a:ext cx="1816938" cy="117198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7CF3688-2CF8-0ABD-4C04-94709DE91FE8}"/>
              </a:ext>
            </a:extLst>
          </p:cNvPr>
          <p:cNvSpPr txBox="1"/>
          <p:nvPr/>
        </p:nvSpPr>
        <p:spPr>
          <a:xfrm>
            <a:off x="8111182" y="2051348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5456AB-9FF4-AA9E-C223-B55B55603688}"/>
              </a:ext>
            </a:extLst>
          </p:cNvPr>
          <p:cNvSpPr txBox="1"/>
          <p:nvPr/>
        </p:nvSpPr>
        <p:spPr>
          <a:xfrm>
            <a:off x="8225230" y="3425250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14F63B-C49D-5F41-69AB-285A6DB47F1F}"/>
              </a:ext>
            </a:extLst>
          </p:cNvPr>
          <p:cNvSpPr txBox="1"/>
          <p:nvPr/>
        </p:nvSpPr>
        <p:spPr>
          <a:xfrm>
            <a:off x="9512861" y="3507473"/>
            <a:ext cx="858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045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DEEA7-949C-AF5E-1FC3-295CE3F4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B187-C01C-CDF6-E43B-8532D8BE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19" y="166861"/>
            <a:ext cx="10515600" cy="1325563"/>
          </a:xfrm>
        </p:spPr>
        <p:txBody>
          <a:bodyPr/>
          <a:lstStyle/>
          <a:p>
            <a:r>
              <a:rPr lang="en-US" dirty="0"/>
              <a:t>Graphical file transfer program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AE0FDD-65F8-99DB-4E33-9128C1499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112737"/>
              </p:ext>
            </p:extLst>
          </p:nvPr>
        </p:nvGraphicFramePr>
        <p:xfrm>
          <a:off x="204427" y="2529840"/>
          <a:ext cx="11783145" cy="17983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40291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942854">
                  <a:extLst>
                    <a:ext uri="{9D8B030D-6E8A-4147-A177-3AD203B41FA5}">
                      <a16:colId xmlns:a16="http://schemas.microsoft.com/office/drawing/2014/main" val="2492426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FTP clients (FileZilla)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Easy to use, reliable, good for small to large transfers.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08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Mounting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Intuitive, interfaces directly with OS file system. Difficult to set up?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84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Globus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Great for large file transfers between remote computers (doesn’t need to use your computer as an intermediary). Great for transferring data to collaborators.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18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12FC-5774-F1D7-209F-EA60ECB1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D5B3483F-D49B-788F-A1EE-06A66A333EA8}"/>
              </a:ext>
            </a:extLst>
          </p:cNvPr>
          <p:cNvSpPr txBox="1"/>
          <p:nvPr/>
        </p:nvSpPr>
        <p:spPr>
          <a:xfrm>
            <a:off x="1846904" y="376195"/>
            <a:ext cx="7696772" cy="3763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Cluster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40B5D4-7FD7-C7DE-F347-82366FA86C12}"/>
              </a:ext>
            </a:extLst>
          </p:cNvPr>
          <p:cNvSpPr txBox="1"/>
          <p:nvPr/>
        </p:nvSpPr>
        <p:spPr>
          <a:xfrm>
            <a:off x="6741105" y="5321409"/>
            <a:ext cx="3543820" cy="376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Cloud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E2265-1AFA-66B9-6107-8B9EF924E507}"/>
              </a:ext>
            </a:extLst>
          </p:cNvPr>
          <p:cNvSpPr txBox="1"/>
          <p:nvPr/>
        </p:nvSpPr>
        <p:spPr>
          <a:xfrm>
            <a:off x="1093817" y="5888425"/>
            <a:ext cx="3543820" cy="3763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76EA0C9-8C1D-9A77-1730-0D2CE849DC8B}"/>
              </a:ext>
            </a:extLst>
          </p:cNvPr>
          <p:cNvGrpSpPr/>
          <p:nvPr/>
        </p:nvGrpSpPr>
        <p:grpSpPr>
          <a:xfrm>
            <a:off x="2361335" y="800326"/>
            <a:ext cx="1255728" cy="1283732"/>
            <a:chOff x="3032551" y="387638"/>
            <a:chExt cx="1255728" cy="1283732"/>
          </a:xfrm>
        </p:grpSpPr>
        <p:pic>
          <p:nvPicPr>
            <p:cNvPr id="9" name="Graphic 8" descr="Server with solid fill">
              <a:extLst>
                <a:ext uri="{FF2B5EF4-FFF2-40B4-BE49-F238E27FC236}">
                  <a16:creationId xmlns:a16="http://schemas.microsoft.com/office/drawing/2014/main" id="{55584B46-EF5A-4662-CFFA-0538B24D2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3B2A52-EB69-CF11-0265-7A0D8BCC3FF9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EE4337-8373-C9BC-E974-98B696111C2E}"/>
              </a:ext>
            </a:extLst>
          </p:cNvPr>
          <p:cNvGrpSpPr/>
          <p:nvPr/>
        </p:nvGrpSpPr>
        <p:grpSpPr>
          <a:xfrm>
            <a:off x="5200283" y="800326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F06C3890-AAF9-D716-C0E3-2C9C6F846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004F45-8EB7-B7E3-D7F0-38E4E18296CF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lab share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6FC7D8A-6F47-FECD-075A-C448C272199B}"/>
              </a:ext>
            </a:extLst>
          </p:cNvPr>
          <p:cNvGrpSpPr/>
          <p:nvPr/>
        </p:nvGrpSpPr>
        <p:grpSpPr>
          <a:xfrm>
            <a:off x="8055816" y="800326"/>
            <a:ext cx="914400" cy="1283732"/>
            <a:chOff x="8288401" y="387638"/>
            <a:chExt cx="914400" cy="1283732"/>
          </a:xfrm>
        </p:grpSpPr>
        <p:pic>
          <p:nvPicPr>
            <p:cNvPr id="4" name="Graphic 3" descr="Server with solid fill">
              <a:extLst>
                <a:ext uri="{FF2B5EF4-FFF2-40B4-BE49-F238E27FC236}">
                  <a16:creationId xmlns:a16="http://schemas.microsoft.com/office/drawing/2014/main" id="{B41DFA05-6F3E-E9B8-3E9D-78F8E9FAF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ECE5D4-5523-7F51-9C81-A426FD9FC3B0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7C02C91-D8B9-8E95-BBFF-D2CC867CAAED}"/>
              </a:ext>
            </a:extLst>
          </p:cNvPr>
          <p:cNvGrpSpPr/>
          <p:nvPr/>
        </p:nvGrpSpPr>
        <p:grpSpPr>
          <a:xfrm>
            <a:off x="2285055" y="3538031"/>
            <a:ext cx="1161344" cy="1099066"/>
            <a:chOff x="2170185" y="4087564"/>
            <a:chExt cx="1161344" cy="10990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FEFA4C-F903-904E-1C98-D9AC477B860F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16" name="Graphic 15" descr="Computer with solid fill">
              <a:extLst>
                <a:ext uri="{FF2B5EF4-FFF2-40B4-BE49-F238E27FC236}">
                  <a16:creationId xmlns:a16="http://schemas.microsoft.com/office/drawing/2014/main" id="{4210ABB3-6FC9-E46B-9738-C9F8AD129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86449A-5BE5-80C9-5923-26A199F228AA}"/>
              </a:ext>
            </a:extLst>
          </p:cNvPr>
          <p:cNvGrpSpPr/>
          <p:nvPr/>
        </p:nvGrpSpPr>
        <p:grpSpPr>
          <a:xfrm>
            <a:off x="3159863" y="4639654"/>
            <a:ext cx="914400" cy="1176497"/>
            <a:chOff x="5481143" y="3640801"/>
            <a:chExt cx="914400" cy="1176497"/>
          </a:xfrm>
        </p:grpSpPr>
        <p:pic>
          <p:nvPicPr>
            <p:cNvPr id="25" name="Graphic 24" descr="Usb Stick with solid fill">
              <a:extLst>
                <a:ext uri="{FF2B5EF4-FFF2-40B4-BE49-F238E27FC236}">
                  <a16:creationId xmlns:a16="http://schemas.microsoft.com/office/drawing/2014/main" id="{AB33B5ED-F8B7-0D41-0407-3D2D8F6D2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81143" y="3640801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44746B-D520-C832-CB33-BA367D9DD228}"/>
                </a:ext>
              </a:extLst>
            </p:cNvPr>
            <p:cNvSpPr txBox="1"/>
            <p:nvPr/>
          </p:nvSpPr>
          <p:spPr>
            <a:xfrm>
              <a:off x="5662886" y="4447966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usb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524FA79-E510-96AB-DB6B-59C563FB2C64}"/>
              </a:ext>
            </a:extLst>
          </p:cNvPr>
          <p:cNvGrpSpPr/>
          <p:nvPr/>
        </p:nvGrpSpPr>
        <p:grpSpPr>
          <a:xfrm>
            <a:off x="7096954" y="3999807"/>
            <a:ext cx="1098955" cy="1283621"/>
            <a:chOff x="7968765" y="3038463"/>
            <a:chExt cx="1098955" cy="1283621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A256031B-129D-4AC7-5604-82B9F3FDB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968765" y="3038463"/>
              <a:ext cx="1098955" cy="109895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D9425AC-2396-4B4E-797F-905D4A8A8CDB}"/>
                </a:ext>
              </a:extLst>
            </p:cNvPr>
            <p:cNvSpPr txBox="1"/>
            <p:nvPr/>
          </p:nvSpPr>
          <p:spPr>
            <a:xfrm>
              <a:off x="8018169" y="3952752"/>
              <a:ext cx="1000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dropbox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53895A6-16CC-AAF3-C43E-EFCAAED62A69}"/>
              </a:ext>
            </a:extLst>
          </p:cNvPr>
          <p:cNvGrpSpPr/>
          <p:nvPr/>
        </p:nvGrpSpPr>
        <p:grpSpPr>
          <a:xfrm>
            <a:off x="9153537" y="4198557"/>
            <a:ext cx="780278" cy="1039070"/>
            <a:chOff x="9898343" y="3203218"/>
            <a:chExt cx="780278" cy="1039070"/>
          </a:xfrm>
        </p:grpSpPr>
        <p:pic>
          <p:nvPicPr>
            <p:cNvPr id="1026" name="Picture 2">
              <a:hlinkClick r:id="rId15"/>
              <a:extLst>
                <a:ext uri="{FF2B5EF4-FFF2-40B4-BE49-F238E27FC236}">
                  <a16:creationId xmlns:a16="http://schemas.microsoft.com/office/drawing/2014/main" id="{422AA0BE-3822-7FC9-0317-DBF6C1AD94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ADFCBC-805D-22C3-D740-21671157D1D5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gdrive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80537EA-B398-3324-311F-C9935D11990E}"/>
              </a:ext>
            </a:extLst>
          </p:cNvPr>
          <p:cNvGrpSpPr/>
          <p:nvPr/>
        </p:nvGrpSpPr>
        <p:grpSpPr>
          <a:xfrm>
            <a:off x="1531073" y="4605444"/>
            <a:ext cx="943744" cy="1264365"/>
            <a:chOff x="9899067" y="1970798"/>
            <a:chExt cx="943744" cy="1264365"/>
          </a:xfrm>
        </p:grpSpPr>
        <p:pic>
          <p:nvPicPr>
            <p:cNvPr id="38" name="Graphic 37" descr="Server outline">
              <a:extLst>
                <a:ext uri="{FF2B5EF4-FFF2-40B4-BE49-F238E27FC236}">
                  <a16:creationId xmlns:a16="http://schemas.microsoft.com/office/drawing/2014/main" id="{344F288C-BC6C-BCFF-F27B-F0F6DC96A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928411" y="1970798"/>
              <a:ext cx="914400" cy="9144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291D09E-B19D-0345-224D-BB1986705DAA}"/>
                </a:ext>
              </a:extLst>
            </p:cNvPr>
            <p:cNvSpPr txBox="1"/>
            <p:nvPr/>
          </p:nvSpPr>
          <p:spPr>
            <a:xfrm>
              <a:off x="9899067" y="2865831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NAS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C429A12-2014-AA79-154C-AE216F2596DE}"/>
              </a:ext>
            </a:extLst>
          </p:cNvPr>
          <p:cNvSpPr/>
          <p:nvPr/>
        </p:nvSpPr>
        <p:spPr>
          <a:xfrm>
            <a:off x="1861873" y="170996"/>
            <a:ext cx="7681803" cy="2245757"/>
          </a:xfrm>
          <a:prstGeom prst="roundRect">
            <a:avLst>
              <a:gd name="adj" fmla="val 861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6289005-0E80-BB1B-78DB-E3D0D15577DA}"/>
              </a:ext>
            </a:extLst>
          </p:cNvPr>
          <p:cNvSpPr/>
          <p:nvPr/>
        </p:nvSpPr>
        <p:spPr>
          <a:xfrm>
            <a:off x="1093816" y="3573102"/>
            <a:ext cx="3543821" cy="2908703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B4222A-AA85-FE35-E977-E075C870069E}"/>
              </a:ext>
            </a:extLst>
          </p:cNvPr>
          <p:cNvCxnSpPr/>
          <p:nvPr/>
        </p:nvCxnSpPr>
        <p:spPr>
          <a:xfrm>
            <a:off x="3446399" y="1256260"/>
            <a:ext cx="1847508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291000-F571-25EC-AE85-923D376317B1}"/>
              </a:ext>
            </a:extLst>
          </p:cNvPr>
          <p:cNvCxnSpPr/>
          <p:nvPr/>
        </p:nvCxnSpPr>
        <p:spPr>
          <a:xfrm>
            <a:off x="6208308" y="1256260"/>
            <a:ext cx="184750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DB254D-4272-16E1-7F22-FB918398C993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3322927" y="1899392"/>
            <a:ext cx="1877356" cy="2095839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D5E3F5-BCB4-BD4E-4EDD-924796D50005}"/>
              </a:ext>
            </a:extLst>
          </p:cNvPr>
          <p:cNvCxnSpPr>
            <a:cxnSpLocks/>
            <a:stCxn id="11" idx="3"/>
            <a:endCxn id="1026" idx="1"/>
          </p:cNvCxnSpPr>
          <p:nvPr/>
        </p:nvCxnSpPr>
        <p:spPr>
          <a:xfrm>
            <a:off x="6301931" y="1899392"/>
            <a:ext cx="2851606" cy="263403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10B428-5015-B47B-FABB-2B27CE242FE2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864389" y="2084058"/>
            <a:ext cx="124810" cy="1584023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DBA29A8-ECB1-06D4-03EA-55AFB0E56AB3}"/>
              </a:ext>
            </a:extLst>
          </p:cNvPr>
          <p:cNvSpPr txBox="1"/>
          <p:nvPr/>
        </p:nvSpPr>
        <p:spPr>
          <a:xfrm>
            <a:off x="2361335" y="2501778"/>
            <a:ext cx="1106515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Mount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 (FTP)</a:t>
            </a:r>
          </a:p>
          <a:p>
            <a:pPr algn="ctr"/>
            <a:r>
              <a:rPr lang="en-US" sz="12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rsync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3BC9CD-2697-2FB9-7321-11005CF6A642}"/>
              </a:ext>
            </a:extLst>
          </p:cNvPr>
          <p:cNvSpPr txBox="1"/>
          <p:nvPr/>
        </p:nvSpPr>
        <p:spPr>
          <a:xfrm>
            <a:off x="4021869" y="1020063"/>
            <a:ext cx="67786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onsolas" panose="020B0609020204030204" pitchFamily="49" charset="0"/>
                <a:ea typeface="Source Sans Pro" panose="020B0503030403020204" pitchFamily="34" charset="0"/>
              </a:rPr>
              <a:t>cp</a:t>
            </a:r>
          </a:p>
          <a:p>
            <a:pPr algn="ctr"/>
            <a:r>
              <a:rPr lang="en-US" sz="12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rsync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5DD14-DEE0-1657-4EC8-2FC8E121CC33}"/>
              </a:ext>
            </a:extLst>
          </p:cNvPr>
          <p:cNvSpPr txBox="1"/>
          <p:nvPr/>
        </p:nvSpPr>
        <p:spPr>
          <a:xfrm>
            <a:off x="7377956" y="3021750"/>
            <a:ext cx="768548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rclone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D6CAA-92AF-4017-B5A4-740553B9F271}"/>
              </a:ext>
            </a:extLst>
          </p:cNvPr>
          <p:cNvSpPr txBox="1"/>
          <p:nvPr/>
        </p:nvSpPr>
        <p:spPr>
          <a:xfrm>
            <a:off x="3753004" y="2501777"/>
            <a:ext cx="1106515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Mount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 (FTP)</a:t>
            </a:r>
          </a:p>
          <a:p>
            <a:pPr algn="ctr"/>
            <a:r>
              <a:rPr lang="en-US" sz="12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rsync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35" name="Rounded Rectangle 42">
            <a:extLst>
              <a:ext uri="{FF2B5EF4-FFF2-40B4-BE49-F238E27FC236}">
                <a16:creationId xmlns:a16="http://schemas.microsoft.com/office/drawing/2014/main" id="{3B3A4E33-CF92-663B-AC3F-C3B0192061CF}"/>
              </a:ext>
            </a:extLst>
          </p:cNvPr>
          <p:cNvSpPr/>
          <p:nvPr/>
        </p:nvSpPr>
        <p:spPr>
          <a:xfrm>
            <a:off x="6741104" y="3573102"/>
            <a:ext cx="3543821" cy="2296707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532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87391-5CBD-D670-56F7-A9D25F34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4BA0CE-C5D0-3692-3641-8AAD080BF87D}"/>
              </a:ext>
            </a:extLst>
          </p:cNvPr>
          <p:cNvCxnSpPr/>
          <p:nvPr/>
        </p:nvCxnSpPr>
        <p:spPr>
          <a:xfrm>
            <a:off x="3446399" y="1256260"/>
            <a:ext cx="1847508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6966FC8-2A04-16A4-1772-85065B9109C2}"/>
              </a:ext>
            </a:extLst>
          </p:cNvPr>
          <p:cNvSpPr txBox="1"/>
          <p:nvPr/>
        </p:nvSpPr>
        <p:spPr>
          <a:xfrm>
            <a:off x="151552" y="2954606"/>
            <a:ext cx="1496229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Collaborators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757DD4-14C9-8EC0-C211-48E8B8ECA64C}"/>
              </a:ext>
            </a:extLst>
          </p:cNvPr>
          <p:cNvSpPr txBox="1"/>
          <p:nvPr/>
        </p:nvSpPr>
        <p:spPr>
          <a:xfrm>
            <a:off x="1846904" y="376195"/>
            <a:ext cx="7696772" cy="3763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Cluster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4616EB-0F55-FC7F-7DB5-9BDBE2C0459E}"/>
              </a:ext>
            </a:extLst>
          </p:cNvPr>
          <p:cNvSpPr txBox="1"/>
          <p:nvPr/>
        </p:nvSpPr>
        <p:spPr>
          <a:xfrm>
            <a:off x="6741105" y="5321409"/>
            <a:ext cx="3543820" cy="376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Cloud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32BAF2-3E37-D739-994E-8A903230AA09}"/>
              </a:ext>
            </a:extLst>
          </p:cNvPr>
          <p:cNvSpPr txBox="1"/>
          <p:nvPr/>
        </p:nvSpPr>
        <p:spPr>
          <a:xfrm>
            <a:off x="1093817" y="5888425"/>
            <a:ext cx="3543820" cy="3763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CD3CE8-D998-FC4C-84B4-91779A8F601B}"/>
              </a:ext>
            </a:extLst>
          </p:cNvPr>
          <p:cNvGrpSpPr/>
          <p:nvPr/>
        </p:nvGrpSpPr>
        <p:grpSpPr>
          <a:xfrm>
            <a:off x="2361335" y="800326"/>
            <a:ext cx="1255728" cy="1283732"/>
            <a:chOff x="3032551" y="387638"/>
            <a:chExt cx="1255728" cy="1283732"/>
          </a:xfrm>
        </p:grpSpPr>
        <p:pic>
          <p:nvPicPr>
            <p:cNvPr id="9" name="Graphic 8" descr="Server with solid fill">
              <a:extLst>
                <a:ext uri="{FF2B5EF4-FFF2-40B4-BE49-F238E27FC236}">
                  <a16:creationId xmlns:a16="http://schemas.microsoft.com/office/drawing/2014/main" id="{50A9FCF0-5365-68F6-B7FE-639B638F2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3215" y="387638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02A190-868C-122B-9233-4B0EF6699ACF}"/>
                </a:ext>
              </a:extLst>
            </p:cNvPr>
            <p:cNvSpPr txBox="1"/>
            <p:nvPr/>
          </p:nvSpPr>
          <p:spPr>
            <a:xfrm>
              <a:off x="3032551" y="1302038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netscratch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E653EE-5E8C-B5F7-C32E-295BDB00CF5A}"/>
              </a:ext>
            </a:extLst>
          </p:cNvPr>
          <p:cNvGrpSpPr/>
          <p:nvPr/>
        </p:nvGrpSpPr>
        <p:grpSpPr>
          <a:xfrm>
            <a:off x="5200283" y="800326"/>
            <a:ext cx="1101648" cy="1283732"/>
            <a:chOff x="5643892" y="387638"/>
            <a:chExt cx="1101648" cy="1283732"/>
          </a:xfrm>
        </p:grpSpPr>
        <p:pic>
          <p:nvPicPr>
            <p:cNvPr id="5" name="Graphic 4" descr="Server with solid fill">
              <a:extLst>
                <a:ext uri="{FF2B5EF4-FFF2-40B4-BE49-F238E27FC236}">
                  <a16:creationId xmlns:a16="http://schemas.microsoft.com/office/drawing/2014/main" id="{B41DB967-AEA6-E7D4-4D2C-B84BE6A3B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854159-62F1-AE80-EB0E-EC29393F43E0}"/>
                </a:ext>
              </a:extLst>
            </p:cNvPr>
            <p:cNvSpPr txBox="1"/>
            <p:nvPr/>
          </p:nvSpPr>
          <p:spPr>
            <a:xfrm>
              <a:off x="5643892" y="1302038"/>
              <a:ext cx="1101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lab share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1B66DDF-2435-6FD1-EC57-35276F1D1620}"/>
              </a:ext>
            </a:extLst>
          </p:cNvPr>
          <p:cNvGrpSpPr/>
          <p:nvPr/>
        </p:nvGrpSpPr>
        <p:grpSpPr>
          <a:xfrm>
            <a:off x="8055816" y="800326"/>
            <a:ext cx="914400" cy="1283732"/>
            <a:chOff x="8288401" y="387638"/>
            <a:chExt cx="914400" cy="1283732"/>
          </a:xfrm>
        </p:grpSpPr>
        <p:pic>
          <p:nvPicPr>
            <p:cNvPr id="4" name="Graphic 3" descr="Server with solid fill">
              <a:extLst>
                <a:ext uri="{FF2B5EF4-FFF2-40B4-BE49-F238E27FC236}">
                  <a16:creationId xmlns:a16="http://schemas.microsoft.com/office/drawing/2014/main" id="{E3DEF7DC-416B-8CBF-C1F9-C24198072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8401" y="387638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DA91CB-4514-D512-322D-F99122C7006C}"/>
                </a:ext>
              </a:extLst>
            </p:cNvPr>
            <p:cNvSpPr txBox="1"/>
            <p:nvPr/>
          </p:nvSpPr>
          <p:spPr>
            <a:xfrm>
              <a:off x="8428494" y="1302038"/>
              <a:ext cx="634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tape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A0A445-C426-E5DB-BA74-7FB5F5137DED}"/>
              </a:ext>
            </a:extLst>
          </p:cNvPr>
          <p:cNvGrpSpPr/>
          <p:nvPr/>
        </p:nvGrpSpPr>
        <p:grpSpPr>
          <a:xfrm>
            <a:off x="2285055" y="3538031"/>
            <a:ext cx="1161344" cy="1099066"/>
            <a:chOff x="2170185" y="4087564"/>
            <a:chExt cx="1161344" cy="10990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9903D6-7B25-5E77-1E83-E154E571D733}"/>
                </a:ext>
              </a:extLst>
            </p:cNvPr>
            <p:cNvSpPr txBox="1"/>
            <p:nvPr/>
          </p:nvSpPr>
          <p:spPr>
            <a:xfrm>
              <a:off x="2170185" y="4817298"/>
              <a:ext cx="1161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16" name="Graphic 15" descr="Computer with solid fill">
              <a:extLst>
                <a:ext uri="{FF2B5EF4-FFF2-40B4-BE49-F238E27FC236}">
                  <a16:creationId xmlns:a16="http://schemas.microsoft.com/office/drawing/2014/main" id="{3E595D25-2601-A380-DD27-A4A4A6954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F7A0E3C-B051-1823-3BA6-D579A4871A9C}"/>
              </a:ext>
            </a:extLst>
          </p:cNvPr>
          <p:cNvGrpSpPr/>
          <p:nvPr/>
        </p:nvGrpSpPr>
        <p:grpSpPr>
          <a:xfrm>
            <a:off x="3159863" y="4639654"/>
            <a:ext cx="914400" cy="1176497"/>
            <a:chOff x="5481143" y="3640801"/>
            <a:chExt cx="914400" cy="1176497"/>
          </a:xfrm>
        </p:grpSpPr>
        <p:pic>
          <p:nvPicPr>
            <p:cNvPr id="25" name="Graphic 24" descr="Usb Stick with solid fill">
              <a:extLst>
                <a:ext uri="{FF2B5EF4-FFF2-40B4-BE49-F238E27FC236}">
                  <a16:creationId xmlns:a16="http://schemas.microsoft.com/office/drawing/2014/main" id="{BAA22600-B0AC-F2D9-5122-222031061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81143" y="3640801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72439F-B454-8778-EDF9-B7AA75C0C30E}"/>
                </a:ext>
              </a:extLst>
            </p:cNvPr>
            <p:cNvSpPr txBox="1"/>
            <p:nvPr/>
          </p:nvSpPr>
          <p:spPr>
            <a:xfrm>
              <a:off x="5662886" y="4447966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usb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344C6E-42AD-CDF1-0571-88D1CD1D6EEB}"/>
              </a:ext>
            </a:extLst>
          </p:cNvPr>
          <p:cNvGrpSpPr/>
          <p:nvPr/>
        </p:nvGrpSpPr>
        <p:grpSpPr>
          <a:xfrm>
            <a:off x="7096954" y="3999807"/>
            <a:ext cx="1098955" cy="1283621"/>
            <a:chOff x="7968765" y="3038463"/>
            <a:chExt cx="1098955" cy="1283621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8C707924-ED7E-01ED-2EFE-0B39284D9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968765" y="3038463"/>
              <a:ext cx="1098955" cy="109895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72F95FB-59A1-38EB-B899-58ADCE2B7716}"/>
                </a:ext>
              </a:extLst>
            </p:cNvPr>
            <p:cNvSpPr txBox="1"/>
            <p:nvPr/>
          </p:nvSpPr>
          <p:spPr>
            <a:xfrm>
              <a:off x="8018169" y="3952752"/>
              <a:ext cx="1000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dropbox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764CBD-D9FA-A8A8-7656-C51BE172D5E1}"/>
              </a:ext>
            </a:extLst>
          </p:cNvPr>
          <p:cNvGrpSpPr/>
          <p:nvPr/>
        </p:nvGrpSpPr>
        <p:grpSpPr>
          <a:xfrm>
            <a:off x="9153537" y="4198557"/>
            <a:ext cx="780278" cy="1039070"/>
            <a:chOff x="9898343" y="3203218"/>
            <a:chExt cx="780278" cy="1039070"/>
          </a:xfrm>
        </p:grpSpPr>
        <p:pic>
          <p:nvPicPr>
            <p:cNvPr id="1026" name="Picture 2">
              <a:hlinkClick r:id="rId15"/>
              <a:extLst>
                <a:ext uri="{FF2B5EF4-FFF2-40B4-BE49-F238E27FC236}">
                  <a16:creationId xmlns:a16="http://schemas.microsoft.com/office/drawing/2014/main" id="{1204316A-5129-F0DE-A16A-F1D8D0158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98343" y="3203218"/>
              <a:ext cx="750341" cy="669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201F72-87B4-134D-62A0-3D8C956E77A4}"/>
                </a:ext>
              </a:extLst>
            </p:cNvPr>
            <p:cNvSpPr txBox="1"/>
            <p:nvPr/>
          </p:nvSpPr>
          <p:spPr>
            <a:xfrm>
              <a:off x="9898343" y="3872956"/>
              <a:ext cx="780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gdrive</a:t>
              </a: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683FD1-1FAF-DC13-F619-D70CE07D3E2B}"/>
              </a:ext>
            </a:extLst>
          </p:cNvPr>
          <p:cNvGrpSpPr/>
          <p:nvPr/>
        </p:nvGrpSpPr>
        <p:grpSpPr>
          <a:xfrm>
            <a:off x="1531073" y="4605444"/>
            <a:ext cx="943744" cy="1264365"/>
            <a:chOff x="9899067" y="1970798"/>
            <a:chExt cx="943744" cy="1264365"/>
          </a:xfrm>
        </p:grpSpPr>
        <p:pic>
          <p:nvPicPr>
            <p:cNvPr id="38" name="Graphic 37" descr="Server outline">
              <a:extLst>
                <a:ext uri="{FF2B5EF4-FFF2-40B4-BE49-F238E27FC236}">
                  <a16:creationId xmlns:a16="http://schemas.microsoft.com/office/drawing/2014/main" id="{DD744229-D529-6364-AA90-DD6D39F7F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928411" y="1970798"/>
              <a:ext cx="914400" cy="9144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A2E5CFA-17B2-3AD6-2B58-39600DC4BE99}"/>
                </a:ext>
              </a:extLst>
            </p:cNvPr>
            <p:cNvSpPr txBox="1"/>
            <p:nvPr/>
          </p:nvSpPr>
          <p:spPr>
            <a:xfrm>
              <a:off x="9899067" y="2865831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 NAS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17B548A-75BC-D20C-29F7-7022039EA7E4}"/>
              </a:ext>
            </a:extLst>
          </p:cNvPr>
          <p:cNvSpPr/>
          <p:nvPr/>
        </p:nvSpPr>
        <p:spPr>
          <a:xfrm>
            <a:off x="1861873" y="170996"/>
            <a:ext cx="7681803" cy="2245757"/>
          </a:xfrm>
          <a:prstGeom prst="roundRect">
            <a:avLst>
              <a:gd name="adj" fmla="val 861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CD153B-A924-4911-9318-3E628AF3370E}"/>
              </a:ext>
            </a:extLst>
          </p:cNvPr>
          <p:cNvSpPr/>
          <p:nvPr/>
        </p:nvSpPr>
        <p:spPr>
          <a:xfrm>
            <a:off x="1093816" y="3573102"/>
            <a:ext cx="3543821" cy="2908703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B07D25-717C-4A39-ECB2-90954FC14C46}"/>
              </a:ext>
            </a:extLst>
          </p:cNvPr>
          <p:cNvCxnSpPr>
            <a:cxnSpLocks/>
          </p:cNvCxnSpPr>
          <p:nvPr/>
        </p:nvCxnSpPr>
        <p:spPr>
          <a:xfrm flipV="1">
            <a:off x="1093816" y="1398730"/>
            <a:ext cx="756148" cy="60514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3350BC-1FD4-1F1F-D79D-5CB7E0538D4B}"/>
              </a:ext>
            </a:extLst>
          </p:cNvPr>
          <p:cNvCxnSpPr/>
          <p:nvPr/>
        </p:nvCxnSpPr>
        <p:spPr>
          <a:xfrm>
            <a:off x="6208308" y="1256260"/>
            <a:ext cx="184750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D0CC08-97D4-A44A-58E4-E1D59F81AC24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3322927" y="1899392"/>
            <a:ext cx="1877356" cy="2095839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42CD5A-92F6-CD6C-DC6B-37DCB494814F}"/>
              </a:ext>
            </a:extLst>
          </p:cNvPr>
          <p:cNvCxnSpPr>
            <a:cxnSpLocks/>
            <a:stCxn id="11" idx="3"/>
            <a:endCxn id="1026" idx="1"/>
          </p:cNvCxnSpPr>
          <p:nvPr/>
        </p:nvCxnSpPr>
        <p:spPr>
          <a:xfrm>
            <a:off x="6301931" y="1899392"/>
            <a:ext cx="2851606" cy="2634034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1D4659-7909-3F3E-35CF-173B3AE62AC9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864389" y="2084058"/>
            <a:ext cx="124810" cy="1584023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F55096-E4FA-7E3C-B891-53827955A8DD}"/>
              </a:ext>
            </a:extLst>
          </p:cNvPr>
          <p:cNvSpPr txBox="1"/>
          <p:nvPr/>
        </p:nvSpPr>
        <p:spPr>
          <a:xfrm>
            <a:off x="2361335" y="2501778"/>
            <a:ext cx="1106515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Mount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 (FTP)</a:t>
            </a:r>
          </a:p>
          <a:p>
            <a:pPr algn="ctr"/>
            <a:r>
              <a:rPr lang="en-US" sz="12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rsync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11FAD-91AE-D99D-38AE-8B3AD8AA2BD7}"/>
              </a:ext>
            </a:extLst>
          </p:cNvPr>
          <p:cNvSpPr txBox="1"/>
          <p:nvPr/>
        </p:nvSpPr>
        <p:spPr>
          <a:xfrm>
            <a:off x="4021869" y="1020063"/>
            <a:ext cx="67786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onsolas" panose="020B0609020204030204" pitchFamily="49" charset="0"/>
                <a:ea typeface="Source Sans Pro" panose="020B0503030403020204" pitchFamily="34" charset="0"/>
              </a:rPr>
              <a:t>cp</a:t>
            </a:r>
          </a:p>
          <a:p>
            <a:pPr algn="ctr"/>
            <a:r>
              <a:rPr lang="en-US" sz="12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rsync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CC595D-4827-DB20-7B7B-5E94D57EB7BA}"/>
              </a:ext>
            </a:extLst>
          </p:cNvPr>
          <p:cNvSpPr txBox="1"/>
          <p:nvPr/>
        </p:nvSpPr>
        <p:spPr>
          <a:xfrm>
            <a:off x="7377956" y="3021750"/>
            <a:ext cx="768548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rclone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F12D39-2542-04D0-52AB-DCFCD1A5269D}"/>
              </a:ext>
            </a:extLst>
          </p:cNvPr>
          <p:cNvSpPr txBox="1"/>
          <p:nvPr/>
        </p:nvSpPr>
        <p:spPr>
          <a:xfrm>
            <a:off x="3753004" y="2501777"/>
            <a:ext cx="1106515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Mount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FileZilla (FTP)</a:t>
            </a:r>
          </a:p>
          <a:p>
            <a:pPr algn="ctr"/>
            <a:r>
              <a:rPr lang="en-US" sz="12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rsync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35" name="Rounded Rectangle 42">
            <a:extLst>
              <a:ext uri="{FF2B5EF4-FFF2-40B4-BE49-F238E27FC236}">
                <a16:creationId xmlns:a16="http://schemas.microsoft.com/office/drawing/2014/main" id="{B47BDC57-6463-260B-469C-9885B03E92C8}"/>
              </a:ext>
            </a:extLst>
          </p:cNvPr>
          <p:cNvSpPr/>
          <p:nvPr/>
        </p:nvSpPr>
        <p:spPr>
          <a:xfrm>
            <a:off x="6741104" y="3573102"/>
            <a:ext cx="3543821" cy="2296707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E734F2-C492-8BE6-566D-2E292EE4B9CC}"/>
              </a:ext>
            </a:extLst>
          </p:cNvPr>
          <p:cNvSpPr txBox="1"/>
          <p:nvPr/>
        </p:nvSpPr>
        <p:spPr>
          <a:xfrm>
            <a:off x="957731" y="1562802"/>
            <a:ext cx="1106515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Globus</a:t>
            </a:r>
          </a:p>
        </p:txBody>
      </p:sp>
      <p:sp>
        <p:nvSpPr>
          <p:cNvPr id="24" name="Rounded Rectangle 42">
            <a:extLst>
              <a:ext uri="{FF2B5EF4-FFF2-40B4-BE49-F238E27FC236}">
                <a16:creationId xmlns:a16="http://schemas.microsoft.com/office/drawing/2014/main" id="{A7BAC6F5-77BC-76C4-0AF8-F74E835C1FD8}"/>
              </a:ext>
            </a:extLst>
          </p:cNvPr>
          <p:cNvSpPr/>
          <p:nvPr/>
        </p:nvSpPr>
        <p:spPr>
          <a:xfrm>
            <a:off x="151552" y="2038945"/>
            <a:ext cx="1496229" cy="1360551"/>
          </a:xfrm>
          <a:prstGeom prst="roundRect">
            <a:avLst>
              <a:gd name="adj" fmla="val 87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0DF752-5D7B-0811-09A5-85E63022789D}"/>
              </a:ext>
            </a:extLst>
          </p:cNvPr>
          <p:cNvGrpSpPr/>
          <p:nvPr/>
        </p:nvGrpSpPr>
        <p:grpSpPr>
          <a:xfrm>
            <a:off x="242108" y="2105666"/>
            <a:ext cx="743563" cy="695927"/>
            <a:chOff x="2170185" y="4087564"/>
            <a:chExt cx="1227579" cy="114893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681F2CE-6DB1-70B7-DF68-E43514F1216A}"/>
                </a:ext>
              </a:extLst>
            </p:cNvPr>
            <p:cNvSpPr txBox="1"/>
            <p:nvPr/>
          </p:nvSpPr>
          <p:spPr>
            <a:xfrm>
              <a:off x="2170185" y="4817298"/>
              <a:ext cx="1227579" cy="419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computer</a:t>
              </a:r>
            </a:p>
          </p:txBody>
        </p:sp>
        <p:pic>
          <p:nvPicPr>
            <p:cNvPr id="46" name="Graphic 45" descr="Computer with solid fill">
              <a:extLst>
                <a:ext uri="{FF2B5EF4-FFF2-40B4-BE49-F238E27FC236}">
                  <a16:creationId xmlns:a16="http://schemas.microsoft.com/office/drawing/2014/main" id="{200FA7ED-463C-7403-FF3D-F078C945B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93657" y="4087564"/>
              <a:ext cx="914400" cy="9144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35FD516-4478-830E-C3A9-2B85A2BCEE6F}"/>
              </a:ext>
            </a:extLst>
          </p:cNvPr>
          <p:cNvGrpSpPr/>
          <p:nvPr/>
        </p:nvGrpSpPr>
        <p:grpSpPr>
          <a:xfrm>
            <a:off x="960851" y="2105666"/>
            <a:ext cx="572593" cy="731053"/>
            <a:chOff x="5643892" y="387638"/>
            <a:chExt cx="1079917" cy="1378776"/>
          </a:xfrm>
        </p:grpSpPr>
        <p:pic>
          <p:nvPicPr>
            <p:cNvPr id="51" name="Graphic 50" descr="Server with solid fill">
              <a:extLst>
                <a:ext uri="{FF2B5EF4-FFF2-40B4-BE49-F238E27FC236}">
                  <a16:creationId xmlns:a16="http://schemas.microsoft.com/office/drawing/2014/main" id="{E98C1AEA-EC3D-3355-549D-AED745A64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737516" y="387638"/>
              <a:ext cx="914400" cy="9144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A82B9F9-D412-1C9F-5247-CF5E03C0A37E}"/>
                </a:ext>
              </a:extLst>
            </p:cNvPr>
            <p:cNvSpPr txBox="1"/>
            <p:nvPr/>
          </p:nvSpPr>
          <p:spPr>
            <a:xfrm>
              <a:off x="5643892" y="1302038"/>
              <a:ext cx="1079917" cy="4643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cluster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0759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0E11-91A6-6D20-5E39-E0668C63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665F77-996D-540A-6AE6-C6E9F54F74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42FE1-1FEA-4F79-A5FF-04823279422C}"/>
              </a:ext>
            </a:extLst>
          </p:cNvPr>
          <p:cNvSpPr txBox="1"/>
          <p:nvPr/>
        </p:nvSpPr>
        <p:spPr>
          <a:xfrm>
            <a:off x="0" y="1674048"/>
            <a:ext cx="1219200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Viewing and editing files on the cluster</a:t>
            </a:r>
            <a:endParaRPr lang="en-US" sz="36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5E656-88A6-5C60-A8CE-284CFD569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344" y="2320379"/>
            <a:ext cx="5155312" cy="317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9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B0BE-813C-6880-0BE9-3BB91320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6BA0-9FBA-592C-37FD-54C38720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B1962-43BC-8575-CFD4-07E052A0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893093-674E-597E-4EE6-F624D446C290}"/>
              </a:ext>
            </a:extLst>
          </p:cNvPr>
          <p:cNvSpPr txBox="1"/>
          <p:nvPr/>
        </p:nvSpPr>
        <p:spPr>
          <a:xfrm>
            <a:off x="341748" y="4216828"/>
            <a:ext cx="4246281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text-editor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nano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Enter.</a:t>
            </a:r>
          </a:p>
        </p:txBody>
      </p:sp>
    </p:spTree>
    <p:extLst>
      <p:ext uri="{BB962C8B-B14F-4D97-AF65-F5344CB8AC3E}">
        <p14:creationId xmlns:p14="http://schemas.microsoft.com/office/powerpoint/2010/main" val="1155827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1F4D-9097-5D72-94FD-D6AA1DB7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91C5-2968-26C3-7D19-EBE224EE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DEFB2-72A3-C37D-EFD4-98A08FD34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05E78A-F70D-3410-6DED-A12AB416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93" y="1244409"/>
            <a:ext cx="5771378" cy="561359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3B0C101-835E-A8E1-56C7-6BE71E4C1057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DA0B5-45CA-C1B6-C94E-069C8013EB89}"/>
              </a:ext>
            </a:extLst>
          </p:cNvPr>
          <p:cNvSpPr txBox="1"/>
          <p:nvPr/>
        </p:nvSpPr>
        <p:spPr>
          <a:xfrm>
            <a:off x="341748" y="4216828"/>
            <a:ext cx="4246281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text-editor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nano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Enter.</a:t>
            </a: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will change the entire terminal interface to the text editor.</a:t>
            </a:r>
          </a:p>
        </p:txBody>
      </p:sp>
    </p:spTree>
    <p:extLst>
      <p:ext uri="{BB962C8B-B14F-4D97-AF65-F5344CB8AC3E}">
        <p14:creationId xmlns:p14="http://schemas.microsoft.com/office/powerpoint/2010/main" val="18295771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23F7-78B3-7AE9-B037-AB4A0B13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95C5A-48E8-392A-C568-2874ABAD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67" y="1244409"/>
            <a:ext cx="5765804" cy="5613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28FB8-FDBD-AA7B-66CD-F04F3A79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07F08-502D-972A-42C1-2BDEAD0F3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A2F458C-522C-C002-F0C5-A5F165F8851D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A33FF-2837-6143-4F6A-2E9AD9453174}"/>
              </a:ext>
            </a:extLst>
          </p:cNvPr>
          <p:cNvSpPr txBox="1"/>
          <p:nvPr/>
        </p:nvSpPr>
        <p:spPr>
          <a:xfrm>
            <a:off x="341748" y="4216828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Within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editor, you can enter any text. You could even manually enter formatted text or code!</a:t>
            </a:r>
          </a:p>
        </p:txBody>
      </p:sp>
    </p:spTree>
    <p:extLst>
      <p:ext uri="{BB962C8B-B14F-4D97-AF65-F5344CB8AC3E}">
        <p14:creationId xmlns:p14="http://schemas.microsoft.com/office/powerpoint/2010/main" val="2287906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C954-DDAA-DDD8-D54C-31518C8F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BD0DF3-98E8-D478-48F3-62996D026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67" y="1244409"/>
            <a:ext cx="5765804" cy="5613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80C5CB-F63A-F104-52E0-FCB5E88B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3DBFFC-D3DC-D3FA-9A9C-356374477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A43B195-540A-2075-E8A6-02762D97A9EF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4C066-63DF-D306-618E-02FEBD279422}"/>
              </a:ext>
            </a:extLst>
          </p:cNvPr>
          <p:cNvSpPr txBox="1"/>
          <p:nvPr/>
        </p:nvSpPr>
        <p:spPr>
          <a:xfrm>
            <a:off x="341748" y="4216828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Within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editor, you can enter any text. You could even manually enter formatted text or code!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5A281-A2D0-DC5E-D382-68467017CA88}"/>
              </a:ext>
            </a:extLst>
          </p:cNvPr>
          <p:cNvSpPr txBox="1"/>
          <p:nvPr/>
        </p:nvSpPr>
        <p:spPr>
          <a:xfrm>
            <a:off x="341747" y="5410250"/>
            <a:ext cx="424628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Tedious to navigate lines and hard to view large files.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Best for quick and small edits.</a:t>
            </a:r>
          </a:p>
        </p:txBody>
      </p:sp>
    </p:spTree>
    <p:extLst>
      <p:ext uri="{BB962C8B-B14F-4D97-AF65-F5344CB8AC3E}">
        <p14:creationId xmlns:p14="http://schemas.microsoft.com/office/powerpoint/2010/main" val="4017398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E02E2-E143-6682-9275-E3A35319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CE56A3-38E6-5F47-2A85-C3C67671A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67" y="1244409"/>
            <a:ext cx="5765804" cy="5613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E9467D-C5D2-73FD-2A12-B1B2C8A85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3B05C-CC60-69D0-A7E9-72DA9440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0D431C6-1AEA-086A-547F-C7403EF60FAE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84709B-F1AF-9B6D-6330-5810FAD9873B}"/>
              </a:ext>
            </a:extLst>
          </p:cNvPr>
          <p:cNvSpPr/>
          <p:nvPr/>
        </p:nvSpPr>
        <p:spPr>
          <a:xfrm>
            <a:off x="6240416" y="6455802"/>
            <a:ext cx="5234271" cy="402198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435CF-F505-CBD4-9D63-78F090FD75C3}"/>
              </a:ext>
            </a:extLst>
          </p:cNvPr>
          <p:cNvSpPr txBox="1"/>
          <p:nvPr/>
        </p:nvSpPr>
        <p:spPr>
          <a:xfrm>
            <a:off x="341748" y="4216828"/>
            <a:ext cx="4246281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Keyboard commands to move around and perform file operations.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^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means ctrl key</a:t>
            </a:r>
          </a:p>
        </p:txBody>
      </p:sp>
    </p:spTree>
    <p:extLst>
      <p:ext uri="{BB962C8B-B14F-4D97-AF65-F5344CB8AC3E}">
        <p14:creationId xmlns:p14="http://schemas.microsoft.com/office/powerpoint/2010/main" val="2664004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3880-1955-7749-4935-4B33D882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9604D4-8B5B-199A-BB65-94E37F9DA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115" y="1196669"/>
            <a:ext cx="5814507" cy="5661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885BE3-02F3-70CF-4D57-BD45F2883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0AD3B-C405-6889-5E18-ADA37D79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5F56CB9-25A7-2494-DB1C-DE9B02EC943E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7762B3-ED90-8E2B-4D99-059DFA1A899C}"/>
              </a:ext>
            </a:extLst>
          </p:cNvPr>
          <p:cNvSpPr/>
          <p:nvPr/>
        </p:nvSpPr>
        <p:spPr>
          <a:xfrm>
            <a:off x="6240416" y="6318298"/>
            <a:ext cx="5681160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B5B4CC-06A9-5870-BB04-84B121091211}"/>
              </a:ext>
            </a:extLst>
          </p:cNvPr>
          <p:cNvSpPr txBox="1"/>
          <p:nvPr/>
        </p:nvSpPr>
        <p:spPr>
          <a:xfrm>
            <a:off x="341748" y="4151854"/>
            <a:ext cx="4246281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Common commands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Save file (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Write Out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):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ctrl-W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which brings up dialog to name or re-name file. Hit Enter to keep filename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Exit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interface and return to terminal: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ctrl X</a:t>
            </a:r>
          </a:p>
        </p:txBody>
      </p:sp>
    </p:spTree>
    <p:extLst>
      <p:ext uri="{BB962C8B-B14F-4D97-AF65-F5344CB8AC3E}">
        <p14:creationId xmlns:p14="http://schemas.microsoft.com/office/powerpoint/2010/main" val="1479971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DBB2-C81D-19F7-2964-C1845880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0BBE8E-58F3-C7C0-588A-5DEC3792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2" y="2819830"/>
            <a:ext cx="4684612" cy="1244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B53BB1-66D9-4B2A-F6FC-5C6AA825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3620E-B56E-A8B5-4AE3-3B10B40BC7C5}"/>
              </a:ext>
            </a:extLst>
          </p:cNvPr>
          <p:cNvSpPr txBox="1"/>
          <p:nvPr/>
        </p:nvSpPr>
        <p:spPr>
          <a:xfrm>
            <a:off x="347764" y="4639133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Open pre-existing files to view/edit their content by providing their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path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2591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6F0C-17EB-DFF4-C96E-4DC8298FD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CD7870D-571F-4C7D-AE20-8E66B1033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115" y="1205861"/>
            <a:ext cx="5784146" cy="56430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CFCAE-2A1E-0D4F-D063-C0E94945B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2" y="2819830"/>
            <a:ext cx="4684612" cy="1244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1C1911-CA95-C932-B1E9-259B7E58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F54FE79-1544-BB9E-729B-EFEDA473BA7A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58CA44-87A0-5E59-BA91-930465252EBE}"/>
              </a:ext>
            </a:extLst>
          </p:cNvPr>
          <p:cNvSpPr txBox="1"/>
          <p:nvPr/>
        </p:nvSpPr>
        <p:spPr>
          <a:xfrm>
            <a:off x="347764" y="4639133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Open pre-existing files to view/edit their content by providing their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path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2462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5850-E82B-893E-BCC7-83A8DA78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3F23C8-D76E-CE95-1F93-AF2D499B4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80657"/>
            <a:ext cx="4684612" cy="1182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81A3D0-E9E9-BB50-A4F0-B5B34B3D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69621A-D0BD-472B-E0B0-351530308C16}"/>
              </a:ext>
            </a:extLst>
          </p:cNvPr>
          <p:cNvSpPr txBox="1"/>
          <p:nvPr/>
        </p:nvSpPr>
        <p:spPr>
          <a:xfrm>
            <a:off x="341748" y="4216828"/>
            <a:ext cx="4246281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 viewer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less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</a:t>
            </a:r>
          </a:p>
        </p:txBody>
      </p:sp>
    </p:spTree>
    <p:extLst>
      <p:ext uri="{BB962C8B-B14F-4D97-AF65-F5344CB8AC3E}">
        <p14:creationId xmlns:p14="http://schemas.microsoft.com/office/powerpoint/2010/main" val="22348396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C5AC-D21D-3B92-DF4F-6183184E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4ECAA0-24EE-1F95-4EEE-16A2A4962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80657"/>
            <a:ext cx="4684612" cy="1182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ACDB70-CAAE-6474-68ED-74100F89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5"/>
            <a:ext cx="4684612" cy="1141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6C150-24BB-9D39-C351-D72C42A51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BB5B6-132E-8EDD-2532-A9AB83525627}"/>
              </a:ext>
            </a:extLst>
          </p:cNvPr>
          <p:cNvSpPr txBox="1"/>
          <p:nvPr/>
        </p:nvSpPr>
        <p:spPr>
          <a:xfrm>
            <a:off x="341748" y="4216828"/>
            <a:ext cx="4246281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 viewer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less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43199-42A2-7369-FF81-629894F205DC}"/>
              </a:ext>
            </a:extLst>
          </p:cNvPr>
          <p:cNvSpPr txBox="1"/>
          <p:nvPr/>
        </p:nvSpPr>
        <p:spPr>
          <a:xfrm>
            <a:off x="341747" y="6180271"/>
            <a:ext cx="424628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cannot be used to create files!</a:t>
            </a:r>
          </a:p>
        </p:txBody>
      </p:sp>
      <p:sp>
        <p:nvSpPr>
          <p:cNvPr id="9" name="&quot;No&quot; Symbol 14">
            <a:extLst>
              <a:ext uri="{FF2B5EF4-FFF2-40B4-BE49-F238E27FC236}">
                <a16:creationId xmlns:a16="http://schemas.microsoft.com/office/drawing/2014/main" id="{6730E3CE-046F-E76F-E311-FC486CFD06E6}"/>
              </a:ext>
            </a:extLst>
          </p:cNvPr>
          <p:cNvSpPr/>
          <p:nvPr/>
        </p:nvSpPr>
        <p:spPr>
          <a:xfrm>
            <a:off x="3124197" y="3303453"/>
            <a:ext cx="561988" cy="492986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1468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572F-5618-D7B0-E674-06FC2DB1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17DD07D-978E-8E68-48AF-2793DF450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16333"/>
            <a:ext cx="4684612" cy="1261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33AE6E-23EF-4ABF-835C-DC685A11D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9F81F-E504-6E3B-EACE-389BE7B0F6C1}"/>
              </a:ext>
            </a:extLst>
          </p:cNvPr>
          <p:cNvSpPr txBox="1"/>
          <p:nvPr/>
        </p:nvSpPr>
        <p:spPr>
          <a:xfrm>
            <a:off x="341748" y="4216828"/>
            <a:ext cx="4246281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 viewer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less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03300-B368-DC6A-588B-3ED6C5BF7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6" y="1278944"/>
            <a:ext cx="5687152" cy="55790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11C967C-B988-B6AE-F22D-9C5EFC6D9A6D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88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1D55-5073-7508-5A52-CB841AE2B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9221D76-9867-01D7-58A5-D04C06A68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16333"/>
            <a:ext cx="4684612" cy="1261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42B809-0231-49BE-4FA2-A5D607777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A00A6-66BC-6840-EBF8-5B54126DB750}"/>
              </a:ext>
            </a:extLst>
          </p:cNvPr>
          <p:cNvSpPr txBox="1"/>
          <p:nvPr/>
        </p:nvSpPr>
        <p:spPr>
          <a:xfrm>
            <a:off x="341748" y="4216828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does not load the entire file into memory, so it is good for previewing large files.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3F2BE-BDC2-193B-C666-4CA76BFCD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6" y="1278944"/>
            <a:ext cx="5687152" cy="55790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2858A2D-25D5-A2B0-5360-CEF5BC2F3D66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201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75E7-8956-982B-F24B-B4DC68D0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B6A20EA-48CA-DFC7-B3F8-0FFCE6277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16333"/>
            <a:ext cx="4684612" cy="1261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172910-D7ED-B36F-088D-B6459635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01E95-653A-6906-5B86-EE730865E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6" y="1278944"/>
            <a:ext cx="5687152" cy="55790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402E788-2AE4-9DF2-DD3E-E7BFDEA0496F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2BCE3-20F8-4067-F744-EE7BC7A97438}"/>
              </a:ext>
            </a:extLst>
          </p:cNvPr>
          <p:cNvSpPr txBox="1"/>
          <p:nvPr/>
        </p:nvSpPr>
        <p:spPr>
          <a:xfrm>
            <a:off x="341748" y="4153497"/>
            <a:ext cx="4246281" cy="25853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Navigation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endParaRPr lang="en-US" u="sng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Up/down arrows: move up and down 1 line</a:t>
            </a:r>
          </a:p>
          <a:p>
            <a:pPr algn="ctr"/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&lt;space&gt;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move down one page</a:t>
            </a: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&lt;b&gt;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move up (back) one page</a:t>
            </a:r>
          </a:p>
          <a:p>
            <a:pPr algn="ctr"/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&lt;q&gt;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exit the viewer</a:t>
            </a:r>
          </a:p>
        </p:txBody>
      </p:sp>
    </p:spTree>
    <p:extLst>
      <p:ext uri="{BB962C8B-B14F-4D97-AF65-F5344CB8AC3E}">
        <p14:creationId xmlns:p14="http://schemas.microsoft.com/office/powerpoint/2010/main" val="23110121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0749B-D2F2-5CA3-2796-4A30EAE90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0AD7245-8B89-0389-8D2F-57F1904B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16333"/>
            <a:ext cx="4684612" cy="1261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7FFF1-F397-95F3-4452-87954AF8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9FF31-0970-9D49-C0DE-6D2BBA384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6" y="1278944"/>
            <a:ext cx="5687152" cy="55790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F09BFA2-A4CC-330F-E136-E33286EE6FDB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F4037-DFD0-F20D-1036-CC6A3DA0F776}"/>
              </a:ext>
            </a:extLst>
          </p:cNvPr>
          <p:cNvSpPr txBox="1"/>
          <p:nvPr/>
        </p:nvSpPr>
        <p:spPr>
          <a:xfrm>
            <a:off x="341748" y="4153497"/>
            <a:ext cx="4246281" cy="25853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Navigation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endParaRPr lang="en-US" u="sng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Up/down arrows: move up and down 1 line</a:t>
            </a:r>
          </a:p>
          <a:p>
            <a:pPr algn="ctr"/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&lt;space&gt;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move down one page</a:t>
            </a: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&lt;b&gt;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move up (back) one page</a:t>
            </a:r>
          </a:p>
          <a:p>
            <a:pPr algn="ctr"/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&lt;q&gt;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exit the viewer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FE0C6-BD82-8A53-6816-8C845633A91D}"/>
              </a:ext>
            </a:extLst>
          </p:cNvPr>
          <p:cNvSpPr txBox="1"/>
          <p:nvPr/>
        </p:nvSpPr>
        <p:spPr>
          <a:xfrm>
            <a:off x="341748" y="1447748"/>
            <a:ext cx="4246281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Tip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use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-S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option to disable line wrapping: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 -S &lt;file name or path&gt; </a:t>
            </a:r>
          </a:p>
        </p:txBody>
      </p:sp>
    </p:spTree>
    <p:extLst>
      <p:ext uri="{BB962C8B-B14F-4D97-AF65-F5344CB8AC3E}">
        <p14:creationId xmlns:p14="http://schemas.microsoft.com/office/powerpoint/2010/main" val="35642875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ACB26-AF1F-F835-395F-EEB7939C6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124C-3557-BC24-2CB0-351DBBCCD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Printing a file to the terminal: </a:t>
            </a:r>
            <a:r>
              <a:rPr lang="en-US" dirty="0">
                <a:latin typeface="Consolas" panose="020B0609020204030204" pitchFamily="49" charset="0"/>
              </a:rPr>
              <a:t>cat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DBDD5-1200-87D0-A034-CECBF1C47A2A}"/>
              </a:ext>
            </a:extLst>
          </p:cNvPr>
          <p:cNvSpPr txBox="1"/>
          <p:nvPr/>
        </p:nvSpPr>
        <p:spPr>
          <a:xfrm>
            <a:off x="341748" y="4442255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cat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(short for concatenate) displays file contents on the screen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3EB025-FEED-4BFF-12C5-D2D2FCC77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47725"/>
            <a:ext cx="4684612" cy="12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602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1420-3A07-F9C4-135E-F5082733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9097-B1FF-01AA-E7E3-BCE9A340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Printing a file to the terminal: </a:t>
            </a:r>
            <a:r>
              <a:rPr lang="en-US" dirty="0">
                <a:latin typeface="Consolas" panose="020B0609020204030204" pitchFamily="49" charset="0"/>
              </a:rPr>
              <a:t>cat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2D2CDD5-4C65-A7CE-F645-F275C14BC93F}"/>
              </a:ext>
            </a:extLst>
          </p:cNvPr>
          <p:cNvSpPr/>
          <p:nvPr/>
        </p:nvSpPr>
        <p:spPr>
          <a:xfrm>
            <a:off x="5023400" y="3233529"/>
            <a:ext cx="1612016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1DDE6-8FD8-1774-8604-B74622F3DBFB}"/>
              </a:ext>
            </a:extLst>
          </p:cNvPr>
          <p:cNvSpPr txBox="1"/>
          <p:nvPr/>
        </p:nvSpPr>
        <p:spPr>
          <a:xfrm>
            <a:off x="341748" y="4442255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cat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(short for concatenate) displays file contents on the screen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674A71-B671-8F39-A3A3-282C74F40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47725"/>
            <a:ext cx="4684612" cy="12207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5D1F15-CA9B-455D-6632-5BB7A9E15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536" y="2758286"/>
            <a:ext cx="4237532" cy="134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706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7F46-3349-8375-2D52-48D0BD65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964F-72F1-FE57-AE86-F82C2532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Printing a file to the terminal: </a:t>
            </a:r>
            <a:r>
              <a:rPr lang="en-US" dirty="0">
                <a:latin typeface="Consolas" panose="020B0609020204030204" pitchFamily="49" charset="0"/>
              </a:rPr>
              <a:t>cat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64C2367-7CDE-74B6-0E5D-E2D2EC3EEB9A}"/>
              </a:ext>
            </a:extLst>
          </p:cNvPr>
          <p:cNvSpPr/>
          <p:nvPr/>
        </p:nvSpPr>
        <p:spPr>
          <a:xfrm>
            <a:off x="5023400" y="3233529"/>
            <a:ext cx="1612016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CC9553-26C5-EFF5-A3DF-C43C1F2E3F9C}"/>
              </a:ext>
            </a:extLst>
          </p:cNvPr>
          <p:cNvSpPr txBox="1"/>
          <p:nvPr/>
        </p:nvSpPr>
        <p:spPr>
          <a:xfrm>
            <a:off x="341748" y="4442255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cat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(short for concatenate) displays file contents on the screen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E1B7D4-ED9E-45A0-0A5C-7A5423CCD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47725"/>
            <a:ext cx="4684612" cy="12207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1B7EE8-9676-876C-CCE1-78647193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536" y="2758286"/>
            <a:ext cx="4237532" cy="13414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46E5DF-1899-63E3-49B4-336A2A4B4A1D}"/>
              </a:ext>
            </a:extLst>
          </p:cNvPr>
          <p:cNvSpPr txBox="1"/>
          <p:nvPr/>
        </p:nvSpPr>
        <p:spPr>
          <a:xfrm>
            <a:off x="341747" y="5398218"/>
            <a:ext cx="424628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Best for small files!</a:t>
            </a:r>
          </a:p>
        </p:txBody>
      </p:sp>
    </p:spTree>
    <p:extLst>
      <p:ext uri="{BB962C8B-B14F-4D97-AF65-F5344CB8AC3E}">
        <p14:creationId xmlns:p14="http://schemas.microsoft.com/office/powerpoint/2010/main" val="39839853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EECD-E829-52F4-E0E1-3639465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7370ED69-15BF-7FC7-1A54-CAE2FC2D5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4" y="2856511"/>
            <a:ext cx="4684612" cy="1344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3DDF37-B3F9-C2A5-7CC7-8A1D2F62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Finding text in a file: </a:t>
            </a:r>
            <a:r>
              <a:rPr lang="en-US" dirty="0">
                <a:latin typeface="Consolas" panose="020B0609020204030204" pitchFamily="49" charset="0"/>
              </a:rPr>
              <a:t>grep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0F307-5C49-ABD9-9D4A-670CEC601F77}"/>
              </a:ext>
            </a:extLst>
          </p:cNvPr>
          <p:cNvSpPr txBox="1"/>
          <p:nvPr/>
        </p:nvSpPr>
        <p:spPr>
          <a:xfrm>
            <a:off x="341748" y="4522829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reads a file line-by-line and searches for a provided pattern, displaying lines that contain matches to the pattern</a:t>
            </a:r>
          </a:p>
        </p:txBody>
      </p:sp>
    </p:spTree>
    <p:extLst>
      <p:ext uri="{BB962C8B-B14F-4D97-AF65-F5344CB8AC3E}">
        <p14:creationId xmlns:p14="http://schemas.microsoft.com/office/powerpoint/2010/main" val="29161118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9283E-9DBA-94CF-426F-EA0B4A0E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3CDE2C93-3007-0EA5-241C-B31AB91D9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4" y="2856511"/>
            <a:ext cx="4684612" cy="1344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CB677-5B24-8198-1528-EEC09F99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Finding text in a file: </a:t>
            </a:r>
            <a:r>
              <a:rPr lang="en-US" dirty="0">
                <a:latin typeface="Consolas" panose="020B0609020204030204" pitchFamily="49" charset="0"/>
              </a:rPr>
              <a:t>grep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50031-3A75-2B5F-5C33-3CA052DB31A3}"/>
              </a:ext>
            </a:extLst>
          </p:cNvPr>
          <p:cNvSpPr txBox="1"/>
          <p:nvPr/>
        </p:nvSpPr>
        <p:spPr>
          <a:xfrm>
            <a:off x="341748" y="4522829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reads a file line-by-line and searches for a provided pattern, displaying lines that contain matches to the pattern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2388D0-19CE-9277-D30F-7E4B58C8903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55130" y="2642947"/>
            <a:ext cx="334740" cy="59058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BB5823-0232-6503-C0E6-76178103F85C}"/>
              </a:ext>
            </a:extLst>
          </p:cNvPr>
          <p:cNvSpPr txBox="1"/>
          <p:nvPr/>
        </p:nvSpPr>
        <p:spPr>
          <a:xfrm>
            <a:off x="255916" y="2335170"/>
            <a:ext cx="1398428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call to </a:t>
            </a:r>
            <a:r>
              <a:rPr lang="en-US" sz="1400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A4AB95-30AC-1B42-C597-932264A44E28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720201" y="2236445"/>
            <a:ext cx="224281" cy="99708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C84C93-0F5B-394C-E2FD-EF9CE50B6614}"/>
              </a:ext>
            </a:extLst>
          </p:cNvPr>
          <p:cNvSpPr txBox="1"/>
          <p:nvPr/>
        </p:nvSpPr>
        <p:spPr>
          <a:xfrm>
            <a:off x="1245268" y="1497781"/>
            <a:ext cx="1398428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string or pattern to search for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C05EF8-05A9-F895-3C6A-2DB79CDE85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523428" y="2712608"/>
            <a:ext cx="885339" cy="52092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F912B6-4AC9-3B3D-66EC-02687A2315B1}"/>
              </a:ext>
            </a:extLst>
          </p:cNvPr>
          <p:cNvSpPr txBox="1"/>
          <p:nvPr/>
        </p:nvSpPr>
        <p:spPr>
          <a:xfrm>
            <a:off x="2709553" y="2189388"/>
            <a:ext cx="1398428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file to search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0321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8E80-819F-1B05-9295-5533FB6D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293350C-8595-FA70-82A4-4BA65A8B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4" y="2856511"/>
            <a:ext cx="4684612" cy="1344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9BBC69-99F7-9DC3-F308-74D7DE85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Finding text in a file: </a:t>
            </a:r>
            <a:r>
              <a:rPr lang="en-US" dirty="0">
                <a:latin typeface="Consolas" panose="020B0609020204030204" pitchFamily="49" charset="0"/>
              </a:rPr>
              <a:t>grep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34948C9-1D8C-4268-C47E-AF0664319438}"/>
              </a:ext>
            </a:extLst>
          </p:cNvPr>
          <p:cNvSpPr/>
          <p:nvPr/>
        </p:nvSpPr>
        <p:spPr>
          <a:xfrm>
            <a:off x="4993321" y="3360402"/>
            <a:ext cx="1437558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34B04-DCD1-1429-C129-6709ED96B5CF}"/>
              </a:ext>
            </a:extLst>
          </p:cNvPr>
          <p:cNvSpPr txBox="1"/>
          <p:nvPr/>
        </p:nvSpPr>
        <p:spPr>
          <a:xfrm>
            <a:off x="341748" y="4522829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reads a file line-by-line and searches for a provided pattern, displaying lines that contain matches to the pattern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31AE47-2E2C-4483-5C2E-8A48CF04ABB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55130" y="2642947"/>
            <a:ext cx="334740" cy="59058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065316-85D6-1DCF-BC79-E2D5675F6AF7}"/>
              </a:ext>
            </a:extLst>
          </p:cNvPr>
          <p:cNvSpPr txBox="1"/>
          <p:nvPr/>
        </p:nvSpPr>
        <p:spPr>
          <a:xfrm>
            <a:off x="255916" y="2335170"/>
            <a:ext cx="1398428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call to </a:t>
            </a:r>
            <a:r>
              <a:rPr lang="en-US" sz="1400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025FFA-696F-D0E2-B771-CAC1F500618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720201" y="2236445"/>
            <a:ext cx="224281" cy="99708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0054432-601A-676A-0A93-37EA0F0E2205}"/>
              </a:ext>
            </a:extLst>
          </p:cNvPr>
          <p:cNvSpPr txBox="1"/>
          <p:nvPr/>
        </p:nvSpPr>
        <p:spPr>
          <a:xfrm>
            <a:off x="1245268" y="1497781"/>
            <a:ext cx="1398428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string or pattern to search for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2DDF3D-DA1B-5DCE-82AD-1491D14D8A27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523428" y="2712608"/>
            <a:ext cx="885339" cy="52092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7FAAE8-FE7B-2551-2CA4-854612686020}"/>
              </a:ext>
            </a:extLst>
          </p:cNvPr>
          <p:cNvSpPr txBox="1"/>
          <p:nvPr/>
        </p:nvSpPr>
        <p:spPr>
          <a:xfrm>
            <a:off x="2709553" y="2189388"/>
            <a:ext cx="1398428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file to search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2C37012-92FC-994E-D6EF-76F2C6CD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715" y="2760668"/>
            <a:ext cx="4684612" cy="159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049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D25B-5B15-D283-D30F-A1CD670F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2399-3D19-8A53-0363-73AD94A0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Viewing and editing text from the terminal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787B5-4F12-38B7-3116-08792149C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996008"/>
              </p:ext>
            </p:extLst>
          </p:nvPr>
        </p:nvGraphicFramePr>
        <p:xfrm>
          <a:off x="1" y="1884825"/>
          <a:ext cx="12191999" cy="4206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44839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7647160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Consolas" panose="020B0609020204030204" pitchFamily="49" charset="0"/>
                        </a:rPr>
                        <a:t>touch &lt;filename/path&gt;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Command to create empty file at </a:t>
                      </a:r>
                      <a:r>
                        <a:rPr lang="en-US" sz="20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&lt;filename/path&gt;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Will simply change modified timestamp on existing files.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84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Consolas" panose="020B0609020204030204" pitchFamily="49" charset="0"/>
                        </a:rPr>
                        <a:t>nano &lt;filename/path&gt;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Very basic text </a:t>
                      </a:r>
                      <a:r>
                        <a:rPr lang="en-US" sz="20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editor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Opens </a:t>
                      </a:r>
                      <a:r>
                        <a:rPr lang="en-US" sz="20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&lt;filename/path&gt;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for </a:t>
                      </a:r>
                      <a:r>
                        <a:rPr lang="en-US" sz="20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editing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Can be used to create and manipulate files.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Consolas" panose="020B0609020204030204" pitchFamily="49" charset="0"/>
                        </a:rPr>
                        <a:t>less &lt;filename/path&gt;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Very basic text </a:t>
                      </a:r>
                      <a:r>
                        <a:rPr lang="en-US" sz="20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viewer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Opens </a:t>
                      </a:r>
                      <a:r>
                        <a:rPr lang="en-US" sz="20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&lt;filename/path&gt;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for </a:t>
                      </a:r>
                      <a:r>
                        <a:rPr lang="en-US" sz="20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viewing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Cannot create files. Good to preview large files because it doesn’t load the whole file into memory.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Consolas" panose="020B0609020204030204" pitchFamily="49" charset="0"/>
                        </a:rPr>
                        <a:t>cat &lt;filename/path&gt;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Print the contents of </a:t>
                      </a:r>
                      <a:r>
                        <a:rPr lang="en-US" sz="20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&lt;filename/path&gt;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to the screen. Good for short files since you are limited by screen size and scrolling.</a:t>
                      </a:r>
                      <a:endParaRPr lang="en-US" sz="2000" b="1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Consolas" panose="020B0609020204030204" pitchFamily="49" charset="0"/>
                        </a:rPr>
                        <a:t>grep &lt;pattern&gt; &lt;filename/path&gt;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Search for </a:t>
                      </a:r>
                      <a:r>
                        <a:rPr lang="en-US" sz="20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&lt;pattern&gt;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within </a:t>
                      </a:r>
                      <a:r>
                        <a:rPr lang="en-US" sz="20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&lt;filename/path&gt;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 Display any lines in the file that contain </a:t>
                      </a:r>
                      <a:r>
                        <a:rPr lang="en-US" sz="2000" b="0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&lt;pattern&gt;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  <a:endParaRPr lang="en-US" sz="2000" b="1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Consolas" panose="020B0609020204030204" pitchFamily="49" charset="0"/>
                        </a:rPr>
                        <a:t>vim and emacs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More advanced in-terminal text </a:t>
                      </a:r>
                      <a:r>
                        <a:rPr lang="en-US" sz="20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editors</a:t>
                      </a:r>
                      <a:r>
                        <a:rPr lang="en-US" sz="20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.</a:t>
                      </a:r>
                      <a:endParaRPr lang="en-US" sz="2000" b="0" dirty="0">
                        <a:highlight>
                          <a:srgbClr val="FFFF00"/>
                        </a:highlight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1242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E395-AA8D-6083-45C4-C2876DC9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CDA0-73F6-AB04-371D-6D8603E34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Graphical text editors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3C02BCD-644C-5729-D066-24B92CD91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63" y="1528174"/>
            <a:ext cx="5223711" cy="391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>
            <a:extLst>
              <a:ext uri="{FF2B5EF4-FFF2-40B4-BE49-F238E27FC236}">
                <a16:creationId xmlns:a16="http://schemas.microsoft.com/office/drawing/2014/main" id="{49F234A1-3131-9275-2EBD-E01071A9E0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4D8851-E7C8-2D86-95F7-36DB42B92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04" y="1704300"/>
            <a:ext cx="6228004" cy="356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993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DDB33-02CD-BAB2-19AC-17E520F6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B009-CAD0-A0F9-C5D2-8BD3DF67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Graphical text editors: </a:t>
            </a:r>
            <a:r>
              <a:rPr lang="en-US" dirty="0" err="1"/>
              <a:t>VSCode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0C818B77-A735-0A69-0F9E-0574EFFFF1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93B85-32A1-6317-D7DF-9B50A4953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378632"/>
            <a:ext cx="9220200" cy="50036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089CC9-C8FA-E817-9DDA-DBDD36CDACF5}"/>
              </a:ext>
            </a:extLst>
          </p:cNvPr>
          <p:cNvSpPr txBox="1"/>
          <p:nvPr/>
        </p:nvSpPr>
        <p:spPr>
          <a:xfrm>
            <a:off x="3015559" y="6466789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https://code.visualstudio.com/download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01403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3D10-5A94-A5FF-2FB4-8777DC89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F5E7-249E-8553-9B94-DACB1F595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Graphical text editors: </a:t>
            </a:r>
            <a:r>
              <a:rPr lang="en-US" dirty="0" err="1"/>
              <a:t>VSCode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41DC6DE-4576-324E-96F0-367E93FE8D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8DA03-A34A-DB48-63B7-D2B86008A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378632"/>
            <a:ext cx="9220200" cy="5003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5A7575-1736-F1BF-4D1B-74B32E8467B1}"/>
              </a:ext>
            </a:extLst>
          </p:cNvPr>
          <p:cNvSpPr txBox="1"/>
          <p:nvPr/>
        </p:nvSpPr>
        <p:spPr>
          <a:xfrm>
            <a:off x="0" y="3880432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can this be integrated with files on the cluster?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EC2BC-46A8-C6C4-A9A1-D878A154B16F}"/>
              </a:ext>
            </a:extLst>
          </p:cNvPr>
          <p:cNvSpPr txBox="1"/>
          <p:nvPr/>
        </p:nvSpPr>
        <p:spPr>
          <a:xfrm>
            <a:off x="3015559" y="6466789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https://code.visualstudio.com/download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92142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57B4-EF74-52FD-4141-AE947BCE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159F-8E51-605E-9FE5-96CD8C9F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9A24C80-5056-D5FA-D14B-B23C06B356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CDC693-27F3-3443-F0D2-7B9B64E6B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82" y="1250283"/>
            <a:ext cx="5223955" cy="53971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5D4AFF-8313-73EF-4589-517AC700EEB0}"/>
              </a:ext>
            </a:extLst>
          </p:cNvPr>
          <p:cNvSpPr/>
          <p:nvPr/>
        </p:nvSpPr>
        <p:spPr>
          <a:xfrm>
            <a:off x="230643" y="3041698"/>
            <a:ext cx="497268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50EC37-2244-E502-46C6-D4BA8DB4B350}"/>
              </a:ext>
            </a:extLst>
          </p:cNvPr>
          <p:cNvSpPr txBox="1"/>
          <p:nvPr/>
        </p:nvSpPr>
        <p:spPr>
          <a:xfrm>
            <a:off x="6248400" y="1774429"/>
            <a:ext cx="5066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VSCode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 be a simple, light-weight text editor</a:t>
            </a:r>
          </a:p>
          <a:p>
            <a:pPr algn="ctr"/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0678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D004-2863-CFA8-3CF4-688615C7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46FA-6A33-6316-6E2A-D7D002D0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79497FFB-468C-6BE9-2B56-C614270F1B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DC9E50-E9A2-A21B-6783-176183056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82" y="1250283"/>
            <a:ext cx="5223955" cy="53971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9281D8-E63D-DD9F-55FF-54B8DD814E0C}"/>
              </a:ext>
            </a:extLst>
          </p:cNvPr>
          <p:cNvSpPr/>
          <p:nvPr/>
        </p:nvSpPr>
        <p:spPr>
          <a:xfrm>
            <a:off x="230643" y="3041698"/>
            <a:ext cx="497268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C0F3B-CAA4-5FD5-2269-7F5BE8965973}"/>
              </a:ext>
            </a:extLst>
          </p:cNvPr>
          <p:cNvSpPr txBox="1"/>
          <p:nvPr/>
        </p:nvSpPr>
        <p:spPr>
          <a:xfrm>
            <a:off x="6248400" y="1774429"/>
            <a:ext cx="50669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VSCode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 be a simple, light-weight text editor</a:t>
            </a:r>
          </a:p>
          <a:p>
            <a:pPr algn="ctr"/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 it is also highly customizable, with extensions that allow it to act like a full fledged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IDE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across many languages</a:t>
            </a:r>
          </a:p>
        </p:txBody>
      </p:sp>
    </p:spTree>
    <p:extLst>
      <p:ext uri="{BB962C8B-B14F-4D97-AF65-F5344CB8AC3E}">
        <p14:creationId xmlns:p14="http://schemas.microsoft.com/office/powerpoint/2010/main" val="37079140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2E3C8-A32D-5DF8-8F1B-32770D861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AB9F-DC49-1116-4B6C-2824CAD35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539C2E07-8FA1-9430-26D2-8C22E89FD3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1B0B0-7B26-E2D5-E78B-3E22682E8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82" y="1250283"/>
            <a:ext cx="5223955" cy="53971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2A5C4F-F926-37E3-F431-369B879301E2}"/>
              </a:ext>
            </a:extLst>
          </p:cNvPr>
          <p:cNvSpPr/>
          <p:nvPr/>
        </p:nvSpPr>
        <p:spPr>
          <a:xfrm>
            <a:off x="230643" y="3041698"/>
            <a:ext cx="497268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46385-2BA6-13F8-DF59-9F661829B1E5}"/>
              </a:ext>
            </a:extLst>
          </p:cNvPr>
          <p:cNvSpPr txBox="1"/>
          <p:nvPr/>
        </p:nvSpPr>
        <p:spPr>
          <a:xfrm>
            <a:off x="6248400" y="1774429"/>
            <a:ext cx="50669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VSCode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 be a simple, light-weight text editor</a:t>
            </a:r>
          </a:p>
          <a:p>
            <a:pPr algn="ctr"/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 it is also highly customizable, with extensions that allow it to act like a full fledged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IDE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across many languages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2A0FD-203A-C476-199E-6BF6209B0456}"/>
              </a:ext>
            </a:extLst>
          </p:cNvPr>
          <p:cNvSpPr txBox="1"/>
          <p:nvPr/>
        </p:nvSpPr>
        <p:spPr>
          <a:xfrm>
            <a:off x="6658720" y="4954600"/>
            <a:ext cx="424628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Anyone can write an extension!</a:t>
            </a: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Make sure you trust the publisher before installing.</a:t>
            </a:r>
          </a:p>
        </p:txBody>
      </p:sp>
    </p:spTree>
    <p:extLst>
      <p:ext uri="{BB962C8B-B14F-4D97-AF65-F5344CB8AC3E}">
        <p14:creationId xmlns:p14="http://schemas.microsoft.com/office/powerpoint/2010/main" val="8077894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2127-B830-4D3B-7919-CDA9502D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6AB44F-631A-9D20-7B37-80364102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1465"/>
            <a:ext cx="12192000" cy="39790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508008-246F-C556-AF29-3C40698C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The Remote – SSH extension allows you to connect to a server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318F0546-655A-2E11-A688-B04B3E0AD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39BE3B-4376-8184-CCB0-FBBB6561B460}"/>
              </a:ext>
            </a:extLst>
          </p:cNvPr>
          <p:cNvSpPr/>
          <p:nvPr/>
        </p:nvSpPr>
        <p:spPr>
          <a:xfrm>
            <a:off x="381038" y="1890236"/>
            <a:ext cx="2656936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02DBE-51C6-4A95-F2A3-00265AF7803E}"/>
              </a:ext>
            </a:extLst>
          </p:cNvPr>
          <p:cNvSpPr txBox="1"/>
          <p:nvPr/>
        </p:nvSpPr>
        <p:spPr>
          <a:xfrm>
            <a:off x="2437647" y="5869330"/>
            <a:ext cx="7316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https://code.visualstudio.com/docs/remote/remote-overview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B6FF03-0B5F-A857-B465-74E3F4EE29D3}"/>
              </a:ext>
            </a:extLst>
          </p:cNvPr>
          <p:cNvSpPr txBox="1"/>
          <p:nvPr/>
        </p:nvSpPr>
        <p:spPr>
          <a:xfrm>
            <a:off x="1684671" y="6238662"/>
            <a:ext cx="9127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https://docs.rc.fas.harvard.edu/kb/vscode-remote-development-via-ssh-or-tunnel/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31463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0D7E-354C-AEED-06BD-97D8168A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CC19F5-C37D-229F-CDA1-CA9E6FEFA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09" y="1447748"/>
            <a:ext cx="6057593" cy="5139776"/>
          </a:xfrm>
          <a:prstGeom prst="rect">
            <a:avLst/>
          </a:prstGeom>
        </p:spPr>
      </p:pic>
      <p:sp>
        <p:nvSpPr>
          <p:cNvPr id="3" name="AutoShape 6">
            <a:extLst>
              <a:ext uri="{FF2B5EF4-FFF2-40B4-BE49-F238E27FC236}">
                <a16:creationId xmlns:a16="http://schemas.microsoft.com/office/drawing/2014/main" id="{D84F58F6-04AA-03F6-EAF3-94FC59988B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07780F-38C0-67CF-0F80-BECBB9530644}"/>
              </a:ext>
            </a:extLst>
          </p:cNvPr>
          <p:cNvSpPr/>
          <p:nvPr/>
        </p:nvSpPr>
        <p:spPr>
          <a:xfrm>
            <a:off x="271392" y="2947972"/>
            <a:ext cx="630976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C79F7E8-98BF-6D1C-079C-CB0B55E9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The Remote – SSH extension allows you to connect to a server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45B98C-1933-B3B7-A802-C3BE5E431536}"/>
              </a:ext>
            </a:extLst>
          </p:cNvPr>
          <p:cNvSpPr txBox="1"/>
          <p:nvPr/>
        </p:nvSpPr>
        <p:spPr>
          <a:xfrm>
            <a:off x="7258596" y="1874694"/>
            <a:ext cx="4246281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Once the extension is installed, an icon will appear on the left-side toolbar</a:t>
            </a:r>
          </a:p>
        </p:txBody>
      </p:sp>
    </p:spTree>
    <p:extLst>
      <p:ext uri="{BB962C8B-B14F-4D97-AF65-F5344CB8AC3E}">
        <p14:creationId xmlns:p14="http://schemas.microsoft.com/office/powerpoint/2010/main" val="1144493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9795-3E48-7C48-C31E-DF9E44B6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1B7F60-7C4D-7D4D-5112-605627C77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09" y="1447748"/>
            <a:ext cx="6057593" cy="51397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3128A4-062D-D6F4-CC34-27ABD54F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37410DB-5E53-70D0-C44A-A645911D57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08A479-13E8-1AF2-E37E-CE92A3A910BB}"/>
              </a:ext>
            </a:extLst>
          </p:cNvPr>
          <p:cNvSpPr/>
          <p:nvPr/>
        </p:nvSpPr>
        <p:spPr>
          <a:xfrm>
            <a:off x="3146939" y="2021540"/>
            <a:ext cx="264013" cy="288523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AD7E8-A2A2-55E6-8F9D-A11E81564E2C}"/>
              </a:ext>
            </a:extLst>
          </p:cNvPr>
          <p:cNvSpPr txBox="1"/>
          <p:nvPr/>
        </p:nvSpPr>
        <p:spPr>
          <a:xfrm>
            <a:off x="7258596" y="1874694"/>
            <a:ext cx="4246281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Once the extension is installed, an icon will appear on the left-side toolbar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12107-2F3F-D675-818A-03EEBBFFC2F0}"/>
              </a:ext>
            </a:extLst>
          </p:cNvPr>
          <p:cNvSpPr txBox="1"/>
          <p:nvPr/>
        </p:nvSpPr>
        <p:spPr>
          <a:xfrm>
            <a:off x="7258596" y="3674953"/>
            <a:ext cx="4246281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Connect to a server by clicking the </a:t>
            </a:r>
            <a:r>
              <a:rPr lang="en-US" sz="2400" dirty="0">
                <a:latin typeface="Consolas" panose="020B0609020204030204" pitchFamily="49" charset="0"/>
                <a:ea typeface="Source Sans Pro" panose="020B0503030403020204" pitchFamily="34" charset="0"/>
              </a:rPr>
              <a:t>+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icon in the Remote Explorer</a:t>
            </a:r>
          </a:p>
        </p:txBody>
      </p:sp>
    </p:spTree>
    <p:extLst>
      <p:ext uri="{BB962C8B-B14F-4D97-AF65-F5344CB8AC3E}">
        <p14:creationId xmlns:p14="http://schemas.microsoft.com/office/powerpoint/2010/main" val="30226933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CCC9-0A31-7537-0683-E3BD4474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96A9A4-EBD7-7697-8BE4-F90F680CA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95" y="1998970"/>
            <a:ext cx="10238874" cy="40943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B44C27-F5BE-8108-5112-30408CCDE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860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In the login dialog, use the same command you would use to ssh to the cluster from the terminal, followed by your two-factor code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898DA6DD-68C6-A2BC-CACD-7EB423148F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774404-A2B8-2423-725C-C31EA0F6C244}"/>
              </a:ext>
            </a:extLst>
          </p:cNvPr>
          <p:cNvSpPr/>
          <p:nvPr/>
        </p:nvSpPr>
        <p:spPr>
          <a:xfrm>
            <a:off x="6896782" y="2009330"/>
            <a:ext cx="3865466" cy="559234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B901C-A9D2-FC00-8FE7-93F7BD551A18}"/>
              </a:ext>
            </a:extLst>
          </p:cNvPr>
          <p:cNvSpPr txBox="1"/>
          <p:nvPr/>
        </p:nvSpPr>
        <p:spPr>
          <a:xfrm>
            <a:off x="3284120" y="6398104"/>
            <a:ext cx="6157160" cy="342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ssh &lt;username&gt;@login.rc.fas.harvard.edu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3777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671E6-2C7B-BDF4-090A-F7BA5BAD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C6A0C8-505B-DDC1-E636-A065810D5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95" y="1998970"/>
            <a:ext cx="10238874" cy="40943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0B52E6-4738-E6D8-1FDB-5E5FB34B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860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In the login dialog, use the same command you would use to ssh to the cluster from the terminal, followed by your two-factor code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042829B1-A1DF-307D-3AC9-DB8132890E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D738FE-1281-E65A-A6CE-151120930036}"/>
              </a:ext>
            </a:extLst>
          </p:cNvPr>
          <p:cNvSpPr/>
          <p:nvPr/>
        </p:nvSpPr>
        <p:spPr>
          <a:xfrm>
            <a:off x="6896782" y="2009330"/>
            <a:ext cx="3865466" cy="559234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A0986-D2A9-90F8-6F7F-933540EF5699}"/>
              </a:ext>
            </a:extLst>
          </p:cNvPr>
          <p:cNvSpPr txBox="1"/>
          <p:nvPr/>
        </p:nvSpPr>
        <p:spPr>
          <a:xfrm>
            <a:off x="3284120" y="6398104"/>
            <a:ext cx="6157160" cy="342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ssh &lt;username&gt;@login.rc.fas.harvard.edu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7324B-E2E8-7C1C-DD03-F91BE30B5CC5}"/>
              </a:ext>
            </a:extLst>
          </p:cNvPr>
          <p:cNvSpPr txBox="1"/>
          <p:nvPr/>
        </p:nvSpPr>
        <p:spPr>
          <a:xfrm>
            <a:off x="0" y="4046137"/>
            <a:ext cx="121920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you have trouble with this login pop-up menu, enable the following setting:</a:t>
            </a:r>
          </a:p>
          <a:p>
            <a:pPr algn="ctr"/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Always Show Login Terminal: </a:t>
            </a:r>
            <a:r>
              <a:rPr lang="en-US" sz="24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remote.SSH.showLoginTerminal</a:t>
            </a:r>
            <a:endParaRPr lang="en-US" sz="2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6066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11D1D-BC99-F6C2-230B-89EEB983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396B1D-A255-77EC-7D9E-2935040E8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0" y="1581527"/>
            <a:ext cx="11819021" cy="50610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A926B8-18F0-226B-FCC8-7E91BC57B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Once logged in, click on the file browser icon in the left-side toolbar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8E402F18-BAE3-650E-2EBC-756EA854BD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DF5FDB-CAC1-24AF-5C15-B919AD16AFF5}"/>
              </a:ext>
            </a:extLst>
          </p:cNvPr>
          <p:cNvSpPr/>
          <p:nvPr/>
        </p:nvSpPr>
        <p:spPr>
          <a:xfrm>
            <a:off x="30359" y="1699307"/>
            <a:ext cx="385756" cy="434390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616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F6FC-14E2-BE9D-2126-45B5B965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E5F27A-1093-364B-F950-727DB8A1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21" y="1567482"/>
            <a:ext cx="11337758" cy="5245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961905-C269-2932-BBDC-663C3CE9F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Select or type the path to a folder to open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F3D32146-FE1A-5F8D-58E8-4AD0E3CFD4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6E29B8-FACE-22D7-EC72-7B42D7C7CA93}"/>
              </a:ext>
            </a:extLst>
          </p:cNvPr>
          <p:cNvSpPr/>
          <p:nvPr/>
        </p:nvSpPr>
        <p:spPr>
          <a:xfrm>
            <a:off x="767380" y="2517274"/>
            <a:ext cx="1747219" cy="434390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AF38E04-AAF2-657F-2B4F-21CB2CCAC61D}"/>
              </a:ext>
            </a:extLst>
          </p:cNvPr>
          <p:cNvSpPr/>
          <p:nvPr/>
        </p:nvSpPr>
        <p:spPr>
          <a:xfrm>
            <a:off x="2758978" y="2538999"/>
            <a:ext cx="3429263" cy="39093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666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B068-0B56-DFF7-7F3E-241BB7698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843C74-7165-945B-072D-9DB95C3EF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21" y="1567482"/>
            <a:ext cx="11337758" cy="5245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E6B014-7B71-D7B8-6846-1FE96D84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Select or type the path to a folder to open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D72E337-D9FB-E026-B19A-A7442CFE6A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1BDAB8-ED95-3F53-2180-6D616BB892E2}"/>
              </a:ext>
            </a:extLst>
          </p:cNvPr>
          <p:cNvSpPr/>
          <p:nvPr/>
        </p:nvSpPr>
        <p:spPr>
          <a:xfrm>
            <a:off x="767380" y="2517274"/>
            <a:ext cx="1747219" cy="434390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0C5E4CE-638F-857A-FD54-7ED4E0484F8C}"/>
              </a:ext>
            </a:extLst>
          </p:cNvPr>
          <p:cNvSpPr/>
          <p:nvPr/>
        </p:nvSpPr>
        <p:spPr>
          <a:xfrm>
            <a:off x="2758978" y="2538999"/>
            <a:ext cx="3429263" cy="39093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7415B-8107-6872-0928-EC571A27B20A}"/>
              </a:ext>
            </a:extLst>
          </p:cNvPr>
          <p:cNvSpPr txBox="1"/>
          <p:nvPr/>
        </p:nvSpPr>
        <p:spPr>
          <a:xfrm>
            <a:off x="0" y="5401414"/>
            <a:ext cx="1219200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may be asked to enter your credentials again after selecting a folder</a:t>
            </a:r>
          </a:p>
        </p:txBody>
      </p:sp>
    </p:spTree>
    <p:extLst>
      <p:ext uri="{BB962C8B-B14F-4D97-AF65-F5344CB8AC3E}">
        <p14:creationId xmlns:p14="http://schemas.microsoft.com/office/powerpoint/2010/main" val="20872219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955E8-C9AA-4672-03B5-D27B39D6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2DC3-E7E9-1430-E048-DF3D0C2AF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Your file browser should now show the contents of your selected folder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5375B983-A546-1C02-B071-DFA1577837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85BA26-4F92-AD4C-7EDA-A03F0C892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1447748"/>
            <a:ext cx="7823666" cy="4873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D2E965-0C04-9B59-092A-20A3E0E6CA6E}"/>
              </a:ext>
            </a:extLst>
          </p:cNvPr>
          <p:cNvSpPr txBox="1"/>
          <p:nvPr/>
        </p:nvSpPr>
        <p:spPr>
          <a:xfrm>
            <a:off x="8161339" y="2327367"/>
            <a:ext cx="3835651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Open and edit files directly in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VSCode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335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E371D-F936-625C-D46D-12F39509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0A50-D4FA-35F9-B4AB-8648A0B7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Your file browser should now show the contents of your selected folder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8DBB1D3B-3AE7-90B0-BF32-B6457D1B56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CC623-8A3A-3A09-C555-B186F54D4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1447748"/>
            <a:ext cx="7823666" cy="4873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670A67-DC10-22C8-C993-A91148D69203}"/>
              </a:ext>
            </a:extLst>
          </p:cNvPr>
          <p:cNvSpPr txBox="1"/>
          <p:nvPr/>
        </p:nvSpPr>
        <p:spPr>
          <a:xfrm>
            <a:off x="8161339" y="2327367"/>
            <a:ext cx="3835651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Open and edit files directly in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VSCode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53EEB-F9E1-5B3C-D76B-925171748165}"/>
              </a:ext>
            </a:extLst>
          </p:cNvPr>
          <p:cNvSpPr txBox="1"/>
          <p:nvPr/>
        </p:nvSpPr>
        <p:spPr>
          <a:xfrm>
            <a:off x="8161339" y="3381032"/>
            <a:ext cx="3835651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Edits are synced to the cluster instantly upon saving</a:t>
            </a:r>
          </a:p>
        </p:txBody>
      </p:sp>
    </p:spTree>
    <p:extLst>
      <p:ext uri="{BB962C8B-B14F-4D97-AF65-F5344CB8AC3E}">
        <p14:creationId xmlns:p14="http://schemas.microsoft.com/office/powerpoint/2010/main" val="2571541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4680-6077-4C0C-F2B0-65A9D462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AFA98-66BA-AED6-B447-5C9CED10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Your file browser should now show the contents of your selected folder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C3DE3C92-A23F-3BBB-E9ED-BC1CDA68C2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718DE-D315-C431-CC74-0E398FD24B06}"/>
              </a:ext>
            </a:extLst>
          </p:cNvPr>
          <p:cNvSpPr txBox="1"/>
          <p:nvPr/>
        </p:nvSpPr>
        <p:spPr>
          <a:xfrm>
            <a:off x="8161339" y="2327367"/>
            <a:ext cx="3835651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Open and edit files directly in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VSCode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97B5D-BF88-B69A-17B8-BFBD28A507EA}"/>
              </a:ext>
            </a:extLst>
          </p:cNvPr>
          <p:cNvSpPr txBox="1"/>
          <p:nvPr/>
        </p:nvSpPr>
        <p:spPr>
          <a:xfrm>
            <a:off x="8161339" y="3381032"/>
            <a:ext cx="3835651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Edits are synced to the cluster instantly upon saving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36203-BCB1-13F6-A81E-69D380AEBA2E}"/>
              </a:ext>
            </a:extLst>
          </p:cNvPr>
          <p:cNvSpPr txBox="1"/>
          <p:nvPr/>
        </p:nvSpPr>
        <p:spPr>
          <a:xfrm>
            <a:off x="8161338" y="4804030"/>
            <a:ext cx="3835651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Basic file manipulation with right-click context 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AEB9F-9066-3F57-7EB9-92F496E0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44" y="1325563"/>
            <a:ext cx="5667743" cy="539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921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F1499-6A40-3DDD-01C3-1C1F0E85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DBFC-9D03-6CEB-E07D-2128C73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ctrl-`</a:t>
            </a:r>
            <a:r>
              <a:rPr lang="en-US" dirty="0"/>
              <a:t> shortcut also opens a terminal directly in </a:t>
            </a:r>
            <a:r>
              <a:rPr lang="en-US" dirty="0" err="1"/>
              <a:t>VSCode’s</a:t>
            </a:r>
            <a:r>
              <a:rPr lang="en-US" dirty="0"/>
              <a:t> interface!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2E84D1CB-F256-9246-596D-C643394F94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AD62E1-7F53-4FFB-980B-FD364D919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421" y="1325563"/>
            <a:ext cx="6785957" cy="540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087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6B0B3-FA2A-5634-8EB1-CBD87134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0B5E-BEC9-28AD-FDC8-443F56494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Drag-and-drop upload of local files is supported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EE494C96-4C5A-6CD2-5DBF-D90BD75B81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C9894-912F-B08A-581D-AB9684320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93" y="1548142"/>
            <a:ext cx="4740814" cy="4983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4CB4D2-CC1F-09CA-53E5-E0E8D83CA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435" y="1548142"/>
            <a:ext cx="4288105" cy="498769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CB482B1-5B92-E864-9F0A-6DD64432A913}"/>
              </a:ext>
            </a:extLst>
          </p:cNvPr>
          <p:cNvSpPr/>
          <p:nvPr/>
        </p:nvSpPr>
        <p:spPr>
          <a:xfrm>
            <a:off x="5257800" y="3734057"/>
            <a:ext cx="1640941" cy="39093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631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41A2-0C40-BF51-095B-C8EF859C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53C9-7DFC-F68B-441C-C627F9A2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View generated figures directly in the editor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75C9E8ED-859A-F36A-75F9-E99D6D62DF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1EC6F-F55A-E7A1-DA80-5252362E0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103" y="1964150"/>
            <a:ext cx="9955794" cy="447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41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3650-D61E-4BD4-93FA-D3F47FDF4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AF898-0E89-ACC3-FC3E-2A7D07CA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Recent folders appear in the Remote Explorer tab</a:t>
            </a: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C829FEA4-A6CF-5E0D-C7F3-F9CB267149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798A4-08D8-B08A-9B7E-D97DE0014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41" y="1453021"/>
            <a:ext cx="7458543" cy="5287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F21CC9-C54C-7FCB-9AE0-DC17C2E7E03F}"/>
              </a:ext>
            </a:extLst>
          </p:cNvPr>
          <p:cNvSpPr txBox="1"/>
          <p:nvPr/>
        </p:nvSpPr>
        <p:spPr>
          <a:xfrm>
            <a:off x="8197553" y="3312130"/>
            <a:ext cx="3835651" cy="15696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logging off (closing the window), easily reconnect to recent folders in the Remote Explorer tab</a:t>
            </a:r>
          </a:p>
        </p:txBody>
      </p:sp>
    </p:spTree>
    <p:extLst>
      <p:ext uri="{BB962C8B-B14F-4D97-AF65-F5344CB8AC3E}">
        <p14:creationId xmlns:p14="http://schemas.microsoft.com/office/powerpoint/2010/main" val="10564216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C8FB-0FFC-C7F8-379E-9AF137F8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0B4D-E1D0-8616-BB7B-55F8BCB74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26" y="60158"/>
            <a:ext cx="10966783" cy="1325563"/>
          </a:xfrm>
        </p:spPr>
        <p:txBody>
          <a:bodyPr/>
          <a:lstStyle/>
          <a:p>
            <a:r>
              <a:rPr lang="en-US" dirty="0"/>
              <a:t>Virtual desktop with Open On Demand (OOD)</a:t>
            </a: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B79C33D2-8D2D-B07A-D0F3-ED3F44B943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9C301-0C0A-6C02-C96B-625DFDE81AFE}"/>
              </a:ext>
            </a:extLst>
          </p:cNvPr>
          <p:cNvSpPr txBox="1"/>
          <p:nvPr/>
        </p:nvSpPr>
        <p:spPr>
          <a:xfrm>
            <a:off x="2986135" y="6314214"/>
            <a:ext cx="6219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hlinkClick r:id="rId2"/>
              </a:rPr>
              <a:t>https://docs.rc.fas.harvard.edu/kb/virtual-desktop/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95374-A624-A0E7-ABF1-5768E458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23" y="1185111"/>
            <a:ext cx="8175154" cy="4999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E61B3E-1C0F-AE84-DC58-58D771877BE5}"/>
              </a:ext>
            </a:extLst>
          </p:cNvPr>
          <p:cNvSpPr txBox="1"/>
          <p:nvPr/>
        </p:nvSpPr>
        <p:spPr>
          <a:xfrm>
            <a:off x="8122373" y="2427238"/>
            <a:ext cx="37537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Virtual desktop, RStudio, </a:t>
            </a:r>
            <a:r>
              <a:rPr lang="en-US" sz="2400" dirty="0" err="1"/>
              <a:t>Jupyter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Runs on compute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Must be on Harvard VPN</a:t>
            </a:r>
          </a:p>
        </p:txBody>
      </p:sp>
    </p:spTree>
    <p:extLst>
      <p:ext uri="{BB962C8B-B14F-4D97-AF65-F5344CB8AC3E}">
        <p14:creationId xmlns:p14="http://schemas.microsoft.com/office/powerpoint/2010/main" val="8650810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9978-3258-656F-1D0C-B9D8F3B1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625B-FEFE-176B-6876-600DA85F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Useful shell shortcuts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FFB547-9267-9D72-17E8-EF861C1AF848}"/>
              </a:ext>
            </a:extLst>
          </p:cNvPr>
          <p:cNvGraphicFramePr>
            <a:graphicFrameLocks noGrp="1"/>
          </p:cNvGraphicFramePr>
          <p:nvPr/>
        </p:nvGraphicFramePr>
        <p:xfrm>
          <a:off x="0" y="1106227"/>
          <a:ext cx="12191999" cy="5415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..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Shortcut to use in paths meaning, “one directory above”. </a:t>
                      </a:r>
                    </a:p>
                    <a:p>
                      <a:endParaRPr lang="en-US" sz="1600" b="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one directory above the current working directory</a:t>
                      </a: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two directories above the current working directory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</a:t>
                      </a:r>
                      <a:endParaRPr lang="en-US" sz="16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~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Many systems use this to mean, “the path to the current user’s home directory”.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cd ~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will change directory to your home directory no matter where you are in the filesystem.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to the previous directory no matter where </a:t>
                      </a:r>
                      <a:r>
                        <a:rPr lang="en-US" sz="1600" b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 is.</a:t>
                      </a:r>
                      <a:endParaRPr lang="en-US" sz="16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[tab]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When typing paths for a command, hitting tab will autocomplete file names.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directory1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If more than one file matches the substring typed, they will all be displayed for you to keep typing: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directory1 directory2 directory3 -&gt;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[up arrow]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Scroll through previous commands.</a:t>
                      </a:r>
                      <a:endParaRPr lang="en-US" sz="1600" b="0" dirty="0">
                        <a:highlight>
                          <a:srgbClr val="FFFF00"/>
                        </a:highlight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Ctrl+C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Cancel currently running process.</a:t>
                      </a:r>
                      <a:r>
                        <a:rPr lang="en-US" sz="1600" b="0" dirty="0"/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Select text to copy, right click to paste.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105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4184</TotalTime>
  <Words>3919</Words>
  <Application>Microsoft Office PowerPoint</Application>
  <PresentationFormat>Widescreen</PresentationFormat>
  <Paragraphs>649</Paragraphs>
  <Slides>86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3" baseType="lpstr">
      <vt:lpstr>Aptos</vt:lpstr>
      <vt:lpstr>Aptos Display</vt:lpstr>
      <vt:lpstr>Arial</vt:lpstr>
      <vt:lpstr>Consolas</vt:lpstr>
      <vt:lpstr>Menlo</vt:lpstr>
      <vt:lpstr>Source Sans Pro</vt:lpstr>
      <vt:lpstr>Office Theme</vt:lpstr>
      <vt:lpstr>$ Command line 101: $ Integrating local and cluster environments</vt:lpstr>
      <vt:lpstr>PowerPoint Presentation</vt:lpstr>
      <vt:lpstr>PowerPoint Presentation</vt:lpstr>
      <vt:lpstr>Connecting to a remote computer</vt:lpstr>
      <vt:lpstr>Connecting to a remote computer</vt:lpstr>
      <vt:lpstr>Connecting to a remote computer</vt:lpstr>
      <vt:lpstr>Connecting to a remote computer</vt:lpstr>
      <vt:lpstr>Connecting to a remote computer</vt:lpstr>
      <vt:lpstr>Connecting to a remote computer</vt:lpstr>
      <vt:lpstr>How to connect to a particular login node</vt:lpstr>
      <vt:lpstr>PowerPoint Presentation</vt:lpstr>
      <vt:lpstr>Cluster file system review</vt:lpstr>
      <vt:lpstr>Cluster file system review</vt:lpstr>
      <vt:lpstr>Cluster file system review - Permissions</vt:lpstr>
      <vt:lpstr>PowerPoint Presentation</vt:lpstr>
      <vt:lpstr>PowerPoint Presentation</vt:lpstr>
      <vt:lpstr>PowerPoint Presentation</vt:lpstr>
      <vt:lpstr>Command line file transfers:  screen + rsync</vt:lpstr>
      <vt:lpstr>Command line file transfers:  screen + rsync</vt:lpstr>
      <vt:lpstr>Command line file transfers:  screen + rsync</vt:lpstr>
      <vt:lpstr>Command line file transfers:  screen + rsync</vt:lpstr>
      <vt:lpstr>Command line file transfers:  screen + rsync</vt:lpstr>
      <vt:lpstr>Transfer between the cluster and Google Drive: rclone</vt:lpstr>
      <vt:lpstr>Transfer between the cluster and Google Drive: rclone</vt:lpstr>
      <vt:lpstr>Command line file transfer commands summary</vt:lpstr>
      <vt:lpstr>PowerPoint Presentation</vt:lpstr>
      <vt:lpstr>PowerPoint Presentation</vt:lpstr>
      <vt:lpstr>Filezilla</vt:lpstr>
      <vt:lpstr>Filezilla</vt:lpstr>
      <vt:lpstr>Mounting folders to local computer</vt:lpstr>
      <vt:lpstr>Globus file transfer</vt:lpstr>
      <vt:lpstr>Globus file transfer</vt:lpstr>
      <vt:lpstr>Globus file transfer</vt:lpstr>
      <vt:lpstr>Globus file transfer</vt:lpstr>
      <vt:lpstr>PowerPoint Presentation</vt:lpstr>
      <vt:lpstr>Create globus collections to share data</vt:lpstr>
      <vt:lpstr>Use globus connect personal to transfer locally</vt:lpstr>
      <vt:lpstr>Globus tips</vt:lpstr>
      <vt:lpstr>Graphical file transfer program summary</vt:lpstr>
      <vt:lpstr>PowerPoint Presentation</vt:lpstr>
      <vt:lpstr>PowerPoint Presentation</vt:lpstr>
      <vt:lpstr>PowerPoint Presentation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less</vt:lpstr>
      <vt:lpstr>In-terminal text editors and viewers: less</vt:lpstr>
      <vt:lpstr>In-terminal text editors and viewers: less</vt:lpstr>
      <vt:lpstr>In-terminal text editors and viewers: less</vt:lpstr>
      <vt:lpstr>In-terminal text editors and viewers: less</vt:lpstr>
      <vt:lpstr>In-terminal text editors and viewers: less</vt:lpstr>
      <vt:lpstr>Printing a file to the terminal: cat</vt:lpstr>
      <vt:lpstr>Printing a file to the terminal: cat</vt:lpstr>
      <vt:lpstr>Printing a file to the terminal: cat</vt:lpstr>
      <vt:lpstr>Finding text in a file: grep</vt:lpstr>
      <vt:lpstr>Finding text in a file: grep</vt:lpstr>
      <vt:lpstr>Finding text in a file: grep</vt:lpstr>
      <vt:lpstr>Viewing and editing text from the terminal</vt:lpstr>
      <vt:lpstr>Graphical text editors</vt:lpstr>
      <vt:lpstr>Graphical text editors: VSCode</vt:lpstr>
      <vt:lpstr>Graphical text editors: VSCode</vt:lpstr>
      <vt:lpstr>VSCode has many extensions</vt:lpstr>
      <vt:lpstr>VSCode has many extensions</vt:lpstr>
      <vt:lpstr>VSCode has many extensions</vt:lpstr>
      <vt:lpstr>The Remote – SSH extension allows you to connect to a server</vt:lpstr>
      <vt:lpstr>The Remote – SSH extension allows you to connect to a server</vt:lpstr>
      <vt:lpstr>VSCode has many extensions</vt:lpstr>
      <vt:lpstr>In the login dialog, use the same command you would use to ssh to the cluster from the terminal, followed by your two-factor code</vt:lpstr>
      <vt:lpstr>In the login dialog, use the same command you would use to ssh to the cluster from the terminal, followed by your two-factor code</vt:lpstr>
      <vt:lpstr>Once logged in, click on the file browser icon in the left-side toolbar</vt:lpstr>
      <vt:lpstr>Select or type the path to a folder to open</vt:lpstr>
      <vt:lpstr>Select or type the path to a folder to open</vt:lpstr>
      <vt:lpstr>Your file browser should now show the contents of your selected folder</vt:lpstr>
      <vt:lpstr>Your file browser should now show the contents of your selected folder</vt:lpstr>
      <vt:lpstr>Your file browser should now show the contents of your selected folder</vt:lpstr>
      <vt:lpstr>The ctrl-` shortcut also opens a terminal directly in VSCode’s interface!</vt:lpstr>
      <vt:lpstr>Drag-and-drop upload of local files is supported</vt:lpstr>
      <vt:lpstr>View generated figures directly in the editor</vt:lpstr>
      <vt:lpstr>Recent folders appear in the Remote Explorer tab</vt:lpstr>
      <vt:lpstr>Virtual desktop with Open On Demand (OOD)</vt:lpstr>
      <vt:lpstr>Useful shell shortcuts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Gregg</dc:creator>
  <cp:lastModifiedBy>Thomas, Gregg</cp:lastModifiedBy>
  <cp:revision>98</cp:revision>
  <dcterms:created xsi:type="dcterms:W3CDTF">2026-01-12T15:34:42Z</dcterms:created>
  <dcterms:modified xsi:type="dcterms:W3CDTF">2026-02-20T16:33:38Z</dcterms:modified>
</cp:coreProperties>
</file>