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88"/>
  </p:notesMasterIdLst>
  <p:sldIdLst>
    <p:sldId id="256" r:id="rId2"/>
    <p:sldId id="448" r:id="rId3"/>
    <p:sldId id="367" r:id="rId4"/>
    <p:sldId id="368" r:id="rId5"/>
    <p:sldId id="373" r:id="rId6"/>
    <p:sldId id="369" r:id="rId7"/>
    <p:sldId id="370" r:id="rId8"/>
    <p:sldId id="371" r:id="rId9"/>
    <p:sldId id="372" r:id="rId10"/>
    <p:sldId id="374" r:id="rId11"/>
    <p:sldId id="375" r:id="rId12"/>
    <p:sldId id="264" r:id="rId13"/>
    <p:sldId id="423" r:id="rId14"/>
    <p:sldId id="273" r:id="rId15"/>
    <p:sldId id="434" r:id="rId16"/>
    <p:sldId id="433" r:id="rId17"/>
    <p:sldId id="432" r:id="rId18"/>
    <p:sldId id="439" r:id="rId19"/>
    <p:sldId id="438" r:id="rId20"/>
    <p:sldId id="437" r:id="rId21"/>
    <p:sldId id="436" r:id="rId22"/>
    <p:sldId id="435" r:id="rId23"/>
    <p:sldId id="440" r:id="rId24"/>
    <p:sldId id="274" r:id="rId25"/>
    <p:sldId id="429" r:id="rId26"/>
    <p:sldId id="446" r:id="rId27"/>
    <p:sldId id="266" r:id="rId28"/>
    <p:sldId id="447" r:id="rId29"/>
    <p:sldId id="262" r:id="rId30"/>
    <p:sldId id="267" r:id="rId31"/>
    <p:sldId id="445" r:id="rId32"/>
    <p:sldId id="444" r:id="rId33"/>
    <p:sldId id="443" r:id="rId34"/>
    <p:sldId id="268" r:id="rId35"/>
    <p:sldId id="430" r:id="rId36"/>
    <p:sldId id="271" r:id="rId37"/>
    <p:sldId id="272" r:id="rId38"/>
    <p:sldId id="270" r:id="rId39"/>
    <p:sldId id="441" r:id="rId40"/>
    <p:sldId id="431" r:id="rId41"/>
    <p:sldId id="442" r:id="rId42"/>
    <p:sldId id="376" r:id="rId43"/>
    <p:sldId id="381" r:id="rId44"/>
    <p:sldId id="269" r:id="rId45"/>
    <p:sldId id="377" r:id="rId46"/>
    <p:sldId id="382" r:id="rId47"/>
    <p:sldId id="378" r:id="rId48"/>
    <p:sldId id="380" r:id="rId49"/>
    <p:sldId id="383" r:id="rId50"/>
    <p:sldId id="408" r:id="rId51"/>
    <p:sldId id="384" r:id="rId52"/>
    <p:sldId id="385" r:id="rId53"/>
    <p:sldId id="386" r:id="rId54"/>
    <p:sldId id="387" r:id="rId55"/>
    <p:sldId id="388" r:id="rId56"/>
    <p:sldId id="389" r:id="rId57"/>
    <p:sldId id="391" r:id="rId58"/>
    <p:sldId id="392" r:id="rId59"/>
    <p:sldId id="393" r:id="rId60"/>
    <p:sldId id="395" r:id="rId61"/>
    <p:sldId id="394" r:id="rId62"/>
    <p:sldId id="390" r:id="rId63"/>
    <p:sldId id="352" r:id="rId64"/>
    <p:sldId id="397" r:id="rId65"/>
    <p:sldId id="398" r:id="rId66"/>
    <p:sldId id="399" r:id="rId67"/>
    <p:sldId id="411" r:id="rId68"/>
    <p:sldId id="400" r:id="rId69"/>
    <p:sldId id="410" r:id="rId70"/>
    <p:sldId id="401" r:id="rId71"/>
    <p:sldId id="402" r:id="rId72"/>
    <p:sldId id="403" r:id="rId73"/>
    <p:sldId id="404" r:id="rId74"/>
    <p:sldId id="421" r:id="rId75"/>
    <p:sldId id="405" r:id="rId76"/>
    <p:sldId id="406" r:id="rId77"/>
    <p:sldId id="412" r:id="rId78"/>
    <p:sldId id="415" r:id="rId79"/>
    <p:sldId id="414" r:id="rId80"/>
    <p:sldId id="416" r:id="rId81"/>
    <p:sldId id="417" r:id="rId82"/>
    <p:sldId id="418" r:id="rId83"/>
    <p:sldId id="419" r:id="rId84"/>
    <p:sldId id="407" r:id="rId85"/>
    <p:sldId id="420" r:id="rId86"/>
    <p:sldId id="396" r:id="rId8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3FF33"/>
    <a:srgbClr val="FF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F660665-F2D6-47BB-955B-EBDD4EFB024B}" v="59" dt="2026-01-12T17:30:55.108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965" autoAdjust="0"/>
    <p:restoredTop sz="96194" autoAdjust="0"/>
  </p:normalViewPr>
  <p:slideViewPr>
    <p:cSldViewPr snapToGrid="0">
      <p:cViewPr varScale="1">
        <p:scale>
          <a:sx n="155" d="100"/>
          <a:sy n="155" d="100"/>
        </p:scale>
        <p:origin x="396" y="13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presProps" Target="presProps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5" Type="http://schemas.openxmlformats.org/officeDocument/2006/relationships/slide" Target="slides/slide4.xml"/><Relationship Id="rId90" Type="http://schemas.openxmlformats.org/officeDocument/2006/relationships/viewProps" Target="viewProps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93" Type="http://schemas.microsoft.com/office/2016/11/relationships/changesInfo" Target="changesInfos/changesInfo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slide" Target="slides/slide82.xml"/><Relationship Id="rId88" Type="http://schemas.openxmlformats.org/officeDocument/2006/relationships/notesMaster" Target="notesMasters/notesMaster1.xml"/><Relationship Id="rId91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tableStyles" Target="tableStyles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homas, Gregg" userId="dfa61f86-18d4-44e1-a72b-c953fd59092c" providerId="ADAL" clId="{5B53906A-5F1B-43C2-814B-DA37BB59EAFF}"/>
    <pc:docChg chg="undo custSel addSld modSld">
      <pc:chgData name="Thomas, Gregg" userId="dfa61f86-18d4-44e1-a72b-c953fd59092c" providerId="ADAL" clId="{5B53906A-5F1B-43C2-814B-DA37BB59EAFF}" dt="2026-01-12T19:10:55.244" v="225" actId="1076"/>
      <pc:docMkLst>
        <pc:docMk/>
      </pc:docMkLst>
      <pc:sldChg chg="addSp delSp modSp new mod">
        <pc:chgData name="Thomas, Gregg" userId="dfa61f86-18d4-44e1-a72b-c953fd59092c" providerId="ADAL" clId="{5B53906A-5F1B-43C2-814B-DA37BB59EAFF}" dt="2026-01-12T19:10:55.244" v="225" actId="1076"/>
        <pc:sldMkLst>
          <pc:docMk/>
          <pc:sldMk cId="2047572788" sldId="264"/>
        </pc:sldMkLst>
        <pc:spChg chg="mod">
          <ac:chgData name="Thomas, Gregg" userId="dfa61f86-18d4-44e1-a72b-c953fd59092c" providerId="ADAL" clId="{5B53906A-5F1B-43C2-814B-DA37BB59EAFF}" dt="2026-01-12T17:35:29.058" v="224" actId="1076"/>
          <ac:spMkLst>
            <pc:docMk/>
            <pc:sldMk cId="2047572788" sldId="264"/>
            <ac:spMk id="2" creationId="{DF741E71-7AE5-46DF-818C-18790936B086}"/>
          </ac:spMkLst>
        </pc:spChg>
        <pc:spChg chg="del">
          <ac:chgData name="Thomas, Gregg" userId="dfa61f86-18d4-44e1-a72b-c953fd59092c" providerId="ADAL" clId="{5B53906A-5F1B-43C2-814B-DA37BB59EAFF}" dt="2026-01-12T16:47:21.416" v="41" actId="478"/>
          <ac:spMkLst>
            <pc:docMk/>
            <pc:sldMk cId="2047572788" sldId="264"/>
            <ac:spMk id="3" creationId="{38DC1B9A-A37A-E1D4-B035-67949A62D3C8}"/>
          </ac:spMkLst>
        </pc:spChg>
        <pc:spChg chg="add mod ord">
          <ac:chgData name="Thomas, Gregg" userId="dfa61f86-18d4-44e1-a72b-c953fd59092c" providerId="ADAL" clId="{5B53906A-5F1B-43C2-814B-DA37BB59EAFF}" dt="2026-01-12T17:26:55.184" v="161" actId="167"/>
          <ac:spMkLst>
            <pc:docMk/>
            <pc:sldMk cId="2047572788" sldId="264"/>
            <ac:spMk id="31" creationId="{EDA08AC4-3306-B323-E664-176D998FFC77}"/>
          </ac:spMkLst>
        </pc:spChg>
        <pc:spChg chg="add mod ord">
          <ac:chgData name="Thomas, Gregg" userId="dfa61f86-18d4-44e1-a72b-c953fd59092c" providerId="ADAL" clId="{5B53906A-5F1B-43C2-814B-DA37BB59EAFF}" dt="2026-01-12T17:26:58.399" v="162" actId="167"/>
          <ac:spMkLst>
            <pc:docMk/>
            <pc:sldMk cId="2047572788" sldId="264"/>
            <ac:spMk id="32" creationId="{51B9FE04-4F55-82F6-7D3B-9D3FDAAEB69C}"/>
          </ac:spMkLst>
        </pc:spChg>
        <pc:spChg chg="add mod">
          <ac:chgData name="Thomas, Gregg" userId="dfa61f86-18d4-44e1-a72b-c953fd59092c" providerId="ADAL" clId="{5B53906A-5F1B-43C2-814B-DA37BB59EAFF}" dt="2026-01-12T19:10:55.244" v="225" actId="1076"/>
          <ac:spMkLst>
            <pc:docMk/>
            <pc:sldMk cId="2047572788" sldId="264"/>
            <ac:spMk id="33" creationId="{7E84D6F2-6EE2-B419-A676-B2BF98570B7E}"/>
          </ac:spMkLst>
        </pc:spChg>
        <pc:spChg chg="add mod">
          <ac:chgData name="Thomas, Gregg" userId="dfa61f86-18d4-44e1-a72b-c953fd59092c" providerId="ADAL" clId="{5B53906A-5F1B-43C2-814B-DA37BB59EAFF}" dt="2026-01-12T17:28:15.623" v="185" actId="14100"/>
          <ac:spMkLst>
            <pc:docMk/>
            <pc:sldMk cId="2047572788" sldId="264"/>
            <ac:spMk id="34" creationId="{F6310EDC-33E2-5316-50DF-6273866577E2}"/>
          </ac:spMkLst>
        </pc:spChg>
        <pc:spChg chg="add mod">
          <ac:chgData name="Thomas, Gregg" userId="dfa61f86-18d4-44e1-a72b-c953fd59092c" providerId="ADAL" clId="{5B53906A-5F1B-43C2-814B-DA37BB59EAFF}" dt="2026-01-12T17:30:39.485" v="205" actId="207"/>
          <ac:spMkLst>
            <pc:docMk/>
            <pc:sldMk cId="2047572788" sldId="264"/>
            <ac:spMk id="35" creationId="{39FBB656-5C75-CA4C-3DC7-1A646CE9BFD1}"/>
          </ac:spMkLst>
        </pc:spChg>
        <pc:spChg chg="add mod">
          <ac:chgData name="Thomas, Gregg" userId="dfa61f86-18d4-44e1-a72b-c953fd59092c" providerId="ADAL" clId="{5B53906A-5F1B-43C2-814B-DA37BB59EAFF}" dt="2026-01-12T17:30:53.995" v="215" actId="122"/>
          <ac:spMkLst>
            <pc:docMk/>
            <pc:sldMk cId="2047572788" sldId="264"/>
            <ac:spMk id="36" creationId="{516EED6D-D2E6-FF2E-AE3F-D584AD454EB0}"/>
          </ac:spMkLst>
        </pc:spChg>
        <pc:spChg chg="add mod">
          <ac:chgData name="Thomas, Gregg" userId="dfa61f86-18d4-44e1-a72b-c953fd59092c" providerId="ADAL" clId="{5B53906A-5F1B-43C2-814B-DA37BB59EAFF}" dt="2026-01-12T17:31:01.320" v="223" actId="20577"/>
          <ac:spMkLst>
            <pc:docMk/>
            <pc:sldMk cId="2047572788" sldId="264"/>
            <ac:spMk id="37" creationId="{FD58A2BE-3B76-B2CB-C7A4-4F5AFFAC1C53}"/>
          </ac:spMkLst>
        </pc:spChg>
        <pc:picChg chg="add mod ord">
          <ac:chgData name="Thomas, Gregg" userId="dfa61f86-18d4-44e1-a72b-c953fd59092c" providerId="ADAL" clId="{5B53906A-5F1B-43C2-814B-DA37BB59EAFF}" dt="2026-01-12T17:26:51.874" v="160" actId="167"/>
          <ac:picMkLst>
            <pc:docMk/>
            <pc:sldMk cId="2047572788" sldId="264"/>
            <ac:picMk id="5" creationId="{55CC7405-C3B0-EE6F-CD91-E0E70C4C3DF5}"/>
          </ac:picMkLst>
        </pc:picChg>
        <pc:picChg chg="add mod">
          <ac:chgData name="Thomas, Gregg" userId="dfa61f86-18d4-44e1-a72b-c953fd59092c" providerId="ADAL" clId="{5B53906A-5F1B-43C2-814B-DA37BB59EAFF}" dt="2026-01-12T16:57:33.316" v="115" actId="1076"/>
          <ac:picMkLst>
            <pc:docMk/>
            <pc:sldMk cId="2047572788" sldId="264"/>
            <ac:picMk id="7" creationId="{38E0C665-C657-2B70-2660-4579A48574C6}"/>
          </ac:picMkLst>
        </pc:picChg>
        <pc:picChg chg="add mod">
          <ac:chgData name="Thomas, Gregg" userId="dfa61f86-18d4-44e1-a72b-c953fd59092c" providerId="ADAL" clId="{5B53906A-5F1B-43C2-814B-DA37BB59EAFF}" dt="2026-01-12T16:57:33.316" v="115" actId="1076"/>
          <ac:picMkLst>
            <pc:docMk/>
            <pc:sldMk cId="2047572788" sldId="264"/>
            <ac:picMk id="9" creationId="{40089CA3-3024-FA4B-FC04-FBD800992578}"/>
          </ac:picMkLst>
        </pc:picChg>
        <pc:picChg chg="add mod">
          <ac:chgData name="Thomas, Gregg" userId="dfa61f86-18d4-44e1-a72b-c953fd59092c" providerId="ADAL" clId="{5B53906A-5F1B-43C2-814B-DA37BB59EAFF}" dt="2026-01-12T16:57:33.316" v="115" actId="1076"/>
          <ac:picMkLst>
            <pc:docMk/>
            <pc:sldMk cId="2047572788" sldId="264"/>
            <ac:picMk id="11" creationId="{D0CFFDB9-76D0-E9E4-0FBF-CDF12BEC392A}"/>
          </ac:picMkLst>
        </pc:picChg>
        <pc:picChg chg="add mod">
          <ac:chgData name="Thomas, Gregg" userId="dfa61f86-18d4-44e1-a72b-c953fd59092c" providerId="ADAL" clId="{5B53906A-5F1B-43C2-814B-DA37BB59EAFF}" dt="2026-01-12T16:57:33.316" v="115" actId="1076"/>
          <ac:picMkLst>
            <pc:docMk/>
            <pc:sldMk cId="2047572788" sldId="264"/>
            <ac:picMk id="13" creationId="{49A1967A-7754-67A8-E0A8-09A64FBC5DCC}"/>
          </ac:picMkLst>
        </pc:picChg>
        <pc:picChg chg="add mod">
          <ac:chgData name="Thomas, Gregg" userId="dfa61f86-18d4-44e1-a72b-c953fd59092c" providerId="ADAL" clId="{5B53906A-5F1B-43C2-814B-DA37BB59EAFF}" dt="2026-01-12T16:57:33.316" v="115" actId="1076"/>
          <ac:picMkLst>
            <pc:docMk/>
            <pc:sldMk cId="2047572788" sldId="264"/>
            <ac:picMk id="15" creationId="{175CF639-8765-92BF-3C5A-3E406FF6297D}"/>
          </ac:picMkLst>
        </pc:picChg>
        <pc:picChg chg="add mod">
          <ac:chgData name="Thomas, Gregg" userId="dfa61f86-18d4-44e1-a72b-c953fd59092c" providerId="ADAL" clId="{5B53906A-5F1B-43C2-814B-DA37BB59EAFF}" dt="2026-01-12T16:57:33.316" v="115" actId="1076"/>
          <ac:picMkLst>
            <pc:docMk/>
            <pc:sldMk cId="2047572788" sldId="264"/>
            <ac:picMk id="17" creationId="{9BD05213-6F6D-F56F-E652-40FF085C79E4}"/>
          </ac:picMkLst>
        </pc:picChg>
        <pc:picChg chg="add mod">
          <ac:chgData name="Thomas, Gregg" userId="dfa61f86-18d4-44e1-a72b-c953fd59092c" providerId="ADAL" clId="{5B53906A-5F1B-43C2-814B-DA37BB59EAFF}" dt="2026-01-12T17:26:23.499" v="154" actId="1076"/>
          <ac:picMkLst>
            <pc:docMk/>
            <pc:sldMk cId="2047572788" sldId="264"/>
            <ac:picMk id="18" creationId="{4688334E-3270-164C-83A3-3BD69ECFA1F8}"/>
          </ac:picMkLst>
        </pc:picChg>
        <pc:picChg chg="add mod">
          <ac:chgData name="Thomas, Gregg" userId="dfa61f86-18d4-44e1-a72b-c953fd59092c" providerId="ADAL" clId="{5B53906A-5F1B-43C2-814B-DA37BB59EAFF}" dt="2026-01-12T17:26:30.748" v="155" actId="1076"/>
          <ac:picMkLst>
            <pc:docMk/>
            <pc:sldMk cId="2047572788" sldId="264"/>
            <ac:picMk id="20" creationId="{48A11280-63F0-0F42-FB77-B86A9A92A3B5}"/>
          </ac:picMkLst>
        </pc:picChg>
        <pc:picChg chg="add mod">
          <ac:chgData name="Thomas, Gregg" userId="dfa61f86-18d4-44e1-a72b-c953fd59092c" providerId="ADAL" clId="{5B53906A-5F1B-43C2-814B-DA37BB59EAFF}" dt="2026-01-12T17:26:30.748" v="155" actId="1076"/>
          <ac:picMkLst>
            <pc:docMk/>
            <pc:sldMk cId="2047572788" sldId="264"/>
            <ac:picMk id="22" creationId="{C1666496-3631-9CE8-8E96-0F69B56986CC}"/>
          </ac:picMkLst>
        </pc:picChg>
        <pc:picChg chg="add mod">
          <ac:chgData name="Thomas, Gregg" userId="dfa61f86-18d4-44e1-a72b-c953fd59092c" providerId="ADAL" clId="{5B53906A-5F1B-43C2-814B-DA37BB59EAFF}" dt="2026-01-12T17:26:30.748" v="155" actId="1076"/>
          <ac:picMkLst>
            <pc:docMk/>
            <pc:sldMk cId="2047572788" sldId="264"/>
            <ac:picMk id="24" creationId="{1B0A5A39-D787-B18D-F216-9CCC4E9B70DD}"/>
          </ac:picMkLst>
        </pc:picChg>
        <pc:picChg chg="add mod">
          <ac:chgData name="Thomas, Gregg" userId="dfa61f86-18d4-44e1-a72b-c953fd59092c" providerId="ADAL" clId="{5B53906A-5F1B-43C2-814B-DA37BB59EAFF}" dt="2026-01-12T17:26:30.748" v="155" actId="1076"/>
          <ac:picMkLst>
            <pc:docMk/>
            <pc:sldMk cId="2047572788" sldId="264"/>
            <ac:picMk id="26" creationId="{6CDD06F5-5798-4625-9BAB-C3EAA4B5E0E2}"/>
          </ac:picMkLst>
        </pc:picChg>
        <pc:picChg chg="add mod">
          <ac:chgData name="Thomas, Gregg" userId="dfa61f86-18d4-44e1-a72b-c953fd59092c" providerId="ADAL" clId="{5B53906A-5F1B-43C2-814B-DA37BB59EAFF}" dt="2026-01-12T17:26:30.748" v="155" actId="1076"/>
          <ac:picMkLst>
            <pc:docMk/>
            <pc:sldMk cId="2047572788" sldId="264"/>
            <ac:picMk id="28" creationId="{2B3E9378-FC77-024A-C990-8F64F8610B08}"/>
          </ac:picMkLst>
        </pc:picChg>
        <pc:picChg chg="add mod">
          <ac:chgData name="Thomas, Gregg" userId="dfa61f86-18d4-44e1-a72b-c953fd59092c" providerId="ADAL" clId="{5B53906A-5F1B-43C2-814B-DA37BB59EAFF}" dt="2026-01-12T17:25:37.265" v="148" actId="1076"/>
          <ac:picMkLst>
            <pc:docMk/>
            <pc:sldMk cId="2047572788" sldId="264"/>
            <ac:picMk id="1026" creationId="{209708CE-B8B5-13D4-7A35-5FE64F8EF603}"/>
          </ac:picMkLst>
        </pc:picChg>
        <pc:cxnChg chg="add del mod">
          <ac:chgData name="Thomas, Gregg" userId="dfa61f86-18d4-44e1-a72b-c953fd59092c" providerId="ADAL" clId="{5B53906A-5F1B-43C2-814B-DA37BB59EAFF}" dt="2026-01-12T17:25:20.636" v="145" actId="478"/>
          <ac:cxnSpMkLst>
            <pc:docMk/>
            <pc:sldMk cId="2047572788" sldId="264"/>
            <ac:cxnSpMk id="30" creationId="{23F3CE45-A1ED-DC9F-4718-E70B518E5C74}"/>
          </ac:cxnSpMkLst>
        </pc:cxn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97C97FA-6859-4219-8E5C-CDE433250689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C1C7EF8-35D8-4635-8F46-65E701D732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77923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46A8D5-1816-D769-E674-A2F55AA7F6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B0DFAA9-B5A4-EC96-1D8A-45E2AA457C7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F026FC7-3FBA-F0D3-2707-01A50CDC27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DB163F2-72D8-5E6F-1712-B7B91ED25F5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1C7EF8-35D8-4635-8F46-65E701D73223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682544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7A0DD8-5255-68D4-CCDB-35E748216E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F203259-0DD3-1016-EA4E-DBE5B0627F4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ECBC086-A5F7-549E-7C95-A26CE344776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FE24F7C-4F2F-3959-64AE-9A3B763B539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1C7EF8-35D8-4635-8F46-65E701D73223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394030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Caveats:</a:t>
            </a:r>
            <a:br>
              <a:rPr lang="en-US"/>
            </a:br>
            <a:r>
              <a:rPr lang="en-US"/>
              <a:t>* We are not covering the structure of the cluster. For that see FAS RC’s getting started guide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/>
              <a:t>We are not covering cold storage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/>
              <a:t>Storage is changing but these general concepts will be the same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1C7EF8-35D8-4635-8F46-65E701D73223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193008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3C38B0-C04D-3DFE-693A-30E916DA3A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5A5015A-367D-45E2-05DD-BBF3EF68FDF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27FBA80-CBC4-FC09-4A80-C9FBA29ED9B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Caveats:</a:t>
            </a:r>
            <a:br>
              <a:rPr lang="en-US"/>
            </a:br>
            <a:r>
              <a:rPr lang="en-US"/>
              <a:t>* We are not covering the structure of the cluster. For that see FAS RC’s getting started guide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/>
              <a:t>We are not covering cold storage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/>
              <a:t>Storage is changing but these general concepts will be the same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E6E4C0A-84DA-2DA5-FDE0-DC3FB235077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1C7EF8-35D8-4635-8F46-65E701D73223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663884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4B339B-8D5C-4D96-A540-9C0FDCD6E4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971503B-0AE1-C008-F3CC-AE1407D208E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232AAE9-B68F-9187-DF88-8740A85ECF6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/>
              <a:t>For all intents and purposes, the Home directory is useless for storing files, so we’re going to collapse that into lab share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/>
          </a:p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B1BEDA7-FF99-EC90-DB42-5B28390BFA0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CE51DA7-F7B0-6F41-9300-BA9FC6DA2392}" type="slidenum"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71655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CA1FF7-9C4D-D663-5F98-B0C98AEC06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AFF7023-4507-47E1-689D-21DF8481AA5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188EFF2-3CBC-6339-E50A-6830BAF0F85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/>
              <a:t>For all intents and purposes, the Home directory is useless for storing files, so we’re going to collapse that into lab share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/>
          </a:p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2C9B0D9-DB31-F19C-833D-6C40F7FDB90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CE51DA7-F7B0-6F41-9300-BA9FC6DA2392}" type="slidenum"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270366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AE5188-F088-5B84-2BF7-EA3C430085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AD8033A-295D-2A76-8070-C8293A6607B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98FB4E9-1CDB-47C3-3E0C-142DDCF481A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/>
              <a:t>For all intents and purposes, the Home directory is useless for storing files, so we’re going to collapse that into lab share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/>
          </a:p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163AC9A-8099-447D-E30A-D759E66F644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CE51DA7-F7B0-6F41-9300-BA9FC6DA2392}" type="slidenum"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875655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03346D-ED1D-1773-B373-664221FE62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DE2BF1B-4033-C963-0AD7-8DFE7885AB4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A68E755-95DD-E4CB-BF1F-82E359331F2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Pros of rsync: won’t duplicate copy files if it already exists at the destination. Can make exact mirrors of a file system (--delete option). You can do a dry run with -n or --dry-run. You can use rsync to transfer between cluster and your local machine, but we won’t go over that because there are better ways.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4C2AF5C-BD7A-6720-4538-E1A0BA9AF4E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CE51DA7-F7B0-6F41-9300-BA9FC6DA2392}" type="slidenum"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069551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EF8741-27D4-9363-6F89-CC46426848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37AC723-28EE-CC79-FD3C-263791B273F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0DF7E1F-4718-603B-716D-8C119695E7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Pros of rsync: won’t duplicate copy files if it already exists at the destination. Can make exact mirrors of a file system (--delete option). You can do a dry run with -n or --dry-run. You can use rsync to transfer between cluster and your local machine, but we won’t go over that because there are better ways.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22BF4DD-F5F6-93ED-2DA3-64507C3DDA2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CE51DA7-F7B0-6F41-9300-BA9FC6DA2392}" type="slidenum"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770931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2DEB43-7C49-EA02-C2B9-3B63752385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5E25F7E-231A-1148-C68A-F3BB27BC48D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368A74D-8645-2392-36DA-ABAFD1B87CC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Pros of rsync: won’t duplicate copy files if it already exists at the destination. Can make exact mirrors of a file system (--delete option). You can do a dry run with -n or --dry-run. You can use rsync to transfer between cluster and your local machine, but we won’t go over that because there are better ways.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89C274-8550-5183-E017-839282F46EA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CE51DA7-F7B0-6F41-9300-BA9FC6DA2392}" type="slidenum"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140925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0066E0-643A-49AD-68F2-34ACC02ACB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D2DF07E-09B6-25F2-1D42-D0F2280AC52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C4A6F01-F157-3A39-A726-8E5DE47EB18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Pros of rsync: won’t duplicate copy files if it already exists at the destination. Can make exact mirrors of a file system (--delete option). You can do a dry run with -n or --dry-run. You can use rsync to transfer between cluster and your local machine, but we won’t go over that because there are better ways.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C77D28D-856A-2003-DC3C-BC5AF7DBC4C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CE51DA7-F7B0-6F41-9300-BA9FC6DA2392}" type="slidenum"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706273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FA92F4-BE06-03DD-C27F-5BE082874D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D7604A2-3DB3-33F5-D4C8-D1D610748A7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8ED8BE4-9FDC-0E48-4CEC-D16902A6770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Pros of rsync: won’t duplicate copy files if it already exists at the destination. Can make exact mirrors of a file system (--delete option). You can do a dry run with -n or --dry-run. You can use rsync to transfer between cluster and your local machine, but we won’t go over that because there are better ways.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C6CBC6-242C-D072-040A-3286CAE41C8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CE51DA7-F7B0-6F41-9300-BA9FC6DA2392}" type="slidenum"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448016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250CA1-DD83-498D-4F85-6EAFC7BE37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E46994A-9582-2766-E281-20326CC2EEC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E8DA02F-A28D-F1B5-03CD-5ECD9BAB4C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Mention command prompt and not to use it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FB33C34-6BEC-2774-C6B3-BB3E26BAA60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1C7EF8-35D8-4635-8F46-65E701D73223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99671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9177B1-9DA0-8EB6-EA3A-5758521FC7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C0ED369-FF7E-5F90-356F-5EE93545F02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2002BB7-0379-BB96-2001-13DDB95112E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Mention command prompt and not to use it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4A62534-4134-04A2-6C90-61F6808B97A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1C7EF8-35D8-4635-8F46-65E701D73223}" type="slidenum">
              <a:rPr lang="en-US" smtClean="0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592265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2B745B-21ED-96A2-BCA3-A5641C31CF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E206805-026B-31C7-F533-BD39D089F5B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3DC6153-3EB5-C1B4-C9BA-B07FEF55EBF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/>
              <a:t>For all intents and purposes, the Home directory is useless for storing files, so we’re going to collapse that into lab share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/>
          </a:p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673D51-70C8-213D-0810-ADDEA4F0B47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CE51DA7-F7B0-6F41-9300-BA9FC6DA2392}" type="slidenum"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266396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C4F7D8-34F2-9090-A9B9-A836B32F5B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7154980-0D1D-3DC2-4B1E-9E1A4C93F67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FE316F3-3C41-4070-B96E-E95ED0956E1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/>
              <a:t>For all intents and purposes, the Home directory is useless for storing files, so we’re going to collapse that into lab share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/>
          </a:p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4C97D32-5BFF-4FFB-822F-E94C45CE289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CE51DA7-F7B0-6F41-9300-BA9FC6DA2392}" type="slidenum"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9849433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F3C42A-3694-A63E-DA70-6339A94637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672D647-94E1-8896-CAC6-CAB1B97DB02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6C04F5F-80F6-6EC3-C110-4F56522A2E8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Mention command prompt and not to use it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A919FD-5C58-879C-0860-4BD81516EEB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1C7EF8-35D8-4635-8F46-65E701D73223}" type="slidenum">
              <a:rPr lang="en-US" smtClean="0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562203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CEEA3D-B2C1-41C9-CDD7-CB4420EBD1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B4C3D59-98BE-A293-56F7-55495EF9C47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FDB93E5-039C-3D5F-864B-7C4B24F5A86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Mention command prompt and not to use it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92C8153-6DC9-8543-B3F1-080D63314CB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1C7EF8-35D8-4635-8F46-65E701D73223}" type="slidenum">
              <a:rPr lang="en-US" smtClean="0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28098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E947BB-328D-FF3A-FB21-C2AB4A1EE68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D9CBC7B-F803-DA30-CA98-C6284C45A2D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07BB0C9-5C46-5743-7C97-CAD33CE2AF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FCB47E-54BC-47CE-8C53-06DEDDAC739C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42F9FB9-2CA0-2543-5417-D7421A6277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F6E3344-6593-D270-E0AA-510F663DDD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8EBA9F-D176-42AF-9867-D4CE8150D7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666389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FE8AA3-9D6F-9430-308A-99C78F693D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EC74C4-A43B-4353-5502-EEC333B845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  <a:lvl2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2pPr>
            <a:lvl3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3pPr>
            <a:lvl4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4pPr>
            <a:lvl5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130F9EB-D537-F4E6-2143-9E29964640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FCB47E-54BC-47CE-8C53-06DEDDAC739C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A6C9785-5C44-AAEE-9589-27B60D769E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EC731D-FFE4-E910-3729-5A5FA0A219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8EBA9F-D176-42AF-9867-D4CE8150D7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91714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2E5753-30DA-0041-F9C7-4689ADD3C8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79030D8-828D-362C-8C79-CE937C42DBF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5D6B502-A81D-31AE-785E-05521DB859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FCB47E-54BC-47CE-8C53-06DEDDAC739C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C66DCB-53A6-A59F-7686-55E50DB671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F6C1C17-8C4B-F6F4-7048-EF360E4714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8EBA9F-D176-42AF-9867-D4CE8150D7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94371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8A2F24-0C5C-42F4-34EE-09B0230556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DD0161-6115-3CF5-98B1-3ABA9AC56D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>
            <a:lvl1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  <a:lvl2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2pPr>
            <a:lvl3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3pPr>
            <a:lvl4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4pPr>
            <a:lvl5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62E2086-6D7B-D3AE-2EB0-06B44B90D5A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>
            <a:lvl1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  <a:lvl2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2pPr>
            <a:lvl3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3pPr>
            <a:lvl4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4pPr>
            <a:lvl5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D37C4DD-4F37-EB27-5F9B-59F1E4F313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FCB47E-54BC-47CE-8C53-06DEDDAC739C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303B38E-2674-E0C5-AB77-A3BE6F596A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C2A4B83-8F8B-BD62-FD6E-30DC339848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8EBA9F-D176-42AF-9867-D4CE8150D7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82874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7C0E5A-16B4-3B0E-FC93-CDB5C333A4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>
            <a:lvl1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97D4433-462D-44DC-04E1-76FA817085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0A1FFCE-C634-D05C-7A08-11A57C24B99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>
            <a:lvl1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  <a:lvl2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2pPr>
            <a:lvl3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3pPr>
            <a:lvl4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4pPr>
            <a:lvl5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C9A7EBF-5524-E0DF-51DF-49FF6557734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6888635-2421-1408-D696-042A7E98971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>
            <a:lvl1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  <a:lvl2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2pPr>
            <a:lvl3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3pPr>
            <a:lvl4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4pPr>
            <a:lvl5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16723EA-C66B-D5DD-2C01-5248F98C13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FCB47E-54BC-47CE-8C53-06DEDDAC739C}" type="datetimeFigureOut">
              <a:rPr lang="en-US" smtClean="0"/>
              <a:t>2/18/2026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2EE0B4A-65F4-469B-60A5-DEF4E2983D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67F7A78-99B2-3912-AAB8-81A7C6E185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8EBA9F-D176-42AF-9867-D4CE8150D7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79128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D69443-3A16-2BC7-241C-1596D51990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885A24F-89D2-EA15-8B23-9520695967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FCB47E-54BC-47CE-8C53-06DEDDAC739C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295A6D1-B48F-B4A0-C9E4-866CAA8984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FF359F8-0A96-CFA6-E1F0-8BB0640A33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8EBA9F-D176-42AF-9867-D4CE8150D7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39767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451CFBE-F7FB-CF48-EBE3-0C57DDECD2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FCB47E-54BC-47CE-8C53-06DEDDAC739C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EC7362B-5155-791F-73FA-797E26CD58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C5D6765-BE8F-C44E-4F04-66EBB4FBFE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8EBA9F-D176-42AF-9867-D4CE8150D7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55556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BAD917-261C-5BD0-2D6C-9FEA862F2C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59869C-AE14-6F78-A445-A81793C07BE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  <a:lvl2pPr>
              <a:defRPr sz="2800">
                <a:latin typeface="Source Sans Pro" panose="020B0503030403020204" pitchFamily="34" charset="0"/>
                <a:ea typeface="Source Sans Pro" panose="020B0503030403020204" pitchFamily="34" charset="0"/>
              </a:defRPr>
            </a:lvl2pPr>
            <a:lvl3pPr>
              <a:defRPr sz="2400">
                <a:latin typeface="Source Sans Pro" panose="020B0503030403020204" pitchFamily="34" charset="0"/>
                <a:ea typeface="Source Sans Pro" panose="020B0503030403020204" pitchFamily="34" charset="0"/>
              </a:defRPr>
            </a:lvl3pPr>
            <a:lvl4pPr>
              <a:defRPr sz="2000">
                <a:latin typeface="Source Sans Pro" panose="020B0503030403020204" pitchFamily="34" charset="0"/>
                <a:ea typeface="Source Sans Pro" panose="020B0503030403020204" pitchFamily="34" charset="0"/>
              </a:defRPr>
            </a:lvl4pPr>
            <a:lvl5pPr>
              <a:defRPr sz="2000">
                <a:latin typeface="Source Sans Pro" panose="020B0503030403020204" pitchFamily="34" charset="0"/>
                <a:ea typeface="Source Sans Pro" panose="020B0503030403020204" pitchFamily="34" charset="0"/>
              </a:defRPr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AFA71C5-46D8-27B5-F9CD-05F12B3E6BF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E851826-B3F4-049E-7886-0C3EE9807E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FCB47E-54BC-47CE-8C53-06DEDDAC739C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ECE6308-38BC-1C56-6E54-71B7754FD3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ECA414B-03C9-F1BC-FB04-2C3DBB56CE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8EBA9F-D176-42AF-9867-D4CE8150D7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220750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9C3D03-2901-2129-A288-A07681BB17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7BC4847-A851-5A29-55FB-D389E55810F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ADC6C24-2F46-8EC1-F152-D75C248BD63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A983BB1-662F-456E-A8C5-E323F3C8C2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FCB47E-54BC-47CE-8C53-06DEDDAC739C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750F2D2-E491-27EB-3EE4-CC74533F35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96AF1B6-F600-02CD-2712-46A5226EE0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8EBA9F-D176-42AF-9867-D4CE8150D7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193070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0EFA01-476D-06E3-2625-529C89DE65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ABE60B3-0289-23F1-AA3E-C329D004622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>
            <a:lvl1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  <a:lvl2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2pPr>
            <a:lvl3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3pPr>
            <a:lvl4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4pPr>
            <a:lvl5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F56CE0-748B-4DED-5C0A-584BECE22E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FCB47E-54BC-47CE-8C53-06DEDDAC739C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B45975F-B147-EC17-45C6-A3F6AF9921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548D3A9-EA87-3F85-FA7C-929D3C7354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8EBA9F-D176-42AF-9867-D4CE8150D7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650470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923E630-7CDD-A00C-0C1C-8489F7DDAF3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>
            <a:lvl1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C65212F-156E-2230-8A9C-F0F2DD89636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>
            <a:lvl1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  <a:lvl2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2pPr>
            <a:lvl3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3pPr>
            <a:lvl4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4pPr>
            <a:lvl5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911F81-02ED-EA91-3B81-75B01A090C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FCB47E-54BC-47CE-8C53-06DEDDAC739C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2A10AEC-F8B8-12E0-8AD5-4B1B9D6E3E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75CEE0A-818E-4525-8FF3-910A877A56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8EBA9F-D176-42AF-9867-D4CE8150D7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206040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CBEBC2B-1543-4583-56C1-662CAA6FF9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B8C8960-F417-898E-F329-5ADB01C83A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13D27B-60B5-B8BE-0564-3B226551A4F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DFCB47E-54BC-47CE-8C53-06DEDDAC739C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7796DC-6CE0-1CDF-E069-385112DE6AF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F1F6372-0427-7AE6-B2FE-23F3E0648FD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B8EBA9F-D176-42AF-9867-D4CE8150D7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29310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gif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sv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svg"/><Relationship Id="rId13" Type="http://schemas.openxmlformats.org/officeDocument/2006/relationships/image" Target="../media/image21.png"/><Relationship Id="rId18" Type="http://schemas.openxmlformats.org/officeDocument/2006/relationships/image" Target="../media/image25.svg"/><Relationship Id="rId3" Type="http://schemas.openxmlformats.org/officeDocument/2006/relationships/image" Target="../media/image11.png"/><Relationship Id="rId7" Type="http://schemas.openxmlformats.org/officeDocument/2006/relationships/image" Target="../media/image15.png"/><Relationship Id="rId12" Type="http://schemas.openxmlformats.org/officeDocument/2006/relationships/image" Target="../media/image20.svg"/><Relationship Id="rId17" Type="http://schemas.openxmlformats.org/officeDocument/2006/relationships/image" Target="../media/image24.png"/><Relationship Id="rId2" Type="http://schemas.openxmlformats.org/officeDocument/2006/relationships/notesSlide" Target="../notesSlides/notesSlide5.xml"/><Relationship Id="rId16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svg"/><Relationship Id="rId11" Type="http://schemas.openxmlformats.org/officeDocument/2006/relationships/image" Target="../media/image19.png"/><Relationship Id="rId5" Type="http://schemas.openxmlformats.org/officeDocument/2006/relationships/image" Target="../media/image13.png"/><Relationship Id="rId15" Type="http://schemas.openxmlformats.org/officeDocument/2006/relationships/hyperlink" Target="https://upload.wikimedia.org/wikipedia/commons/1/12/Google_Drive_icon_%282020%29.svg" TargetMode="External"/><Relationship Id="rId10" Type="http://schemas.openxmlformats.org/officeDocument/2006/relationships/image" Target="../media/image18.svg"/><Relationship Id="rId4" Type="http://schemas.openxmlformats.org/officeDocument/2006/relationships/image" Target="../media/image12.svg"/><Relationship Id="rId9" Type="http://schemas.openxmlformats.org/officeDocument/2006/relationships/image" Target="../media/image17.png"/><Relationship Id="rId14" Type="http://schemas.openxmlformats.org/officeDocument/2006/relationships/image" Target="../media/image22.sv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svg"/><Relationship Id="rId13" Type="http://schemas.openxmlformats.org/officeDocument/2006/relationships/image" Target="../media/image21.png"/><Relationship Id="rId18" Type="http://schemas.openxmlformats.org/officeDocument/2006/relationships/image" Target="../media/image25.svg"/><Relationship Id="rId3" Type="http://schemas.openxmlformats.org/officeDocument/2006/relationships/image" Target="../media/image11.png"/><Relationship Id="rId7" Type="http://schemas.openxmlformats.org/officeDocument/2006/relationships/image" Target="../media/image15.png"/><Relationship Id="rId12" Type="http://schemas.openxmlformats.org/officeDocument/2006/relationships/image" Target="../media/image20.svg"/><Relationship Id="rId17" Type="http://schemas.openxmlformats.org/officeDocument/2006/relationships/image" Target="../media/image24.png"/><Relationship Id="rId2" Type="http://schemas.openxmlformats.org/officeDocument/2006/relationships/notesSlide" Target="../notesSlides/notesSlide6.xml"/><Relationship Id="rId16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svg"/><Relationship Id="rId11" Type="http://schemas.openxmlformats.org/officeDocument/2006/relationships/image" Target="../media/image19.png"/><Relationship Id="rId5" Type="http://schemas.openxmlformats.org/officeDocument/2006/relationships/image" Target="../media/image13.png"/><Relationship Id="rId15" Type="http://schemas.openxmlformats.org/officeDocument/2006/relationships/hyperlink" Target="https://upload.wikimedia.org/wikipedia/commons/1/12/Google_Drive_icon_%282020%29.svg" TargetMode="External"/><Relationship Id="rId10" Type="http://schemas.openxmlformats.org/officeDocument/2006/relationships/image" Target="../media/image18.svg"/><Relationship Id="rId4" Type="http://schemas.openxmlformats.org/officeDocument/2006/relationships/image" Target="../media/image12.svg"/><Relationship Id="rId9" Type="http://schemas.openxmlformats.org/officeDocument/2006/relationships/image" Target="../media/image17.png"/><Relationship Id="rId14" Type="http://schemas.openxmlformats.org/officeDocument/2006/relationships/image" Target="../media/image22.sv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svg"/><Relationship Id="rId13" Type="http://schemas.openxmlformats.org/officeDocument/2006/relationships/image" Target="../media/image21.png"/><Relationship Id="rId18" Type="http://schemas.openxmlformats.org/officeDocument/2006/relationships/image" Target="../media/image25.svg"/><Relationship Id="rId3" Type="http://schemas.openxmlformats.org/officeDocument/2006/relationships/image" Target="../media/image11.png"/><Relationship Id="rId7" Type="http://schemas.openxmlformats.org/officeDocument/2006/relationships/image" Target="../media/image15.png"/><Relationship Id="rId12" Type="http://schemas.openxmlformats.org/officeDocument/2006/relationships/image" Target="../media/image20.svg"/><Relationship Id="rId17" Type="http://schemas.openxmlformats.org/officeDocument/2006/relationships/image" Target="../media/image24.png"/><Relationship Id="rId2" Type="http://schemas.openxmlformats.org/officeDocument/2006/relationships/notesSlide" Target="../notesSlides/notesSlide7.xml"/><Relationship Id="rId16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svg"/><Relationship Id="rId11" Type="http://schemas.openxmlformats.org/officeDocument/2006/relationships/image" Target="../media/image19.png"/><Relationship Id="rId5" Type="http://schemas.openxmlformats.org/officeDocument/2006/relationships/image" Target="../media/image13.png"/><Relationship Id="rId15" Type="http://schemas.openxmlformats.org/officeDocument/2006/relationships/hyperlink" Target="https://upload.wikimedia.org/wikipedia/commons/1/12/Google_Drive_icon_%282020%29.svg" TargetMode="External"/><Relationship Id="rId10" Type="http://schemas.openxmlformats.org/officeDocument/2006/relationships/image" Target="../media/image18.svg"/><Relationship Id="rId4" Type="http://schemas.openxmlformats.org/officeDocument/2006/relationships/image" Target="../media/image12.svg"/><Relationship Id="rId9" Type="http://schemas.openxmlformats.org/officeDocument/2006/relationships/image" Target="../media/image17.png"/><Relationship Id="rId14" Type="http://schemas.openxmlformats.org/officeDocument/2006/relationships/image" Target="../media/image22.sv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svg"/><Relationship Id="rId5" Type="http://schemas.openxmlformats.org/officeDocument/2006/relationships/image" Target="../media/image13.png"/><Relationship Id="rId4" Type="http://schemas.openxmlformats.org/officeDocument/2006/relationships/image" Target="../media/image12.sv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svg"/><Relationship Id="rId3" Type="http://schemas.openxmlformats.org/officeDocument/2006/relationships/image" Target="../media/image11.png"/><Relationship Id="rId7" Type="http://schemas.openxmlformats.org/officeDocument/2006/relationships/image" Target="../media/image1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svg"/><Relationship Id="rId5" Type="http://schemas.openxmlformats.org/officeDocument/2006/relationships/image" Target="../media/image13.png"/><Relationship Id="rId4" Type="http://schemas.openxmlformats.org/officeDocument/2006/relationships/image" Target="../media/image12.svg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svg"/><Relationship Id="rId3" Type="http://schemas.openxmlformats.org/officeDocument/2006/relationships/image" Target="../media/image11.png"/><Relationship Id="rId7" Type="http://schemas.openxmlformats.org/officeDocument/2006/relationships/image" Target="../media/image1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svg"/><Relationship Id="rId5" Type="http://schemas.openxmlformats.org/officeDocument/2006/relationships/image" Target="../media/image13.png"/><Relationship Id="rId4" Type="http://schemas.openxmlformats.org/officeDocument/2006/relationships/image" Target="../media/image12.svg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image" Target="../media/image26.png"/><Relationship Id="rId7" Type="http://schemas.openxmlformats.org/officeDocument/2006/relationships/image" Target="../media/image14.sv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svg"/><Relationship Id="rId4" Type="http://schemas.openxmlformats.org/officeDocument/2006/relationships/image" Target="../media/image11.png"/><Relationship Id="rId9" Type="http://schemas.openxmlformats.org/officeDocument/2006/relationships/image" Target="../media/image18.svg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image" Target="../media/image26.png"/><Relationship Id="rId7" Type="http://schemas.openxmlformats.org/officeDocument/2006/relationships/image" Target="../media/image14.sv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svg"/><Relationship Id="rId4" Type="http://schemas.openxmlformats.org/officeDocument/2006/relationships/image" Target="../media/image11.png"/><Relationship Id="rId9" Type="http://schemas.openxmlformats.org/officeDocument/2006/relationships/image" Target="../media/image18.sv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svg"/><Relationship Id="rId7" Type="http://schemas.openxmlformats.org/officeDocument/2006/relationships/image" Target="../media/image12.sv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openxmlformats.org/officeDocument/2006/relationships/image" Target="../media/image23.png"/><Relationship Id="rId4" Type="http://schemas.openxmlformats.org/officeDocument/2006/relationships/hyperlink" Target="https://upload.wikimedia.org/wikipedia/commons/1/12/Google_Drive_icon_%282020%29.svg" TargetMode="External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hyperlink" Target="https://rclone.org/drive/" TargetMode="External"/><Relationship Id="rId7" Type="http://schemas.openxmlformats.org/officeDocument/2006/relationships/image" Target="../media/image23.png"/><Relationship Id="rId2" Type="http://schemas.openxmlformats.org/officeDocument/2006/relationships/hyperlink" Target="https://docs.rc.fas.harvard.edu/kb/rclone/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upload.wikimedia.org/wikipedia/commons/1/12/Google_Drive_icon_%282020%29.svg" TargetMode="External"/><Relationship Id="rId5" Type="http://schemas.openxmlformats.org/officeDocument/2006/relationships/image" Target="../media/image14.svg"/><Relationship Id="rId4" Type="http://schemas.openxmlformats.org/officeDocument/2006/relationships/image" Target="../media/image13.png"/><Relationship Id="rId9" Type="http://schemas.openxmlformats.org/officeDocument/2006/relationships/image" Target="../media/image12.svg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svg"/><Relationship Id="rId7" Type="http://schemas.openxmlformats.org/officeDocument/2006/relationships/image" Target="../media/image28.sv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openxmlformats.org/officeDocument/2006/relationships/image" Target="../media/image18.svg"/><Relationship Id="rId4" Type="http://schemas.openxmlformats.org/officeDocument/2006/relationships/image" Target="../media/image17.png"/></Relationships>
</file>

<file path=ppt/slides/_rels/slide2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svg"/><Relationship Id="rId3" Type="http://schemas.openxmlformats.org/officeDocument/2006/relationships/image" Target="../media/image30.png"/><Relationship Id="rId7" Type="http://schemas.openxmlformats.org/officeDocument/2006/relationships/image" Target="../media/image17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svg"/><Relationship Id="rId5" Type="http://schemas.openxmlformats.org/officeDocument/2006/relationships/image" Target="../media/image13.png"/><Relationship Id="rId10" Type="http://schemas.openxmlformats.org/officeDocument/2006/relationships/image" Target="../media/image28.svg"/><Relationship Id="rId4" Type="http://schemas.openxmlformats.org/officeDocument/2006/relationships/hyperlink" Target="https://filezilla-project.org/" TargetMode="External"/><Relationship Id="rId9" Type="http://schemas.openxmlformats.org/officeDocument/2006/relationships/image" Target="../media/image11.png"/></Relationships>
</file>

<file path=ppt/slides/_rels/slide2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29.png"/><Relationship Id="rId7" Type="http://schemas.openxmlformats.org/officeDocument/2006/relationships/image" Target="../media/image18.svg"/><Relationship Id="rId2" Type="http://schemas.openxmlformats.org/officeDocument/2006/relationships/hyperlink" Target="https://docs.rc.fas.harvard.edu/kb/sftp-file-transfer/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png"/><Relationship Id="rId5" Type="http://schemas.openxmlformats.org/officeDocument/2006/relationships/image" Target="../media/image27.svg"/><Relationship Id="rId4" Type="http://schemas.openxmlformats.org/officeDocument/2006/relationships/image" Target="../media/image13.png"/><Relationship Id="rId9" Type="http://schemas.openxmlformats.org/officeDocument/2006/relationships/image" Target="../media/image28.svg"/></Relationships>
</file>

<file path=ppt/slides/_rels/slide2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29.png"/><Relationship Id="rId7" Type="http://schemas.openxmlformats.org/officeDocument/2006/relationships/image" Target="../media/image18.svg"/><Relationship Id="rId2" Type="http://schemas.openxmlformats.org/officeDocument/2006/relationships/hyperlink" Target="https://docs.rc.fas.harvard.edu/kb/sftp-file-transfer/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png"/><Relationship Id="rId5" Type="http://schemas.openxmlformats.org/officeDocument/2006/relationships/image" Target="../media/image27.svg"/><Relationship Id="rId4" Type="http://schemas.openxmlformats.org/officeDocument/2006/relationships/image" Target="../media/image13.png"/><Relationship Id="rId9" Type="http://schemas.openxmlformats.org/officeDocument/2006/relationships/image" Target="../media/image28.sv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svg"/><Relationship Id="rId7" Type="http://schemas.openxmlformats.org/officeDocument/2006/relationships/hyperlink" Target="https://docs.rc.fas.harvard.edu/kb/mounting-storage/" TargetMode="External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1.jpeg"/><Relationship Id="rId5" Type="http://schemas.openxmlformats.org/officeDocument/2006/relationships/image" Target="../media/image18.svg"/><Relationship Id="rId4" Type="http://schemas.openxmlformats.org/officeDocument/2006/relationships/image" Target="../media/image17.png"/></Relationships>
</file>

<file path=ppt/slides/_rels/slide3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svg"/><Relationship Id="rId3" Type="http://schemas.openxmlformats.org/officeDocument/2006/relationships/image" Target="../media/image11.png"/><Relationship Id="rId7" Type="http://schemas.openxmlformats.org/officeDocument/2006/relationships/image" Target="../media/image15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svg"/><Relationship Id="rId5" Type="http://schemas.openxmlformats.org/officeDocument/2006/relationships/image" Target="../media/image13.png"/><Relationship Id="rId10" Type="http://schemas.openxmlformats.org/officeDocument/2006/relationships/image" Target="../media/image18.svg"/><Relationship Id="rId4" Type="http://schemas.openxmlformats.org/officeDocument/2006/relationships/image" Target="../media/image12.svg"/><Relationship Id="rId9" Type="http://schemas.openxmlformats.org/officeDocument/2006/relationships/image" Target="../media/image17.png"/></Relationships>
</file>

<file path=ppt/slides/_rels/slide3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svg"/><Relationship Id="rId3" Type="http://schemas.openxmlformats.org/officeDocument/2006/relationships/image" Target="../media/image11.png"/><Relationship Id="rId7" Type="http://schemas.openxmlformats.org/officeDocument/2006/relationships/image" Target="../media/image15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svg"/><Relationship Id="rId5" Type="http://schemas.openxmlformats.org/officeDocument/2006/relationships/image" Target="../media/image13.png"/><Relationship Id="rId10" Type="http://schemas.openxmlformats.org/officeDocument/2006/relationships/image" Target="../media/image18.svg"/><Relationship Id="rId4" Type="http://schemas.openxmlformats.org/officeDocument/2006/relationships/image" Target="../media/image12.svg"/><Relationship Id="rId9" Type="http://schemas.openxmlformats.org/officeDocument/2006/relationships/image" Target="../media/image17.png"/></Relationships>
</file>

<file path=ppt/slides/_rels/slide3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svg"/><Relationship Id="rId3" Type="http://schemas.openxmlformats.org/officeDocument/2006/relationships/image" Target="../media/image11.png"/><Relationship Id="rId7" Type="http://schemas.openxmlformats.org/officeDocument/2006/relationships/image" Target="../media/image15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svg"/><Relationship Id="rId5" Type="http://schemas.openxmlformats.org/officeDocument/2006/relationships/image" Target="../media/image13.png"/><Relationship Id="rId10" Type="http://schemas.openxmlformats.org/officeDocument/2006/relationships/image" Target="../media/image18.svg"/><Relationship Id="rId4" Type="http://schemas.openxmlformats.org/officeDocument/2006/relationships/image" Target="../media/image12.svg"/><Relationship Id="rId9" Type="http://schemas.openxmlformats.org/officeDocument/2006/relationships/image" Target="../media/image17.png"/></Relationships>
</file>

<file path=ppt/slides/_rels/slide3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32.png"/><Relationship Id="rId7" Type="http://schemas.openxmlformats.org/officeDocument/2006/relationships/image" Target="../media/image14.svg"/><Relationship Id="rId2" Type="http://schemas.openxmlformats.org/officeDocument/2006/relationships/hyperlink" Target="https://canvas.harvard.edu/courses/157915/pages/globus-overview-2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11" Type="http://schemas.openxmlformats.org/officeDocument/2006/relationships/image" Target="../media/image18.svg"/><Relationship Id="rId5" Type="http://schemas.openxmlformats.org/officeDocument/2006/relationships/image" Target="../media/image12.svg"/><Relationship Id="rId10" Type="http://schemas.openxmlformats.org/officeDocument/2006/relationships/image" Target="../media/image17.png"/><Relationship Id="rId4" Type="http://schemas.openxmlformats.org/officeDocument/2006/relationships/image" Target="../media/image11.png"/><Relationship Id="rId9" Type="http://schemas.openxmlformats.org/officeDocument/2006/relationships/image" Target="../media/image16.sv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jpeg"/><Relationship Id="rId2" Type="http://schemas.openxmlformats.org/officeDocument/2006/relationships/slideLayout" Target="../slideLayouts/slideLayout2.xml"/><Relationship Id="rId1" Type="http://schemas.openxmlformats.org/officeDocument/2006/relationships/video" Target="https://www.youtube.com/embed/YSOlgZpC9K4?feature=oembed" TargetMode="External"/><Relationship Id="rId4" Type="http://schemas.openxmlformats.org/officeDocument/2006/relationships/hyperlink" Target="https://www.youtube.com/watch?v=YSOlgZpC9K4" TargetMode="Externa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hyperlink" Target="https://canvas.harvard.edu/courses/157915/pages/globus-overview-2" TargetMode="External"/><Relationship Id="rId2" Type="http://schemas.openxmlformats.org/officeDocument/2006/relationships/hyperlink" Target="https://canvas.harvard.edu/courses/157915/pages/globus-how-to-share-with-collaborators?module_item_id=1883742" TargetMode="Externa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4.svg"/><Relationship Id="rId3" Type="http://schemas.openxmlformats.org/officeDocument/2006/relationships/image" Target="../media/image11.png"/><Relationship Id="rId7" Type="http://schemas.openxmlformats.org/officeDocument/2006/relationships/image" Target="../media/image15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svg"/><Relationship Id="rId5" Type="http://schemas.openxmlformats.org/officeDocument/2006/relationships/image" Target="../media/image13.png"/><Relationship Id="rId10" Type="http://schemas.openxmlformats.org/officeDocument/2006/relationships/image" Target="../media/image18.svg"/><Relationship Id="rId4" Type="http://schemas.openxmlformats.org/officeDocument/2006/relationships/image" Target="../media/image28.svg"/><Relationship Id="rId9" Type="http://schemas.openxmlformats.org/officeDocument/2006/relationships/image" Target="../media/image17.png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svg"/><Relationship Id="rId13" Type="http://schemas.openxmlformats.org/officeDocument/2006/relationships/image" Target="../media/image21.png"/><Relationship Id="rId18" Type="http://schemas.openxmlformats.org/officeDocument/2006/relationships/image" Target="../media/image25.svg"/><Relationship Id="rId3" Type="http://schemas.openxmlformats.org/officeDocument/2006/relationships/image" Target="../media/image11.png"/><Relationship Id="rId7" Type="http://schemas.openxmlformats.org/officeDocument/2006/relationships/image" Target="../media/image15.png"/><Relationship Id="rId12" Type="http://schemas.openxmlformats.org/officeDocument/2006/relationships/image" Target="../media/image20.svg"/><Relationship Id="rId17" Type="http://schemas.openxmlformats.org/officeDocument/2006/relationships/image" Target="../media/image24.png"/><Relationship Id="rId2" Type="http://schemas.openxmlformats.org/officeDocument/2006/relationships/notesSlide" Target="../notesSlides/notesSlide15.xml"/><Relationship Id="rId16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svg"/><Relationship Id="rId11" Type="http://schemas.openxmlformats.org/officeDocument/2006/relationships/image" Target="../media/image19.png"/><Relationship Id="rId5" Type="http://schemas.openxmlformats.org/officeDocument/2006/relationships/image" Target="../media/image13.png"/><Relationship Id="rId15" Type="http://schemas.openxmlformats.org/officeDocument/2006/relationships/hyperlink" Target="https://upload.wikimedia.org/wikipedia/commons/1/12/Google_Drive_icon_%282020%29.svg" TargetMode="External"/><Relationship Id="rId10" Type="http://schemas.openxmlformats.org/officeDocument/2006/relationships/image" Target="../media/image18.svg"/><Relationship Id="rId4" Type="http://schemas.openxmlformats.org/officeDocument/2006/relationships/image" Target="../media/image12.svg"/><Relationship Id="rId9" Type="http://schemas.openxmlformats.org/officeDocument/2006/relationships/image" Target="../media/image17.png"/><Relationship Id="rId14" Type="http://schemas.openxmlformats.org/officeDocument/2006/relationships/image" Target="../media/image22.svg"/></Relationships>
</file>

<file path=ppt/slides/_rels/slide4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svg"/><Relationship Id="rId13" Type="http://schemas.openxmlformats.org/officeDocument/2006/relationships/image" Target="../media/image21.png"/><Relationship Id="rId18" Type="http://schemas.openxmlformats.org/officeDocument/2006/relationships/image" Target="../media/image25.svg"/><Relationship Id="rId3" Type="http://schemas.openxmlformats.org/officeDocument/2006/relationships/image" Target="../media/image11.png"/><Relationship Id="rId7" Type="http://schemas.openxmlformats.org/officeDocument/2006/relationships/image" Target="../media/image15.png"/><Relationship Id="rId12" Type="http://schemas.openxmlformats.org/officeDocument/2006/relationships/image" Target="../media/image20.svg"/><Relationship Id="rId17" Type="http://schemas.openxmlformats.org/officeDocument/2006/relationships/image" Target="../media/image24.png"/><Relationship Id="rId2" Type="http://schemas.openxmlformats.org/officeDocument/2006/relationships/notesSlide" Target="../notesSlides/notesSlide16.xml"/><Relationship Id="rId16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svg"/><Relationship Id="rId11" Type="http://schemas.openxmlformats.org/officeDocument/2006/relationships/image" Target="../media/image19.png"/><Relationship Id="rId5" Type="http://schemas.openxmlformats.org/officeDocument/2006/relationships/image" Target="../media/image13.png"/><Relationship Id="rId15" Type="http://schemas.openxmlformats.org/officeDocument/2006/relationships/hyperlink" Target="https://upload.wikimedia.org/wikipedia/commons/1/12/Google_Drive_icon_%282020%29.svg" TargetMode="External"/><Relationship Id="rId10" Type="http://schemas.openxmlformats.org/officeDocument/2006/relationships/image" Target="../media/image18.svg"/><Relationship Id="rId19" Type="http://schemas.openxmlformats.org/officeDocument/2006/relationships/image" Target="../media/image27.svg"/><Relationship Id="rId4" Type="http://schemas.openxmlformats.org/officeDocument/2006/relationships/image" Target="../media/image12.svg"/><Relationship Id="rId9" Type="http://schemas.openxmlformats.org/officeDocument/2006/relationships/image" Target="../media/image17.png"/><Relationship Id="rId14" Type="http://schemas.openxmlformats.org/officeDocument/2006/relationships/image" Target="../media/image22.svg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jpe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image" Target="../media/image50.jpeg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hyperlink" Target="https://code.visualstudio.com/download" TargetMode="External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hyperlink" Target="https://code.visualstudio.com/download" TargetMode="External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hyperlink" Target="https://code.visualstudio.com/docs/remote/remote-overview" TargetMode="External"/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docs.rc.fas.harvard.edu/kb/vscode-remote-development-via-ssh-or-tunnel/" TargetMode="Externa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png"/><Relationship Id="rId2" Type="http://schemas.openxmlformats.org/officeDocument/2006/relationships/hyperlink" Target="https://docs.rc.fas.harvard.edu/kb/virtual-desktop/" TargetMode="External"/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358677DF-0627-BDC6-9C23-C3EBC33F697A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08D15E9-D3C5-4D56-EC73-260C90963F1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-809"/>
            <a:ext cx="12192000" cy="1204913"/>
          </a:xfrm>
        </p:spPr>
        <p:txBody>
          <a:bodyPr>
            <a:normAutofit fontScale="90000"/>
          </a:bodyPr>
          <a:lstStyle/>
          <a:p>
            <a:pPr algn="l"/>
            <a:r>
              <a:rPr lang="en-US" sz="4000" dirty="0">
                <a:solidFill>
                  <a:srgbClr val="33FF33"/>
                </a:solidFill>
                <a:latin typeface="Consolas" panose="020B0609020204030204" pitchFamily="49" charset="0"/>
              </a:rPr>
              <a:t>$</a:t>
            </a:r>
            <a:r>
              <a:rPr lang="en-US" sz="2400" dirty="0">
                <a:solidFill>
                  <a:srgbClr val="33FF33"/>
                </a:solidFill>
                <a:latin typeface="Consolas" panose="020B0609020204030204" pitchFamily="49" charset="0"/>
              </a:rPr>
              <a:t> </a:t>
            </a:r>
            <a:r>
              <a:rPr lang="en-US" sz="4000" dirty="0">
                <a:solidFill>
                  <a:srgbClr val="33FF33"/>
                </a:solidFill>
                <a:latin typeface="Consolas" panose="020B0609020204030204" pitchFamily="49" charset="0"/>
              </a:rPr>
              <a:t>Command line 101:</a:t>
            </a:r>
            <a:br>
              <a:rPr lang="en-US" sz="4000" dirty="0">
                <a:solidFill>
                  <a:srgbClr val="33FF33"/>
                </a:solidFill>
                <a:latin typeface="Consolas" panose="020B0609020204030204" pitchFamily="49" charset="0"/>
              </a:rPr>
            </a:br>
            <a:r>
              <a:rPr lang="en-US" sz="4000" dirty="0">
                <a:solidFill>
                  <a:srgbClr val="33FF33"/>
                </a:solidFill>
                <a:latin typeface="Consolas" panose="020B0609020204030204" pitchFamily="49" charset="0"/>
              </a:rPr>
              <a:t>$</a:t>
            </a:r>
            <a:r>
              <a:rPr lang="en-US" sz="2400" dirty="0">
                <a:solidFill>
                  <a:srgbClr val="33FF33"/>
                </a:solidFill>
                <a:latin typeface="Consolas" panose="020B0609020204030204" pitchFamily="49" charset="0"/>
              </a:rPr>
              <a:t> </a:t>
            </a:r>
            <a:r>
              <a:rPr lang="en-US" sz="4000" dirty="0">
                <a:solidFill>
                  <a:srgbClr val="33FF33"/>
                </a:solidFill>
                <a:latin typeface="Consolas" panose="020B0609020204030204" pitchFamily="49" charset="0"/>
              </a:rPr>
              <a:t>Integrating local and cluster environments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0F930FF-0D52-8019-4787-F80035CFA7F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0" y="1204103"/>
            <a:ext cx="10668000" cy="2573337"/>
          </a:xfrm>
        </p:spPr>
        <p:txBody>
          <a:bodyPr>
            <a:normAutofit/>
          </a:bodyPr>
          <a:lstStyle/>
          <a:p>
            <a:pPr algn="l"/>
            <a:r>
              <a:rPr lang="en-US" sz="4000" dirty="0">
                <a:solidFill>
                  <a:srgbClr val="33FF33"/>
                </a:solidFill>
                <a:latin typeface="Consolas" panose="020B0609020204030204" pitchFamily="49" charset="0"/>
              </a:rPr>
              <a:t>$</a:t>
            </a:r>
            <a:r>
              <a:rPr lang="en-US" dirty="0">
                <a:solidFill>
                  <a:srgbClr val="33FF33"/>
                </a:solidFill>
                <a:latin typeface="Consolas" panose="020B0609020204030204" pitchFamily="49" charset="0"/>
              </a:rPr>
              <a:t> Harvard FAS Informatics virtual training</a:t>
            </a:r>
          </a:p>
          <a:p>
            <a:pPr algn="l"/>
            <a:r>
              <a:rPr lang="en-US" sz="4000" dirty="0">
                <a:solidFill>
                  <a:srgbClr val="33FF33"/>
                </a:solidFill>
                <a:latin typeface="Consolas" panose="020B0609020204030204" pitchFamily="49" charset="0"/>
              </a:rPr>
              <a:t>$</a:t>
            </a:r>
            <a:r>
              <a:rPr lang="en-US" dirty="0">
                <a:solidFill>
                  <a:srgbClr val="33FF33"/>
                </a:solidFill>
                <a:latin typeface="Consolas" panose="020B0609020204030204" pitchFamily="49" charset="0"/>
              </a:rPr>
              <a:t> Thursday, February 5, 2026</a:t>
            </a:r>
          </a:p>
          <a:p>
            <a:pPr algn="l"/>
            <a:r>
              <a:rPr lang="en-US" sz="4000" dirty="0">
                <a:solidFill>
                  <a:srgbClr val="33FF33"/>
                </a:solidFill>
                <a:latin typeface="Consolas" panose="020B0609020204030204" pitchFamily="49" charset="0"/>
              </a:rPr>
              <a:t>$ 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CF140393-AEA2-A958-0E1D-DBF9A848BC1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7050" y="2570941"/>
            <a:ext cx="584200" cy="584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7860999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89B39F-034A-8AD7-D24B-1126D90A8D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9D163F42-833F-B876-0B1F-89F14C9C6D5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149206F-6B5F-8C05-3597-A871427C22F1}"/>
              </a:ext>
            </a:extLst>
          </p:cNvPr>
          <p:cNvSpPr txBox="1"/>
          <p:nvPr/>
        </p:nvSpPr>
        <p:spPr>
          <a:xfrm>
            <a:off x="1173591" y="1382286"/>
            <a:ext cx="9844818" cy="4093428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600" u="sng" dirty="0">
                <a:latin typeface="Consolas" panose="020B0609020204030204" pitchFamily="49" charset="0"/>
                <a:ea typeface="Source Sans Pro" panose="020B0503030403020204" pitchFamily="34" charset="0"/>
              </a:rPr>
              <a:t>Topics covered</a:t>
            </a:r>
          </a:p>
          <a:p>
            <a:pPr marL="742950" indent="-742950">
              <a:buAutoNum type="arabicPeriod"/>
            </a:pPr>
            <a:r>
              <a:rPr lang="en-US" sz="3200" dirty="0">
                <a:latin typeface="Consolas" panose="020B0609020204030204" pitchFamily="49" charset="0"/>
                <a:ea typeface="Source Sans Pro" panose="020B0503030403020204" pitchFamily="34" charset="0"/>
              </a:rPr>
              <a:t>Running commands on the cluster</a:t>
            </a:r>
          </a:p>
          <a:p>
            <a:pPr marL="742950" indent="-742950">
              <a:buAutoNum type="arabicPeriod"/>
            </a:pPr>
            <a:endParaRPr lang="en-US" sz="3200" dirty="0">
              <a:latin typeface="Consolas" panose="020B0609020204030204" pitchFamily="49" charset="0"/>
              <a:ea typeface="Source Sans Pro" panose="020B0503030403020204" pitchFamily="34" charset="0"/>
            </a:endParaRPr>
          </a:p>
          <a:p>
            <a:pPr marL="742950" indent="-742950">
              <a:buAutoNum type="arabicPeriod"/>
            </a:pPr>
            <a:r>
              <a:rPr lang="en-US" sz="3200" dirty="0">
                <a:latin typeface="Consolas" panose="020B0609020204030204" pitchFamily="49" charset="0"/>
                <a:ea typeface="Source Sans Pro" panose="020B0503030403020204" pitchFamily="34" charset="0"/>
              </a:rPr>
              <a:t>Transferring files to and from the cluster</a:t>
            </a:r>
          </a:p>
          <a:p>
            <a:pPr marL="742950" indent="-742950">
              <a:buAutoNum type="arabicPeriod"/>
            </a:pPr>
            <a:endParaRPr lang="en-US" sz="3200" dirty="0">
              <a:latin typeface="Consolas" panose="020B0609020204030204" pitchFamily="49" charset="0"/>
              <a:ea typeface="Source Sans Pro" panose="020B0503030403020204" pitchFamily="34" charset="0"/>
            </a:endParaRPr>
          </a:p>
          <a:p>
            <a:pPr marL="742950" indent="-742950">
              <a:buAutoNum type="arabicPeriod"/>
            </a:pPr>
            <a:r>
              <a:rPr lang="en-US" sz="3200" dirty="0">
                <a:latin typeface="Consolas" panose="020B0609020204030204" pitchFamily="49" charset="0"/>
                <a:ea typeface="Source Sans Pro" panose="020B0503030403020204" pitchFamily="34" charset="0"/>
              </a:rPr>
              <a:t>Viewing and editing files on the cluster</a:t>
            </a:r>
          </a:p>
        </p:txBody>
      </p:sp>
    </p:spTree>
    <p:extLst>
      <p:ext uri="{BB962C8B-B14F-4D97-AF65-F5344CB8AC3E}">
        <p14:creationId xmlns:p14="http://schemas.microsoft.com/office/powerpoint/2010/main" val="11360218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9AFD27-AA88-7F93-E597-9E500F5D8B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84C96D81-84A0-2C8C-F6B6-F83320A9806D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89AF39F-F0A1-17E8-7E79-568EF55B658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99103" y="1905288"/>
            <a:ext cx="5393793" cy="4315034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5940FF75-3CC8-9187-0CAD-DCF9318FD91E}"/>
              </a:ext>
            </a:extLst>
          </p:cNvPr>
          <p:cNvSpPr txBox="1"/>
          <p:nvPr/>
        </p:nvSpPr>
        <p:spPr>
          <a:xfrm>
            <a:off x="0" y="1258957"/>
            <a:ext cx="12192000" cy="120032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Running commands on the cluster:</a:t>
            </a:r>
          </a:p>
          <a:p>
            <a:pPr algn="ctr"/>
            <a:r>
              <a:rPr lang="en-US" sz="3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Connecting to the cluster with </a:t>
            </a:r>
            <a:r>
              <a:rPr lang="en-US" sz="3600" dirty="0">
                <a:latin typeface="Consolas" panose="020B0609020204030204" pitchFamily="49" charset="0"/>
                <a:ea typeface="Source Sans Pro" panose="020B0503030403020204" pitchFamily="34" charset="0"/>
              </a:rPr>
              <a:t>ssh</a:t>
            </a:r>
          </a:p>
        </p:txBody>
      </p:sp>
    </p:spTree>
    <p:extLst>
      <p:ext uri="{BB962C8B-B14F-4D97-AF65-F5344CB8AC3E}">
        <p14:creationId xmlns:p14="http://schemas.microsoft.com/office/powerpoint/2010/main" val="122867361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F08EDD-9D42-DC45-A302-CADA3AA8D8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ED856D-661B-3705-D151-0212ED915F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250031"/>
            <a:ext cx="5172797" cy="1325563"/>
          </a:xfrm>
        </p:spPr>
        <p:txBody>
          <a:bodyPr/>
          <a:lstStyle/>
          <a:p>
            <a:r>
              <a:rPr lang="en-US" dirty="0"/>
              <a:t>Connecting to a remote computer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6ED5142E-48CF-7C1F-A79B-CBC8616B1CFC}"/>
              </a:ext>
            </a:extLst>
          </p:cNvPr>
          <p:cNvGrpSpPr/>
          <p:nvPr/>
        </p:nvGrpSpPr>
        <p:grpSpPr>
          <a:xfrm>
            <a:off x="6181004" y="0"/>
            <a:ext cx="6010996" cy="6858000"/>
            <a:chOff x="3090502" y="0"/>
            <a:chExt cx="6010996" cy="6858000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5016D58E-B85E-6D89-7243-2E4B38AE52C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090502" y="0"/>
              <a:ext cx="6010996" cy="6858000"/>
            </a:xfrm>
            <a:prstGeom prst="rect">
              <a:avLst/>
            </a:prstGeom>
          </p:spPr>
        </p:pic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E16F9E81-B602-A95E-3F2C-5CDA7B66523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3206508" y="6392468"/>
              <a:ext cx="2327659" cy="465532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EDA77FA8-27A6-7C38-9031-E2ED01C26FCE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5333893" y="6375408"/>
              <a:ext cx="1524213" cy="428685"/>
            </a:xfrm>
            <a:prstGeom prst="rect">
              <a:avLst/>
            </a:prstGeom>
          </p:spPr>
        </p:pic>
      </p:grp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8716D190-C6AD-4CA2-006A-A0EE1E81DC6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7500" y="1825625"/>
            <a:ext cx="5778500" cy="4351338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Use the </a:t>
            </a:r>
            <a:r>
              <a:rPr lang="en-US" dirty="0">
                <a:latin typeface="Consolas" panose="020B0609020204030204" pitchFamily="49" charset="0"/>
              </a:rPr>
              <a:t>ssh</a:t>
            </a:r>
            <a:r>
              <a:rPr lang="en-US" dirty="0"/>
              <a:t> command to connect to a remote computer:</a:t>
            </a:r>
          </a:p>
          <a:p>
            <a:endParaRPr lang="en-US" dirty="0"/>
          </a:p>
          <a:p>
            <a:pPr marL="0" indent="0" algn="ctr">
              <a:buNone/>
              <a:defRPr/>
            </a:pPr>
            <a:r>
              <a:rPr lang="en-US" sz="2600" dirty="0">
                <a:solidFill>
                  <a:prstClr val="white">
                    <a:lumMod val="95000"/>
                  </a:prstClr>
                </a:solidFill>
                <a:highlight>
                  <a:srgbClr val="000000"/>
                </a:highlight>
                <a:latin typeface="Consolas" panose="020B0609020204030204" pitchFamily="49" charset="0"/>
                <a:ea typeface="+mn-ea"/>
              </a:rPr>
              <a:t>ssh &lt;username&gt;@&lt;server name&gt;</a:t>
            </a:r>
          </a:p>
          <a:p>
            <a:endParaRPr lang="en-US" dirty="0"/>
          </a:p>
          <a:p>
            <a:r>
              <a:rPr lang="en-US" dirty="0"/>
              <a:t>The first time you connect (or if the server updates its keys), you will have to trust the server.</a:t>
            </a:r>
          </a:p>
          <a:p>
            <a:endParaRPr lang="en-US" dirty="0"/>
          </a:p>
          <a:p>
            <a:r>
              <a:rPr lang="en-US" dirty="0"/>
              <a:t>For Cannon, you will need your RC password and two-factor code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73A61488-EC3D-3527-A316-997ACFF1481B}"/>
              </a:ext>
            </a:extLst>
          </p:cNvPr>
          <p:cNvSpPr/>
          <p:nvPr/>
        </p:nvSpPr>
        <p:spPr>
          <a:xfrm>
            <a:off x="6261342" y="358440"/>
            <a:ext cx="3221617" cy="232767"/>
          </a:xfrm>
          <a:prstGeom prst="roundRect">
            <a:avLst/>
          </a:prstGeom>
          <a:noFill/>
          <a:ln w="38100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FAE80E7-7113-7851-724F-0AFB2EC6DF2F}"/>
              </a:ext>
            </a:extLst>
          </p:cNvPr>
          <p:cNvSpPr/>
          <p:nvPr/>
        </p:nvSpPr>
        <p:spPr>
          <a:xfrm>
            <a:off x="317500" y="3689131"/>
            <a:ext cx="5555155" cy="258554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820845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0FEBCB-F327-2667-6A5A-D652E3EAA9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41078C-BB19-128F-7883-71EE43A700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250031"/>
            <a:ext cx="5172797" cy="1325563"/>
          </a:xfrm>
        </p:spPr>
        <p:txBody>
          <a:bodyPr/>
          <a:lstStyle/>
          <a:p>
            <a:r>
              <a:rPr lang="en-US" dirty="0"/>
              <a:t>Connecting to a remote computer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74B5169E-9D95-A043-D3F3-E6BE20FF359E}"/>
              </a:ext>
            </a:extLst>
          </p:cNvPr>
          <p:cNvGrpSpPr/>
          <p:nvPr/>
        </p:nvGrpSpPr>
        <p:grpSpPr>
          <a:xfrm>
            <a:off x="6181004" y="0"/>
            <a:ext cx="6010996" cy="6858000"/>
            <a:chOff x="3090502" y="0"/>
            <a:chExt cx="6010996" cy="6858000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A3AAC112-0999-900F-1D3B-8B88AE3BA41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090502" y="0"/>
              <a:ext cx="6010996" cy="6858000"/>
            </a:xfrm>
            <a:prstGeom prst="rect">
              <a:avLst/>
            </a:prstGeom>
          </p:spPr>
        </p:pic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E6A21681-0F28-EEA1-BF87-1995B32C202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3206508" y="6392468"/>
              <a:ext cx="2327659" cy="465532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D7202485-F05A-1CEF-D7DE-4886C7FEE40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5333893" y="6375408"/>
              <a:ext cx="1524213" cy="428685"/>
            </a:xfrm>
            <a:prstGeom prst="rect">
              <a:avLst/>
            </a:prstGeom>
          </p:spPr>
        </p:pic>
      </p:grp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D60DF920-6022-3816-B1B9-36A9E663061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7500" y="1825625"/>
            <a:ext cx="5778500" cy="4351338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Use the </a:t>
            </a:r>
            <a:r>
              <a:rPr lang="en-US" dirty="0">
                <a:latin typeface="Consolas" panose="020B0609020204030204" pitchFamily="49" charset="0"/>
              </a:rPr>
              <a:t>ssh</a:t>
            </a:r>
            <a:r>
              <a:rPr lang="en-US" dirty="0"/>
              <a:t> command to connect to a remote computer:</a:t>
            </a:r>
          </a:p>
          <a:p>
            <a:endParaRPr lang="en-US" dirty="0"/>
          </a:p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95000"/>
                  </a:prstClr>
                </a:solidFill>
                <a:effectLst/>
                <a:highlight>
                  <a:srgbClr val="000000"/>
                </a:highlight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ssh &lt;username&gt;@login.rc.fas.harvard.edu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95000"/>
                </a:prstClr>
              </a:solidFill>
              <a:effectLst/>
              <a:highlight>
                <a:srgbClr val="000000"/>
              </a:highlight>
              <a:uLnTx/>
              <a:uFillTx/>
              <a:latin typeface="Aptos" panose="02110004020202020204"/>
              <a:ea typeface="+mn-ea"/>
              <a:cs typeface="+mn-cs"/>
            </a:endParaRPr>
          </a:p>
          <a:p>
            <a:endParaRPr lang="en-US" dirty="0"/>
          </a:p>
          <a:p>
            <a:r>
              <a:rPr lang="en-US" dirty="0"/>
              <a:t>The first time you connect (or if the server updates its keys), you will have to trust the server.</a:t>
            </a:r>
          </a:p>
          <a:p>
            <a:endParaRPr lang="en-US" dirty="0"/>
          </a:p>
          <a:p>
            <a:r>
              <a:rPr lang="en-US" dirty="0"/>
              <a:t>For Cannon, you will need your RC password and two-factor code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18035A13-1407-163C-E313-D386B4B98C3B}"/>
              </a:ext>
            </a:extLst>
          </p:cNvPr>
          <p:cNvSpPr/>
          <p:nvPr/>
        </p:nvSpPr>
        <p:spPr>
          <a:xfrm>
            <a:off x="6261342" y="358440"/>
            <a:ext cx="3221617" cy="232767"/>
          </a:xfrm>
          <a:prstGeom prst="roundRect">
            <a:avLst/>
          </a:prstGeom>
          <a:noFill/>
          <a:ln w="38100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274EAAB-D141-AE71-EDEC-2BA733E567C7}"/>
              </a:ext>
            </a:extLst>
          </p:cNvPr>
          <p:cNvSpPr/>
          <p:nvPr/>
        </p:nvSpPr>
        <p:spPr>
          <a:xfrm>
            <a:off x="317500" y="3689131"/>
            <a:ext cx="5555155" cy="258554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920782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E14849-5803-5748-1EBE-A1BECFD1BD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D7F3EE-B2CA-A443-942C-435A1E0D52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250031"/>
            <a:ext cx="5172797" cy="1325563"/>
          </a:xfrm>
        </p:spPr>
        <p:txBody>
          <a:bodyPr/>
          <a:lstStyle/>
          <a:p>
            <a:r>
              <a:rPr lang="en-US" dirty="0"/>
              <a:t>Connecting to a remote computer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73CA5676-658D-544C-F61A-AB562F04E30A}"/>
              </a:ext>
            </a:extLst>
          </p:cNvPr>
          <p:cNvGrpSpPr/>
          <p:nvPr/>
        </p:nvGrpSpPr>
        <p:grpSpPr>
          <a:xfrm>
            <a:off x="6181004" y="0"/>
            <a:ext cx="6010996" cy="6858000"/>
            <a:chOff x="3090502" y="0"/>
            <a:chExt cx="6010996" cy="6858000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5C5473F9-A218-96FF-69BC-D95D82E9485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090502" y="0"/>
              <a:ext cx="6010996" cy="6858000"/>
            </a:xfrm>
            <a:prstGeom prst="rect">
              <a:avLst/>
            </a:prstGeom>
          </p:spPr>
        </p:pic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D2FF4009-3C4B-EE81-2EB7-1D0E7F24BC5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206508" y="6392468"/>
              <a:ext cx="2327659" cy="465532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400B2669-7ECC-09AE-0EA4-6D3B99DDFAD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333893" y="6375408"/>
              <a:ext cx="1524213" cy="428685"/>
            </a:xfrm>
            <a:prstGeom prst="rect">
              <a:avLst/>
            </a:prstGeom>
          </p:spPr>
        </p:pic>
      </p:grp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40388D8A-7703-66E9-46BA-A4CF98F05F6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7500" y="1825625"/>
            <a:ext cx="5778500" cy="4351338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Use the </a:t>
            </a:r>
            <a:r>
              <a:rPr lang="en-US" dirty="0">
                <a:latin typeface="Consolas" panose="020B0609020204030204" pitchFamily="49" charset="0"/>
              </a:rPr>
              <a:t>ssh</a:t>
            </a:r>
            <a:r>
              <a:rPr lang="en-US" dirty="0"/>
              <a:t> command to connect to a remote computer:</a:t>
            </a:r>
          </a:p>
          <a:p>
            <a:endParaRPr lang="en-US" dirty="0"/>
          </a:p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95000"/>
                  </a:prstClr>
                </a:solidFill>
                <a:effectLst/>
                <a:highlight>
                  <a:srgbClr val="000000"/>
                </a:highlight>
                <a:uLnTx/>
                <a:uFillTx/>
                <a:latin typeface="Consolas" panose="020B0609020204030204" pitchFamily="49" charset="0"/>
                <a:ea typeface="Source Sans Pro" panose="020B0503030403020204" pitchFamily="34" charset="0"/>
                <a:cs typeface="+mn-cs"/>
              </a:rPr>
              <a:t>ssh &lt;username&gt;@login.rc.fas.harvard.edu</a:t>
            </a:r>
            <a:endParaRPr kumimoji="0" lang="en-US" sz="21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95000"/>
                </a:prstClr>
              </a:solidFill>
              <a:effectLst/>
              <a:highlight>
                <a:srgbClr val="000000"/>
              </a:highlight>
              <a:uLnTx/>
              <a:uFillTx/>
              <a:latin typeface="Aptos" panose="02110004020202020204"/>
              <a:ea typeface="Source Sans Pro" panose="020B0503030403020204" pitchFamily="34" charset="0"/>
              <a:cs typeface="+mn-cs"/>
            </a:endParaRPr>
          </a:p>
          <a:p>
            <a:endParaRPr lang="en-US" dirty="0"/>
          </a:p>
          <a:p>
            <a:r>
              <a:rPr lang="en-US" dirty="0"/>
              <a:t>The first time you connect (or if the server updates its keys), you will have to trust the server.</a:t>
            </a:r>
          </a:p>
          <a:p>
            <a:endParaRPr lang="en-US" dirty="0"/>
          </a:p>
          <a:p>
            <a:r>
              <a:rPr lang="en-US" dirty="0"/>
              <a:t>For Cannon, you will need your RC password and two-factor code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7E7F9BEB-5B21-DD09-4EDD-D23816003471}"/>
              </a:ext>
            </a:extLst>
          </p:cNvPr>
          <p:cNvSpPr/>
          <p:nvPr/>
        </p:nvSpPr>
        <p:spPr>
          <a:xfrm>
            <a:off x="6233951" y="484564"/>
            <a:ext cx="5850318" cy="745146"/>
          </a:xfrm>
          <a:prstGeom prst="roundRect">
            <a:avLst/>
          </a:prstGeom>
          <a:noFill/>
          <a:ln w="38100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7877A87-A101-D546-CDD4-32BD19FBEA0A}"/>
              </a:ext>
            </a:extLst>
          </p:cNvPr>
          <p:cNvSpPr/>
          <p:nvPr/>
        </p:nvSpPr>
        <p:spPr>
          <a:xfrm>
            <a:off x="317500" y="5155324"/>
            <a:ext cx="5342321" cy="111935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512300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1A687F-82E1-C8BE-D3A9-4290383BEE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DAC2F4-1D12-7BAB-5D5F-28731A7360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250031"/>
            <a:ext cx="5172797" cy="1325563"/>
          </a:xfrm>
        </p:spPr>
        <p:txBody>
          <a:bodyPr/>
          <a:lstStyle/>
          <a:p>
            <a:r>
              <a:rPr lang="en-US" dirty="0"/>
              <a:t>Connecting to a remote computer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FA270401-4287-8135-37EC-12D01EF6ACB8}"/>
              </a:ext>
            </a:extLst>
          </p:cNvPr>
          <p:cNvGrpSpPr/>
          <p:nvPr/>
        </p:nvGrpSpPr>
        <p:grpSpPr>
          <a:xfrm>
            <a:off x="6181004" y="0"/>
            <a:ext cx="6010996" cy="6858000"/>
            <a:chOff x="3090502" y="0"/>
            <a:chExt cx="6010996" cy="6858000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F49A253C-ED1B-31A3-9D46-24709499B1C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090502" y="0"/>
              <a:ext cx="6010996" cy="6858000"/>
            </a:xfrm>
            <a:prstGeom prst="rect">
              <a:avLst/>
            </a:prstGeom>
          </p:spPr>
        </p:pic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624D88F8-4982-7EE4-E3C8-3E57B917D79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206508" y="6392468"/>
              <a:ext cx="2327659" cy="465532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2C5B6C31-823F-AE3E-8480-25BC567B3C8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333893" y="6375408"/>
              <a:ext cx="1524213" cy="428685"/>
            </a:xfrm>
            <a:prstGeom prst="rect">
              <a:avLst/>
            </a:prstGeom>
          </p:spPr>
        </p:pic>
      </p:grp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22EDA57C-49AE-BBE2-CE9D-A5F3108508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7500" y="1825625"/>
            <a:ext cx="5778500" cy="4351338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Use the </a:t>
            </a:r>
            <a:r>
              <a:rPr lang="en-US" dirty="0">
                <a:latin typeface="Consolas" panose="020B0609020204030204" pitchFamily="49" charset="0"/>
              </a:rPr>
              <a:t>ssh</a:t>
            </a:r>
            <a:r>
              <a:rPr lang="en-US" dirty="0"/>
              <a:t> command to connect to a remote computer:</a:t>
            </a:r>
          </a:p>
          <a:p>
            <a:endParaRPr lang="en-US" dirty="0"/>
          </a:p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95000"/>
                  </a:prstClr>
                </a:solidFill>
                <a:effectLst/>
                <a:highlight>
                  <a:srgbClr val="000000"/>
                </a:highlight>
                <a:uLnTx/>
                <a:uFillTx/>
                <a:latin typeface="Consolas" panose="020B0609020204030204" pitchFamily="49" charset="0"/>
                <a:ea typeface="Source Sans Pro" panose="020B0503030403020204" pitchFamily="34" charset="0"/>
                <a:cs typeface="+mn-cs"/>
              </a:rPr>
              <a:t>ssh &lt;username&gt;@login.rc.fas.harvard.edu</a:t>
            </a:r>
            <a:endParaRPr kumimoji="0" lang="en-US" sz="21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95000"/>
                </a:prstClr>
              </a:solidFill>
              <a:effectLst/>
              <a:highlight>
                <a:srgbClr val="000000"/>
              </a:highlight>
              <a:uLnTx/>
              <a:uFillTx/>
              <a:latin typeface="Aptos" panose="02110004020202020204"/>
              <a:ea typeface="Source Sans Pro" panose="020B0503030403020204" pitchFamily="34" charset="0"/>
              <a:cs typeface="+mn-cs"/>
            </a:endParaRPr>
          </a:p>
          <a:p>
            <a:endParaRPr lang="en-US" dirty="0"/>
          </a:p>
          <a:p>
            <a:r>
              <a:rPr lang="en-US" dirty="0"/>
              <a:t>The first time you connect (or if the server updates its keys), you will have to trust the server.</a:t>
            </a:r>
          </a:p>
          <a:p>
            <a:endParaRPr lang="en-US" dirty="0"/>
          </a:p>
          <a:p>
            <a:r>
              <a:rPr lang="en-US" dirty="0"/>
              <a:t>For Cannon, you will need your RC password and two-factor code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6745D073-AA96-B70A-E7DE-6E2919D8957A}"/>
              </a:ext>
            </a:extLst>
          </p:cNvPr>
          <p:cNvSpPr/>
          <p:nvPr/>
        </p:nvSpPr>
        <p:spPr>
          <a:xfrm>
            <a:off x="6233952" y="1115185"/>
            <a:ext cx="3375131" cy="343125"/>
          </a:xfrm>
          <a:prstGeom prst="roundRect">
            <a:avLst/>
          </a:prstGeom>
          <a:noFill/>
          <a:ln w="38100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755078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AC699E-B2C8-3AFD-BD0A-929AA4776F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8AEDC1-43D6-BECA-F1CE-B5592568A7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250031"/>
            <a:ext cx="5172797" cy="1325563"/>
          </a:xfrm>
        </p:spPr>
        <p:txBody>
          <a:bodyPr/>
          <a:lstStyle/>
          <a:p>
            <a:r>
              <a:rPr lang="en-US" dirty="0"/>
              <a:t>Connecting to a remote computer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ECBA56DA-F4DA-A535-745E-057CAD81A469}"/>
              </a:ext>
            </a:extLst>
          </p:cNvPr>
          <p:cNvGrpSpPr/>
          <p:nvPr/>
        </p:nvGrpSpPr>
        <p:grpSpPr>
          <a:xfrm>
            <a:off x="6181004" y="0"/>
            <a:ext cx="6010996" cy="6858000"/>
            <a:chOff x="3090502" y="0"/>
            <a:chExt cx="6010996" cy="6858000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78DD0528-66FA-AC4F-9A82-8066ED072A2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090502" y="0"/>
              <a:ext cx="6010996" cy="6858000"/>
            </a:xfrm>
            <a:prstGeom prst="rect">
              <a:avLst/>
            </a:prstGeom>
          </p:spPr>
        </p:pic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F9E6441A-0054-18DB-8CDD-2A3434A3B59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206508" y="6392468"/>
              <a:ext cx="2327659" cy="465532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1D1C940D-DA90-F44B-5A04-2119182CCAC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333893" y="6375408"/>
              <a:ext cx="1524213" cy="428685"/>
            </a:xfrm>
            <a:prstGeom prst="rect">
              <a:avLst/>
            </a:prstGeom>
          </p:spPr>
        </p:pic>
      </p:grp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5F9B46E9-8CC7-B71A-3919-032FFD4D8F5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7500" y="1825625"/>
            <a:ext cx="5778500" cy="4351338"/>
          </a:xfrm>
        </p:spPr>
        <p:txBody>
          <a:bodyPr>
            <a:normAutofit/>
          </a:bodyPr>
          <a:lstStyle/>
          <a:p>
            <a:r>
              <a:rPr lang="en-US" dirty="0"/>
              <a:t>Cannon displays an informative welcome message.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440DE28F-609E-4B5F-1D1C-5C93A0B944B9}"/>
              </a:ext>
            </a:extLst>
          </p:cNvPr>
          <p:cNvSpPr/>
          <p:nvPr/>
        </p:nvSpPr>
        <p:spPr>
          <a:xfrm>
            <a:off x="6181004" y="1404031"/>
            <a:ext cx="4247886" cy="4988437"/>
          </a:xfrm>
          <a:prstGeom prst="roundRect">
            <a:avLst>
              <a:gd name="adj" fmla="val 2378"/>
            </a:avLst>
          </a:prstGeom>
          <a:noFill/>
          <a:ln w="38100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87100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2023F8-23AD-77CB-F86B-AA89036E39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032E84-97B9-84B9-04CD-C86CBB960C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250031"/>
            <a:ext cx="5172797" cy="1325563"/>
          </a:xfrm>
        </p:spPr>
        <p:txBody>
          <a:bodyPr/>
          <a:lstStyle/>
          <a:p>
            <a:r>
              <a:rPr lang="en-US" dirty="0"/>
              <a:t>Connecting to a remote computer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81869B80-6503-29F3-E3BD-66CA9C71104F}"/>
              </a:ext>
            </a:extLst>
          </p:cNvPr>
          <p:cNvGrpSpPr/>
          <p:nvPr/>
        </p:nvGrpSpPr>
        <p:grpSpPr>
          <a:xfrm>
            <a:off x="6181004" y="0"/>
            <a:ext cx="6010996" cy="6858000"/>
            <a:chOff x="3090502" y="0"/>
            <a:chExt cx="6010996" cy="6858000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89964529-A256-DC68-9830-0E749BE8262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090502" y="0"/>
              <a:ext cx="6010996" cy="6858000"/>
            </a:xfrm>
            <a:prstGeom prst="rect">
              <a:avLst/>
            </a:prstGeom>
          </p:spPr>
        </p:pic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C02CB478-57AB-BD1D-26D1-35DC3D2CEC4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206508" y="6392468"/>
              <a:ext cx="2327659" cy="465532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F3CDBC44-8206-91E8-0FFC-CD7B91B38A1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333893" y="6375408"/>
              <a:ext cx="1524213" cy="428685"/>
            </a:xfrm>
            <a:prstGeom prst="rect">
              <a:avLst/>
            </a:prstGeom>
          </p:spPr>
        </p:pic>
      </p:grp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8A11DE9E-DC37-84FD-F2B4-959D81914A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7500" y="1825625"/>
            <a:ext cx="5778500" cy="4351338"/>
          </a:xfrm>
        </p:spPr>
        <p:txBody>
          <a:bodyPr>
            <a:normAutofit/>
          </a:bodyPr>
          <a:lstStyle/>
          <a:p>
            <a:r>
              <a:rPr lang="en-US" dirty="0"/>
              <a:t>Cannon displays an informative welcome message.</a:t>
            </a:r>
          </a:p>
          <a:p>
            <a:endParaRPr lang="en-US" dirty="0"/>
          </a:p>
          <a:p>
            <a:r>
              <a:rPr lang="en-US" dirty="0"/>
              <a:t>But you will mostly know you are connected to a server by the changes to the prompt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560BCFCC-4B82-96D3-92D4-4C19BAECDE32}"/>
              </a:ext>
            </a:extLst>
          </p:cNvPr>
          <p:cNvCxnSpPr>
            <a:cxnSpLocks/>
            <a:stCxn id="12" idx="0"/>
          </p:cNvCxnSpPr>
          <p:nvPr/>
        </p:nvCxnSpPr>
        <p:spPr>
          <a:xfrm flipV="1">
            <a:off x="5472892" y="528145"/>
            <a:ext cx="824118" cy="739323"/>
          </a:xfrm>
          <a:prstGeom prst="straightConnector1">
            <a:avLst/>
          </a:prstGeom>
          <a:ln>
            <a:solidFill>
              <a:schemeClr val="accent3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08E18ABC-CBD3-F58D-E9EE-AF1DE4F37F91}"/>
              </a:ext>
            </a:extLst>
          </p:cNvPr>
          <p:cNvSpPr txBox="1"/>
          <p:nvPr/>
        </p:nvSpPr>
        <p:spPr>
          <a:xfrm>
            <a:off x="4558942" y="1267468"/>
            <a:ext cx="1827900" cy="3693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25400">
            <a:solidFill>
              <a:schemeClr val="accent3">
                <a:lumMod val="60000"/>
                <a:lumOff val="40000"/>
              </a:schemeClr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880005"/>
                      <a:gd name="csY0" fmla="*/ 0 h 369332"/>
                      <a:gd name="csX1" fmla="*/ 457603 w 880005"/>
                      <a:gd name="csY1" fmla="*/ 0 h 369332"/>
                      <a:gd name="csX2" fmla="*/ 880005 w 880005"/>
                      <a:gd name="csY2" fmla="*/ 0 h 369332"/>
                      <a:gd name="csX3" fmla="*/ 880005 w 880005"/>
                      <a:gd name="csY3" fmla="*/ 369332 h 369332"/>
                      <a:gd name="csX4" fmla="*/ 448803 w 880005"/>
                      <a:gd name="csY4" fmla="*/ 369332 h 369332"/>
                      <a:gd name="csX5" fmla="*/ 0 w 880005"/>
                      <a:gd name="csY5" fmla="*/ 369332 h 369332"/>
                      <a:gd name="csX6" fmla="*/ 0 w 880005"/>
                      <a:gd name="csY6" fmla="*/ 0 h 36933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880005" h="369332" fill="none" extrusionOk="0">
                        <a:moveTo>
                          <a:pt x="0" y="0"/>
                        </a:moveTo>
                        <a:cubicBezTo>
                          <a:pt x="201900" y="-37713"/>
                          <a:pt x="351525" y="28891"/>
                          <a:pt x="457603" y="0"/>
                        </a:cubicBezTo>
                        <a:cubicBezTo>
                          <a:pt x="563681" y="-28891"/>
                          <a:pt x="722276" y="45370"/>
                          <a:pt x="880005" y="0"/>
                        </a:cubicBezTo>
                        <a:cubicBezTo>
                          <a:pt x="881535" y="150881"/>
                          <a:pt x="877252" y="222968"/>
                          <a:pt x="880005" y="369332"/>
                        </a:cubicBezTo>
                        <a:cubicBezTo>
                          <a:pt x="708206" y="372227"/>
                          <a:pt x="628419" y="331255"/>
                          <a:pt x="448803" y="369332"/>
                        </a:cubicBezTo>
                        <a:cubicBezTo>
                          <a:pt x="269187" y="407409"/>
                          <a:pt x="91315" y="362225"/>
                          <a:pt x="0" y="369332"/>
                        </a:cubicBezTo>
                        <a:cubicBezTo>
                          <a:pt x="-23840" y="235268"/>
                          <a:pt x="5511" y="129660"/>
                          <a:pt x="0" y="0"/>
                        </a:cubicBezTo>
                        <a:close/>
                      </a:path>
                      <a:path w="880005" h="369332" stroke="0" extrusionOk="0">
                        <a:moveTo>
                          <a:pt x="0" y="0"/>
                        </a:moveTo>
                        <a:cubicBezTo>
                          <a:pt x="142253" y="-32936"/>
                          <a:pt x="247997" y="27122"/>
                          <a:pt x="431202" y="0"/>
                        </a:cubicBezTo>
                        <a:cubicBezTo>
                          <a:pt x="614407" y="-27122"/>
                          <a:pt x="677258" y="29720"/>
                          <a:pt x="880005" y="0"/>
                        </a:cubicBezTo>
                        <a:cubicBezTo>
                          <a:pt x="907968" y="78977"/>
                          <a:pt x="849581" y="271296"/>
                          <a:pt x="880005" y="369332"/>
                        </a:cubicBezTo>
                        <a:cubicBezTo>
                          <a:pt x="724165" y="412455"/>
                          <a:pt x="639134" y="357050"/>
                          <a:pt x="440003" y="369332"/>
                        </a:cubicBezTo>
                        <a:cubicBezTo>
                          <a:pt x="240872" y="381614"/>
                          <a:pt x="202949" y="346116"/>
                          <a:pt x="0" y="369332"/>
                        </a:cubicBezTo>
                        <a:cubicBezTo>
                          <a:pt x="-6017" y="217080"/>
                          <a:pt x="5246" y="88445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Local user name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46BF947D-4D70-C964-C08A-A7C855E4A2C8}"/>
              </a:ext>
            </a:extLst>
          </p:cNvPr>
          <p:cNvCxnSpPr>
            <a:cxnSpLocks/>
            <a:stCxn id="15" idx="0"/>
          </p:cNvCxnSpPr>
          <p:nvPr/>
        </p:nvCxnSpPr>
        <p:spPr>
          <a:xfrm flipH="1" flipV="1">
            <a:off x="6813394" y="528145"/>
            <a:ext cx="428109" cy="1297480"/>
          </a:xfrm>
          <a:prstGeom prst="straightConnector1">
            <a:avLst/>
          </a:prstGeom>
          <a:ln>
            <a:solidFill>
              <a:schemeClr val="accent3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876D9C85-C60C-BD61-A81C-C04694ADCF38}"/>
              </a:ext>
            </a:extLst>
          </p:cNvPr>
          <p:cNvSpPr txBox="1"/>
          <p:nvPr/>
        </p:nvSpPr>
        <p:spPr>
          <a:xfrm>
            <a:off x="6327553" y="1825625"/>
            <a:ext cx="1827900" cy="64633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25400">
            <a:solidFill>
              <a:schemeClr val="accent3">
                <a:lumMod val="60000"/>
                <a:lumOff val="40000"/>
              </a:schemeClr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880005"/>
                      <a:gd name="csY0" fmla="*/ 0 h 369332"/>
                      <a:gd name="csX1" fmla="*/ 457603 w 880005"/>
                      <a:gd name="csY1" fmla="*/ 0 h 369332"/>
                      <a:gd name="csX2" fmla="*/ 880005 w 880005"/>
                      <a:gd name="csY2" fmla="*/ 0 h 369332"/>
                      <a:gd name="csX3" fmla="*/ 880005 w 880005"/>
                      <a:gd name="csY3" fmla="*/ 369332 h 369332"/>
                      <a:gd name="csX4" fmla="*/ 448803 w 880005"/>
                      <a:gd name="csY4" fmla="*/ 369332 h 369332"/>
                      <a:gd name="csX5" fmla="*/ 0 w 880005"/>
                      <a:gd name="csY5" fmla="*/ 369332 h 369332"/>
                      <a:gd name="csX6" fmla="*/ 0 w 880005"/>
                      <a:gd name="csY6" fmla="*/ 0 h 36933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880005" h="369332" fill="none" extrusionOk="0">
                        <a:moveTo>
                          <a:pt x="0" y="0"/>
                        </a:moveTo>
                        <a:cubicBezTo>
                          <a:pt x="201900" y="-37713"/>
                          <a:pt x="351525" y="28891"/>
                          <a:pt x="457603" y="0"/>
                        </a:cubicBezTo>
                        <a:cubicBezTo>
                          <a:pt x="563681" y="-28891"/>
                          <a:pt x="722276" y="45370"/>
                          <a:pt x="880005" y="0"/>
                        </a:cubicBezTo>
                        <a:cubicBezTo>
                          <a:pt x="881535" y="150881"/>
                          <a:pt x="877252" y="222968"/>
                          <a:pt x="880005" y="369332"/>
                        </a:cubicBezTo>
                        <a:cubicBezTo>
                          <a:pt x="708206" y="372227"/>
                          <a:pt x="628419" y="331255"/>
                          <a:pt x="448803" y="369332"/>
                        </a:cubicBezTo>
                        <a:cubicBezTo>
                          <a:pt x="269187" y="407409"/>
                          <a:pt x="91315" y="362225"/>
                          <a:pt x="0" y="369332"/>
                        </a:cubicBezTo>
                        <a:cubicBezTo>
                          <a:pt x="-23840" y="235268"/>
                          <a:pt x="5511" y="129660"/>
                          <a:pt x="0" y="0"/>
                        </a:cubicBezTo>
                        <a:close/>
                      </a:path>
                      <a:path w="880005" h="369332" stroke="0" extrusionOk="0">
                        <a:moveTo>
                          <a:pt x="0" y="0"/>
                        </a:moveTo>
                        <a:cubicBezTo>
                          <a:pt x="142253" y="-32936"/>
                          <a:pt x="247997" y="27122"/>
                          <a:pt x="431202" y="0"/>
                        </a:cubicBezTo>
                        <a:cubicBezTo>
                          <a:pt x="614407" y="-27122"/>
                          <a:pt x="677258" y="29720"/>
                          <a:pt x="880005" y="0"/>
                        </a:cubicBezTo>
                        <a:cubicBezTo>
                          <a:pt x="907968" y="78977"/>
                          <a:pt x="849581" y="271296"/>
                          <a:pt x="880005" y="369332"/>
                        </a:cubicBezTo>
                        <a:cubicBezTo>
                          <a:pt x="724165" y="412455"/>
                          <a:pt x="639134" y="357050"/>
                          <a:pt x="440003" y="369332"/>
                        </a:cubicBezTo>
                        <a:cubicBezTo>
                          <a:pt x="240872" y="381614"/>
                          <a:pt x="202949" y="346116"/>
                          <a:pt x="0" y="369332"/>
                        </a:cubicBezTo>
                        <a:cubicBezTo>
                          <a:pt x="-6017" y="217080"/>
                          <a:pt x="5246" y="88445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Local computer (host) name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3793A32F-96D3-DF30-1601-8482411840D6}"/>
              </a:ext>
            </a:extLst>
          </p:cNvPr>
          <p:cNvCxnSpPr>
            <a:cxnSpLocks/>
            <a:stCxn id="17" idx="1"/>
          </p:cNvCxnSpPr>
          <p:nvPr/>
        </p:nvCxnSpPr>
        <p:spPr>
          <a:xfrm flipH="1" flipV="1">
            <a:off x="7027448" y="465083"/>
            <a:ext cx="1482094" cy="648846"/>
          </a:xfrm>
          <a:prstGeom prst="straightConnector1">
            <a:avLst/>
          </a:prstGeom>
          <a:ln>
            <a:solidFill>
              <a:schemeClr val="accent3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13FA358B-CBD9-66DF-BFBE-3F4C66E630EE}"/>
              </a:ext>
            </a:extLst>
          </p:cNvPr>
          <p:cNvSpPr txBox="1"/>
          <p:nvPr/>
        </p:nvSpPr>
        <p:spPr>
          <a:xfrm>
            <a:off x="8509542" y="652264"/>
            <a:ext cx="1827900" cy="92333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25400">
            <a:solidFill>
              <a:schemeClr val="accent3">
                <a:lumMod val="60000"/>
                <a:lumOff val="40000"/>
              </a:schemeClr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880005"/>
                      <a:gd name="csY0" fmla="*/ 0 h 369332"/>
                      <a:gd name="csX1" fmla="*/ 457603 w 880005"/>
                      <a:gd name="csY1" fmla="*/ 0 h 369332"/>
                      <a:gd name="csX2" fmla="*/ 880005 w 880005"/>
                      <a:gd name="csY2" fmla="*/ 0 h 369332"/>
                      <a:gd name="csX3" fmla="*/ 880005 w 880005"/>
                      <a:gd name="csY3" fmla="*/ 369332 h 369332"/>
                      <a:gd name="csX4" fmla="*/ 448803 w 880005"/>
                      <a:gd name="csY4" fmla="*/ 369332 h 369332"/>
                      <a:gd name="csX5" fmla="*/ 0 w 880005"/>
                      <a:gd name="csY5" fmla="*/ 369332 h 369332"/>
                      <a:gd name="csX6" fmla="*/ 0 w 880005"/>
                      <a:gd name="csY6" fmla="*/ 0 h 36933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880005" h="369332" fill="none" extrusionOk="0">
                        <a:moveTo>
                          <a:pt x="0" y="0"/>
                        </a:moveTo>
                        <a:cubicBezTo>
                          <a:pt x="201900" y="-37713"/>
                          <a:pt x="351525" y="28891"/>
                          <a:pt x="457603" y="0"/>
                        </a:cubicBezTo>
                        <a:cubicBezTo>
                          <a:pt x="563681" y="-28891"/>
                          <a:pt x="722276" y="45370"/>
                          <a:pt x="880005" y="0"/>
                        </a:cubicBezTo>
                        <a:cubicBezTo>
                          <a:pt x="881535" y="150881"/>
                          <a:pt x="877252" y="222968"/>
                          <a:pt x="880005" y="369332"/>
                        </a:cubicBezTo>
                        <a:cubicBezTo>
                          <a:pt x="708206" y="372227"/>
                          <a:pt x="628419" y="331255"/>
                          <a:pt x="448803" y="369332"/>
                        </a:cubicBezTo>
                        <a:cubicBezTo>
                          <a:pt x="269187" y="407409"/>
                          <a:pt x="91315" y="362225"/>
                          <a:pt x="0" y="369332"/>
                        </a:cubicBezTo>
                        <a:cubicBezTo>
                          <a:pt x="-23840" y="235268"/>
                          <a:pt x="5511" y="129660"/>
                          <a:pt x="0" y="0"/>
                        </a:cubicBezTo>
                        <a:close/>
                      </a:path>
                      <a:path w="880005" h="369332" stroke="0" extrusionOk="0">
                        <a:moveTo>
                          <a:pt x="0" y="0"/>
                        </a:moveTo>
                        <a:cubicBezTo>
                          <a:pt x="142253" y="-32936"/>
                          <a:pt x="247997" y="27122"/>
                          <a:pt x="431202" y="0"/>
                        </a:cubicBezTo>
                        <a:cubicBezTo>
                          <a:pt x="614407" y="-27122"/>
                          <a:pt x="677258" y="29720"/>
                          <a:pt x="880005" y="0"/>
                        </a:cubicBezTo>
                        <a:cubicBezTo>
                          <a:pt x="907968" y="78977"/>
                          <a:pt x="849581" y="271296"/>
                          <a:pt x="880005" y="369332"/>
                        </a:cubicBezTo>
                        <a:cubicBezTo>
                          <a:pt x="724165" y="412455"/>
                          <a:pt x="639134" y="357050"/>
                          <a:pt x="440003" y="369332"/>
                        </a:cubicBezTo>
                        <a:cubicBezTo>
                          <a:pt x="240872" y="381614"/>
                          <a:pt x="202949" y="346116"/>
                          <a:pt x="0" y="369332"/>
                        </a:cubicBezTo>
                        <a:cubicBezTo>
                          <a:pt x="-6017" y="217080"/>
                          <a:pt x="5246" y="88445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Local working directory</a:t>
            </a:r>
          </a:p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(in many shells, </a:t>
            </a:r>
            <a:r>
              <a:rPr lang="en-US" sz="900" dirty="0">
                <a:latin typeface="Consolas" panose="020B0609020204030204" pitchFamily="49" charset="0"/>
                <a:ea typeface="Source Sans Pro" panose="020B0503030403020204" pitchFamily="34" charset="0"/>
              </a:rPr>
              <a:t>~</a:t>
            </a:r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is a shortcut for the current user’s home directory)</a:t>
            </a: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DB531B96-F898-3201-ACBC-962C74D174F9}"/>
              </a:ext>
            </a:extLst>
          </p:cNvPr>
          <p:cNvCxnSpPr>
            <a:cxnSpLocks/>
            <a:stCxn id="27" idx="3"/>
          </p:cNvCxnSpPr>
          <p:nvPr/>
        </p:nvCxnSpPr>
        <p:spPr>
          <a:xfrm>
            <a:off x="5369973" y="6375408"/>
            <a:ext cx="957580" cy="90706"/>
          </a:xfrm>
          <a:prstGeom prst="straightConnector1">
            <a:avLst/>
          </a:prstGeom>
          <a:ln>
            <a:solidFill>
              <a:schemeClr val="accent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B041FB51-B1A8-53E6-AC2A-4C7D813AE4FB}"/>
              </a:ext>
            </a:extLst>
          </p:cNvPr>
          <p:cNvSpPr txBox="1"/>
          <p:nvPr/>
        </p:nvSpPr>
        <p:spPr>
          <a:xfrm>
            <a:off x="3318726" y="6190742"/>
            <a:ext cx="2051247" cy="3693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25400">
            <a:solidFill>
              <a:schemeClr val="accent5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880005"/>
                      <a:gd name="csY0" fmla="*/ 0 h 369332"/>
                      <a:gd name="csX1" fmla="*/ 457603 w 880005"/>
                      <a:gd name="csY1" fmla="*/ 0 h 369332"/>
                      <a:gd name="csX2" fmla="*/ 880005 w 880005"/>
                      <a:gd name="csY2" fmla="*/ 0 h 369332"/>
                      <a:gd name="csX3" fmla="*/ 880005 w 880005"/>
                      <a:gd name="csY3" fmla="*/ 369332 h 369332"/>
                      <a:gd name="csX4" fmla="*/ 448803 w 880005"/>
                      <a:gd name="csY4" fmla="*/ 369332 h 369332"/>
                      <a:gd name="csX5" fmla="*/ 0 w 880005"/>
                      <a:gd name="csY5" fmla="*/ 369332 h 369332"/>
                      <a:gd name="csX6" fmla="*/ 0 w 880005"/>
                      <a:gd name="csY6" fmla="*/ 0 h 36933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880005" h="369332" fill="none" extrusionOk="0">
                        <a:moveTo>
                          <a:pt x="0" y="0"/>
                        </a:moveTo>
                        <a:cubicBezTo>
                          <a:pt x="201900" y="-37713"/>
                          <a:pt x="351525" y="28891"/>
                          <a:pt x="457603" y="0"/>
                        </a:cubicBezTo>
                        <a:cubicBezTo>
                          <a:pt x="563681" y="-28891"/>
                          <a:pt x="722276" y="45370"/>
                          <a:pt x="880005" y="0"/>
                        </a:cubicBezTo>
                        <a:cubicBezTo>
                          <a:pt x="881535" y="150881"/>
                          <a:pt x="877252" y="222968"/>
                          <a:pt x="880005" y="369332"/>
                        </a:cubicBezTo>
                        <a:cubicBezTo>
                          <a:pt x="708206" y="372227"/>
                          <a:pt x="628419" y="331255"/>
                          <a:pt x="448803" y="369332"/>
                        </a:cubicBezTo>
                        <a:cubicBezTo>
                          <a:pt x="269187" y="407409"/>
                          <a:pt x="91315" y="362225"/>
                          <a:pt x="0" y="369332"/>
                        </a:cubicBezTo>
                        <a:cubicBezTo>
                          <a:pt x="-23840" y="235268"/>
                          <a:pt x="5511" y="129660"/>
                          <a:pt x="0" y="0"/>
                        </a:cubicBezTo>
                        <a:close/>
                      </a:path>
                      <a:path w="880005" h="369332" stroke="0" extrusionOk="0">
                        <a:moveTo>
                          <a:pt x="0" y="0"/>
                        </a:moveTo>
                        <a:cubicBezTo>
                          <a:pt x="142253" y="-32936"/>
                          <a:pt x="247997" y="27122"/>
                          <a:pt x="431202" y="0"/>
                        </a:cubicBezTo>
                        <a:cubicBezTo>
                          <a:pt x="614407" y="-27122"/>
                          <a:pt x="677258" y="29720"/>
                          <a:pt x="880005" y="0"/>
                        </a:cubicBezTo>
                        <a:cubicBezTo>
                          <a:pt x="907968" y="78977"/>
                          <a:pt x="849581" y="271296"/>
                          <a:pt x="880005" y="369332"/>
                        </a:cubicBezTo>
                        <a:cubicBezTo>
                          <a:pt x="724165" y="412455"/>
                          <a:pt x="639134" y="357050"/>
                          <a:pt x="440003" y="369332"/>
                        </a:cubicBezTo>
                        <a:cubicBezTo>
                          <a:pt x="240872" y="381614"/>
                          <a:pt x="202949" y="346116"/>
                          <a:pt x="0" y="369332"/>
                        </a:cubicBezTo>
                        <a:cubicBezTo>
                          <a:pt x="-6017" y="217080"/>
                          <a:pt x="5246" y="88445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Remote user name</a:t>
            </a: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F622991F-9042-B3E8-EC1D-3708F4D7973E}"/>
              </a:ext>
            </a:extLst>
          </p:cNvPr>
          <p:cNvCxnSpPr>
            <a:cxnSpLocks/>
            <a:stCxn id="29" idx="2"/>
          </p:cNvCxnSpPr>
          <p:nvPr/>
        </p:nvCxnSpPr>
        <p:spPr>
          <a:xfrm>
            <a:off x="6473916" y="5789586"/>
            <a:ext cx="610172" cy="602882"/>
          </a:xfrm>
          <a:prstGeom prst="straightConnector1">
            <a:avLst/>
          </a:prstGeom>
          <a:ln>
            <a:solidFill>
              <a:schemeClr val="accent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6881FED2-9ACC-34B4-F4AC-9574EBD87A57}"/>
              </a:ext>
            </a:extLst>
          </p:cNvPr>
          <p:cNvSpPr txBox="1"/>
          <p:nvPr/>
        </p:nvSpPr>
        <p:spPr>
          <a:xfrm>
            <a:off x="5490297" y="5143255"/>
            <a:ext cx="1967237" cy="646331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25400">
            <a:solidFill>
              <a:schemeClr val="accent5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880005"/>
                      <a:gd name="csY0" fmla="*/ 0 h 369332"/>
                      <a:gd name="csX1" fmla="*/ 457603 w 880005"/>
                      <a:gd name="csY1" fmla="*/ 0 h 369332"/>
                      <a:gd name="csX2" fmla="*/ 880005 w 880005"/>
                      <a:gd name="csY2" fmla="*/ 0 h 369332"/>
                      <a:gd name="csX3" fmla="*/ 880005 w 880005"/>
                      <a:gd name="csY3" fmla="*/ 369332 h 369332"/>
                      <a:gd name="csX4" fmla="*/ 448803 w 880005"/>
                      <a:gd name="csY4" fmla="*/ 369332 h 369332"/>
                      <a:gd name="csX5" fmla="*/ 0 w 880005"/>
                      <a:gd name="csY5" fmla="*/ 369332 h 369332"/>
                      <a:gd name="csX6" fmla="*/ 0 w 880005"/>
                      <a:gd name="csY6" fmla="*/ 0 h 36933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880005" h="369332" fill="none" extrusionOk="0">
                        <a:moveTo>
                          <a:pt x="0" y="0"/>
                        </a:moveTo>
                        <a:cubicBezTo>
                          <a:pt x="201900" y="-37713"/>
                          <a:pt x="351525" y="28891"/>
                          <a:pt x="457603" y="0"/>
                        </a:cubicBezTo>
                        <a:cubicBezTo>
                          <a:pt x="563681" y="-28891"/>
                          <a:pt x="722276" y="45370"/>
                          <a:pt x="880005" y="0"/>
                        </a:cubicBezTo>
                        <a:cubicBezTo>
                          <a:pt x="881535" y="150881"/>
                          <a:pt x="877252" y="222968"/>
                          <a:pt x="880005" y="369332"/>
                        </a:cubicBezTo>
                        <a:cubicBezTo>
                          <a:pt x="708206" y="372227"/>
                          <a:pt x="628419" y="331255"/>
                          <a:pt x="448803" y="369332"/>
                        </a:cubicBezTo>
                        <a:cubicBezTo>
                          <a:pt x="269187" y="407409"/>
                          <a:pt x="91315" y="362225"/>
                          <a:pt x="0" y="369332"/>
                        </a:cubicBezTo>
                        <a:cubicBezTo>
                          <a:pt x="-23840" y="235268"/>
                          <a:pt x="5511" y="129660"/>
                          <a:pt x="0" y="0"/>
                        </a:cubicBezTo>
                        <a:close/>
                      </a:path>
                      <a:path w="880005" h="369332" stroke="0" extrusionOk="0">
                        <a:moveTo>
                          <a:pt x="0" y="0"/>
                        </a:moveTo>
                        <a:cubicBezTo>
                          <a:pt x="142253" y="-32936"/>
                          <a:pt x="247997" y="27122"/>
                          <a:pt x="431202" y="0"/>
                        </a:cubicBezTo>
                        <a:cubicBezTo>
                          <a:pt x="614407" y="-27122"/>
                          <a:pt x="677258" y="29720"/>
                          <a:pt x="880005" y="0"/>
                        </a:cubicBezTo>
                        <a:cubicBezTo>
                          <a:pt x="907968" y="78977"/>
                          <a:pt x="849581" y="271296"/>
                          <a:pt x="880005" y="369332"/>
                        </a:cubicBezTo>
                        <a:cubicBezTo>
                          <a:pt x="724165" y="412455"/>
                          <a:pt x="639134" y="357050"/>
                          <a:pt x="440003" y="369332"/>
                        </a:cubicBezTo>
                        <a:cubicBezTo>
                          <a:pt x="240872" y="381614"/>
                          <a:pt x="202949" y="346116"/>
                          <a:pt x="0" y="369332"/>
                        </a:cubicBezTo>
                        <a:cubicBezTo>
                          <a:pt x="-6017" y="217080"/>
                          <a:pt x="5246" y="88445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Remote computer (host) name</a:t>
            </a:r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E6D26356-7A6F-BA91-8F6A-34C8E0ADFD57}"/>
              </a:ext>
            </a:extLst>
          </p:cNvPr>
          <p:cNvCxnSpPr>
            <a:cxnSpLocks/>
            <a:stCxn id="31" idx="1"/>
          </p:cNvCxnSpPr>
          <p:nvPr/>
        </p:nvCxnSpPr>
        <p:spPr>
          <a:xfrm flipH="1">
            <a:off x="7565108" y="5604920"/>
            <a:ext cx="664668" cy="810732"/>
          </a:xfrm>
          <a:prstGeom prst="straightConnector1">
            <a:avLst/>
          </a:prstGeom>
          <a:ln>
            <a:solidFill>
              <a:schemeClr val="accent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3793C433-07CE-A876-613E-FB40B1BE421E}"/>
              </a:ext>
            </a:extLst>
          </p:cNvPr>
          <p:cNvSpPr txBox="1"/>
          <p:nvPr/>
        </p:nvSpPr>
        <p:spPr>
          <a:xfrm>
            <a:off x="8229776" y="5143255"/>
            <a:ext cx="1827900" cy="92333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25400">
            <a:solidFill>
              <a:schemeClr val="accent5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880005"/>
                      <a:gd name="csY0" fmla="*/ 0 h 369332"/>
                      <a:gd name="csX1" fmla="*/ 457603 w 880005"/>
                      <a:gd name="csY1" fmla="*/ 0 h 369332"/>
                      <a:gd name="csX2" fmla="*/ 880005 w 880005"/>
                      <a:gd name="csY2" fmla="*/ 0 h 369332"/>
                      <a:gd name="csX3" fmla="*/ 880005 w 880005"/>
                      <a:gd name="csY3" fmla="*/ 369332 h 369332"/>
                      <a:gd name="csX4" fmla="*/ 448803 w 880005"/>
                      <a:gd name="csY4" fmla="*/ 369332 h 369332"/>
                      <a:gd name="csX5" fmla="*/ 0 w 880005"/>
                      <a:gd name="csY5" fmla="*/ 369332 h 369332"/>
                      <a:gd name="csX6" fmla="*/ 0 w 880005"/>
                      <a:gd name="csY6" fmla="*/ 0 h 36933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880005" h="369332" fill="none" extrusionOk="0">
                        <a:moveTo>
                          <a:pt x="0" y="0"/>
                        </a:moveTo>
                        <a:cubicBezTo>
                          <a:pt x="201900" y="-37713"/>
                          <a:pt x="351525" y="28891"/>
                          <a:pt x="457603" y="0"/>
                        </a:cubicBezTo>
                        <a:cubicBezTo>
                          <a:pt x="563681" y="-28891"/>
                          <a:pt x="722276" y="45370"/>
                          <a:pt x="880005" y="0"/>
                        </a:cubicBezTo>
                        <a:cubicBezTo>
                          <a:pt x="881535" y="150881"/>
                          <a:pt x="877252" y="222968"/>
                          <a:pt x="880005" y="369332"/>
                        </a:cubicBezTo>
                        <a:cubicBezTo>
                          <a:pt x="708206" y="372227"/>
                          <a:pt x="628419" y="331255"/>
                          <a:pt x="448803" y="369332"/>
                        </a:cubicBezTo>
                        <a:cubicBezTo>
                          <a:pt x="269187" y="407409"/>
                          <a:pt x="91315" y="362225"/>
                          <a:pt x="0" y="369332"/>
                        </a:cubicBezTo>
                        <a:cubicBezTo>
                          <a:pt x="-23840" y="235268"/>
                          <a:pt x="5511" y="129660"/>
                          <a:pt x="0" y="0"/>
                        </a:cubicBezTo>
                        <a:close/>
                      </a:path>
                      <a:path w="880005" h="369332" stroke="0" extrusionOk="0">
                        <a:moveTo>
                          <a:pt x="0" y="0"/>
                        </a:moveTo>
                        <a:cubicBezTo>
                          <a:pt x="142253" y="-32936"/>
                          <a:pt x="247997" y="27122"/>
                          <a:pt x="431202" y="0"/>
                        </a:cubicBezTo>
                        <a:cubicBezTo>
                          <a:pt x="614407" y="-27122"/>
                          <a:pt x="677258" y="29720"/>
                          <a:pt x="880005" y="0"/>
                        </a:cubicBezTo>
                        <a:cubicBezTo>
                          <a:pt x="907968" y="78977"/>
                          <a:pt x="849581" y="271296"/>
                          <a:pt x="880005" y="369332"/>
                        </a:cubicBezTo>
                        <a:cubicBezTo>
                          <a:pt x="724165" y="412455"/>
                          <a:pt x="639134" y="357050"/>
                          <a:pt x="440003" y="369332"/>
                        </a:cubicBezTo>
                        <a:cubicBezTo>
                          <a:pt x="240872" y="381614"/>
                          <a:pt x="202949" y="346116"/>
                          <a:pt x="0" y="369332"/>
                        </a:cubicBezTo>
                        <a:cubicBezTo>
                          <a:pt x="-6017" y="217080"/>
                          <a:pt x="5246" y="88445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Remote working directory</a:t>
            </a:r>
          </a:p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(in many shells, </a:t>
            </a:r>
            <a:r>
              <a:rPr lang="en-US" sz="900" dirty="0">
                <a:latin typeface="Consolas" panose="020B0609020204030204" pitchFamily="49" charset="0"/>
                <a:ea typeface="Source Sans Pro" panose="020B0503030403020204" pitchFamily="34" charset="0"/>
              </a:rPr>
              <a:t>~</a:t>
            </a:r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is a shortcut for the current user’s home directory)</a:t>
            </a:r>
          </a:p>
        </p:txBody>
      </p:sp>
    </p:spTree>
    <p:extLst>
      <p:ext uri="{BB962C8B-B14F-4D97-AF65-F5344CB8AC3E}">
        <p14:creationId xmlns:p14="http://schemas.microsoft.com/office/powerpoint/2010/main" val="7185874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2DF39C-3CDE-D799-B316-11D1C030C5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>
            <a:extLst>
              <a:ext uri="{FF2B5EF4-FFF2-40B4-BE49-F238E27FC236}">
                <a16:creationId xmlns:a16="http://schemas.microsoft.com/office/drawing/2014/main" id="{ECA697CB-DAFA-25C5-CD14-DD59129FBE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10018" y="0"/>
            <a:ext cx="6281982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4D7B049-5408-B5E7-2B8C-FF3F1FEBEF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250031"/>
            <a:ext cx="5172797" cy="1325563"/>
          </a:xfrm>
        </p:spPr>
        <p:txBody>
          <a:bodyPr/>
          <a:lstStyle/>
          <a:p>
            <a:r>
              <a:rPr lang="en-US" dirty="0"/>
              <a:t>How to connect to a particular login node</a:t>
            </a:r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68CBCAE4-AAD2-7993-8AFC-891B87F917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7500" y="1825625"/>
            <a:ext cx="5778500" cy="4351338"/>
          </a:xfrm>
        </p:spPr>
        <p:txBody>
          <a:bodyPr>
            <a:normAutofit/>
          </a:bodyPr>
          <a:lstStyle/>
          <a:p>
            <a:r>
              <a:rPr lang="en-US" dirty="0"/>
              <a:t>Use the </a:t>
            </a:r>
            <a:r>
              <a:rPr lang="en-US" dirty="0">
                <a:latin typeface="Consolas" panose="020B0609020204030204" pitchFamily="49" charset="0"/>
              </a:rPr>
              <a:t>ssh</a:t>
            </a:r>
            <a:r>
              <a:rPr lang="en-US" dirty="0"/>
              <a:t> command to connect to a remote computer:</a:t>
            </a:r>
          </a:p>
          <a:p>
            <a:endParaRPr lang="en-US" dirty="0"/>
          </a:p>
          <a:p>
            <a:pPr algn="ctr"/>
            <a:r>
              <a:rPr lang="en-US" sz="1400" dirty="0">
                <a:solidFill>
                  <a:schemeClr val="bg1">
                    <a:lumMod val="95000"/>
                  </a:schemeClr>
                </a:solidFill>
                <a:highlight>
                  <a:srgbClr val="000000"/>
                </a:highlight>
                <a:latin typeface="Consolas" panose="020B0609020204030204" pitchFamily="49" charset="0"/>
              </a:rPr>
              <a:t>ssh &lt;username&gt;@login.rc.fas.harvard.edu</a:t>
            </a:r>
            <a:endParaRPr lang="en-US" sz="1400" dirty="0"/>
          </a:p>
          <a:p>
            <a:endParaRPr lang="en-US" dirty="0"/>
          </a:p>
          <a:p>
            <a:endParaRPr lang="en-US" dirty="0"/>
          </a:p>
          <a:p>
            <a:pPr marL="0" indent="0" algn="ctr">
              <a:buNone/>
            </a:pPr>
            <a:r>
              <a:rPr lang="en-US" sz="1400" dirty="0">
                <a:solidFill>
                  <a:schemeClr val="bg1">
                    <a:lumMod val="95000"/>
                  </a:schemeClr>
                </a:solidFill>
                <a:highlight>
                  <a:srgbClr val="000000"/>
                </a:highlight>
                <a:latin typeface="Consolas" panose="020B0609020204030204" pitchFamily="49" charset="0"/>
              </a:rPr>
              <a:t>ssh &lt;username&gt;@&lt;login node name&gt;.rc.fas.harvard.edu</a:t>
            </a:r>
            <a:endParaRPr lang="en-US" sz="1400" dirty="0">
              <a:solidFill>
                <a:schemeClr val="bg1">
                  <a:lumMod val="95000"/>
                </a:schemeClr>
              </a:solidFill>
              <a:highlight>
                <a:srgbClr val="000000"/>
              </a:highlight>
            </a:endParaRP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4A519009-705E-0D7A-85DE-FCFD961F2544}"/>
              </a:ext>
            </a:extLst>
          </p:cNvPr>
          <p:cNvSpPr/>
          <p:nvPr/>
        </p:nvSpPr>
        <p:spPr>
          <a:xfrm>
            <a:off x="6521646" y="325068"/>
            <a:ext cx="3221617" cy="232767"/>
          </a:xfrm>
          <a:prstGeom prst="roundRect">
            <a:avLst/>
          </a:prstGeom>
          <a:noFill/>
          <a:ln w="38100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Arrow: Down 2">
            <a:extLst>
              <a:ext uri="{FF2B5EF4-FFF2-40B4-BE49-F238E27FC236}">
                <a16:creationId xmlns:a16="http://schemas.microsoft.com/office/drawing/2014/main" id="{AB5A368A-A594-A26A-7871-1D2F45E9EEA2}"/>
              </a:ext>
            </a:extLst>
          </p:cNvPr>
          <p:cNvSpPr/>
          <p:nvPr/>
        </p:nvSpPr>
        <p:spPr>
          <a:xfrm>
            <a:off x="3206750" y="3604164"/>
            <a:ext cx="166861" cy="794260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E8B53040-076A-0699-E4CC-6FCA9187CB13}"/>
              </a:ext>
            </a:extLst>
          </p:cNvPr>
          <p:cNvSpPr/>
          <p:nvPr/>
        </p:nvSpPr>
        <p:spPr>
          <a:xfrm>
            <a:off x="2135418" y="4588930"/>
            <a:ext cx="1715741" cy="232767"/>
          </a:xfrm>
          <a:prstGeom prst="roundRect">
            <a:avLst/>
          </a:prstGeom>
          <a:noFill/>
          <a:ln w="38100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462107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DA0A4E-5159-5212-7837-C0B685B258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B4A66FCA-18EA-C955-10DC-95D72774F954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96CD130-9E34-3318-E4AC-2BB492044585}"/>
              </a:ext>
            </a:extLst>
          </p:cNvPr>
          <p:cNvSpPr txBox="1"/>
          <p:nvPr/>
        </p:nvSpPr>
        <p:spPr>
          <a:xfrm>
            <a:off x="0" y="1674048"/>
            <a:ext cx="12192000" cy="646331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Transferring files to and from the cluster</a:t>
            </a:r>
            <a:endParaRPr lang="en-US" sz="3600" dirty="0">
              <a:latin typeface="Consolas" panose="020B0609020204030204" pitchFamily="49" charset="0"/>
              <a:ea typeface="Source Sans Pro" panose="020B0503030403020204" pitchFamily="34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0B4A28F-1B98-8685-6E1B-A19B141F709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82314" y="2320379"/>
            <a:ext cx="4427372" cy="32592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508088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F83447-E87F-4FBC-A2BD-A2C4DC82EC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043" y="70508"/>
            <a:ext cx="10515600" cy="1325563"/>
          </a:xfrm>
        </p:spPr>
        <p:txBody>
          <a:bodyPr/>
          <a:lstStyle/>
          <a:p>
            <a:r>
              <a:rPr lang="en-US" dirty="0"/>
              <a:t>Cluster file system review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D6A9CB-F6CB-D9B1-18D8-A0AF19BCA3C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89622" y="1579122"/>
            <a:ext cx="6609907" cy="4860686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Home directory aka the login node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$HOME</a:t>
            </a:r>
          </a:p>
          <a:p>
            <a:pPr lvl="1"/>
            <a:r>
              <a:rPr lang="en-US" dirty="0"/>
              <a:t>100 GB limit</a:t>
            </a:r>
          </a:p>
          <a:p>
            <a:pPr lvl="1"/>
            <a:r>
              <a:rPr lang="en-US" dirty="0"/>
              <a:t>Should not be used for compute</a:t>
            </a:r>
          </a:p>
          <a:p>
            <a:r>
              <a:rPr lang="en-US" dirty="0"/>
              <a:t>Scratch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/n/netscratch/</a:t>
            </a:r>
            <a:r>
              <a:rPr lang="en-US" dirty="0" err="1">
                <a:latin typeface="Consolas" panose="020B0609020204030204" pitchFamily="49" charset="0"/>
              </a:rPr>
              <a:t>pi_lab</a:t>
            </a:r>
            <a:r>
              <a:rPr lang="en-US" dirty="0">
                <a:latin typeface="Consolas" panose="020B0609020204030204" pitchFamily="49" charset="0"/>
              </a:rPr>
              <a:t>/</a:t>
            </a:r>
          </a:p>
          <a:p>
            <a:pPr lvl="1"/>
            <a:r>
              <a:rPr lang="en-US" dirty="0"/>
              <a:t>No size limit</a:t>
            </a:r>
          </a:p>
          <a:p>
            <a:pPr lvl="1"/>
            <a:r>
              <a:rPr lang="en-US" dirty="0"/>
              <a:t>90 day retention: files </a:t>
            </a:r>
            <a:r>
              <a:rPr lang="en-US" dirty="0">
                <a:solidFill>
                  <a:schemeClr val="bg1">
                    <a:lumMod val="95000"/>
                  </a:schemeClr>
                </a:solidFill>
                <a:highlight>
                  <a:srgbClr val="FF0000"/>
                </a:highlight>
              </a:rPr>
              <a:t>DELETED</a:t>
            </a:r>
            <a:r>
              <a:rPr lang="en-US" dirty="0"/>
              <a:t> after 90 days</a:t>
            </a:r>
          </a:p>
          <a:p>
            <a:pPr lvl="1"/>
            <a:r>
              <a:rPr lang="en-US" dirty="0"/>
              <a:t>Used for compute</a:t>
            </a:r>
          </a:p>
          <a:p>
            <a:r>
              <a:rPr lang="en-US" dirty="0"/>
              <a:t>Lab directory</a:t>
            </a:r>
          </a:p>
          <a:p>
            <a:pPr lvl="1"/>
            <a:r>
              <a:rPr lang="en-US" dirty="0"/>
              <a:t>Path varies</a:t>
            </a:r>
          </a:p>
          <a:p>
            <a:pPr lvl="1"/>
            <a:r>
              <a:rPr lang="en-US" dirty="0"/>
              <a:t>Size limit based on what’s purchased</a:t>
            </a:r>
          </a:p>
          <a:p>
            <a:pPr lvl="1"/>
            <a:r>
              <a:rPr lang="en-US" dirty="0"/>
              <a:t>General storage</a:t>
            </a:r>
          </a:p>
          <a:p>
            <a:endParaRPr lang="en-US" dirty="0"/>
          </a:p>
        </p:txBody>
      </p:sp>
      <p:pic>
        <p:nvPicPr>
          <p:cNvPr id="35" name="Picture 4" descr="Beige Folder Icon for Mac | Customizable and High-Quality">
            <a:extLst>
              <a:ext uri="{FF2B5EF4-FFF2-40B4-BE49-F238E27FC236}">
                <a16:creationId xmlns:a16="http://schemas.microsoft.com/office/drawing/2014/main" id="{55584152-F83C-CBE0-E916-D30CAD5ECAC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14833" y="1323578"/>
            <a:ext cx="1600200" cy="1600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6" name="Picture 4" descr="Beige Folder Icon for Mac | Customizable and High-Quality">
            <a:extLst>
              <a:ext uri="{FF2B5EF4-FFF2-40B4-BE49-F238E27FC236}">
                <a16:creationId xmlns:a16="http://schemas.microsoft.com/office/drawing/2014/main" id="{9A700282-0D53-CD97-178F-A4ABB25499C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18377" y="2999235"/>
            <a:ext cx="1596656" cy="15966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7" name="Picture 4" descr="Beige Folder Icon for Mac | Customizable and High-Quality">
            <a:extLst>
              <a:ext uri="{FF2B5EF4-FFF2-40B4-BE49-F238E27FC236}">
                <a16:creationId xmlns:a16="http://schemas.microsoft.com/office/drawing/2014/main" id="{7F085ECC-D18C-2A8A-51B5-E3AF77716AD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14833" y="4595891"/>
            <a:ext cx="1596656" cy="15966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43A3E544-F24F-7658-DEDF-A5061971F067}"/>
              </a:ext>
            </a:extLst>
          </p:cNvPr>
          <p:cNvSpPr txBox="1"/>
          <p:nvPr/>
        </p:nvSpPr>
        <p:spPr>
          <a:xfrm>
            <a:off x="2636911" y="2058954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ea typeface="Source Sans Pro" panose="020B0503030403020204" pitchFamily="34" charset="0"/>
              </a:rPr>
              <a:t>$HOME</a:t>
            </a:r>
            <a:endParaRPr lang="en-US" sz="3200" dirty="0">
              <a:latin typeface="Consolas" panose="020B0609020204030204" pitchFamily="49" charset="0"/>
              <a:ea typeface="Source Sans Pro" panose="020B0503030403020204" pitchFamily="34" charset="0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4F300B88-1108-93B1-B0ED-F6F20D69EC07}"/>
              </a:ext>
            </a:extLst>
          </p:cNvPr>
          <p:cNvSpPr txBox="1"/>
          <p:nvPr/>
        </p:nvSpPr>
        <p:spPr>
          <a:xfrm>
            <a:off x="2569793" y="3704306"/>
            <a:ext cx="109382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ea typeface="Source Sans Pro" panose="020B0503030403020204" pitchFamily="34" charset="0"/>
              </a:rPr>
              <a:t>$SCRATCH</a:t>
            </a:r>
            <a:endParaRPr lang="en-US" sz="3200" dirty="0">
              <a:latin typeface="Consolas" panose="020B0609020204030204" pitchFamily="49" charset="0"/>
              <a:ea typeface="Source Sans Pro" panose="020B0503030403020204" pitchFamily="34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558AA8CE-394F-1ACA-9F5C-B338C13A9277}"/>
              </a:ext>
            </a:extLst>
          </p:cNvPr>
          <p:cNvSpPr txBox="1"/>
          <p:nvPr/>
        </p:nvSpPr>
        <p:spPr>
          <a:xfrm>
            <a:off x="2515641" y="5300962"/>
            <a:ext cx="11950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ea typeface="Source Sans Pro" panose="020B0503030403020204" pitchFamily="34" charset="0"/>
              </a:rPr>
              <a:t>&lt;pi&gt;_lab/</a:t>
            </a:r>
            <a:endParaRPr lang="en-US" sz="3200" dirty="0">
              <a:latin typeface="Consolas" panose="020B0609020204030204" pitchFamily="49" charset="0"/>
              <a:ea typeface="Source Sans Pro" panose="020B05030304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4540016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855220-BBD4-172B-7E55-1B2E60F21A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4" descr="Beige Folder Icon for Mac | Customizable and High-Quality">
            <a:extLst>
              <a:ext uri="{FF2B5EF4-FFF2-40B4-BE49-F238E27FC236}">
                <a16:creationId xmlns:a16="http://schemas.microsoft.com/office/drawing/2014/main" id="{56F0813A-EE87-DD52-A73C-90A26B68050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88867" y="2728456"/>
            <a:ext cx="1401087" cy="14010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 descr="Beige Folder Icon for Mac | Customizable and High-Quality">
            <a:extLst>
              <a:ext uri="{FF2B5EF4-FFF2-40B4-BE49-F238E27FC236}">
                <a16:creationId xmlns:a16="http://schemas.microsoft.com/office/drawing/2014/main" id="{20EF926B-FF5E-4159-6EC4-BA00D62C529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88867" y="3957430"/>
            <a:ext cx="1401087" cy="14010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4" descr="Beige Folder Icon for Mac | Customizable and High-Quality">
            <a:extLst>
              <a:ext uri="{FF2B5EF4-FFF2-40B4-BE49-F238E27FC236}">
                <a16:creationId xmlns:a16="http://schemas.microsoft.com/office/drawing/2014/main" id="{1DBEE91A-2693-57F7-9FE4-AF760846D78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88867" y="5186404"/>
            <a:ext cx="1401087" cy="14010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8F3A780-E206-D81D-621B-07400DF14E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043" y="70508"/>
            <a:ext cx="10515600" cy="1325563"/>
          </a:xfrm>
        </p:spPr>
        <p:txBody>
          <a:bodyPr/>
          <a:lstStyle/>
          <a:p>
            <a:r>
              <a:rPr lang="en-US" dirty="0"/>
              <a:t>Cluster file system review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A3FC8E-B555-AD6F-D281-1E60F01105F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89622" y="1579122"/>
            <a:ext cx="6609907" cy="4860686"/>
          </a:xfrm>
        </p:spPr>
        <p:txBody>
          <a:bodyPr>
            <a:normAutofit fontScale="85000" lnSpcReduction="20000"/>
          </a:bodyPr>
          <a:lstStyle/>
          <a:p>
            <a:r>
              <a:rPr lang="en-US" dirty="0"/>
              <a:t>Home directory aka the login node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$HOME</a:t>
            </a:r>
          </a:p>
          <a:p>
            <a:pPr lvl="1"/>
            <a:r>
              <a:rPr lang="en-US" dirty="0"/>
              <a:t>100 GB limit</a:t>
            </a:r>
          </a:p>
          <a:p>
            <a:pPr lvl="1"/>
            <a:r>
              <a:rPr lang="en-US" dirty="0"/>
              <a:t>Should not be used for compute</a:t>
            </a:r>
          </a:p>
          <a:p>
            <a:r>
              <a:rPr lang="en-US" dirty="0"/>
              <a:t>Scratch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/n/netscratch/</a:t>
            </a:r>
            <a:r>
              <a:rPr lang="en-US" dirty="0" err="1">
                <a:latin typeface="Consolas" panose="020B0609020204030204" pitchFamily="49" charset="0"/>
              </a:rPr>
              <a:t>pi_lab</a:t>
            </a:r>
            <a:r>
              <a:rPr lang="en-US" dirty="0">
                <a:latin typeface="Consolas" panose="020B0609020204030204" pitchFamily="49" charset="0"/>
              </a:rPr>
              <a:t>/</a:t>
            </a:r>
          </a:p>
          <a:p>
            <a:pPr lvl="1"/>
            <a:r>
              <a:rPr lang="en-US" dirty="0"/>
              <a:t>No size limit</a:t>
            </a:r>
          </a:p>
          <a:p>
            <a:pPr lvl="1"/>
            <a:r>
              <a:rPr lang="en-US" dirty="0"/>
              <a:t>90 day retention: files </a:t>
            </a:r>
            <a:r>
              <a:rPr lang="en-US" dirty="0">
                <a:solidFill>
                  <a:schemeClr val="bg1">
                    <a:lumMod val="95000"/>
                  </a:schemeClr>
                </a:solidFill>
                <a:highlight>
                  <a:srgbClr val="FF0000"/>
                </a:highlight>
              </a:rPr>
              <a:t>DELETED</a:t>
            </a:r>
            <a:r>
              <a:rPr lang="en-US" dirty="0"/>
              <a:t> after 90 days</a:t>
            </a:r>
          </a:p>
          <a:p>
            <a:pPr lvl="1"/>
            <a:r>
              <a:rPr lang="en-US" dirty="0"/>
              <a:t>Used for compute</a:t>
            </a:r>
          </a:p>
          <a:p>
            <a:r>
              <a:rPr lang="en-US" dirty="0"/>
              <a:t>Lab directory</a:t>
            </a:r>
          </a:p>
          <a:p>
            <a:pPr lvl="1"/>
            <a:r>
              <a:rPr lang="en-US" dirty="0"/>
              <a:t>Path varies</a:t>
            </a:r>
          </a:p>
          <a:p>
            <a:pPr lvl="1"/>
            <a:r>
              <a:rPr lang="en-US" dirty="0"/>
              <a:t>Size limit based on what’s purchased</a:t>
            </a:r>
          </a:p>
          <a:p>
            <a:pPr lvl="1"/>
            <a:r>
              <a:rPr lang="en-US" dirty="0"/>
              <a:t>General storage</a:t>
            </a:r>
          </a:p>
          <a:p>
            <a:r>
              <a:rPr lang="en-US" dirty="0">
                <a:highlight>
                  <a:srgbClr val="FFFF00"/>
                </a:highlight>
              </a:rPr>
              <a:t>Tape Storage</a:t>
            </a:r>
          </a:p>
          <a:p>
            <a:pPr lvl="1"/>
            <a:r>
              <a:rPr lang="en-US" dirty="0">
                <a:highlight>
                  <a:srgbClr val="FFFF00"/>
                </a:highlight>
              </a:rPr>
              <a:t>archival</a:t>
            </a:r>
          </a:p>
          <a:p>
            <a:pPr lvl="1"/>
            <a:r>
              <a:rPr lang="en-US" dirty="0">
                <a:highlight>
                  <a:srgbClr val="FFFF00"/>
                </a:highlight>
              </a:rPr>
              <a:t>size limit based on what’s purchased</a:t>
            </a:r>
          </a:p>
          <a:p>
            <a:pPr marL="457200" lvl="1" indent="0">
              <a:buNone/>
            </a:pPr>
            <a:endParaRPr lang="en-US" dirty="0"/>
          </a:p>
          <a:p>
            <a:endParaRPr lang="en-US" dirty="0"/>
          </a:p>
        </p:txBody>
      </p:sp>
      <p:pic>
        <p:nvPicPr>
          <p:cNvPr id="35" name="Picture 4" descr="Beige Folder Icon for Mac | Customizable and High-Quality">
            <a:extLst>
              <a:ext uri="{FF2B5EF4-FFF2-40B4-BE49-F238E27FC236}">
                <a16:creationId xmlns:a16="http://schemas.microsoft.com/office/drawing/2014/main" id="{4235DA92-E34E-C0C4-B760-6F1595B5E48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49468" y="1561565"/>
            <a:ext cx="1401087" cy="14010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E59F67C9-FC06-9A5E-4596-BA8C38F098A2}"/>
              </a:ext>
            </a:extLst>
          </p:cNvPr>
          <p:cNvSpPr txBox="1"/>
          <p:nvPr/>
        </p:nvSpPr>
        <p:spPr>
          <a:xfrm>
            <a:off x="3073761" y="2188352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ea typeface="Source Sans Pro" panose="020B0503030403020204" pitchFamily="34" charset="0"/>
              </a:rPr>
              <a:t>$HOME</a:t>
            </a:r>
            <a:endParaRPr lang="en-US" sz="3200" dirty="0">
              <a:latin typeface="Consolas" panose="020B0609020204030204" pitchFamily="49" charset="0"/>
              <a:ea typeface="Source Sans Pro" panose="020B0503030403020204" pitchFamily="34" charset="0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81928C7C-CC8A-E85B-192D-D24B52A5A16B}"/>
              </a:ext>
            </a:extLst>
          </p:cNvPr>
          <p:cNvSpPr txBox="1"/>
          <p:nvPr/>
        </p:nvSpPr>
        <p:spPr>
          <a:xfrm>
            <a:off x="3042498" y="3321805"/>
            <a:ext cx="109382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ea typeface="Source Sans Pro" panose="020B0503030403020204" pitchFamily="34" charset="0"/>
              </a:rPr>
              <a:t>$SCRATCH</a:t>
            </a:r>
            <a:endParaRPr lang="en-US" sz="3200" dirty="0">
              <a:latin typeface="Consolas" panose="020B0609020204030204" pitchFamily="49" charset="0"/>
              <a:ea typeface="Source Sans Pro" panose="020B0503030403020204" pitchFamily="34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7B3FB7A3-7680-0CBA-498A-EECB0B834474}"/>
              </a:ext>
            </a:extLst>
          </p:cNvPr>
          <p:cNvSpPr txBox="1"/>
          <p:nvPr/>
        </p:nvSpPr>
        <p:spPr>
          <a:xfrm>
            <a:off x="2991890" y="4547943"/>
            <a:ext cx="11950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ea typeface="Source Sans Pro" panose="020B0503030403020204" pitchFamily="34" charset="0"/>
              </a:rPr>
              <a:t>&lt;pi&gt;_lab/</a:t>
            </a:r>
            <a:endParaRPr lang="en-US" sz="3200" dirty="0">
              <a:latin typeface="Consolas" panose="020B0609020204030204" pitchFamily="49" charset="0"/>
              <a:ea typeface="Source Sans Pro" panose="020B050303040302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6D3BD0C-7759-D601-B130-BE98EB428E9C}"/>
              </a:ext>
            </a:extLst>
          </p:cNvPr>
          <p:cNvSpPr txBox="1"/>
          <p:nvPr/>
        </p:nvSpPr>
        <p:spPr>
          <a:xfrm>
            <a:off x="2952491" y="5774081"/>
            <a:ext cx="11950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Tape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5476936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901837-9F51-0DDB-C3C7-86BE03B9D8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6347" y="118091"/>
            <a:ext cx="10515600" cy="1325563"/>
          </a:xfrm>
        </p:spPr>
        <p:txBody>
          <a:bodyPr/>
          <a:lstStyle/>
          <a:p>
            <a:r>
              <a:rPr lang="en-US" dirty="0"/>
              <a:t>Cluster file system review - Permissions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F147311-25E2-5ABB-3AC2-72B6FC6F4FD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47012" y="1411942"/>
            <a:ext cx="5006788" cy="5217458"/>
          </a:xfrm>
        </p:spPr>
        <p:txBody>
          <a:bodyPr>
            <a:normAutofit lnSpcReduction="10000"/>
          </a:bodyPr>
          <a:lstStyle/>
          <a:p>
            <a:r>
              <a:rPr lang="en-US"/>
              <a:t>Lab</a:t>
            </a:r>
          </a:p>
          <a:p>
            <a:pPr lvl="1"/>
            <a:r>
              <a:rPr lang="en-US"/>
              <a:t>Only people in your lab can read or write to this folder</a:t>
            </a:r>
          </a:p>
          <a:p>
            <a:r>
              <a:rPr lang="en-US"/>
              <a:t>Everyone</a:t>
            </a:r>
          </a:p>
          <a:p>
            <a:pPr lvl="1"/>
            <a:r>
              <a:rPr lang="en-US"/>
              <a:t>Everyone on the cluster can read/write to this folder</a:t>
            </a:r>
          </a:p>
          <a:p>
            <a:r>
              <a:rPr lang="en-US"/>
              <a:t>User</a:t>
            </a:r>
          </a:p>
          <a:p>
            <a:pPr lvl="1"/>
            <a:r>
              <a:rPr lang="en-US"/>
              <a:t>Only specific users can read/write here</a:t>
            </a:r>
          </a:p>
          <a:p>
            <a:pPr lvl="1"/>
            <a:r>
              <a:rPr lang="en-US"/>
              <a:t>Deprecated, don’t use!</a:t>
            </a:r>
          </a:p>
          <a:p>
            <a:r>
              <a:rPr lang="en-US"/>
              <a:t>In general, you can’t modify/delete/move files created by someone else</a:t>
            </a:r>
          </a:p>
        </p:txBody>
      </p:sp>
      <p:pic>
        <p:nvPicPr>
          <p:cNvPr id="15" name="Picture 4" descr="Beige Folder Icon for Mac | Customizable and High-Quality">
            <a:extLst>
              <a:ext uri="{FF2B5EF4-FFF2-40B4-BE49-F238E27FC236}">
                <a16:creationId xmlns:a16="http://schemas.microsoft.com/office/drawing/2014/main" id="{3477DEA3-3738-928C-9AD7-F93AD3F6EAB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10524" y="1566418"/>
            <a:ext cx="1143387" cy="11433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57E8F82B-EE8E-2D6E-5690-049AB53122FD}"/>
              </a:ext>
            </a:extLst>
          </p:cNvPr>
          <p:cNvSpPr txBox="1"/>
          <p:nvPr/>
        </p:nvSpPr>
        <p:spPr>
          <a:xfrm>
            <a:off x="1684153" y="2079665"/>
            <a:ext cx="119612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latin typeface="Consolas" panose="020B0609020204030204" pitchFamily="49" charset="0"/>
                <a:ea typeface="Source Sans Pro" panose="020B0503030403020204" pitchFamily="34" charset="0"/>
              </a:rPr>
              <a:t>&lt;pi&gt;_lab/</a:t>
            </a:r>
            <a:endParaRPr lang="en-US" sz="2400" dirty="0">
              <a:latin typeface="Consolas" panose="020B0609020204030204" pitchFamily="49" charset="0"/>
              <a:ea typeface="Source Sans Pro" panose="020B0503030403020204" pitchFamily="34" charset="0"/>
            </a:endParaRPr>
          </a:p>
        </p:txBody>
      </p:sp>
      <p:pic>
        <p:nvPicPr>
          <p:cNvPr id="17" name="Picture 4" descr="Beige Folder Icon for Mac | Customizable and High-Quality">
            <a:extLst>
              <a:ext uri="{FF2B5EF4-FFF2-40B4-BE49-F238E27FC236}">
                <a16:creationId xmlns:a16="http://schemas.microsoft.com/office/drawing/2014/main" id="{D1E64BD7-6910-E452-E735-292DA9594C0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38054" y="3083569"/>
            <a:ext cx="952500" cy="952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23E0B2B8-885D-C0A5-646F-DC85ED02748B}"/>
              </a:ext>
            </a:extLst>
          </p:cNvPr>
          <p:cNvSpPr txBox="1"/>
          <p:nvPr/>
        </p:nvSpPr>
        <p:spPr>
          <a:xfrm>
            <a:off x="1638170" y="3490203"/>
            <a:ext cx="118467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latin typeface="Consolas" panose="020B0609020204030204" pitchFamily="49" charset="0"/>
                <a:ea typeface="Source Sans Pro" panose="020B0503030403020204" pitchFamily="34" charset="0"/>
              </a:rPr>
              <a:t>Everyone/</a:t>
            </a:r>
            <a:endParaRPr lang="en-US" sz="2000" dirty="0">
              <a:latin typeface="Consolas" panose="020B0609020204030204" pitchFamily="49" charset="0"/>
              <a:ea typeface="Source Sans Pro" panose="020B0503030403020204" pitchFamily="34" charset="0"/>
            </a:endParaRPr>
          </a:p>
        </p:txBody>
      </p:sp>
      <p:pic>
        <p:nvPicPr>
          <p:cNvPr id="1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41DECB93-F429-4C44-1D1B-74F01FE4F68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85174" y="3157118"/>
            <a:ext cx="952499" cy="9524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05715DB2-F657-6B38-E616-8B2F22F06CFC}"/>
              </a:ext>
            </a:extLst>
          </p:cNvPr>
          <p:cNvSpPr txBox="1"/>
          <p:nvPr/>
        </p:nvSpPr>
        <p:spPr>
          <a:xfrm>
            <a:off x="3317576" y="3517281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Consolas" panose="020B0609020204030204" pitchFamily="49" charset="0"/>
                <a:ea typeface="Source Sans Pro" panose="020B0503030403020204" pitchFamily="34" charset="0"/>
              </a:rPr>
              <a:t>User</a:t>
            </a:r>
            <a:r>
              <a:rPr lang="en-US" sz="1600" dirty="0">
                <a:latin typeface="Consolas" panose="020B0609020204030204" pitchFamily="49" charset="0"/>
                <a:ea typeface="Source Sans Pro" panose="020B0503030403020204" pitchFamily="34" charset="0"/>
              </a:rPr>
              <a:t>/</a:t>
            </a:r>
            <a:endParaRPr lang="en-US" sz="3200" dirty="0">
              <a:latin typeface="Consolas" panose="020B0609020204030204" pitchFamily="49" charset="0"/>
              <a:ea typeface="Source Sans Pro" panose="020B0503030403020204" pitchFamily="34" charset="0"/>
            </a:endParaRPr>
          </a:p>
        </p:txBody>
      </p:sp>
      <p:pic>
        <p:nvPicPr>
          <p:cNvPr id="21" name="Picture 4" descr="Beige Folder Icon for Mac | Customizable and High-Quality">
            <a:extLst>
              <a:ext uri="{FF2B5EF4-FFF2-40B4-BE49-F238E27FC236}">
                <a16:creationId xmlns:a16="http://schemas.microsoft.com/office/drawing/2014/main" id="{E85F2C09-43A7-F1CF-0D86-9B7DA1F8ECA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8624" y="3112414"/>
            <a:ext cx="894810" cy="8948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E04598BF-A2DF-8B9E-4BB6-177B083D8744}"/>
              </a:ext>
            </a:extLst>
          </p:cNvPr>
          <p:cNvSpPr txBox="1"/>
          <p:nvPr/>
        </p:nvSpPr>
        <p:spPr>
          <a:xfrm>
            <a:off x="239537" y="3460054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ea typeface="Source Sans Pro" panose="020B0503030403020204" pitchFamily="34" charset="0"/>
              </a:rPr>
              <a:t>Lab/</a:t>
            </a:r>
            <a:endParaRPr lang="en-US" sz="3200" dirty="0">
              <a:latin typeface="Consolas" panose="020B0609020204030204" pitchFamily="49" charset="0"/>
              <a:ea typeface="Source Sans Pro" panose="020B0503030403020204" pitchFamily="34" charset="0"/>
            </a:endParaRPr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D0093B80-2144-69FA-6F5F-AE244F14E25F}"/>
              </a:ext>
            </a:extLst>
          </p:cNvPr>
          <p:cNvCxnSpPr>
            <a:cxnSpLocks/>
          </p:cNvCxnSpPr>
          <p:nvPr/>
        </p:nvCxnSpPr>
        <p:spPr>
          <a:xfrm flipH="1" flipV="1">
            <a:off x="2214304" y="2641152"/>
            <a:ext cx="2863" cy="46503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82B9A47B-E495-D8FE-DE9F-5F4E3D09258D}"/>
              </a:ext>
            </a:extLst>
          </p:cNvPr>
          <p:cNvCxnSpPr>
            <a:cxnSpLocks/>
          </p:cNvCxnSpPr>
          <p:nvPr/>
        </p:nvCxnSpPr>
        <p:spPr>
          <a:xfrm flipV="1">
            <a:off x="1149492" y="2695847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BA7B3D2E-5BB7-0659-AD81-33F33C343CF2}"/>
              </a:ext>
            </a:extLst>
          </p:cNvPr>
          <p:cNvCxnSpPr>
            <a:cxnSpLocks/>
          </p:cNvCxnSpPr>
          <p:nvPr/>
        </p:nvCxnSpPr>
        <p:spPr>
          <a:xfrm>
            <a:off x="2758385" y="2694187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32" name="Picture 4" descr="Beige Folder Icon for Mac | Customizable and High-Quality">
            <a:extLst>
              <a:ext uri="{FF2B5EF4-FFF2-40B4-BE49-F238E27FC236}">
                <a16:creationId xmlns:a16="http://schemas.microsoft.com/office/drawing/2014/main" id="{437DB029-33E0-FBBA-7FCF-A972DA4E466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52991" y="4260533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3" name="TextBox 32">
            <a:extLst>
              <a:ext uri="{FF2B5EF4-FFF2-40B4-BE49-F238E27FC236}">
                <a16:creationId xmlns:a16="http://schemas.microsoft.com/office/drawing/2014/main" id="{24E0177A-8F0E-C34F-CD01-4E1739D0D599}"/>
              </a:ext>
            </a:extLst>
          </p:cNvPr>
          <p:cNvSpPr txBox="1"/>
          <p:nvPr/>
        </p:nvSpPr>
        <p:spPr>
          <a:xfrm>
            <a:off x="3863593" y="4362058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Consolas" panose="020B0609020204030204" pitchFamily="49" charset="0"/>
                <a:ea typeface="Source Sans Pro" panose="020B0503030403020204" pitchFamily="34" charset="0"/>
              </a:rPr>
              <a:t>lei/</a:t>
            </a:r>
            <a:endParaRPr lang="en-US" sz="1200" dirty="0">
              <a:latin typeface="Consolas" panose="020B0609020204030204" pitchFamily="49" charset="0"/>
              <a:ea typeface="Source Sans Pro" panose="020B0503030403020204" pitchFamily="34" charset="0"/>
            </a:endParaRPr>
          </a:p>
        </p:txBody>
      </p: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4C37AD7D-1206-7E1A-5453-2E068F2401A9}"/>
              </a:ext>
            </a:extLst>
          </p:cNvPr>
          <p:cNvCxnSpPr>
            <a:cxnSpLocks/>
          </p:cNvCxnSpPr>
          <p:nvPr/>
        </p:nvCxnSpPr>
        <p:spPr>
          <a:xfrm>
            <a:off x="3939549" y="4034442"/>
            <a:ext cx="281924" cy="27723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36" name="Picture 4" descr="Beige Folder Icon for Mac | Customizable and High-Quality">
            <a:extLst>
              <a:ext uri="{FF2B5EF4-FFF2-40B4-BE49-F238E27FC236}">
                <a16:creationId xmlns:a16="http://schemas.microsoft.com/office/drawing/2014/main" id="{86C9D7B6-3FF4-B472-62F4-D481E38608C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88165" y="4336145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AE914F46-D751-E32F-AFA3-14DC1C7DC0EF}"/>
              </a:ext>
            </a:extLst>
          </p:cNvPr>
          <p:cNvCxnSpPr>
            <a:cxnSpLocks/>
          </p:cNvCxnSpPr>
          <p:nvPr/>
        </p:nvCxnSpPr>
        <p:spPr>
          <a:xfrm flipV="1">
            <a:off x="1842964" y="3963217"/>
            <a:ext cx="325496" cy="49941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40" name="Picture 4" descr="Beige Folder Icon for Mac | Customizable and High-Quality">
            <a:extLst>
              <a:ext uri="{FF2B5EF4-FFF2-40B4-BE49-F238E27FC236}">
                <a16:creationId xmlns:a16="http://schemas.microsoft.com/office/drawing/2014/main" id="{D5775910-D78C-BCAC-3E98-14570551908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758" y="4362058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8E90098A-4F81-050F-DDE9-466D7AB2D648}"/>
              </a:ext>
            </a:extLst>
          </p:cNvPr>
          <p:cNvCxnSpPr>
            <a:cxnSpLocks/>
          </p:cNvCxnSpPr>
          <p:nvPr/>
        </p:nvCxnSpPr>
        <p:spPr>
          <a:xfrm flipV="1">
            <a:off x="408971" y="3968428"/>
            <a:ext cx="325496" cy="49941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34F88807-BEF1-BC70-CEA8-72EC171B0C82}"/>
              </a:ext>
            </a:extLst>
          </p:cNvPr>
          <p:cNvSpPr txBox="1"/>
          <p:nvPr/>
        </p:nvSpPr>
        <p:spPr>
          <a:xfrm>
            <a:off x="-74049" y="4676925"/>
            <a:ext cx="9525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dirty="0">
                <a:latin typeface="Consolas" panose="020B0609020204030204" pitchFamily="49" charset="0"/>
                <a:ea typeface="Source Sans Pro" panose="020B0503030403020204" pitchFamily="34" charset="0"/>
              </a:rPr>
              <a:t>projectA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5E4865BD-55A1-6C59-FC33-F6D5AA22D0E4}"/>
              </a:ext>
            </a:extLst>
          </p:cNvPr>
          <p:cNvSpPr txBox="1"/>
          <p:nvPr/>
        </p:nvSpPr>
        <p:spPr>
          <a:xfrm>
            <a:off x="1308790" y="4673152"/>
            <a:ext cx="9525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dirty="0">
                <a:latin typeface="Consolas" panose="020B0609020204030204" pitchFamily="49" charset="0"/>
                <a:ea typeface="Source Sans Pro" panose="020B0503030403020204" pitchFamily="34" charset="0"/>
              </a:rPr>
              <a:t>ProjectB</a:t>
            </a:r>
          </a:p>
        </p:txBody>
      </p:sp>
      <p:pic>
        <p:nvPicPr>
          <p:cNvPr id="46" name="Graphic 45" descr="Paper outline">
            <a:extLst>
              <a:ext uri="{FF2B5EF4-FFF2-40B4-BE49-F238E27FC236}">
                <a16:creationId xmlns:a16="http://schemas.microsoft.com/office/drawing/2014/main" id="{958AC6A8-DE16-06BF-37F8-BAC2BA0A4A8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-95892" y="5825509"/>
            <a:ext cx="914400" cy="914400"/>
          </a:xfrm>
          <a:prstGeom prst="rect">
            <a:avLst/>
          </a:prstGeom>
        </p:spPr>
      </p:pic>
      <p:sp>
        <p:nvSpPr>
          <p:cNvPr id="47" name="TextBox 46">
            <a:extLst>
              <a:ext uri="{FF2B5EF4-FFF2-40B4-BE49-F238E27FC236}">
                <a16:creationId xmlns:a16="http://schemas.microsoft.com/office/drawing/2014/main" id="{3FE4BADB-EEF0-493D-DED6-742ED58173F7}"/>
              </a:ext>
            </a:extLst>
          </p:cNvPr>
          <p:cNvSpPr txBox="1"/>
          <p:nvPr/>
        </p:nvSpPr>
        <p:spPr>
          <a:xfrm>
            <a:off x="173136" y="6305357"/>
            <a:ext cx="4203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lei</a:t>
            </a:r>
          </a:p>
        </p:txBody>
      </p: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4D93EDA8-6E05-06C6-2145-402D01CEA386}"/>
              </a:ext>
            </a:extLst>
          </p:cNvPr>
          <p:cNvCxnSpPr>
            <a:cxnSpLocks/>
          </p:cNvCxnSpPr>
          <p:nvPr/>
        </p:nvCxnSpPr>
        <p:spPr>
          <a:xfrm flipV="1">
            <a:off x="255494" y="5118702"/>
            <a:ext cx="226237" cy="62254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9BE5C159-B721-C77B-DE89-3050A2CD8914}"/>
              </a:ext>
            </a:extLst>
          </p:cNvPr>
          <p:cNvCxnSpPr>
            <a:cxnSpLocks/>
          </p:cNvCxnSpPr>
          <p:nvPr/>
        </p:nvCxnSpPr>
        <p:spPr>
          <a:xfrm flipH="1" flipV="1">
            <a:off x="723423" y="5134125"/>
            <a:ext cx="664742" cy="653709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52" name="Graphic 51" descr="Paper outline">
            <a:extLst>
              <a:ext uri="{FF2B5EF4-FFF2-40B4-BE49-F238E27FC236}">
                <a16:creationId xmlns:a16="http://schemas.microsoft.com/office/drawing/2014/main" id="{4A0A34BC-C26E-DD7F-963D-C4BE49C9017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78571" y="5819538"/>
            <a:ext cx="914400" cy="914400"/>
          </a:xfrm>
          <a:prstGeom prst="rect">
            <a:avLst/>
          </a:prstGeom>
        </p:spPr>
      </p:pic>
      <p:sp>
        <p:nvSpPr>
          <p:cNvPr id="53" name="TextBox 52">
            <a:extLst>
              <a:ext uri="{FF2B5EF4-FFF2-40B4-BE49-F238E27FC236}">
                <a16:creationId xmlns:a16="http://schemas.microsoft.com/office/drawing/2014/main" id="{2529C88D-916C-A6B8-CFE5-4975504A0707}"/>
              </a:ext>
            </a:extLst>
          </p:cNvPr>
          <p:cNvSpPr txBox="1"/>
          <p:nvPr/>
        </p:nvSpPr>
        <p:spPr>
          <a:xfrm>
            <a:off x="1177307" y="6316536"/>
            <a:ext cx="7296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gregg</a:t>
            </a:r>
            <a:endParaRPr lang="en-US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1072396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9A7CC9-D142-C75F-1F29-1B11259AAD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TextBox 41">
            <a:extLst>
              <a:ext uri="{FF2B5EF4-FFF2-40B4-BE49-F238E27FC236}">
                <a16:creationId xmlns:a16="http://schemas.microsoft.com/office/drawing/2014/main" id="{1E15CACF-2DF7-5EE0-4351-67E9AA6524BB}"/>
              </a:ext>
            </a:extLst>
          </p:cNvPr>
          <p:cNvSpPr txBox="1"/>
          <p:nvPr/>
        </p:nvSpPr>
        <p:spPr>
          <a:xfrm>
            <a:off x="1846904" y="376195"/>
            <a:ext cx="7696772" cy="376351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Cluster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D407625A-F82D-3A68-095C-012988F56174}"/>
              </a:ext>
            </a:extLst>
          </p:cNvPr>
          <p:cNvSpPr txBox="1"/>
          <p:nvPr/>
        </p:nvSpPr>
        <p:spPr>
          <a:xfrm>
            <a:off x="6741105" y="5321409"/>
            <a:ext cx="3543820" cy="37635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Cloud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726EA0E-9FF5-CB94-5B4F-35406C767D71}"/>
              </a:ext>
            </a:extLst>
          </p:cNvPr>
          <p:cNvSpPr txBox="1"/>
          <p:nvPr/>
        </p:nvSpPr>
        <p:spPr>
          <a:xfrm>
            <a:off x="1093817" y="5888425"/>
            <a:ext cx="3543820" cy="37635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Local</a:t>
            </a: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87E2382C-2EA8-110A-FABF-7E9CB141A6C0}"/>
              </a:ext>
            </a:extLst>
          </p:cNvPr>
          <p:cNvGrpSpPr/>
          <p:nvPr/>
        </p:nvGrpSpPr>
        <p:grpSpPr>
          <a:xfrm>
            <a:off x="2361335" y="800326"/>
            <a:ext cx="1255728" cy="1283732"/>
            <a:chOff x="3032551" y="387638"/>
            <a:chExt cx="1255728" cy="1283732"/>
          </a:xfrm>
        </p:grpSpPr>
        <p:pic>
          <p:nvPicPr>
            <p:cNvPr id="9" name="Graphic 8" descr="Server with solid fill">
              <a:extLst>
                <a:ext uri="{FF2B5EF4-FFF2-40B4-BE49-F238E27FC236}">
                  <a16:creationId xmlns:a16="http://schemas.microsoft.com/office/drawing/2014/main" id="{DFA7ABB9-626E-4241-8021-B4F29F8CC10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3203215" y="387638"/>
              <a:ext cx="914400" cy="914400"/>
            </a:xfrm>
            <a:prstGeom prst="rect">
              <a:avLst/>
            </a:prstGeom>
          </p:spPr>
        </p:pic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DDFE05A3-843F-6BE3-5B38-80E7DD9537BC}"/>
                </a:ext>
              </a:extLst>
            </p:cNvPr>
            <p:cNvSpPr txBox="1"/>
            <p:nvPr/>
          </p:nvSpPr>
          <p:spPr>
            <a:xfrm>
              <a:off x="3032551" y="1302038"/>
              <a:ext cx="125572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/>
                <a:t>netscratch</a:t>
              </a:r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4CA1BA31-8167-FB06-DFAD-99638F066450}"/>
              </a:ext>
            </a:extLst>
          </p:cNvPr>
          <p:cNvGrpSpPr/>
          <p:nvPr/>
        </p:nvGrpSpPr>
        <p:grpSpPr>
          <a:xfrm>
            <a:off x="5200283" y="800326"/>
            <a:ext cx="1101648" cy="1283732"/>
            <a:chOff x="5643892" y="387638"/>
            <a:chExt cx="1101648" cy="1283732"/>
          </a:xfrm>
        </p:grpSpPr>
        <p:pic>
          <p:nvPicPr>
            <p:cNvPr id="5" name="Graphic 4" descr="Server with solid fill">
              <a:extLst>
                <a:ext uri="{FF2B5EF4-FFF2-40B4-BE49-F238E27FC236}">
                  <a16:creationId xmlns:a16="http://schemas.microsoft.com/office/drawing/2014/main" id="{CEEFCB1A-7832-9841-626A-D25262C96F93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5737516" y="387638"/>
              <a:ext cx="914400" cy="914400"/>
            </a:xfrm>
            <a:prstGeom prst="rect">
              <a:avLst/>
            </a:prstGeom>
          </p:spPr>
        </p:pic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F66F6E77-8BD6-CDBE-F42A-01D48303E77D}"/>
                </a:ext>
              </a:extLst>
            </p:cNvPr>
            <p:cNvSpPr txBox="1"/>
            <p:nvPr/>
          </p:nvSpPr>
          <p:spPr>
            <a:xfrm>
              <a:off x="5643892" y="1302038"/>
              <a:ext cx="110164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/>
                <a:t>lab share</a:t>
              </a:r>
            </a:p>
          </p:txBody>
        </p: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DB41D0C0-34F2-CCC7-7BED-3AC8D6975EC5}"/>
              </a:ext>
            </a:extLst>
          </p:cNvPr>
          <p:cNvGrpSpPr/>
          <p:nvPr/>
        </p:nvGrpSpPr>
        <p:grpSpPr>
          <a:xfrm>
            <a:off x="8055816" y="800326"/>
            <a:ext cx="914400" cy="1283732"/>
            <a:chOff x="8288401" y="387638"/>
            <a:chExt cx="914400" cy="1283732"/>
          </a:xfrm>
        </p:grpSpPr>
        <p:pic>
          <p:nvPicPr>
            <p:cNvPr id="4" name="Graphic 3" descr="Server with solid fill">
              <a:extLst>
                <a:ext uri="{FF2B5EF4-FFF2-40B4-BE49-F238E27FC236}">
                  <a16:creationId xmlns:a16="http://schemas.microsoft.com/office/drawing/2014/main" id="{4F7E9D60-71E7-B436-57A4-A7B1050D859B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8288401" y="387638"/>
              <a:ext cx="914400" cy="914400"/>
            </a:xfrm>
            <a:prstGeom prst="rect">
              <a:avLst/>
            </a:prstGeom>
          </p:spPr>
        </p:pic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1FB9AABA-44F2-F9EB-4DB8-6C7D0A673CD1}"/>
                </a:ext>
              </a:extLst>
            </p:cNvPr>
            <p:cNvSpPr txBox="1"/>
            <p:nvPr/>
          </p:nvSpPr>
          <p:spPr>
            <a:xfrm>
              <a:off x="8428494" y="1302038"/>
              <a:ext cx="63421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/>
                <a:t>tape</a:t>
              </a:r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FB70C877-446E-6F12-8BD6-6C7E98D4E82C}"/>
              </a:ext>
            </a:extLst>
          </p:cNvPr>
          <p:cNvGrpSpPr/>
          <p:nvPr/>
        </p:nvGrpSpPr>
        <p:grpSpPr>
          <a:xfrm>
            <a:off x="2285055" y="3538031"/>
            <a:ext cx="1161344" cy="1099066"/>
            <a:chOff x="2170185" y="4087564"/>
            <a:chExt cx="1161344" cy="1099066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B069E892-5C0B-1A7A-717F-56A74D846F7A}"/>
                </a:ext>
              </a:extLst>
            </p:cNvPr>
            <p:cNvSpPr txBox="1"/>
            <p:nvPr/>
          </p:nvSpPr>
          <p:spPr>
            <a:xfrm>
              <a:off x="2170185" y="4817298"/>
              <a:ext cx="116134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Source Sans Pro" panose="020B0503030403020204" pitchFamily="34" charset="0"/>
                  <a:ea typeface="Source Sans Pro" panose="020B0503030403020204" pitchFamily="34" charset="0"/>
                </a:rPr>
                <a:t>computer</a:t>
              </a:r>
            </a:p>
          </p:txBody>
        </p:sp>
        <p:pic>
          <p:nvPicPr>
            <p:cNvPr id="16" name="Graphic 15" descr="Computer with solid fill">
              <a:extLst>
                <a:ext uri="{FF2B5EF4-FFF2-40B4-BE49-F238E27FC236}">
                  <a16:creationId xmlns:a16="http://schemas.microsoft.com/office/drawing/2014/main" id="{3EC55C57-CEA2-1C4E-B0E2-85099ACC380C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2293657" y="4087564"/>
              <a:ext cx="914400" cy="914400"/>
            </a:xfrm>
            <a:prstGeom prst="rect">
              <a:avLst/>
            </a:prstGeom>
          </p:spPr>
        </p:pic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3283FB95-D79B-DE18-5E6D-57894F652824}"/>
              </a:ext>
            </a:extLst>
          </p:cNvPr>
          <p:cNvGrpSpPr/>
          <p:nvPr/>
        </p:nvGrpSpPr>
        <p:grpSpPr>
          <a:xfrm>
            <a:off x="3159863" y="4639654"/>
            <a:ext cx="914400" cy="1176497"/>
            <a:chOff x="5481143" y="3640801"/>
            <a:chExt cx="914400" cy="1176497"/>
          </a:xfrm>
        </p:grpSpPr>
        <p:pic>
          <p:nvPicPr>
            <p:cNvPr id="25" name="Graphic 24" descr="Usb Stick with solid fill">
              <a:extLst>
                <a:ext uri="{FF2B5EF4-FFF2-40B4-BE49-F238E27FC236}">
                  <a16:creationId xmlns:a16="http://schemas.microsoft.com/office/drawing/2014/main" id="{C854C0AE-DCD6-FD32-E6A8-538B56D0A267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p:blipFill>
          <p:spPr>
            <a:xfrm>
              <a:off x="5481143" y="3640801"/>
              <a:ext cx="914400" cy="914400"/>
            </a:xfrm>
            <a:prstGeom prst="rect">
              <a:avLst/>
            </a:prstGeom>
          </p:spPr>
        </p:pic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BF0EED29-CA0B-4D2A-20CB-A5D259477D9F}"/>
                </a:ext>
              </a:extLst>
            </p:cNvPr>
            <p:cNvSpPr txBox="1"/>
            <p:nvPr/>
          </p:nvSpPr>
          <p:spPr>
            <a:xfrm>
              <a:off x="5662886" y="4447966"/>
              <a:ext cx="55496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Source Sans Pro" panose="020B0503030403020204" pitchFamily="34" charset="0"/>
                  <a:ea typeface="Source Sans Pro" panose="020B0503030403020204" pitchFamily="34" charset="0"/>
                </a:rPr>
                <a:t>usb</a:t>
              </a:r>
              <a:endParaRPr lang="en-US" dirty="0">
                <a:latin typeface="Source Sans Pro" panose="020B0503030403020204" pitchFamily="34" charset="0"/>
                <a:ea typeface="Source Sans Pro" panose="020B0503030403020204" pitchFamily="34" charset="0"/>
              </a:endParaRPr>
            </a:p>
          </p:txBody>
        </p: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D6D4D182-DA03-67C7-9166-7741A97400E0}"/>
              </a:ext>
            </a:extLst>
          </p:cNvPr>
          <p:cNvGrpSpPr/>
          <p:nvPr/>
        </p:nvGrpSpPr>
        <p:grpSpPr>
          <a:xfrm>
            <a:off x="7096954" y="3999807"/>
            <a:ext cx="1098955" cy="1283621"/>
            <a:chOff x="7968765" y="3038463"/>
            <a:chExt cx="1098955" cy="1283621"/>
          </a:xfrm>
        </p:grpSpPr>
        <p:pic>
          <p:nvPicPr>
            <p:cNvPr id="23" name="Graphic 22">
              <a:extLst>
                <a:ext uri="{FF2B5EF4-FFF2-40B4-BE49-F238E27FC236}">
                  <a16:creationId xmlns:a16="http://schemas.microsoft.com/office/drawing/2014/main" id="{64A7BFA9-6840-E502-1C5E-738D764DCCD6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>
              <a:fillRect/>
            </a:stretch>
          </p:blipFill>
          <p:spPr>
            <a:xfrm>
              <a:off x="7968765" y="3038463"/>
              <a:ext cx="1098955" cy="1098955"/>
            </a:xfrm>
            <a:prstGeom prst="rect">
              <a:avLst/>
            </a:prstGeom>
          </p:spPr>
        </p:pic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D4C76421-CBE5-D07D-A27F-07449487EDE4}"/>
                </a:ext>
              </a:extLst>
            </p:cNvPr>
            <p:cNvSpPr txBox="1"/>
            <p:nvPr/>
          </p:nvSpPr>
          <p:spPr>
            <a:xfrm>
              <a:off x="8018169" y="3952752"/>
              <a:ext cx="100014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Source Sans Pro" panose="020B0503030403020204" pitchFamily="34" charset="0"/>
                  <a:ea typeface="Source Sans Pro" panose="020B0503030403020204" pitchFamily="34" charset="0"/>
                </a:rPr>
                <a:t>dropbox</a:t>
              </a:r>
              <a:endParaRPr lang="en-US" dirty="0">
                <a:latin typeface="Source Sans Pro" panose="020B0503030403020204" pitchFamily="34" charset="0"/>
                <a:ea typeface="Source Sans Pro" panose="020B0503030403020204" pitchFamily="34" charset="0"/>
              </a:endParaRPr>
            </a:p>
          </p:txBody>
        </p: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CE66BF4E-D236-A0FE-E79E-36C4C967C16F}"/>
              </a:ext>
            </a:extLst>
          </p:cNvPr>
          <p:cNvGrpSpPr/>
          <p:nvPr/>
        </p:nvGrpSpPr>
        <p:grpSpPr>
          <a:xfrm>
            <a:off x="9153537" y="4198557"/>
            <a:ext cx="780278" cy="1039070"/>
            <a:chOff x="9898343" y="3203218"/>
            <a:chExt cx="780278" cy="1039070"/>
          </a:xfrm>
        </p:grpSpPr>
        <p:pic>
          <p:nvPicPr>
            <p:cNvPr id="1026" name="Picture 2">
              <a:hlinkClick r:id="rId15"/>
              <a:extLst>
                <a:ext uri="{FF2B5EF4-FFF2-40B4-BE49-F238E27FC236}">
                  <a16:creationId xmlns:a16="http://schemas.microsoft.com/office/drawing/2014/main" id="{85DBDCF8-3EAA-C1EA-D9A3-AE0FEEAB674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898343" y="3203218"/>
              <a:ext cx="750341" cy="66973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31244DFF-522A-51AA-927A-1697A33CF7E2}"/>
                </a:ext>
              </a:extLst>
            </p:cNvPr>
            <p:cNvSpPr txBox="1"/>
            <p:nvPr/>
          </p:nvSpPr>
          <p:spPr>
            <a:xfrm>
              <a:off x="9898343" y="3872956"/>
              <a:ext cx="78027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Source Sans Pro" panose="020B0503030403020204" pitchFamily="34" charset="0"/>
                  <a:ea typeface="Source Sans Pro" panose="020B0503030403020204" pitchFamily="34" charset="0"/>
                </a:rPr>
                <a:t>gdrive</a:t>
              </a:r>
              <a:endParaRPr lang="en-US" dirty="0">
                <a:latin typeface="Source Sans Pro" panose="020B0503030403020204" pitchFamily="34" charset="0"/>
                <a:ea typeface="Source Sans Pro" panose="020B0503030403020204" pitchFamily="34" charset="0"/>
              </a:endParaRPr>
            </a:p>
          </p:txBody>
        </p:sp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67313479-D01F-FF7D-FC82-F214F5566D53}"/>
              </a:ext>
            </a:extLst>
          </p:cNvPr>
          <p:cNvGrpSpPr/>
          <p:nvPr/>
        </p:nvGrpSpPr>
        <p:grpSpPr>
          <a:xfrm>
            <a:off x="1531073" y="4605444"/>
            <a:ext cx="943744" cy="1264365"/>
            <a:chOff x="9899067" y="1970798"/>
            <a:chExt cx="943744" cy="1264365"/>
          </a:xfrm>
        </p:grpSpPr>
        <p:pic>
          <p:nvPicPr>
            <p:cNvPr id="38" name="Graphic 37" descr="Server outline">
              <a:extLst>
                <a:ext uri="{FF2B5EF4-FFF2-40B4-BE49-F238E27FC236}">
                  <a16:creationId xmlns:a16="http://schemas.microsoft.com/office/drawing/2014/main" id="{41156CFB-EEEF-3DB4-A441-4284E92CD00D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>
              <a:extLst>
                <a:ext uri="{96DAC541-7B7A-43D3-8B79-37D633B846F1}">
                  <asvg:svgBlip xmlns:asvg="http://schemas.microsoft.com/office/drawing/2016/SVG/main" r:embed="rId18"/>
                </a:ext>
              </a:extLst>
            </a:blip>
            <a:stretch>
              <a:fillRect/>
            </a:stretch>
          </p:blipFill>
          <p:spPr>
            <a:xfrm>
              <a:off x="9928411" y="1970798"/>
              <a:ext cx="914400" cy="914400"/>
            </a:xfrm>
            <a:prstGeom prst="rect">
              <a:avLst/>
            </a:prstGeom>
          </p:spPr>
        </p:pic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8C216288-DE06-0052-6ACA-33BDF6741E99}"/>
                </a:ext>
              </a:extLst>
            </p:cNvPr>
            <p:cNvSpPr txBox="1"/>
            <p:nvPr/>
          </p:nvSpPr>
          <p:spPr>
            <a:xfrm>
              <a:off x="9899067" y="2865831"/>
              <a:ext cx="93326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Source Sans Pro" panose="020B0503030403020204" pitchFamily="34" charset="0"/>
                  <a:ea typeface="Source Sans Pro" panose="020B0503030403020204" pitchFamily="34" charset="0"/>
                </a:rPr>
                <a:t>lab NAS</a:t>
              </a:r>
            </a:p>
          </p:txBody>
        </p:sp>
      </p:grpSp>
      <p:sp>
        <p:nvSpPr>
          <p:cNvPr id="41" name="Rounded Rectangle 40">
            <a:extLst>
              <a:ext uri="{FF2B5EF4-FFF2-40B4-BE49-F238E27FC236}">
                <a16:creationId xmlns:a16="http://schemas.microsoft.com/office/drawing/2014/main" id="{B5375A5E-1B53-4C5C-6827-59D9503A8D14}"/>
              </a:ext>
            </a:extLst>
          </p:cNvPr>
          <p:cNvSpPr/>
          <p:nvPr/>
        </p:nvSpPr>
        <p:spPr>
          <a:xfrm>
            <a:off x="1861873" y="170996"/>
            <a:ext cx="7681803" cy="2245757"/>
          </a:xfrm>
          <a:prstGeom prst="roundRect">
            <a:avLst>
              <a:gd name="adj" fmla="val 8618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endParaRPr lang="en-US" dirty="0">
              <a:solidFill>
                <a:schemeClr val="tx1"/>
              </a:solidFill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43" name="Rounded Rectangle 42">
            <a:extLst>
              <a:ext uri="{FF2B5EF4-FFF2-40B4-BE49-F238E27FC236}">
                <a16:creationId xmlns:a16="http://schemas.microsoft.com/office/drawing/2014/main" id="{51E5B2F9-41DD-B4A5-34BD-9DD0A0369289}"/>
              </a:ext>
            </a:extLst>
          </p:cNvPr>
          <p:cNvSpPr/>
          <p:nvPr/>
        </p:nvSpPr>
        <p:spPr>
          <a:xfrm>
            <a:off x="1093816" y="3573102"/>
            <a:ext cx="3543821" cy="2908703"/>
          </a:xfrm>
          <a:prstGeom prst="roundRect">
            <a:avLst>
              <a:gd name="adj" fmla="val 8762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endParaRPr lang="en-US" dirty="0">
              <a:solidFill>
                <a:schemeClr val="tx1"/>
              </a:solidFill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35" name="Rounded Rectangle 42">
            <a:extLst>
              <a:ext uri="{FF2B5EF4-FFF2-40B4-BE49-F238E27FC236}">
                <a16:creationId xmlns:a16="http://schemas.microsoft.com/office/drawing/2014/main" id="{7472629F-1968-6407-1361-D56820D87EF3}"/>
              </a:ext>
            </a:extLst>
          </p:cNvPr>
          <p:cNvSpPr/>
          <p:nvPr/>
        </p:nvSpPr>
        <p:spPr>
          <a:xfrm>
            <a:off x="6741104" y="3573102"/>
            <a:ext cx="3543821" cy="2296707"/>
          </a:xfrm>
          <a:prstGeom prst="roundRect">
            <a:avLst>
              <a:gd name="adj" fmla="val 8762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endParaRPr lang="en-US" dirty="0">
              <a:solidFill>
                <a:schemeClr val="tx1"/>
              </a:solidFill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8271739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6B423F-9ADD-5F01-E540-23ACEE6E2B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TextBox 41">
            <a:extLst>
              <a:ext uri="{FF2B5EF4-FFF2-40B4-BE49-F238E27FC236}">
                <a16:creationId xmlns:a16="http://schemas.microsoft.com/office/drawing/2014/main" id="{71B0E346-74F2-BE3D-E9A2-E3035C9EF7FB}"/>
              </a:ext>
            </a:extLst>
          </p:cNvPr>
          <p:cNvSpPr txBox="1"/>
          <p:nvPr/>
        </p:nvSpPr>
        <p:spPr>
          <a:xfrm>
            <a:off x="1846904" y="376195"/>
            <a:ext cx="7696772" cy="376351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Cluster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7E2811D8-DDE1-DFA9-0841-EA7D66428D56}"/>
              </a:ext>
            </a:extLst>
          </p:cNvPr>
          <p:cNvSpPr txBox="1"/>
          <p:nvPr/>
        </p:nvSpPr>
        <p:spPr>
          <a:xfrm>
            <a:off x="6741105" y="5321409"/>
            <a:ext cx="3543820" cy="37635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Cloud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BEF9039-72DF-0712-3AB4-25551CE5F29B}"/>
              </a:ext>
            </a:extLst>
          </p:cNvPr>
          <p:cNvSpPr txBox="1"/>
          <p:nvPr/>
        </p:nvSpPr>
        <p:spPr>
          <a:xfrm>
            <a:off x="1093817" y="5888425"/>
            <a:ext cx="3543820" cy="37635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Local</a:t>
            </a: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3A85340D-51C4-01CB-EECB-B7D9BC45916B}"/>
              </a:ext>
            </a:extLst>
          </p:cNvPr>
          <p:cNvGrpSpPr/>
          <p:nvPr/>
        </p:nvGrpSpPr>
        <p:grpSpPr>
          <a:xfrm>
            <a:off x="2361335" y="800326"/>
            <a:ext cx="1255728" cy="1283732"/>
            <a:chOff x="3032551" y="387638"/>
            <a:chExt cx="1255728" cy="1283732"/>
          </a:xfrm>
        </p:grpSpPr>
        <p:pic>
          <p:nvPicPr>
            <p:cNvPr id="9" name="Graphic 8" descr="Server with solid fill">
              <a:extLst>
                <a:ext uri="{FF2B5EF4-FFF2-40B4-BE49-F238E27FC236}">
                  <a16:creationId xmlns:a16="http://schemas.microsoft.com/office/drawing/2014/main" id="{17325F05-72BA-F658-9CFF-F754FAD719B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3203215" y="387638"/>
              <a:ext cx="914400" cy="914400"/>
            </a:xfrm>
            <a:prstGeom prst="rect">
              <a:avLst/>
            </a:prstGeom>
          </p:spPr>
        </p:pic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28C839A5-A3CA-B214-C30F-8FC8C1EFCB47}"/>
                </a:ext>
              </a:extLst>
            </p:cNvPr>
            <p:cNvSpPr txBox="1"/>
            <p:nvPr/>
          </p:nvSpPr>
          <p:spPr>
            <a:xfrm>
              <a:off x="3032551" y="1302038"/>
              <a:ext cx="125572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/>
                <a:t>netscratch</a:t>
              </a:r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C5F22E13-CB8C-EBBE-E3E8-C6962B229DE2}"/>
              </a:ext>
            </a:extLst>
          </p:cNvPr>
          <p:cNvGrpSpPr/>
          <p:nvPr/>
        </p:nvGrpSpPr>
        <p:grpSpPr>
          <a:xfrm>
            <a:off x="5200283" y="800326"/>
            <a:ext cx="1101648" cy="1283732"/>
            <a:chOff x="5643892" y="387638"/>
            <a:chExt cx="1101648" cy="1283732"/>
          </a:xfrm>
        </p:grpSpPr>
        <p:pic>
          <p:nvPicPr>
            <p:cNvPr id="5" name="Graphic 4" descr="Server with solid fill">
              <a:extLst>
                <a:ext uri="{FF2B5EF4-FFF2-40B4-BE49-F238E27FC236}">
                  <a16:creationId xmlns:a16="http://schemas.microsoft.com/office/drawing/2014/main" id="{233973DE-9FB6-6CE4-D272-0E08F7F16AD7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5737516" y="387638"/>
              <a:ext cx="914400" cy="914400"/>
            </a:xfrm>
            <a:prstGeom prst="rect">
              <a:avLst/>
            </a:prstGeom>
          </p:spPr>
        </p:pic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1B1BCAA4-3976-0167-1A02-158F7622B1F6}"/>
                </a:ext>
              </a:extLst>
            </p:cNvPr>
            <p:cNvSpPr txBox="1"/>
            <p:nvPr/>
          </p:nvSpPr>
          <p:spPr>
            <a:xfrm>
              <a:off x="5643892" y="1302038"/>
              <a:ext cx="110164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/>
                <a:t>lab share</a:t>
              </a:r>
            </a:p>
          </p:txBody>
        </p: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9D2C8B52-B70A-9B8C-302B-4A34930A01B4}"/>
              </a:ext>
            </a:extLst>
          </p:cNvPr>
          <p:cNvGrpSpPr/>
          <p:nvPr/>
        </p:nvGrpSpPr>
        <p:grpSpPr>
          <a:xfrm>
            <a:off x="8055816" y="800326"/>
            <a:ext cx="914400" cy="1283732"/>
            <a:chOff x="8288401" y="387638"/>
            <a:chExt cx="914400" cy="1283732"/>
          </a:xfrm>
        </p:grpSpPr>
        <p:pic>
          <p:nvPicPr>
            <p:cNvPr id="4" name="Graphic 3" descr="Server with solid fill">
              <a:extLst>
                <a:ext uri="{FF2B5EF4-FFF2-40B4-BE49-F238E27FC236}">
                  <a16:creationId xmlns:a16="http://schemas.microsoft.com/office/drawing/2014/main" id="{456DF4D2-E6F2-3027-E1F7-EAAEBFAD2E9E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8288401" y="387638"/>
              <a:ext cx="914400" cy="914400"/>
            </a:xfrm>
            <a:prstGeom prst="rect">
              <a:avLst/>
            </a:prstGeom>
          </p:spPr>
        </p:pic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3469946C-C467-0B73-EC38-56FEFF97BB5B}"/>
                </a:ext>
              </a:extLst>
            </p:cNvPr>
            <p:cNvSpPr txBox="1"/>
            <p:nvPr/>
          </p:nvSpPr>
          <p:spPr>
            <a:xfrm>
              <a:off x="8428494" y="1302038"/>
              <a:ext cx="63421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/>
                <a:t>tape</a:t>
              </a:r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0B7261E3-F6F1-33A3-7788-2472E87B8DB1}"/>
              </a:ext>
            </a:extLst>
          </p:cNvPr>
          <p:cNvGrpSpPr/>
          <p:nvPr/>
        </p:nvGrpSpPr>
        <p:grpSpPr>
          <a:xfrm>
            <a:off x="2285055" y="3538031"/>
            <a:ext cx="1161344" cy="1099066"/>
            <a:chOff x="2170185" y="4087564"/>
            <a:chExt cx="1161344" cy="1099066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689D9B78-D080-63FC-120C-DF2124F672A3}"/>
                </a:ext>
              </a:extLst>
            </p:cNvPr>
            <p:cNvSpPr txBox="1"/>
            <p:nvPr/>
          </p:nvSpPr>
          <p:spPr>
            <a:xfrm>
              <a:off x="2170185" y="4817298"/>
              <a:ext cx="116134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Source Sans Pro" panose="020B0503030403020204" pitchFamily="34" charset="0"/>
                  <a:ea typeface="Source Sans Pro" panose="020B0503030403020204" pitchFamily="34" charset="0"/>
                </a:rPr>
                <a:t>computer</a:t>
              </a:r>
            </a:p>
          </p:txBody>
        </p:sp>
        <p:pic>
          <p:nvPicPr>
            <p:cNvPr id="16" name="Graphic 15" descr="Computer with solid fill">
              <a:extLst>
                <a:ext uri="{FF2B5EF4-FFF2-40B4-BE49-F238E27FC236}">
                  <a16:creationId xmlns:a16="http://schemas.microsoft.com/office/drawing/2014/main" id="{A86C197C-34A2-6F45-1E0C-67BBBA0A1422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2293657" y="4087564"/>
              <a:ext cx="914400" cy="914400"/>
            </a:xfrm>
            <a:prstGeom prst="rect">
              <a:avLst/>
            </a:prstGeom>
          </p:spPr>
        </p:pic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36DE4F4C-FF85-0634-7F67-2E6472CAE607}"/>
              </a:ext>
            </a:extLst>
          </p:cNvPr>
          <p:cNvGrpSpPr/>
          <p:nvPr/>
        </p:nvGrpSpPr>
        <p:grpSpPr>
          <a:xfrm>
            <a:off x="3159863" y="4639654"/>
            <a:ext cx="914400" cy="1176497"/>
            <a:chOff x="5481143" y="3640801"/>
            <a:chExt cx="914400" cy="1176497"/>
          </a:xfrm>
        </p:grpSpPr>
        <p:pic>
          <p:nvPicPr>
            <p:cNvPr id="25" name="Graphic 24" descr="Usb Stick with solid fill">
              <a:extLst>
                <a:ext uri="{FF2B5EF4-FFF2-40B4-BE49-F238E27FC236}">
                  <a16:creationId xmlns:a16="http://schemas.microsoft.com/office/drawing/2014/main" id="{AF07AD09-7A02-E2D0-3208-A7578C3AF5AB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p:blipFill>
          <p:spPr>
            <a:xfrm>
              <a:off x="5481143" y="3640801"/>
              <a:ext cx="914400" cy="914400"/>
            </a:xfrm>
            <a:prstGeom prst="rect">
              <a:avLst/>
            </a:prstGeom>
          </p:spPr>
        </p:pic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3091C2D8-223B-A2B0-8AFD-6025196D7BCF}"/>
                </a:ext>
              </a:extLst>
            </p:cNvPr>
            <p:cNvSpPr txBox="1"/>
            <p:nvPr/>
          </p:nvSpPr>
          <p:spPr>
            <a:xfrm>
              <a:off x="5662886" y="4447966"/>
              <a:ext cx="55496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Source Sans Pro" panose="020B0503030403020204" pitchFamily="34" charset="0"/>
                  <a:ea typeface="Source Sans Pro" panose="020B0503030403020204" pitchFamily="34" charset="0"/>
                </a:rPr>
                <a:t>usb</a:t>
              </a:r>
              <a:endParaRPr lang="en-US" dirty="0">
                <a:latin typeface="Source Sans Pro" panose="020B0503030403020204" pitchFamily="34" charset="0"/>
                <a:ea typeface="Source Sans Pro" panose="020B0503030403020204" pitchFamily="34" charset="0"/>
              </a:endParaRPr>
            </a:p>
          </p:txBody>
        </p: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C0A99374-035E-09CD-1CDB-A704B022E9BF}"/>
              </a:ext>
            </a:extLst>
          </p:cNvPr>
          <p:cNvGrpSpPr/>
          <p:nvPr/>
        </p:nvGrpSpPr>
        <p:grpSpPr>
          <a:xfrm>
            <a:off x="7096954" y="3999807"/>
            <a:ext cx="1098955" cy="1283621"/>
            <a:chOff x="7968765" y="3038463"/>
            <a:chExt cx="1098955" cy="1283621"/>
          </a:xfrm>
        </p:grpSpPr>
        <p:pic>
          <p:nvPicPr>
            <p:cNvPr id="23" name="Graphic 22">
              <a:extLst>
                <a:ext uri="{FF2B5EF4-FFF2-40B4-BE49-F238E27FC236}">
                  <a16:creationId xmlns:a16="http://schemas.microsoft.com/office/drawing/2014/main" id="{3CEF9CD0-21D2-2064-E815-9A817D4E8DD7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>
              <a:fillRect/>
            </a:stretch>
          </p:blipFill>
          <p:spPr>
            <a:xfrm>
              <a:off x="7968765" y="3038463"/>
              <a:ext cx="1098955" cy="1098955"/>
            </a:xfrm>
            <a:prstGeom prst="rect">
              <a:avLst/>
            </a:prstGeom>
          </p:spPr>
        </p:pic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0A1CB4F1-E364-B883-FE20-E1E9A2987760}"/>
                </a:ext>
              </a:extLst>
            </p:cNvPr>
            <p:cNvSpPr txBox="1"/>
            <p:nvPr/>
          </p:nvSpPr>
          <p:spPr>
            <a:xfrm>
              <a:off x="8018169" y="3952752"/>
              <a:ext cx="100014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Source Sans Pro" panose="020B0503030403020204" pitchFamily="34" charset="0"/>
                  <a:ea typeface="Source Sans Pro" panose="020B0503030403020204" pitchFamily="34" charset="0"/>
                </a:rPr>
                <a:t>dropbox</a:t>
              </a:r>
              <a:endParaRPr lang="en-US" dirty="0">
                <a:latin typeface="Source Sans Pro" panose="020B0503030403020204" pitchFamily="34" charset="0"/>
                <a:ea typeface="Source Sans Pro" panose="020B0503030403020204" pitchFamily="34" charset="0"/>
              </a:endParaRPr>
            </a:p>
          </p:txBody>
        </p: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31557071-1F47-DA74-9092-15B16BD50280}"/>
              </a:ext>
            </a:extLst>
          </p:cNvPr>
          <p:cNvGrpSpPr/>
          <p:nvPr/>
        </p:nvGrpSpPr>
        <p:grpSpPr>
          <a:xfrm>
            <a:off x="9153537" y="4198557"/>
            <a:ext cx="780278" cy="1039070"/>
            <a:chOff x="9898343" y="3203218"/>
            <a:chExt cx="780278" cy="1039070"/>
          </a:xfrm>
        </p:grpSpPr>
        <p:pic>
          <p:nvPicPr>
            <p:cNvPr id="1026" name="Picture 2">
              <a:hlinkClick r:id="rId15"/>
              <a:extLst>
                <a:ext uri="{FF2B5EF4-FFF2-40B4-BE49-F238E27FC236}">
                  <a16:creationId xmlns:a16="http://schemas.microsoft.com/office/drawing/2014/main" id="{4DB1336D-C76D-4BBE-236A-E739B1FD0AF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898343" y="3203218"/>
              <a:ext cx="750341" cy="66973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E8650E15-1CFE-382E-AD70-2A5AF6E72A56}"/>
                </a:ext>
              </a:extLst>
            </p:cNvPr>
            <p:cNvSpPr txBox="1"/>
            <p:nvPr/>
          </p:nvSpPr>
          <p:spPr>
            <a:xfrm>
              <a:off x="9898343" y="3872956"/>
              <a:ext cx="78027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Source Sans Pro" panose="020B0503030403020204" pitchFamily="34" charset="0"/>
                  <a:ea typeface="Source Sans Pro" panose="020B0503030403020204" pitchFamily="34" charset="0"/>
                </a:rPr>
                <a:t>gdrive</a:t>
              </a:r>
              <a:endParaRPr lang="en-US" dirty="0">
                <a:latin typeface="Source Sans Pro" panose="020B0503030403020204" pitchFamily="34" charset="0"/>
                <a:ea typeface="Source Sans Pro" panose="020B0503030403020204" pitchFamily="34" charset="0"/>
              </a:endParaRPr>
            </a:p>
          </p:txBody>
        </p:sp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F367936C-3361-E6BD-7258-6D34949225AF}"/>
              </a:ext>
            </a:extLst>
          </p:cNvPr>
          <p:cNvGrpSpPr/>
          <p:nvPr/>
        </p:nvGrpSpPr>
        <p:grpSpPr>
          <a:xfrm>
            <a:off x="1531073" y="4605444"/>
            <a:ext cx="943744" cy="1264365"/>
            <a:chOff x="9899067" y="1970798"/>
            <a:chExt cx="943744" cy="1264365"/>
          </a:xfrm>
        </p:grpSpPr>
        <p:pic>
          <p:nvPicPr>
            <p:cNvPr id="38" name="Graphic 37" descr="Server outline">
              <a:extLst>
                <a:ext uri="{FF2B5EF4-FFF2-40B4-BE49-F238E27FC236}">
                  <a16:creationId xmlns:a16="http://schemas.microsoft.com/office/drawing/2014/main" id="{12AC5AD3-CC7C-C069-861D-33B8CF1F2D03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>
              <a:extLst>
                <a:ext uri="{96DAC541-7B7A-43D3-8B79-37D633B846F1}">
                  <asvg:svgBlip xmlns:asvg="http://schemas.microsoft.com/office/drawing/2016/SVG/main" r:embed="rId18"/>
                </a:ext>
              </a:extLst>
            </a:blip>
            <a:stretch>
              <a:fillRect/>
            </a:stretch>
          </p:blipFill>
          <p:spPr>
            <a:xfrm>
              <a:off x="9928411" y="1970798"/>
              <a:ext cx="914400" cy="914400"/>
            </a:xfrm>
            <a:prstGeom prst="rect">
              <a:avLst/>
            </a:prstGeom>
          </p:spPr>
        </p:pic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FCBE262B-87FD-FCFA-29C5-D9319CF80556}"/>
                </a:ext>
              </a:extLst>
            </p:cNvPr>
            <p:cNvSpPr txBox="1"/>
            <p:nvPr/>
          </p:nvSpPr>
          <p:spPr>
            <a:xfrm>
              <a:off x="9899067" y="2865831"/>
              <a:ext cx="93326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Source Sans Pro" panose="020B0503030403020204" pitchFamily="34" charset="0"/>
                  <a:ea typeface="Source Sans Pro" panose="020B0503030403020204" pitchFamily="34" charset="0"/>
                </a:rPr>
                <a:t>lab NAS</a:t>
              </a:r>
            </a:p>
          </p:txBody>
        </p:sp>
      </p:grpSp>
      <p:sp>
        <p:nvSpPr>
          <p:cNvPr id="41" name="Rounded Rectangle 40">
            <a:extLst>
              <a:ext uri="{FF2B5EF4-FFF2-40B4-BE49-F238E27FC236}">
                <a16:creationId xmlns:a16="http://schemas.microsoft.com/office/drawing/2014/main" id="{9DABE40D-1131-C1F8-8EB5-6D9B11741E8D}"/>
              </a:ext>
            </a:extLst>
          </p:cNvPr>
          <p:cNvSpPr/>
          <p:nvPr/>
        </p:nvSpPr>
        <p:spPr>
          <a:xfrm>
            <a:off x="1861873" y="170996"/>
            <a:ext cx="7681803" cy="2245757"/>
          </a:xfrm>
          <a:prstGeom prst="roundRect">
            <a:avLst>
              <a:gd name="adj" fmla="val 8618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endParaRPr lang="en-US" dirty="0">
              <a:solidFill>
                <a:schemeClr val="tx1"/>
              </a:solidFill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43" name="Rounded Rectangle 42">
            <a:extLst>
              <a:ext uri="{FF2B5EF4-FFF2-40B4-BE49-F238E27FC236}">
                <a16:creationId xmlns:a16="http://schemas.microsoft.com/office/drawing/2014/main" id="{38F5513E-3393-833F-7BF6-36B6E9EA8D14}"/>
              </a:ext>
            </a:extLst>
          </p:cNvPr>
          <p:cNvSpPr/>
          <p:nvPr/>
        </p:nvSpPr>
        <p:spPr>
          <a:xfrm>
            <a:off x="1093816" y="3573102"/>
            <a:ext cx="3543821" cy="2908703"/>
          </a:xfrm>
          <a:prstGeom prst="roundRect">
            <a:avLst>
              <a:gd name="adj" fmla="val 8762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endParaRPr lang="en-US" dirty="0">
              <a:solidFill>
                <a:schemeClr val="tx1"/>
              </a:solidFill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BD883934-6DC0-54C8-76F3-9E1B7B157A63}"/>
              </a:ext>
            </a:extLst>
          </p:cNvPr>
          <p:cNvCxnSpPr/>
          <p:nvPr/>
        </p:nvCxnSpPr>
        <p:spPr>
          <a:xfrm>
            <a:off x="3446399" y="1256260"/>
            <a:ext cx="1847508" cy="0"/>
          </a:xfrm>
          <a:prstGeom prst="straightConnector1">
            <a:avLst/>
          </a:prstGeom>
          <a:ln w="38100"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6EF7B82C-E9A1-3385-EFC6-FA85324106C5}"/>
              </a:ext>
            </a:extLst>
          </p:cNvPr>
          <p:cNvCxnSpPr/>
          <p:nvPr/>
        </p:nvCxnSpPr>
        <p:spPr>
          <a:xfrm>
            <a:off x="6208308" y="1256260"/>
            <a:ext cx="1847508" cy="0"/>
          </a:xfrm>
          <a:prstGeom prst="straightConnector1">
            <a:avLst/>
          </a:prstGeom>
          <a:ln w="38100"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0C43A093-872D-F6A0-3E0B-0F6F9F8782B7}"/>
              </a:ext>
            </a:extLst>
          </p:cNvPr>
          <p:cNvCxnSpPr>
            <a:cxnSpLocks/>
            <a:stCxn id="16" idx="3"/>
            <a:endCxn id="11" idx="1"/>
          </p:cNvCxnSpPr>
          <p:nvPr/>
        </p:nvCxnSpPr>
        <p:spPr>
          <a:xfrm flipV="1">
            <a:off x="3322927" y="1899392"/>
            <a:ext cx="1877356" cy="2095839"/>
          </a:xfrm>
          <a:prstGeom prst="straightConnector1">
            <a:avLst/>
          </a:prstGeom>
          <a:ln w="38100"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E835CD1F-BB66-BE6D-4193-227C8CEFEAB7}"/>
              </a:ext>
            </a:extLst>
          </p:cNvPr>
          <p:cNvCxnSpPr>
            <a:cxnSpLocks/>
            <a:stCxn id="11" idx="3"/>
            <a:endCxn id="1026" idx="1"/>
          </p:cNvCxnSpPr>
          <p:nvPr/>
        </p:nvCxnSpPr>
        <p:spPr>
          <a:xfrm>
            <a:off x="6301931" y="1899392"/>
            <a:ext cx="2851606" cy="2634034"/>
          </a:xfrm>
          <a:prstGeom prst="straightConnector1">
            <a:avLst/>
          </a:prstGeom>
          <a:ln w="38100"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78BCA0A5-D575-F13F-6785-0ADB45108DA8}"/>
              </a:ext>
            </a:extLst>
          </p:cNvPr>
          <p:cNvCxnSpPr>
            <a:cxnSpLocks/>
            <a:endCxn id="10" idx="2"/>
          </p:cNvCxnSpPr>
          <p:nvPr/>
        </p:nvCxnSpPr>
        <p:spPr>
          <a:xfrm flipV="1">
            <a:off x="2864389" y="2084058"/>
            <a:ext cx="124810" cy="1584023"/>
          </a:xfrm>
          <a:prstGeom prst="straightConnector1">
            <a:avLst/>
          </a:prstGeom>
          <a:ln w="38100"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5" name="Rounded Rectangle 42">
            <a:extLst>
              <a:ext uri="{FF2B5EF4-FFF2-40B4-BE49-F238E27FC236}">
                <a16:creationId xmlns:a16="http://schemas.microsoft.com/office/drawing/2014/main" id="{952208E7-286E-2D0E-B165-5086DFB373C2}"/>
              </a:ext>
            </a:extLst>
          </p:cNvPr>
          <p:cNvSpPr/>
          <p:nvPr/>
        </p:nvSpPr>
        <p:spPr>
          <a:xfrm>
            <a:off x="6741104" y="3573102"/>
            <a:ext cx="3543821" cy="2296707"/>
          </a:xfrm>
          <a:prstGeom prst="roundRect">
            <a:avLst>
              <a:gd name="adj" fmla="val 8762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endParaRPr lang="en-US" dirty="0">
              <a:solidFill>
                <a:schemeClr val="tx1"/>
              </a:solidFill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940614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8B16E8-6652-7398-51A5-127391BF1A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TextBox 41">
            <a:extLst>
              <a:ext uri="{FF2B5EF4-FFF2-40B4-BE49-F238E27FC236}">
                <a16:creationId xmlns:a16="http://schemas.microsoft.com/office/drawing/2014/main" id="{CA1DD361-D8D8-A86E-EF95-D679714861E1}"/>
              </a:ext>
            </a:extLst>
          </p:cNvPr>
          <p:cNvSpPr txBox="1"/>
          <p:nvPr/>
        </p:nvSpPr>
        <p:spPr>
          <a:xfrm>
            <a:off x="1846904" y="376195"/>
            <a:ext cx="7696772" cy="376351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Cluster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B85BC089-0340-EDB9-B2F2-185C61EC8DE1}"/>
              </a:ext>
            </a:extLst>
          </p:cNvPr>
          <p:cNvSpPr txBox="1"/>
          <p:nvPr/>
        </p:nvSpPr>
        <p:spPr>
          <a:xfrm>
            <a:off x="6741105" y="5321409"/>
            <a:ext cx="3543820" cy="37635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Cloud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0A8D93C-9C59-8BB8-556E-F71C1C2549E4}"/>
              </a:ext>
            </a:extLst>
          </p:cNvPr>
          <p:cNvSpPr txBox="1"/>
          <p:nvPr/>
        </p:nvSpPr>
        <p:spPr>
          <a:xfrm>
            <a:off x="1093817" y="5888425"/>
            <a:ext cx="3543820" cy="37635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Local</a:t>
            </a: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E612A0FD-9394-5DE7-4E76-A15298E972B8}"/>
              </a:ext>
            </a:extLst>
          </p:cNvPr>
          <p:cNvGrpSpPr/>
          <p:nvPr/>
        </p:nvGrpSpPr>
        <p:grpSpPr>
          <a:xfrm>
            <a:off x="2361335" y="800326"/>
            <a:ext cx="1255728" cy="1283732"/>
            <a:chOff x="3032551" y="387638"/>
            <a:chExt cx="1255728" cy="1283732"/>
          </a:xfrm>
        </p:grpSpPr>
        <p:pic>
          <p:nvPicPr>
            <p:cNvPr id="9" name="Graphic 8" descr="Server with solid fill">
              <a:extLst>
                <a:ext uri="{FF2B5EF4-FFF2-40B4-BE49-F238E27FC236}">
                  <a16:creationId xmlns:a16="http://schemas.microsoft.com/office/drawing/2014/main" id="{A53E3D2D-7BFF-FFD2-7FEC-15AA909EBD5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3203215" y="387638"/>
              <a:ext cx="914400" cy="914400"/>
            </a:xfrm>
            <a:prstGeom prst="rect">
              <a:avLst/>
            </a:prstGeom>
          </p:spPr>
        </p:pic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A5FC55E2-DC3A-F334-E987-ED101D2113A0}"/>
                </a:ext>
              </a:extLst>
            </p:cNvPr>
            <p:cNvSpPr txBox="1"/>
            <p:nvPr/>
          </p:nvSpPr>
          <p:spPr>
            <a:xfrm>
              <a:off x="3032551" y="1302038"/>
              <a:ext cx="125572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/>
                <a:t>netscratch</a:t>
              </a:r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8CE46B05-C616-1BEB-701C-249F65CCF0BD}"/>
              </a:ext>
            </a:extLst>
          </p:cNvPr>
          <p:cNvGrpSpPr/>
          <p:nvPr/>
        </p:nvGrpSpPr>
        <p:grpSpPr>
          <a:xfrm>
            <a:off x="5200283" y="800326"/>
            <a:ext cx="1101648" cy="1283732"/>
            <a:chOff x="5643892" y="387638"/>
            <a:chExt cx="1101648" cy="1283732"/>
          </a:xfrm>
        </p:grpSpPr>
        <p:pic>
          <p:nvPicPr>
            <p:cNvPr id="5" name="Graphic 4" descr="Server with solid fill">
              <a:extLst>
                <a:ext uri="{FF2B5EF4-FFF2-40B4-BE49-F238E27FC236}">
                  <a16:creationId xmlns:a16="http://schemas.microsoft.com/office/drawing/2014/main" id="{2B7F3E1D-B6E8-A7E0-6ECB-109AD186B357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5737516" y="387638"/>
              <a:ext cx="914400" cy="914400"/>
            </a:xfrm>
            <a:prstGeom prst="rect">
              <a:avLst/>
            </a:prstGeom>
          </p:spPr>
        </p:pic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E7045A6E-EA24-DB8D-EEAD-738BBD6BBAB3}"/>
                </a:ext>
              </a:extLst>
            </p:cNvPr>
            <p:cNvSpPr txBox="1"/>
            <p:nvPr/>
          </p:nvSpPr>
          <p:spPr>
            <a:xfrm>
              <a:off x="5643892" y="1302038"/>
              <a:ext cx="110164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/>
                <a:t>lab share</a:t>
              </a:r>
            </a:p>
          </p:txBody>
        </p: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1656AC32-F3D5-3B24-D682-30DC47B157B7}"/>
              </a:ext>
            </a:extLst>
          </p:cNvPr>
          <p:cNvGrpSpPr/>
          <p:nvPr/>
        </p:nvGrpSpPr>
        <p:grpSpPr>
          <a:xfrm>
            <a:off x="8055816" y="800326"/>
            <a:ext cx="914400" cy="1283732"/>
            <a:chOff x="8288401" y="387638"/>
            <a:chExt cx="914400" cy="1283732"/>
          </a:xfrm>
        </p:grpSpPr>
        <p:pic>
          <p:nvPicPr>
            <p:cNvPr id="4" name="Graphic 3" descr="Server with solid fill">
              <a:extLst>
                <a:ext uri="{FF2B5EF4-FFF2-40B4-BE49-F238E27FC236}">
                  <a16:creationId xmlns:a16="http://schemas.microsoft.com/office/drawing/2014/main" id="{9950CFFB-8C10-BB01-5012-4DE6C99BFD98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8288401" y="387638"/>
              <a:ext cx="914400" cy="914400"/>
            </a:xfrm>
            <a:prstGeom prst="rect">
              <a:avLst/>
            </a:prstGeom>
          </p:spPr>
        </p:pic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9D3F1988-FAFC-84AF-A470-C3829FAC3D0D}"/>
                </a:ext>
              </a:extLst>
            </p:cNvPr>
            <p:cNvSpPr txBox="1"/>
            <p:nvPr/>
          </p:nvSpPr>
          <p:spPr>
            <a:xfrm>
              <a:off x="8428494" y="1302038"/>
              <a:ext cx="63421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/>
                <a:t>tape</a:t>
              </a:r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5140F5FA-89F8-E0DC-BB42-27C0C318CFCB}"/>
              </a:ext>
            </a:extLst>
          </p:cNvPr>
          <p:cNvGrpSpPr/>
          <p:nvPr/>
        </p:nvGrpSpPr>
        <p:grpSpPr>
          <a:xfrm>
            <a:off x="2285055" y="3538031"/>
            <a:ext cx="1161344" cy="1099066"/>
            <a:chOff x="2170185" y="4087564"/>
            <a:chExt cx="1161344" cy="1099066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E55F5DCE-5604-B8D9-D2D7-B3996E8FDFCA}"/>
                </a:ext>
              </a:extLst>
            </p:cNvPr>
            <p:cNvSpPr txBox="1"/>
            <p:nvPr/>
          </p:nvSpPr>
          <p:spPr>
            <a:xfrm>
              <a:off x="2170185" y="4817298"/>
              <a:ext cx="116134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Source Sans Pro" panose="020B0503030403020204" pitchFamily="34" charset="0"/>
                  <a:ea typeface="Source Sans Pro" panose="020B0503030403020204" pitchFamily="34" charset="0"/>
                </a:rPr>
                <a:t>computer</a:t>
              </a:r>
            </a:p>
          </p:txBody>
        </p:sp>
        <p:pic>
          <p:nvPicPr>
            <p:cNvPr id="16" name="Graphic 15" descr="Computer with solid fill">
              <a:extLst>
                <a:ext uri="{FF2B5EF4-FFF2-40B4-BE49-F238E27FC236}">
                  <a16:creationId xmlns:a16="http://schemas.microsoft.com/office/drawing/2014/main" id="{E0F3E4FA-4AA9-9171-8B8C-43AF932EDE36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2293657" y="4087564"/>
              <a:ext cx="914400" cy="914400"/>
            </a:xfrm>
            <a:prstGeom prst="rect">
              <a:avLst/>
            </a:prstGeom>
          </p:spPr>
        </p:pic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9A4D5BEF-639E-1D29-A49C-A5DA2775836A}"/>
              </a:ext>
            </a:extLst>
          </p:cNvPr>
          <p:cNvGrpSpPr/>
          <p:nvPr/>
        </p:nvGrpSpPr>
        <p:grpSpPr>
          <a:xfrm>
            <a:off x="3159863" y="4639654"/>
            <a:ext cx="914400" cy="1176497"/>
            <a:chOff x="5481143" y="3640801"/>
            <a:chExt cx="914400" cy="1176497"/>
          </a:xfrm>
        </p:grpSpPr>
        <p:pic>
          <p:nvPicPr>
            <p:cNvPr id="25" name="Graphic 24" descr="Usb Stick with solid fill">
              <a:extLst>
                <a:ext uri="{FF2B5EF4-FFF2-40B4-BE49-F238E27FC236}">
                  <a16:creationId xmlns:a16="http://schemas.microsoft.com/office/drawing/2014/main" id="{E0CA30A7-81B8-7138-717F-6E1ED7F54AA6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p:blipFill>
          <p:spPr>
            <a:xfrm>
              <a:off x="5481143" y="3640801"/>
              <a:ext cx="914400" cy="914400"/>
            </a:xfrm>
            <a:prstGeom prst="rect">
              <a:avLst/>
            </a:prstGeom>
          </p:spPr>
        </p:pic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584236EA-C95E-59BC-FD3A-F4159230E754}"/>
                </a:ext>
              </a:extLst>
            </p:cNvPr>
            <p:cNvSpPr txBox="1"/>
            <p:nvPr/>
          </p:nvSpPr>
          <p:spPr>
            <a:xfrm>
              <a:off x="5662886" y="4447966"/>
              <a:ext cx="55496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Source Sans Pro" panose="020B0503030403020204" pitchFamily="34" charset="0"/>
                  <a:ea typeface="Source Sans Pro" panose="020B0503030403020204" pitchFamily="34" charset="0"/>
                </a:rPr>
                <a:t>usb</a:t>
              </a:r>
              <a:endParaRPr lang="en-US" dirty="0">
                <a:latin typeface="Source Sans Pro" panose="020B0503030403020204" pitchFamily="34" charset="0"/>
                <a:ea typeface="Source Sans Pro" panose="020B0503030403020204" pitchFamily="34" charset="0"/>
              </a:endParaRPr>
            </a:p>
          </p:txBody>
        </p: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D71C27D2-D0F7-08C6-97A2-9A919FFC44EE}"/>
              </a:ext>
            </a:extLst>
          </p:cNvPr>
          <p:cNvGrpSpPr/>
          <p:nvPr/>
        </p:nvGrpSpPr>
        <p:grpSpPr>
          <a:xfrm>
            <a:off x="7096954" y="3999807"/>
            <a:ext cx="1098955" cy="1283621"/>
            <a:chOff x="7968765" y="3038463"/>
            <a:chExt cx="1098955" cy="1283621"/>
          </a:xfrm>
        </p:grpSpPr>
        <p:pic>
          <p:nvPicPr>
            <p:cNvPr id="23" name="Graphic 22">
              <a:extLst>
                <a:ext uri="{FF2B5EF4-FFF2-40B4-BE49-F238E27FC236}">
                  <a16:creationId xmlns:a16="http://schemas.microsoft.com/office/drawing/2014/main" id="{CF1551E8-ECA9-99AA-7EF9-BF2C347EAE63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>
              <a:fillRect/>
            </a:stretch>
          </p:blipFill>
          <p:spPr>
            <a:xfrm>
              <a:off x="7968765" y="3038463"/>
              <a:ext cx="1098955" cy="1098955"/>
            </a:xfrm>
            <a:prstGeom prst="rect">
              <a:avLst/>
            </a:prstGeom>
          </p:spPr>
        </p:pic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1DE51681-A1E5-45DD-AE56-775A292D7A1F}"/>
                </a:ext>
              </a:extLst>
            </p:cNvPr>
            <p:cNvSpPr txBox="1"/>
            <p:nvPr/>
          </p:nvSpPr>
          <p:spPr>
            <a:xfrm>
              <a:off x="8018169" y="3952752"/>
              <a:ext cx="100014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Source Sans Pro" panose="020B0503030403020204" pitchFamily="34" charset="0"/>
                  <a:ea typeface="Source Sans Pro" panose="020B0503030403020204" pitchFamily="34" charset="0"/>
                </a:rPr>
                <a:t>dropbox</a:t>
              </a:r>
              <a:endParaRPr lang="en-US" dirty="0">
                <a:latin typeface="Source Sans Pro" panose="020B0503030403020204" pitchFamily="34" charset="0"/>
                <a:ea typeface="Source Sans Pro" panose="020B0503030403020204" pitchFamily="34" charset="0"/>
              </a:endParaRPr>
            </a:p>
          </p:txBody>
        </p: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A8F160DA-A0A2-C61E-A500-1D8AB4B8239D}"/>
              </a:ext>
            </a:extLst>
          </p:cNvPr>
          <p:cNvGrpSpPr/>
          <p:nvPr/>
        </p:nvGrpSpPr>
        <p:grpSpPr>
          <a:xfrm>
            <a:off x="9153537" y="4198557"/>
            <a:ext cx="780278" cy="1039070"/>
            <a:chOff x="9898343" y="3203218"/>
            <a:chExt cx="780278" cy="1039070"/>
          </a:xfrm>
        </p:grpSpPr>
        <p:pic>
          <p:nvPicPr>
            <p:cNvPr id="1026" name="Picture 2">
              <a:hlinkClick r:id="rId15"/>
              <a:extLst>
                <a:ext uri="{FF2B5EF4-FFF2-40B4-BE49-F238E27FC236}">
                  <a16:creationId xmlns:a16="http://schemas.microsoft.com/office/drawing/2014/main" id="{8EE412C4-42D6-18D3-261F-E02FCCBC867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898343" y="3203218"/>
              <a:ext cx="750341" cy="66973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E8F64841-F362-CB42-F4B9-45BA50298AF3}"/>
                </a:ext>
              </a:extLst>
            </p:cNvPr>
            <p:cNvSpPr txBox="1"/>
            <p:nvPr/>
          </p:nvSpPr>
          <p:spPr>
            <a:xfrm>
              <a:off x="9898343" y="3872956"/>
              <a:ext cx="78027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Source Sans Pro" panose="020B0503030403020204" pitchFamily="34" charset="0"/>
                  <a:ea typeface="Source Sans Pro" panose="020B0503030403020204" pitchFamily="34" charset="0"/>
                </a:rPr>
                <a:t>gdrive</a:t>
              </a:r>
              <a:endParaRPr lang="en-US" dirty="0">
                <a:latin typeface="Source Sans Pro" panose="020B0503030403020204" pitchFamily="34" charset="0"/>
                <a:ea typeface="Source Sans Pro" panose="020B0503030403020204" pitchFamily="34" charset="0"/>
              </a:endParaRPr>
            </a:p>
          </p:txBody>
        </p:sp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7A3E0F6B-C392-0BC1-08A5-2843796270BC}"/>
              </a:ext>
            </a:extLst>
          </p:cNvPr>
          <p:cNvGrpSpPr/>
          <p:nvPr/>
        </p:nvGrpSpPr>
        <p:grpSpPr>
          <a:xfrm>
            <a:off x="1531073" y="4605444"/>
            <a:ext cx="943744" cy="1264365"/>
            <a:chOff x="9899067" y="1970798"/>
            <a:chExt cx="943744" cy="1264365"/>
          </a:xfrm>
        </p:grpSpPr>
        <p:pic>
          <p:nvPicPr>
            <p:cNvPr id="38" name="Graphic 37" descr="Server outline">
              <a:extLst>
                <a:ext uri="{FF2B5EF4-FFF2-40B4-BE49-F238E27FC236}">
                  <a16:creationId xmlns:a16="http://schemas.microsoft.com/office/drawing/2014/main" id="{557B1A1B-0AA8-3A17-5E16-DD65DF2EF70E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>
              <a:extLst>
                <a:ext uri="{96DAC541-7B7A-43D3-8B79-37D633B846F1}">
                  <asvg:svgBlip xmlns:asvg="http://schemas.microsoft.com/office/drawing/2016/SVG/main" r:embed="rId18"/>
                </a:ext>
              </a:extLst>
            </a:blip>
            <a:stretch>
              <a:fillRect/>
            </a:stretch>
          </p:blipFill>
          <p:spPr>
            <a:xfrm>
              <a:off x="9928411" y="1970798"/>
              <a:ext cx="914400" cy="914400"/>
            </a:xfrm>
            <a:prstGeom prst="rect">
              <a:avLst/>
            </a:prstGeom>
          </p:spPr>
        </p:pic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3D3AB436-79AA-7A8D-1D71-96B3E00C406C}"/>
                </a:ext>
              </a:extLst>
            </p:cNvPr>
            <p:cNvSpPr txBox="1"/>
            <p:nvPr/>
          </p:nvSpPr>
          <p:spPr>
            <a:xfrm>
              <a:off x="9899067" y="2865831"/>
              <a:ext cx="93326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Source Sans Pro" panose="020B0503030403020204" pitchFamily="34" charset="0"/>
                  <a:ea typeface="Source Sans Pro" panose="020B0503030403020204" pitchFamily="34" charset="0"/>
                </a:rPr>
                <a:t>lab NAS</a:t>
              </a:r>
            </a:p>
          </p:txBody>
        </p:sp>
      </p:grpSp>
      <p:sp>
        <p:nvSpPr>
          <p:cNvPr id="41" name="Rounded Rectangle 40">
            <a:extLst>
              <a:ext uri="{FF2B5EF4-FFF2-40B4-BE49-F238E27FC236}">
                <a16:creationId xmlns:a16="http://schemas.microsoft.com/office/drawing/2014/main" id="{7722D398-45BF-7E74-988C-A6442FEFDF25}"/>
              </a:ext>
            </a:extLst>
          </p:cNvPr>
          <p:cNvSpPr/>
          <p:nvPr/>
        </p:nvSpPr>
        <p:spPr>
          <a:xfrm>
            <a:off x="1861873" y="170996"/>
            <a:ext cx="7681803" cy="2245757"/>
          </a:xfrm>
          <a:prstGeom prst="roundRect">
            <a:avLst>
              <a:gd name="adj" fmla="val 8618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endParaRPr lang="en-US" dirty="0">
              <a:solidFill>
                <a:schemeClr val="tx1"/>
              </a:solidFill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43" name="Rounded Rectangle 42">
            <a:extLst>
              <a:ext uri="{FF2B5EF4-FFF2-40B4-BE49-F238E27FC236}">
                <a16:creationId xmlns:a16="http://schemas.microsoft.com/office/drawing/2014/main" id="{99B00EDE-8C98-3272-72BD-330B161D908F}"/>
              </a:ext>
            </a:extLst>
          </p:cNvPr>
          <p:cNvSpPr/>
          <p:nvPr/>
        </p:nvSpPr>
        <p:spPr>
          <a:xfrm>
            <a:off x="1093816" y="3573102"/>
            <a:ext cx="3543821" cy="2908703"/>
          </a:xfrm>
          <a:prstGeom prst="roundRect">
            <a:avLst>
              <a:gd name="adj" fmla="val 8762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endParaRPr lang="en-US" dirty="0">
              <a:solidFill>
                <a:schemeClr val="tx1"/>
              </a:solidFill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F3B13DAD-D664-5E7A-DDDC-2A204D71C809}"/>
              </a:ext>
            </a:extLst>
          </p:cNvPr>
          <p:cNvCxnSpPr/>
          <p:nvPr/>
        </p:nvCxnSpPr>
        <p:spPr>
          <a:xfrm>
            <a:off x="3446399" y="1256260"/>
            <a:ext cx="1847508" cy="0"/>
          </a:xfrm>
          <a:prstGeom prst="straightConnector1">
            <a:avLst/>
          </a:prstGeom>
          <a:ln w="38100">
            <a:solidFill>
              <a:schemeClr val="tx2">
                <a:lumMod val="50000"/>
                <a:lumOff val="50000"/>
              </a:schemeClr>
            </a:solidFill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2C3074F4-C254-BC5B-560D-B0C18FDB8D24}"/>
              </a:ext>
            </a:extLst>
          </p:cNvPr>
          <p:cNvCxnSpPr/>
          <p:nvPr/>
        </p:nvCxnSpPr>
        <p:spPr>
          <a:xfrm>
            <a:off x="6208308" y="1256260"/>
            <a:ext cx="1847508" cy="0"/>
          </a:xfrm>
          <a:prstGeom prst="straightConnector1">
            <a:avLst/>
          </a:prstGeom>
          <a:ln w="38100"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676B1EBC-28C0-3F7E-D759-1A5CAEF9D74A}"/>
              </a:ext>
            </a:extLst>
          </p:cNvPr>
          <p:cNvCxnSpPr>
            <a:cxnSpLocks/>
            <a:stCxn id="16" idx="3"/>
            <a:endCxn id="11" idx="1"/>
          </p:cNvCxnSpPr>
          <p:nvPr/>
        </p:nvCxnSpPr>
        <p:spPr>
          <a:xfrm flipV="1">
            <a:off x="3322927" y="1899392"/>
            <a:ext cx="1877356" cy="2095839"/>
          </a:xfrm>
          <a:prstGeom prst="straightConnector1">
            <a:avLst/>
          </a:prstGeom>
          <a:ln w="38100">
            <a:solidFill>
              <a:schemeClr val="tx2">
                <a:lumMod val="50000"/>
                <a:lumOff val="50000"/>
              </a:schemeClr>
            </a:solidFill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9C042F31-E182-F9FD-8BE0-47050C56C914}"/>
              </a:ext>
            </a:extLst>
          </p:cNvPr>
          <p:cNvCxnSpPr>
            <a:cxnSpLocks/>
            <a:stCxn id="11" idx="3"/>
            <a:endCxn id="1026" idx="1"/>
          </p:cNvCxnSpPr>
          <p:nvPr/>
        </p:nvCxnSpPr>
        <p:spPr>
          <a:xfrm>
            <a:off x="6301931" y="1899392"/>
            <a:ext cx="2851606" cy="2634034"/>
          </a:xfrm>
          <a:prstGeom prst="straightConnector1">
            <a:avLst/>
          </a:prstGeom>
          <a:ln w="38100">
            <a:solidFill>
              <a:schemeClr val="tx2">
                <a:lumMod val="50000"/>
                <a:lumOff val="50000"/>
              </a:schemeClr>
            </a:solidFill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ADA4CD1C-F3F9-6523-FEEE-E9558299B2A7}"/>
              </a:ext>
            </a:extLst>
          </p:cNvPr>
          <p:cNvCxnSpPr>
            <a:cxnSpLocks/>
            <a:endCxn id="10" idx="2"/>
          </p:cNvCxnSpPr>
          <p:nvPr/>
        </p:nvCxnSpPr>
        <p:spPr>
          <a:xfrm flipV="1">
            <a:off x="2864389" y="2084058"/>
            <a:ext cx="124810" cy="1584023"/>
          </a:xfrm>
          <a:prstGeom prst="straightConnector1">
            <a:avLst/>
          </a:prstGeom>
          <a:ln w="38100">
            <a:solidFill>
              <a:schemeClr val="tx2">
                <a:lumMod val="50000"/>
                <a:lumOff val="50000"/>
              </a:schemeClr>
            </a:solidFill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5" name="Rounded Rectangle 42">
            <a:extLst>
              <a:ext uri="{FF2B5EF4-FFF2-40B4-BE49-F238E27FC236}">
                <a16:creationId xmlns:a16="http://schemas.microsoft.com/office/drawing/2014/main" id="{E837A0BF-9AC5-6F7C-0DFA-084604C71AFD}"/>
              </a:ext>
            </a:extLst>
          </p:cNvPr>
          <p:cNvSpPr/>
          <p:nvPr/>
        </p:nvSpPr>
        <p:spPr>
          <a:xfrm>
            <a:off x="6741104" y="3573102"/>
            <a:ext cx="3543821" cy="2296707"/>
          </a:xfrm>
          <a:prstGeom prst="roundRect">
            <a:avLst>
              <a:gd name="adj" fmla="val 8762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endParaRPr lang="en-US" dirty="0">
              <a:solidFill>
                <a:schemeClr val="tx1"/>
              </a:solidFill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70946AE-A48E-8F03-39E5-B32F8E11CF6A}"/>
              </a:ext>
            </a:extLst>
          </p:cNvPr>
          <p:cNvSpPr txBox="1"/>
          <p:nvPr/>
        </p:nvSpPr>
        <p:spPr>
          <a:xfrm>
            <a:off x="5091938" y="2932448"/>
            <a:ext cx="1390871" cy="923330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 w="38100"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This is what we will be covering</a:t>
            </a:r>
          </a:p>
        </p:txBody>
      </p:sp>
    </p:spTree>
    <p:extLst>
      <p:ext uri="{BB962C8B-B14F-4D97-AF65-F5344CB8AC3E}">
        <p14:creationId xmlns:p14="http://schemas.microsoft.com/office/powerpoint/2010/main" val="322731947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645879-0793-F06D-2D85-00666A3456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7591F2-4F4E-18F5-A0CE-76DD0CE41B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6530" y="131060"/>
            <a:ext cx="10515600" cy="1325563"/>
          </a:xfrm>
        </p:spPr>
        <p:txBody>
          <a:bodyPr/>
          <a:lstStyle/>
          <a:p>
            <a:r>
              <a:rPr lang="en-US" dirty="0"/>
              <a:t>Command line file transfers: </a:t>
            </a:r>
            <a:br>
              <a:rPr lang="en-US" dirty="0"/>
            </a:br>
            <a:r>
              <a:rPr lang="en-US" dirty="0">
                <a:latin typeface="Consolas" panose="020B0609020204030204" pitchFamily="49" charset="0"/>
                <a:ea typeface="Menlo" panose="020B0609030804020204" pitchFamily="49" charset="0"/>
                <a:cs typeface="Menlo" panose="020B0609030804020204" pitchFamily="49" charset="0"/>
              </a:rPr>
              <a:t>screen</a:t>
            </a:r>
            <a:r>
              <a:rPr lang="en-US" dirty="0"/>
              <a:t> + </a:t>
            </a:r>
            <a:r>
              <a:rPr lang="en-US" dirty="0" err="1">
                <a:latin typeface="Consolas" panose="020B0609020204030204" pitchFamily="49" charset="0"/>
                <a:ea typeface="Menlo" panose="020B0609030804020204" pitchFamily="49" charset="0"/>
                <a:cs typeface="Menlo" panose="020B0609030804020204" pitchFamily="49" charset="0"/>
              </a:rPr>
              <a:t>rsync</a:t>
            </a:r>
            <a:endParaRPr lang="en-US" dirty="0">
              <a:latin typeface="Consolas" panose="020B060902020403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366231D4-0B02-C70A-E8BA-CD5150C5D4B4}"/>
              </a:ext>
            </a:extLst>
          </p:cNvPr>
          <p:cNvGrpSpPr/>
          <p:nvPr/>
        </p:nvGrpSpPr>
        <p:grpSpPr>
          <a:xfrm>
            <a:off x="8879600" y="182483"/>
            <a:ext cx="1255728" cy="1283732"/>
            <a:chOff x="3032551" y="387638"/>
            <a:chExt cx="1255728" cy="1283732"/>
          </a:xfrm>
        </p:grpSpPr>
        <p:pic>
          <p:nvPicPr>
            <p:cNvPr id="16" name="Graphic 15" descr="Server with solid fill">
              <a:extLst>
                <a:ext uri="{FF2B5EF4-FFF2-40B4-BE49-F238E27FC236}">
                  <a16:creationId xmlns:a16="http://schemas.microsoft.com/office/drawing/2014/main" id="{36469DB5-F681-A65A-52F8-18D1BD9C526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3203215" y="387638"/>
              <a:ext cx="914400" cy="914400"/>
            </a:xfrm>
            <a:prstGeom prst="rect">
              <a:avLst/>
            </a:prstGeom>
          </p:spPr>
        </p:pic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1C9B3734-1D3C-FB68-44E8-54EE1D86FFF9}"/>
                </a:ext>
              </a:extLst>
            </p:cNvPr>
            <p:cNvSpPr txBox="1"/>
            <p:nvPr/>
          </p:nvSpPr>
          <p:spPr>
            <a:xfrm>
              <a:off x="3032551" y="1302038"/>
              <a:ext cx="125572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Source Sans Pro" panose="020B0503030403020204" pitchFamily="34" charset="0"/>
                  <a:ea typeface="Source Sans Pro" panose="020B0503030403020204" pitchFamily="34" charset="0"/>
                </a:rPr>
                <a:t>netscratch</a:t>
              </a:r>
              <a:endParaRPr lang="en-US" dirty="0">
                <a:latin typeface="Source Sans Pro" panose="020B0503030403020204" pitchFamily="34" charset="0"/>
                <a:ea typeface="Source Sans Pro" panose="020B0503030403020204" pitchFamily="34" charset="0"/>
              </a:endParaRPr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BC97B38A-78AE-6D81-1243-16F7748F993B}"/>
              </a:ext>
            </a:extLst>
          </p:cNvPr>
          <p:cNvGrpSpPr/>
          <p:nvPr/>
        </p:nvGrpSpPr>
        <p:grpSpPr>
          <a:xfrm>
            <a:off x="10857878" y="175846"/>
            <a:ext cx="1101648" cy="1283732"/>
            <a:chOff x="5643892" y="387638"/>
            <a:chExt cx="1101648" cy="1283732"/>
          </a:xfrm>
        </p:grpSpPr>
        <p:pic>
          <p:nvPicPr>
            <p:cNvPr id="19" name="Graphic 18" descr="Server with solid fill">
              <a:extLst>
                <a:ext uri="{FF2B5EF4-FFF2-40B4-BE49-F238E27FC236}">
                  <a16:creationId xmlns:a16="http://schemas.microsoft.com/office/drawing/2014/main" id="{D8D0A150-FC76-628B-FD9A-53C006B2E862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5737516" y="387638"/>
              <a:ext cx="914400" cy="914400"/>
            </a:xfrm>
            <a:prstGeom prst="rect">
              <a:avLst/>
            </a:prstGeom>
          </p:spPr>
        </p:pic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53C4C083-DE29-95BA-1D06-1058F0FFF6A2}"/>
                </a:ext>
              </a:extLst>
            </p:cNvPr>
            <p:cNvSpPr txBox="1"/>
            <p:nvPr/>
          </p:nvSpPr>
          <p:spPr>
            <a:xfrm>
              <a:off x="5643892" y="1302038"/>
              <a:ext cx="110164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Source Sans Pro" panose="020B0503030403020204" pitchFamily="34" charset="0"/>
                  <a:ea typeface="Source Sans Pro" panose="020B0503030403020204" pitchFamily="34" charset="0"/>
                </a:rPr>
                <a:t>lab share</a:t>
              </a:r>
            </a:p>
          </p:txBody>
        </p:sp>
      </p:grp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05F6D1DF-9F19-2BB9-949F-C2C56C4BF33D}"/>
              </a:ext>
            </a:extLst>
          </p:cNvPr>
          <p:cNvCxnSpPr>
            <a:cxnSpLocks/>
          </p:cNvCxnSpPr>
          <p:nvPr/>
        </p:nvCxnSpPr>
        <p:spPr>
          <a:xfrm>
            <a:off x="9947189" y="631780"/>
            <a:ext cx="1004313" cy="0"/>
          </a:xfrm>
          <a:prstGeom prst="straightConnector1">
            <a:avLst/>
          </a:prstGeom>
          <a:ln w="38100">
            <a:solidFill>
              <a:schemeClr val="tx2">
                <a:lumMod val="50000"/>
                <a:lumOff val="50000"/>
              </a:schemeClr>
            </a:solidFill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E83C6AAC-4D74-C4A2-D660-BA68A30E4714}"/>
              </a:ext>
            </a:extLst>
          </p:cNvPr>
          <p:cNvSpPr txBox="1"/>
          <p:nvPr/>
        </p:nvSpPr>
        <p:spPr>
          <a:xfrm>
            <a:off x="9998022" y="275418"/>
            <a:ext cx="85879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Consolas" panose="020B0609020204030204" pitchFamily="49" charset="0"/>
              </a:rPr>
              <a:t>rsync</a:t>
            </a:r>
            <a:endParaRPr lang="en-US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1571568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A41B07-55E4-1ECF-3FE5-9377E08EE7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A3AB66-E6A8-D1D4-CA10-B3F70EFFBC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6530" y="131060"/>
            <a:ext cx="10515600" cy="1325563"/>
          </a:xfrm>
        </p:spPr>
        <p:txBody>
          <a:bodyPr/>
          <a:lstStyle/>
          <a:p>
            <a:r>
              <a:rPr lang="en-US" dirty="0"/>
              <a:t>Command line file transfers: </a:t>
            </a:r>
            <a:br>
              <a:rPr lang="en-US" dirty="0"/>
            </a:br>
            <a:r>
              <a:rPr lang="en-US" dirty="0">
                <a:latin typeface="Consolas" panose="020B0609020204030204" pitchFamily="49" charset="0"/>
                <a:ea typeface="Menlo" panose="020B0609030804020204" pitchFamily="49" charset="0"/>
                <a:cs typeface="Menlo" panose="020B0609030804020204" pitchFamily="49" charset="0"/>
              </a:rPr>
              <a:t>screen</a:t>
            </a:r>
            <a:r>
              <a:rPr lang="en-US" dirty="0"/>
              <a:t> + </a:t>
            </a:r>
            <a:r>
              <a:rPr lang="en-US" dirty="0" err="1">
                <a:latin typeface="Consolas" panose="020B0609020204030204" pitchFamily="49" charset="0"/>
                <a:ea typeface="Menlo" panose="020B0609030804020204" pitchFamily="49" charset="0"/>
                <a:cs typeface="Menlo" panose="020B0609030804020204" pitchFamily="49" charset="0"/>
              </a:rPr>
              <a:t>rsync</a:t>
            </a:r>
            <a:endParaRPr lang="en-US" dirty="0">
              <a:latin typeface="Consolas" panose="020B060902020403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D06C4E5A-438F-7898-59A5-FD3B12F1606D}"/>
              </a:ext>
            </a:extLst>
          </p:cNvPr>
          <p:cNvGrpSpPr/>
          <p:nvPr/>
        </p:nvGrpSpPr>
        <p:grpSpPr>
          <a:xfrm>
            <a:off x="8879600" y="182483"/>
            <a:ext cx="1255728" cy="1283732"/>
            <a:chOff x="3032551" y="387638"/>
            <a:chExt cx="1255728" cy="1283732"/>
          </a:xfrm>
        </p:grpSpPr>
        <p:pic>
          <p:nvPicPr>
            <p:cNvPr id="16" name="Graphic 15" descr="Server with solid fill">
              <a:extLst>
                <a:ext uri="{FF2B5EF4-FFF2-40B4-BE49-F238E27FC236}">
                  <a16:creationId xmlns:a16="http://schemas.microsoft.com/office/drawing/2014/main" id="{DACDCA6A-21C1-796B-6918-6FF9A84CBDD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3203215" y="387638"/>
              <a:ext cx="914400" cy="914400"/>
            </a:xfrm>
            <a:prstGeom prst="rect">
              <a:avLst/>
            </a:prstGeom>
          </p:spPr>
        </p:pic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B635C2DF-8EC3-4B46-B5B7-BE86317C92A4}"/>
                </a:ext>
              </a:extLst>
            </p:cNvPr>
            <p:cNvSpPr txBox="1"/>
            <p:nvPr/>
          </p:nvSpPr>
          <p:spPr>
            <a:xfrm>
              <a:off x="3032551" y="1302038"/>
              <a:ext cx="125572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Source Sans Pro" panose="020B0503030403020204" pitchFamily="34" charset="0"/>
                  <a:ea typeface="Source Sans Pro" panose="020B0503030403020204" pitchFamily="34" charset="0"/>
                </a:rPr>
                <a:t>netscratch</a:t>
              </a:r>
              <a:endParaRPr lang="en-US" dirty="0">
                <a:latin typeface="Source Sans Pro" panose="020B0503030403020204" pitchFamily="34" charset="0"/>
                <a:ea typeface="Source Sans Pro" panose="020B0503030403020204" pitchFamily="34" charset="0"/>
              </a:endParaRPr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AD1F6B00-0DB1-A85E-0026-875022D14C55}"/>
              </a:ext>
            </a:extLst>
          </p:cNvPr>
          <p:cNvGrpSpPr/>
          <p:nvPr/>
        </p:nvGrpSpPr>
        <p:grpSpPr>
          <a:xfrm>
            <a:off x="10857878" y="175846"/>
            <a:ext cx="1101648" cy="1283732"/>
            <a:chOff x="5643892" y="387638"/>
            <a:chExt cx="1101648" cy="1283732"/>
          </a:xfrm>
        </p:grpSpPr>
        <p:pic>
          <p:nvPicPr>
            <p:cNvPr id="19" name="Graphic 18" descr="Server with solid fill">
              <a:extLst>
                <a:ext uri="{FF2B5EF4-FFF2-40B4-BE49-F238E27FC236}">
                  <a16:creationId xmlns:a16="http://schemas.microsoft.com/office/drawing/2014/main" id="{E3E9B79C-3CBC-7B28-8D46-C5B8038CF9C1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5737516" y="387638"/>
              <a:ext cx="914400" cy="914400"/>
            </a:xfrm>
            <a:prstGeom prst="rect">
              <a:avLst/>
            </a:prstGeom>
          </p:spPr>
        </p:pic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E7B5FF7A-18E1-A70E-DE27-C56FB1DB12A5}"/>
                </a:ext>
              </a:extLst>
            </p:cNvPr>
            <p:cNvSpPr txBox="1"/>
            <p:nvPr/>
          </p:nvSpPr>
          <p:spPr>
            <a:xfrm>
              <a:off x="5643892" y="1302038"/>
              <a:ext cx="110164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Source Sans Pro" panose="020B0503030403020204" pitchFamily="34" charset="0"/>
                  <a:ea typeface="Source Sans Pro" panose="020B0503030403020204" pitchFamily="34" charset="0"/>
                </a:rPr>
                <a:t>lab share</a:t>
              </a:r>
            </a:p>
          </p:txBody>
        </p:sp>
      </p:grp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EBC8C489-A7E1-E385-E111-FA0000AFCA7F}"/>
              </a:ext>
            </a:extLst>
          </p:cNvPr>
          <p:cNvCxnSpPr>
            <a:cxnSpLocks/>
          </p:cNvCxnSpPr>
          <p:nvPr/>
        </p:nvCxnSpPr>
        <p:spPr>
          <a:xfrm>
            <a:off x="9947189" y="631780"/>
            <a:ext cx="1004313" cy="0"/>
          </a:xfrm>
          <a:prstGeom prst="straightConnector1">
            <a:avLst/>
          </a:prstGeom>
          <a:ln w="38100">
            <a:solidFill>
              <a:schemeClr val="tx2">
                <a:lumMod val="50000"/>
                <a:lumOff val="50000"/>
              </a:schemeClr>
            </a:solidFill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6B3480D1-3BDB-3201-2FAF-8127BADDB2D9}"/>
              </a:ext>
            </a:extLst>
          </p:cNvPr>
          <p:cNvSpPr txBox="1"/>
          <p:nvPr/>
        </p:nvSpPr>
        <p:spPr>
          <a:xfrm>
            <a:off x="9998022" y="275418"/>
            <a:ext cx="85879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Consolas" panose="020B0609020204030204" pitchFamily="49" charset="0"/>
              </a:rPr>
              <a:t>rsync</a:t>
            </a:r>
            <a:endParaRPr lang="en-US" dirty="0">
              <a:latin typeface="Consolas" panose="020B0609020204030204" pitchFamily="49" charset="0"/>
            </a:endParaRP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5484AF3B-FD64-9910-0075-65117218DA08}"/>
              </a:ext>
            </a:extLst>
          </p:cNvPr>
          <p:cNvGrpSpPr/>
          <p:nvPr/>
        </p:nvGrpSpPr>
        <p:grpSpPr>
          <a:xfrm>
            <a:off x="10126805" y="1369687"/>
            <a:ext cx="739305" cy="703594"/>
            <a:chOff x="2170185" y="4087564"/>
            <a:chExt cx="1199739" cy="1141787"/>
          </a:xfrm>
        </p:grpSpPr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C0089C2D-38B5-DAB4-5ED8-0538F48D084D}"/>
                </a:ext>
              </a:extLst>
            </p:cNvPr>
            <p:cNvSpPr txBox="1"/>
            <p:nvPr/>
          </p:nvSpPr>
          <p:spPr>
            <a:xfrm>
              <a:off x="2170185" y="4817298"/>
              <a:ext cx="1199739" cy="41205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50" dirty="0">
                  <a:latin typeface="Source Sans Pro" panose="020B0503030403020204" pitchFamily="34" charset="0"/>
                  <a:ea typeface="Source Sans Pro" panose="020B0503030403020204" pitchFamily="34" charset="0"/>
                </a:rPr>
                <a:t>computer</a:t>
              </a:r>
              <a:endParaRPr lang="en-US" dirty="0">
                <a:latin typeface="Source Sans Pro" panose="020B0503030403020204" pitchFamily="34" charset="0"/>
                <a:ea typeface="Source Sans Pro" panose="020B0503030403020204" pitchFamily="34" charset="0"/>
              </a:endParaRPr>
            </a:p>
          </p:txBody>
        </p:sp>
        <p:pic>
          <p:nvPicPr>
            <p:cNvPr id="12" name="Graphic 11" descr="Computer with solid fill">
              <a:extLst>
                <a:ext uri="{FF2B5EF4-FFF2-40B4-BE49-F238E27FC236}">
                  <a16:creationId xmlns:a16="http://schemas.microsoft.com/office/drawing/2014/main" id="{79CDD8A0-BE55-7B6F-0065-03D3DE345CA4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2293657" y="4087564"/>
              <a:ext cx="914400" cy="914400"/>
            </a:xfrm>
            <a:prstGeom prst="rect">
              <a:avLst/>
            </a:prstGeom>
          </p:spPr>
        </p:pic>
      </p:grp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7B8BE10B-4910-1254-D5F5-602EDF7DD020}"/>
              </a:ext>
            </a:extLst>
          </p:cNvPr>
          <p:cNvCxnSpPr>
            <a:cxnSpLocks/>
          </p:cNvCxnSpPr>
          <p:nvPr/>
        </p:nvCxnSpPr>
        <p:spPr>
          <a:xfrm>
            <a:off x="9958918" y="1053079"/>
            <a:ext cx="321924" cy="337245"/>
          </a:xfrm>
          <a:prstGeom prst="straightConnector1">
            <a:avLst/>
          </a:prstGeom>
          <a:ln w="38100">
            <a:solidFill>
              <a:schemeClr val="tx2">
                <a:lumMod val="50000"/>
                <a:lumOff val="50000"/>
              </a:schemeClr>
            </a:solidFill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05A8781F-E838-1CD5-EED2-CD03DB9D69C5}"/>
              </a:ext>
            </a:extLst>
          </p:cNvPr>
          <p:cNvCxnSpPr>
            <a:cxnSpLocks/>
          </p:cNvCxnSpPr>
          <p:nvPr/>
        </p:nvCxnSpPr>
        <p:spPr>
          <a:xfrm rot="5400000">
            <a:off x="10647305" y="1067093"/>
            <a:ext cx="321924" cy="337245"/>
          </a:xfrm>
          <a:prstGeom prst="straightConnector1">
            <a:avLst/>
          </a:prstGeom>
          <a:ln w="38100">
            <a:solidFill>
              <a:schemeClr val="tx2">
                <a:lumMod val="50000"/>
                <a:lumOff val="50000"/>
              </a:schemeClr>
            </a:solidFill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612B5511-4A00-5A18-DC3D-15264A3374E6}"/>
              </a:ext>
            </a:extLst>
          </p:cNvPr>
          <p:cNvSpPr txBox="1"/>
          <p:nvPr/>
        </p:nvSpPr>
        <p:spPr>
          <a:xfrm>
            <a:off x="10031741" y="1114692"/>
            <a:ext cx="85879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dirty="0" err="1">
                <a:latin typeface="Consolas" panose="020B0609020204030204" pitchFamily="49" charset="0"/>
              </a:rPr>
              <a:t>rsync</a:t>
            </a:r>
            <a:endParaRPr lang="en-US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4168178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1F185E-7B17-A447-2079-3F7B7A5249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87E87B-A4D4-9988-F953-554230DB7D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6530" y="131060"/>
            <a:ext cx="10515600" cy="1325563"/>
          </a:xfrm>
        </p:spPr>
        <p:txBody>
          <a:bodyPr/>
          <a:lstStyle/>
          <a:p>
            <a:r>
              <a:rPr lang="en-US" dirty="0"/>
              <a:t>Command line file transfers: </a:t>
            </a:r>
            <a:br>
              <a:rPr lang="en-US" dirty="0"/>
            </a:br>
            <a:r>
              <a:rPr lang="en-US" dirty="0">
                <a:latin typeface="Consolas" panose="020B0609020204030204" pitchFamily="49" charset="0"/>
                <a:ea typeface="Menlo" panose="020B0609030804020204" pitchFamily="49" charset="0"/>
                <a:cs typeface="Menlo" panose="020B0609030804020204" pitchFamily="49" charset="0"/>
              </a:rPr>
              <a:t>screen</a:t>
            </a:r>
            <a:r>
              <a:rPr lang="en-US" dirty="0"/>
              <a:t> + </a:t>
            </a:r>
            <a:r>
              <a:rPr lang="en-US" dirty="0" err="1">
                <a:latin typeface="Consolas" panose="020B0609020204030204" pitchFamily="49" charset="0"/>
                <a:ea typeface="Menlo" panose="020B0609030804020204" pitchFamily="49" charset="0"/>
                <a:cs typeface="Menlo" panose="020B0609030804020204" pitchFamily="49" charset="0"/>
              </a:rPr>
              <a:t>rsync</a:t>
            </a:r>
            <a:endParaRPr lang="en-US" dirty="0">
              <a:latin typeface="Consolas" panose="020B060902020403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04C67D-30BE-6FB9-4396-6A11984ADF2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2667" y="1687654"/>
            <a:ext cx="6889044" cy="1465729"/>
          </a:xfrm>
        </p:spPr>
        <p:txBody>
          <a:bodyPr>
            <a:normAutofit lnSpcReduction="10000"/>
          </a:bodyPr>
          <a:lstStyle/>
          <a:p>
            <a:r>
              <a:rPr lang="en-US" dirty="0"/>
              <a:t>Start an interactive session with </a:t>
            </a:r>
            <a:r>
              <a:rPr lang="en-US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salloc</a:t>
            </a:r>
            <a:endParaRPr lang="en-US" dirty="0"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  <a:p>
            <a:r>
              <a:rPr lang="en-US" dirty="0"/>
              <a:t>Use </a:t>
            </a:r>
            <a:r>
              <a:rPr lang="en-US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screen</a:t>
            </a:r>
            <a:r>
              <a:rPr lang="en-US" dirty="0"/>
              <a:t> to multitask</a:t>
            </a:r>
          </a:p>
          <a:p>
            <a:r>
              <a:rPr lang="en-US" dirty="0"/>
              <a:t>Use </a:t>
            </a:r>
            <a:r>
              <a:rPr lang="en-US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rsync</a:t>
            </a:r>
            <a:r>
              <a:rPr lang="en-US" dirty="0"/>
              <a:t> rather than </a:t>
            </a:r>
            <a:r>
              <a:rPr lang="en-US" dirty="0">
                <a:latin typeface="Consolas" panose="020B0609020204030204" pitchFamily="49" charset="0"/>
              </a:rPr>
              <a:t>cp</a:t>
            </a:r>
            <a:r>
              <a:rPr lang="en-US" dirty="0"/>
              <a:t> or </a:t>
            </a:r>
            <a:r>
              <a:rPr lang="en-US" dirty="0">
                <a:latin typeface="Consolas" panose="020B0609020204030204" pitchFamily="49" charset="0"/>
              </a:rPr>
              <a:t>mv</a:t>
            </a:r>
          </a:p>
          <a:p>
            <a:pPr marL="0" indent="0">
              <a:buNone/>
            </a:pPr>
            <a:endParaRPr lang="en-US" dirty="0"/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19157AAF-35D7-4729-99CF-CEE1ED466F53}"/>
              </a:ext>
            </a:extLst>
          </p:cNvPr>
          <p:cNvGrpSpPr/>
          <p:nvPr/>
        </p:nvGrpSpPr>
        <p:grpSpPr>
          <a:xfrm>
            <a:off x="8879600" y="182483"/>
            <a:ext cx="1255728" cy="1283732"/>
            <a:chOff x="3032551" y="387638"/>
            <a:chExt cx="1255728" cy="1283732"/>
          </a:xfrm>
        </p:grpSpPr>
        <p:pic>
          <p:nvPicPr>
            <p:cNvPr id="16" name="Graphic 15" descr="Server with solid fill">
              <a:extLst>
                <a:ext uri="{FF2B5EF4-FFF2-40B4-BE49-F238E27FC236}">
                  <a16:creationId xmlns:a16="http://schemas.microsoft.com/office/drawing/2014/main" id="{A6CD8F06-D34F-F955-C126-05EF4342028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3203215" y="387638"/>
              <a:ext cx="914400" cy="914400"/>
            </a:xfrm>
            <a:prstGeom prst="rect">
              <a:avLst/>
            </a:prstGeom>
          </p:spPr>
        </p:pic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9CE221AC-1A4D-502D-73DA-BA4A085D87D3}"/>
                </a:ext>
              </a:extLst>
            </p:cNvPr>
            <p:cNvSpPr txBox="1"/>
            <p:nvPr/>
          </p:nvSpPr>
          <p:spPr>
            <a:xfrm>
              <a:off x="3032551" y="1302038"/>
              <a:ext cx="125572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Source Sans Pro" panose="020B0503030403020204" pitchFamily="34" charset="0"/>
                  <a:ea typeface="Source Sans Pro" panose="020B0503030403020204" pitchFamily="34" charset="0"/>
                </a:rPr>
                <a:t>netscratch</a:t>
              </a:r>
              <a:endParaRPr lang="en-US" dirty="0">
                <a:latin typeface="Source Sans Pro" panose="020B0503030403020204" pitchFamily="34" charset="0"/>
                <a:ea typeface="Source Sans Pro" panose="020B0503030403020204" pitchFamily="34" charset="0"/>
              </a:endParaRPr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F57D06D7-8E62-5F60-F871-4C83A11B63B3}"/>
              </a:ext>
            </a:extLst>
          </p:cNvPr>
          <p:cNvGrpSpPr/>
          <p:nvPr/>
        </p:nvGrpSpPr>
        <p:grpSpPr>
          <a:xfrm>
            <a:off x="10857878" y="175846"/>
            <a:ext cx="1101648" cy="1283732"/>
            <a:chOff x="5643892" y="387638"/>
            <a:chExt cx="1101648" cy="1283732"/>
          </a:xfrm>
        </p:grpSpPr>
        <p:pic>
          <p:nvPicPr>
            <p:cNvPr id="19" name="Graphic 18" descr="Server with solid fill">
              <a:extLst>
                <a:ext uri="{FF2B5EF4-FFF2-40B4-BE49-F238E27FC236}">
                  <a16:creationId xmlns:a16="http://schemas.microsoft.com/office/drawing/2014/main" id="{07ECF4EE-23D3-B27E-3E27-088EA4FF4019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5737516" y="387638"/>
              <a:ext cx="914400" cy="914400"/>
            </a:xfrm>
            <a:prstGeom prst="rect">
              <a:avLst/>
            </a:prstGeom>
          </p:spPr>
        </p:pic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E5B25E8B-4130-3CE4-5BAC-7E4278A68EC7}"/>
                </a:ext>
              </a:extLst>
            </p:cNvPr>
            <p:cNvSpPr txBox="1"/>
            <p:nvPr/>
          </p:nvSpPr>
          <p:spPr>
            <a:xfrm>
              <a:off x="5643892" y="1302038"/>
              <a:ext cx="110164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Source Sans Pro" panose="020B0503030403020204" pitchFamily="34" charset="0"/>
                  <a:ea typeface="Source Sans Pro" panose="020B0503030403020204" pitchFamily="34" charset="0"/>
                </a:rPr>
                <a:t>lab share</a:t>
              </a:r>
            </a:p>
          </p:txBody>
        </p:sp>
      </p:grp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53793EC7-51EB-CD75-58A9-5CD2F8000C45}"/>
              </a:ext>
            </a:extLst>
          </p:cNvPr>
          <p:cNvCxnSpPr>
            <a:cxnSpLocks/>
          </p:cNvCxnSpPr>
          <p:nvPr/>
        </p:nvCxnSpPr>
        <p:spPr>
          <a:xfrm>
            <a:off x="9947189" y="631780"/>
            <a:ext cx="1004313" cy="0"/>
          </a:xfrm>
          <a:prstGeom prst="straightConnector1">
            <a:avLst/>
          </a:prstGeom>
          <a:ln w="38100">
            <a:solidFill>
              <a:schemeClr val="tx2">
                <a:lumMod val="50000"/>
                <a:lumOff val="50000"/>
              </a:schemeClr>
            </a:solidFill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FA26933E-09D6-7073-55B4-21B8E843CFA5}"/>
              </a:ext>
            </a:extLst>
          </p:cNvPr>
          <p:cNvSpPr txBox="1"/>
          <p:nvPr/>
        </p:nvSpPr>
        <p:spPr>
          <a:xfrm>
            <a:off x="9998022" y="275418"/>
            <a:ext cx="85879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Consolas" panose="020B0609020204030204" pitchFamily="49" charset="0"/>
              </a:rPr>
              <a:t>rsync</a:t>
            </a:r>
            <a:endParaRPr lang="en-US" dirty="0">
              <a:latin typeface="Consolas" panose="020B0609020204030204" pitchFamily="49" charset="0"/>
            </a:endParaRP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6E9BFA7E-A309-BA45-9E18-BA5F45709052}"/>
              </a:ext>
            </a:extLst>
          </p:cNvPr>
          <p:cNvGrpSpPr/>
          <p:nvPr/>
        </p:nvGrpSpPr>
        <p:grpSpPr>
          <a:xfrm>
            <a:off x="10126805" y="1369687"/>
            <a:ext cx="739305" cy="703594"/>
            <a:chOff x="2170185" y="4087564"/>
            <a:chExt cx="1199739" cy="1141787"/>
          </a:xfrm>
        </p:grpSpPr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2615EFFB-F14B-E834-919C-0639502EC968}"/>
                </a:ext>
              </a:extLst>
            </p:cNvPr>
            <p:cNvSpPr txBox="1"/>
            <p:nvPr/>
          </p:nvSpPr>
          <p:spPr>
            <a:xfrm>
              <a:off x="2170185" y="4817298"/>
              <a:ext cx="1199739" cy="41205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50" dirty="0">
                  <a:latin typeface="Source Sans Pro" panose="020B0503030403020204" pitchFamily="34" charset="0"/>
                  <a:ea typeface="Source Sans Pro" panose="020B0503030403020204" pitchFamily="34" charset="0"/>
                </a:rPr>
                <a:t>computer</a:t>
              </a:r>
              <a:endParaRPr lang="en-US" dirty="0">
                <a:latin typeface="Source Sans Pro" panose="020B0503030403020204" pitchFamily="34" charset="0"/>
                <a:ea typeface="Source Sans Pro" panose="020B0503030403020204" pitchFamily="34" charset="0"/>
              </a:endParaRPr>
            </a:p>
          </p:txBody>
        </p:sp>
        <p:pic>
          <p:nvPicPr>
            <p:cNvPr id="12" name="Graphic 11" descr="Computer with solid fill">
              <a:extLst>
                <a:ext uri="{FF2B5EF4-FFF2-40B4-BE49-F238E27FC236}">
                  <a16:creationId xmlns:a16="http://schemas.microsoft.com/office/drawing/2014/main" id="{96743BAA-7C94-CA82-C1A4-AD70FE5D1D9C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2293657" y="4087564"/>
              <a:ext cx="914400" cy="914400"/>
            </a:xfrm>
            <a:prstGeom prst="rect">
              <a:avLst/>
            </a:prstGeom>
          </p:spPr>
        </p:pic>
      </p:grp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E709FB91-849B-05B4-1B09-843BFF6B1549}"/>
              </a:ext>
            </a:extLst>
          </p:cNvPr>
          <p:cNvCxnSpPr>
            <a:cxnSpLocks/>
          </p:cNvCxnSpPr>
          <p:nvPr/>
        </p:nvCxnSpPr>
        <p:spPr>
          <a:xfrm>
            <a:off x="9958918" y="1053079"/>
            <a:ext cx="321924" cy="337245"/>
          </a:xfrm>
          <a:prstGeom prst="straightConnector1">
            <a:avLst/>
          </a:prstGeom>
          <a:ln w="38100">
            <a:solidFill>
              <a:schemeClr val="tx2">
                <a:lumMod val="50000"/>
                <a:lumOff val="50000"/>
              </a:schemeClr>
            </a:solidFill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DFD9A8B6-2BB2-9049-8A98-28A5DA4F3988}"/>
              </a:ext>
            </a:extLst>
          </p:cNvPr>
          <p:cNvCxnSpPr>
            <a:cxnSpLocks/>
          </p:cNvCxnSpPr>
          <p:nvPr/>
        </p:nvCxnSpPr>
        <p:spPr>
          <a:xfrm rot="5400000">
            <a:off x="10647305" y="1067093"/>
            <a:ext cx="321924" cy="337245"/>
          </a:xfrm>
          <a:prstGeom prst="straightConnector1">
            <a:avLst/>
          </a:prstGeom>
          <a:ln w="38100">
            <a:solidFill>
              <a:schemeClr val="tx2">
                <a:lumMod val="50000"/>
                <a:lumOff val="50000"/>
              </a:schemeClr>
            </a:solidFill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4A077925-5ECB-DC54-9849-E7D45239E9E2}"/>
              </a:ext>
            </a:extLst>
          </p:cNvPr>
          <p:cNvSpPr txBox="1"/>
          <p:nvPr/>
        </p:nvSpPr>
        <p:spPr>
          <a:xfrm>
            <a:off x="10031741" y="1114692"/>
            <a:ext cx="85879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dirty="0" err="1">
                <a:latin typeface="Consolas" panose="020B0609020204030204" pitchFamily="49" charset="0"/>
              </a:rPr>
              <a:t>rsync</a:t>
            </a:r>
            <a:endParaRPr lang="en-US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4322431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E7D406-B15B-3140-26A6-290311CE37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824527-0D9E-8F86-1F01-C725770053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6530" y="131060"/>
            <a:ext cx="10515600" cy="1325563"/>
          </a:xfrm>
        </p:spPr>
        <p:txBody>
          <a:bodyPr/>
          <a:lstStyle/>
          <a:p>
            <a:r>
              <a:rPr lang="en-US" dirty="0"/>
              <a:t>Command line file transfers: </a:t>
            </a:r>
            <a:br>
              <a:rPr lang="en-US" dirty="0"/>
            </a:br>
            <a:r>
              <a:rPr lang="en-US" dirty="0">
                <a:latin typeface="Consolas" panose="020B0609020204030204" pitchFamily="49" charset="0"/>
                <a:ea typeface="Menlo" panose="020B0609030804020204" pitchFamily="49" charset="0"/>
                <a:cs typeface="Menlo" panose="020B0609030804020204" pitchFamily="49" charset="0"/>
              </a:rPr>
              <a:t>screen</a:t>
            </a:r>
            <a:r>
              <a:rPr lang="en-US" dirty="0"/>
              <a:t> + </a:t>
            </a:r>
            <a:r>
              <a:rPr lang="en-US" dirty="0" err="1">
                <a:latin typeface="Consolas" panose="020B0609020204030204" pitchFamily="49" charset="0"/>
                <a:ea typeface="Menlo" panose="020B0609030804020204" pitchFamily="49" charset="0"/>
                <a:cs typeface="Menlo" panose="020B0609030804020204" pitchFamily="49" charset="0"/>
              </a:rPr>
              <a:t>rsync</a:t>
            </a:r>
            <a:endParaRPr lang="en-US" dirty="0">
              <a:latin typeface="Consolas" panose="020B060902020403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F7D90A-8E5F-39DB-CD69-FD2A6D0678D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2667" y="1687654"/>
            <a:ext cx="6889044" cy="1465729"/>
          </a:xfrm>
        </p:spPr>
        <p:txBody>
          <a:bodyPr>
            <a:normAutofit lnSpcReduction="10000"/>
          </a:bodyPr>
          <a:lstStyle/>
          <a:p>
            <a:r>
              <a:rPr lang="en-US" dirty="0"/>
              <a:t>Start an interactive session with </a:t>
            </a:r>
            <a:r>
              <a:rPr lang="en-US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salloc</a:t>
            </a:r>
            <a:endParaRPr lang="en-US" dirty="0"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  <a:p>
            <a:r>
              <a:rPr lang="en-US" dirty="0"/>
              <a:t>Use </a:t>
            </a:r>
            <a:r>
              <a:rPr lang="en-US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screen</a:t>
            </a:r>
            <a:r>
              <a:rPr lang="en-US" dirty="0"/>
              <a:t> to multitask</a:t>
            </a:r>
          </a:p>
          <a:p>
            <a:r>
              <a:rPr lang="en-US" dirty="0"/>
              <a:t>Use </a:t>
            </a:r>
            <a:r>
              <a:rPr lang="en-US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rsync</a:t>
            </a:r>
            <a:r>
              <a:rPr lang="en-US" dirty="0"/>
              <a:t> rather than </a:t>
            </a:r>
            <a:r>
              <a:rPr lang="en-US" dirty="0">
                <a:latin typeface="Consolas" panose="020B0609020204030204" pitchFamily="49" charset="0"/>
              </a:rPr>
              <a:t>cp</a:t>
            </a:r>
            <a:r>
              <a:rPr lang="en-US" dirty="0"/>
              <a:t> or </a:t>
            </a:r>
            <a:r>
              <a:rPr lang="en-US" dirty="0">
                <a:latin typeface="Consolas" panose="020B0609020204030204" pitchFamily="49" charset="0"/>
              </a:rPr>
              <a:t>mv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981929D-00DC-7C94-20FE-25E129EE16BE}"/>
              </a:ext>
            </a:extLst>
          </p:cNvPr>
          <p:cNvSpPr txBox="1"/>
          <p:nvPr/>
        </p:nvSpPr>
        <p:spPr>
          <a:xfrm>
            <a:off x="1642304" y="3213328"/>
            <a:ext cx="498085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000" dirty="0" err="1">
                <a:solidFill>
                  <a:schemeClr val="bg1">
                    <a:lumMod val="95000"/>
                  </a:schemeClr>
                </a:solidFill>
                <a:highlight>
                  <a:srgbClr val="000000"/>
                </a:highlight>
                <a:latin typeface="Consolas" panose="020B0609020204030204" pitchFamily="49" charset="0"/>
                <a:ea typeface="Menlo" panose="020B0609030804020204" pitchFamily="49" charset="0"/>
                <a:cs typeface="Menlo" panose="020B0609030804020204" pitchFamily="49" charset="0"/>
              </a:rPr>
              <a:t>rsync</a:t>
            </a:r>
            <a:r>
              <a:rPr lang="en-US" sz="2000" dirty="0">
                <a:solidFill>
                  <a:schemeClr val="bg1">
                    <a:lumMod val="95000"/>
                  </a:schemeClr>
                </a:solidFill>
                <a:highlight>
                  <a:srgbClr val="000000"/>
                </a:highlight>
                <a:latin typeface="Consolas" panose="020B060902020403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[OPTIONS] SOURCE DESTINATION</a:t>
            </a:r>
          </a:p>
        </p:txBody>
      </p:sp>
      <p:pic>
        <p:nvPicPr>
          <p:cNvPr id="6" name="Picture 5" descr="A screenshot of a computer&#10;&#10;AI-generated content may be incorrect.">
            <a:extLst>
              <a:ext uri="{FF2B5EF4-FFF2-40B4-BE49-F238E27FC236}">
                <a16:creationId xmlns:a16="http://schemas.microsoft.com/office/drawing/2014/main" id="{68B84054-32FF-DF1A-FF42-CE6DD0AB5CB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6530" y="3737817"/>
            <a:ext cx="7772400" cy="2953298"/>
          </a:xfrm>
          <a:prstGeom prst="rect">
            <a:avLst/>
          </a:prstGeom>
        </p:spPr>
      </p:pic>
      <p:grpSp>
        <p:nvGrpSpPr>
          <p:cNvPr id="15" name="Group 14">
            <a:extLst>
              <a:ext uri="{FF2B5EF4-FFF2-40B4-BE49-F238E27FC236}">
                <a16:creationId xmlns:a16="http://schemas.microsoft.com/office/drawing/2014/main" id="{6C15DFED-BD04-3C37-096C-A2773E9E9E24}"/>
              </a:ext>
            </a:extLst>
          </p:cNvPr>
          <p:cNvGrpSpPr/>
          <p:nvPr/>
        </p:nvGrpSpPr>
        <p:grpSpPr>
          <a:xfrm>
            <a:off x="8879600" y="182483"/>
            <a:ext cx="1255728" cy="1283732"/>
            <a:chOff x="3032551" y="387638"/>
            <a:chExt cx="1255728" cy="1283732"/>
          </a:xfrm>
        </p:grpSpPr>
        <p:pic>
          <p:nvPicPr>
            <p:cNvPr id="16" name="Graphic 15" descr="Server with solid fill">
              <a:extLst>
                <a:ext uri="{FF2B5EF4-FFF2-40B4-BE49-F238E27FC236}">
                  <a16:creationId xmlns:a16="http://schemas.microsoft.com/office/drawing/2014/main" id="{77E0B4A3-A6F0-6609-AEEC-AFD508D67BC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3203215" y="387638"/>
              <a:ext cx="914400" cy="914400"/>
            </a:xfrm>
            <a:prstGeom prst="rect">
              <a:avLst/>
            </a:prstGeom>
          </p:spPr>
        </p:pic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536D18FD-68BD-FF65-2E3B-BA8B24A2CA56}"/>
                </a:ext>
              </a:extLst>
            </p:cNvPr>
            <p:cNvSpPr txBox="1"/>
            <p:nvPr/>
          </p:nvSpPr>
          <p:spPr>
            <a:xfrm>
              <a:off x="3032551" y="1302038"/>
              <a:ext cx="125572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Source Sans Pro" panose="020B0503030403020204" pitchFamily="34" charset="0"/>
                  <a:ea typeface="Source Sans Pro" panose="020B0503030403020204" pitchFamily="34" charset="0"/>
                </a:rPr>
                <a:t>netscratch</a:t>
              </a:r>
              <a:endParaRPr lang="en-US" dirty="0">
                <a:latin typeface="Source Sans Pro" panose="020B0503030403020204" pitchFamily="34" charset="0"/>
                <a:ea typeface="Source Sans Pro" panose="020B0503030403020204" pitchFamily="34" charset="0"/>
              </a:endParaRPr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D53790D7-B362-43E8-D60F-E0912672C3BD}"/>
              </a:ext>
            </a:extLst>
          </p:cNvPr>
          <p:cNvGrpSpPr/>
          <p:nvPr/>
        </p:nvGrpSpPr>
        <p:grpSpPr>
          <a:xfrm>
            <a:off x="10857878" y="175846"/>
            <a:ext cx="1101648" cy="1283732"/>
            <a:chOff x="5643892" y="387638"/>
            <a:chExt cx="1101648" cy="1283732"/>
          </a:xfrm>
        </p:grpSpPr>
        <p:pic>
          <p:nvPicPr>
            <p:cNvPr id="19" name="Graphic 18" descr="Server with solid fill">
              <a:extLst>
                <a:ext uri="{FF2B5EF4-FFF2-40B4-BE49-F238E27FC236}">
                  <a16:creationId xmlns:a16="http://schemas.microsoft.com/office/drawing/2014/main" id="{442D9AC5-CD1B-4E4E-4E23-E9E1ECB0EB8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5737516" y="387638"/>
              <a:ext cx="914400" cy="914400"/>
            </a:xfrm>
            <a:prstGeom prst="rect">
              <a:avLst/>
            </a:prstGeom>
          </p:spPr>
        </p:pic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10A7520D-6058-D9B9-49F2-58F71DF08CF2}"/>
                </a:ext>
              </a:extLst>
            </p:cNvPr>
            <p:cNvSpPr txBox="1"/>
            <p:nvPr/>
          </p:nvSpPr>
          <p:spPr>
            <a:xfrm>
              <a:off x="5643892" y="1302038"/>
              <a:ext cx="110164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Source Sans Pro" panose="020B0503030403020204" pitchFamily="34" charset="0"/>
                  <a:ea typeface="Source Sans Pro" panose="020B0503030403020204" pitchFamily="34" charset="0"/>
                </a:rPr>
                <a:t>lab share</a:t>
              </a:r>
            </a:p>
          </p:txBody>
        </p:sp>
      </p:grp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76B0CCB0-C152-F167-D4D8-74CC037D91E0}"/>
              </a:ext>
            </a:extLst>
          </p:cNvPr>
          <p:cNvCxnSpPr>
            <a:cxnSpLocks/>
          </p:cNvCxnSpPr>
          <p:nvPr/>
        </p:nvCxnSpPr>
        <p:spPr>
          <a:xfrm>
            <a:off x="9947189" y="631780"/>
            <a:ext cx="1004313" cy="0"/>
          </a:xfrm>
          <a:prstGeom prst="straightConnector1">
            <a:avLst/>
          </a:prstGeom>
          <a:ln w="38100">
            <a:solidFill>
              <a:schemeClr val="tx2">
                <a:lumMod val="50000"/>
                <a:lumOff val="50000"/>
              </a:schemeClr>
            </a:solidFill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1FD4C0EF-685C-C194-FFDF-D716EB4DD22E}"/>
              </a:ext>
            </a:extLst>
          </p:cNvPr>
          <p:cNvSpPr txBox="1"/>
          <p:nvPr/>
        </p:nvSpPr>
        <p:spPr>
          <a:xfrm>
            <a:off x="9998022" y="275418"/>
            <a:ext cx="85879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Consolas" panose="020B0609020204030204" pitchFamily="49" charset="0"/>
              </a:rPr>
              <a:t>rsync</a:t>
            </a:r>
            <a:endParaRPr lang="en-US" dirty="0">
              <a:latin typeface="Consolas" panose="020B0609020204030204" pitchFamily="49" charset="0"/>
            </a:endParaRP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5C013FA1-4008-9B50-E921-40DB5D45902E}"/>
              </a:ext>
            </a:extLst>
          </p:cNvPr>
          <p:cNvGrpSpPr/>
          <p:nvPr/>
        </p:nvGrpSpPr>
        <p:grpSpPr>
          <a:xfrm>
            <a:off x="10126805" y="1369687"/>
            <a:ext cx="739305" cy="703594"/>
            <a:chOff x="2170185" y="4087564"/>
            <a:chExt cx="1199739" cy="1141787"/>
          </a:xfrm>
        </p:grpSpPr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7771A7CA-2EBB-88CC-C0DB-217978683114}"/>
                </a:ext>
              </a:extLst>
            </p:cNvPr>
            <p:cNvSpPr txBox="1"/>
            <p:nvPr/>
          </p:nvSpPr>
          <p:spPr>
            <a:xfrm>
              <a:off x="2170185" y="4817298"/>
              <a:ext cx="1199739" cy="41205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50" dirty="0">
                  <a:latin typeface="Source Sans Pro" panose="020B0503030403020204" pitchFamily="34" charset="0"/>
                  <a:ea typeface="Source Sans Pro" panose="020B0503030403020204" pitchFamily="34" charset="0"/>
                </a:rPr>
                <a:t>computer</a:t>
              </a:r>
              <a:endParaRPr lang="en-US" dirty="0">
                <a:latin typeface="Source Sans Pro" panose="020B0503030403020204" pitchFamily="34" charset="0"/>
                <a:ea typeface="Source Sans Pro" panose="020B0503030403020204" pitchFamily="34" charset="0"/>
              </a:endParaRPr>
            </a:p>
          </p:txBody>
        </p:sp>
        <p:pic>
          <p:nvPicPr>
            <p:cNvPr id="12" name="Graphic 11" descr="Computer with solid fill">
              <a:extLst>
                <a:ext uri="{FF2B5EF4-FFF2-40B4-BE49-F238E27FC236}">
                  <a16:creationId xmlns:a16="http://schemas.microsoft.com/office/drawing/2014/main" id="{4CBC7DD0-5AFA-98DA-4906-ED438791FE7D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2293657" y="4087564"/>
              <a:ext cx="914400" cy="914400"/>
            </a:xfrm>
            <a:prstGeom prst="rect">
              <a:avLst/>
            </a:prstGeom>
          </p:spPr>
        </p:pic>
      </p:grp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371EE4FD-88FE-6F44-BF24-6A30C0903147}"/>
              </a:ext>
            </a:extLst>
          </p:cNvPr>
          <p:cNvCxnSpPr>
            <a:cxnSpLocks/>
          </p:cNvCxnSpPr>
          <p:nvPr/>
        </p:nvCxnSpPr>
        <p:spPr>
          <a:xfrm>
            <a:off x="9958918" y="1053079"/>
            <a:ext cx="321924" cy="337245"/>
          </a:xfrm>
          <a:prstGeom prst="straightConnector1">
            <a:avLst/>
          </a:prstGeom>
          <a:ln w="38100">
            <a:solidFill>
              <a:schemeClr val="tx2">
                <a:lumMod val="50000"/>
                <a:lumOff val="50000"/>
              </a:schemeClr>
            </a:solidFill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63B1F3D4-2A2B-8F9B-4380-CF76B498EFB5}"/>
              </a:ext>
            </a:extLst>
          </p:cNvPr>
          <p:cNvCxnSpPr>
            <a:cxnSpLocks/>
          </p:cNvCxnSpPr>
          <p:nvPr/>
        </p:nvCxnSpPr>
        <p:spPr>
          <a:xfrm rot="5400000">
            <a:off x="10647305" y="1067093"/>
            <a:ext cx="321924" cy="337245"/>
          </a:xfrm>
          <a:prstGeom prst="straightConnector1">
            <a:avLst/>
          </a:prstGeom>
          <a:ln w="38100">
            <a:solidFill>
              <a:schemeClr val="tx2">
                <a:lumMod val="50000"/>
                <a:lumOff val="50000"/>
              </a:schemeClr>
            </a:solidFill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A03F6648-51E1-D7A9-B0EB-15A3941851CE}"/>
              </a:ext>
            </a:extLst>
          </p:cNvPr>
          <p:cNvSpPr txBox="1"/>
          <p:nvPr/>
        </p:nvSpPr>
        <p:spPr>
          <a:xfrm>
            <a:off x="10031741" y="1114692"/>
            <a:ext cx="85879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dirty="0" err="1">
                <a:latin typeface="Consolas" panose="020B0609020204030204" pitchFamily="49" charset="0"/>
              </a:rPr>
              <a:t>rsync</a:t>
            </a:r>
            <a:endParaRPr lang="en-US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3028000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6ABEB4-B1D3-C374-041F-E287F7A9B5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4509A1-B35E-B0F1-0D06-D865E29715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6530" y="131060"/>
            <a:ext cx="10515600" cy="1325563"/>
          </a:xfrm>
        </p:spPr>
        <p:txBody>
          <a:bodyPr/>
          <a:lstStyle/>
          <a:p>
            <a:r>
              <a:rPr lang="en-US" dirty="0"/>
              <a:t>Command line file transfers: </a:t>
            </a:r>
            <a:br>
              <a:rPr lang="en-US" dirty="0"/>
            </a:br>
            <a:r>
              <a:rPr lang="en-US" dirty="0">
                <a:latin typeface="Consolas" panose="020B0609020204030204" pitchFamily="49" charset="0"/>
                <a:ea typeface="Menlo" panose="020B0609030804020204" pitchFamily="49" charset="0"/>
                <a:cs typeface="Menlo" panose="020B0609030804020204" pitchFamily="49" charset="0"/>
              </a:rPr>
              <a:t>screen</a:t>
            </a:r>
            <a:r>
              <a:rPr lang="en-US" dirty="0"/>
              <a:t> + </a:t>
            </a:r>
            <a:r>
              <a:rPr lang="en-US" dirty="0" err="1">
                <a:latin typeface="Consolas" panose="020B0609020204030204" pitchFamily="49" charset="0"/>
                <a:ea typeface="Menlo" panose="020B0609030804020204" pitchFamily="49" charset="0"/>
                <a:cs typeface="Menlo" panose="020B0609030804020204" pitchFamily="49" charset="0"/>
              </a:rPr>
              <a:t>rsync</a:t>
            </a:r>
            <a:endParaRPr lang="en-US" dirty="0">
              <a:latin typeface="Consolas" panose="020B060902020403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A2D933-B5BE-2932-58E4-785AAC377C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2667" y="1687654"/>
            <a:ext cx="6889044" cy="1465729"/>
          </a:xfrm>
        </p:spPr>
        <p:txBody>
          <a:bodyPr>
            <a:normAutofit lnSpcReduction="10000"/>
          </a:bodyPr>
          <a:lstStyle/>
          <a:p>
            <a:r>
              <a:rPr lang="en-US" dirty="0"/>
              <a:t>Start an interactive session with </a:t>
            </a:r>
            <a:r>
              <a:rPr lang="en-US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salloc</a:t>
            </a:r>
            <a:endParaRPr lang="en-US" dirty="0"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  <a:p>
            <a:r>
              <a:rPr lang="en-US" dirty="0"/>
              <a:t>Use </a:t>
            </a:r>
            <a:r>
              <a:rPr lang="en-US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screen</a:t>
            </a:r>
            <a:r>
              <a:rPr lang="en-US" dirty="0"/>
              <a:t> to multitask</a:t>
            </a:r>
          </a:p>
          <a:p>
            <a:r>
              <a:rPr lang="en-US" dirty="0"/>
              <a:t>Use </a:t>
            </a:r>
            <a:r>
              <a:rPr lang="en-US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rsync</a:t>
            </a:r>
            <a:r>
              <a:rPr lang="en-US" dirty="0"/>
              <a:t> rather than </a:t>
            </a:r>
            <a:r>
              <a:rPr lang="en-US" dirty="0">
                <a:latin typeface="Consolas" panose="020B0609020204030204" pitchFamily="49" charset="0"/>
              </a:rPr>
              <a:t>cp</a:t>
            </a:r>
            <a:r>
              <a:rPr lang="en-US" dirty="0"/>
              <a:t> or </a:t>
            </a:r>
            <a:r>
              <a:rPr lang="en-US" dirty="0">
                <a:latin typeface="Consolas" panose="020B0609020204030204" pitchFamily="49" charset="0"/>
              </a:rPr>
              <a:t>mv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C6A8CA6-928C-857D-9686-F726C1E9956D}"/>
              </a:ext>
            </a:extLst>
          </p:cNvPr>
          <p:cNvSpPr txBox="1"/>
          <p:nvPr/>
        </p:nvSpPr>
        <p:spPr>
          <a:xfrm>
            <a:off x="1642304" y="3213328"/>
            <a:ext cx="498085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000" dirty="0" err="1">
                <a:solidFill>
                  <a:schemeClr val="bg1">
                    <a:lumMod val="95000"/>
                  </a:schemeClr>
                </a:solidFill>
                <a:highlight>
                  <a:srgbClr val="000000"/>
                </a:highlight>
                <a:latin typeface="Consolas" panose="020B0609020204030204" pitchFamily="49" charset="0"/>
                <a:ea typeface="Menlo" panose="020B0609030804020204" pitchFamily="49" charset="0"/>
                <a:cs typeface="Menlo" panose="020B0609030804020204" pitchFamily="49" charset="0"/>
              </a:rPr>
              <a:t>rsync</a:t>
            </a:r>
            <a:r>
              <a:rPr lang="en-US" sz="2000" dirty="0">
                <a:solidFill>
                  <a:schemeClr val="bg1">
                    <a:lumMod val="95000"/>
                  </a:schemeClr>
                </a:solidFill>
                <a:highlight>
                  <a:srgbClr val="000000"/>
                </a:highlight>
                <a:latin typeface="Consolas" panose="020B060902020403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[OPTIONS] SOURCE DESTINATION</a:t>
            </a:r>
          </a:p>
        </p:txBody>
      </p:sp>
      <p:pic>
        <p:nvPicPr>
          <p:cNvPr id="6" name="Picture 5" descr="A screenshot of a computer&#10;&#10;AI-generated content may be incorrect.">
            <a:extLst>
              <a:ext uri="{FF2B5EF4-FFF2-40B4-BE49-F238E27FC236}">
                <a16:creationId xmlns:a16="http://schemas.microsoft.com/office/drawing/2014/main" id="{76FC8E64-AF3D-FFC7-24D0-768EE7941BB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6530" y="3737817"/>
            <a:ext cx="7772400" cy="2953298"/>
          </a:xfrm>
          <a:prstGeom prst="rect">
            <a:avLst/>
          </a:prstGeom>
        </p:spPr>
      </p:pic>
      <p:grpSp>
        <p:nvGrpSpPr>
          <p:cNvPr id="15" name="Group 14">
            <a:extLst>
              <a:ext uri="{FF2B5EF4-FFF2-40B4-BE49-F238E27FC236}">
                <a16:creationId xmlns:a16="http://schemas.microsoft.com/office/drawing/2014/main" id="{246254C8-F218-9C05-89BE-C5CCE2E42476}"/>
              </a:ext>
            </a:extLst>
          </p:cNvPr>
          <p:cNvGrpSpPr/>
          <p:nvPr/>
        </p:nvGrpSpPr>
        <p:grpSpPr>
          <a:xfrm>
            <a:off x="8879600" y="182483"/>
            <a:ext cx="1255728" cy="1283732"/>
            <a:chOff x="3032551" y="387638"/>
            <a:chExt cx="1255728" cy="1283732"/>
          </a:xfrm>
        </p:grpSpPr>
        <p:pic>
          <p:nvPicPr>
            <p:cNvPr id="16" name="Graphic 15" descr="Server with solid fill">
              <a:extLst>
                <a:ext uri="{FF2B5EF4-FFF2-40B4-BE49-F238E27FC236}">
                  <a16:creationId xmlns:a16="http://schemas.microsoft.com/office/drawing/2014/main" id="{57916EF6-D5E8-B13A-20D1-D0DD79A391D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3203215" y="387638"/>
              <a:ext cx="914400" cy="914400"/>
            </a:xfrm>
            <a:prstGeom prst="rect">
              <a:avLst/>
            </a:prstGeom>
          </p:spPr>
        </p:pic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24866A73-6703-2DB4-F60E-BEC5C17C2513}"/>
                </a:ext>
              </a:extLst>
            </p:cNvPr>
            <p:cNvSpPr txBox="1"/>
            <p:nvPr/>
          </p:nvSpPr>
          <p:spPr>
            <a:xfrm>
              <a:off x="3032551" y="1302038"/>
              <a:ext cx="125572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Source Sans Pro" panose="020B0503030403020204" pitchFamily="34" charset="0"/>
                  <a:ea typeface="Source Sans Pro" panose="020B0503030403020204" pitchFamily="34" charset="0"/>
                </a:rPr>
                <a:t>netscratch</a:t>
              </a:r>
              <a:endParaRPr lang="en-US" dirty="0">
                <a:latin typeface="Source Sans Pro" panose="020B0503030403020204" pitchFamily="34" charset="0"/>
                <a:ea typeface="Source Sans Pro" panose="020B0503030403020204" pitchFamily="34" charset="0"/>
              </a:endParaRPr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35FC26FE-0D43-087F-1015-E9A9A94F12D5}"/>
              </a:ext>
            </a:extLst>
          </p:cNvPr>
          <p:cNvGrpSpPr/>
          <p:nvPr/>
        </p:nvGrpSpPr>
        <p:grpSpPr>
          <a:xfrm>
            <a:off x="10857878" y="175846"/>
            <a:ext cx="1101648" cy="1283732"/>
            <a:chOff x="5643892" y="387638"/>
            <a:chExt cx="1101648" cy="1283732"/>
          </a:xfrm>
        </p:grpSpPr>
        <p:pic>
          <p:nvPicPr>
            <p:cNvPr id="19" name="Graphic 18" descr="Server with solid fill">
              <a:extLst>
                <a:ext uri="{FF2B5EF4-FFF2-40B4-BE49-F238E27FC236}">
                  <a16:creationId xmlns:a16="http://schemas.microsoft.com/office/drawing/2014/main" id="{DFB9B758-8743-CC1C-26B9-B24C17268233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5737516" y="387638"/>
              <a:ext cx="914400" cy="914400"/>
            </a:xfrm>
            <a:prstGeom prst="rect">
              <a:avLst/>
            </a:prstGeom>
          </p:spPr>
        </p:pic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11D4028F-C02C-BE79-82DB-F75E6B77629D}"/>
                </a:ext>
              </a:extLst>
            </p:cNvPr>
            <p:cNvSpPr txBox="1"/>
            <p:nvPr/>
          </p:nvSpPr>
          <p:spPr>
            <a:xfrm>
              <a:off x="5643892" y="1302038"/>
              <a:ext cx="110164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Source Sans Pro" panose="020B0503030403020204" pitchFamily="34" charset="0"/>
                  <a:ea typeface="Source Sans Pro" panose="020B0503030403020204" pitchFamily="34" charset="0"/>
                </a:rPr>
                <a:t>lab share</a:t>
              </a:r>
            </a:p>
          </p:txBody>
        </p:sp>
      </p:grp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F4A4745D-4D13-8124-39F7-BEE073ECA219}"/>
              </a:ext>
            </a:extLst>
          </p:cNvPr>
          <p:cNvCxnSpPr>
            <a:cxnSpLocks/>
          </p:cNvCxnSpPr>
          <p:nvPr/>
        </p:nvCxnSpPr>
        <p:spPr>
          <a:xfrm>
            <a:off x="9947189" y="631780"/>
            <a:ext cx="1004313" cy="0"/>
          </a:xfrm>
          <a:prstGeom prst="straightConnector1">
            <a:avLst/>
          </a:prstGeom>
          <a:ln w="38100">
            <a:solidFill>
              <a:schemeClr val="tx2">
                <a:lumMod val="50000"/>
                <a:lumOff val="50000"/>
              </a:schemeClr>
            </a:solidFill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B13BDC14-5A96-E06D-E130-CED4ECEFAD27}"/>
              </a:ext>
            </a:extLst>
          </p:cNvPr>
          <p:cNvSpPr txBox="1"/>
          <p:nvPr/>
        </p:nvSpPr>
        <p:spPr>
          <a:xfrm>
            <a:off x="9998022" y="275418"/>
            <a:ext cx="85879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Consolas" panose="020B0609020204030204" pitchFamily="49" charset="0"/>
              </a:rPr>
              <a:t>rsync</a:t>
            </a:r>
            <a:endParaRPr lang="en-US" dirty="0">
              <a:latin typeface="Consolas" panose="020B0609020204030204" pitchFamily="49" charset="0"/>
            </a:endParaRP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AF3DCF39-0F4C-E8A3-286B-2A94CB293EF6}"/>
              </a:ext>
            </a:extLst>
          </p:cNvPr>
          <p:cNvGrpSpPr/>
          <p:nvPr/>
        </p:nvGrpSpPr>
        <p:grpSpPr>
          <a:xfrm>
            <a:off x="10126805" y="1369687"/>
            <a:ext cx="739305" cy="703594"/>
            <a:chOff x="2170185" y="4087564"/>
            <a:chExt cx="1199739" cy="1141787"/>
          </a:xfrm>
        </p:grpSpPr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56E655D1-8A99-F6F7-2B5E-2BCA08E1B1E2}"/>
                </a:ext>
              </a:extLst>
            </p:cNvPr>
            <p:cNvSpPr txBox="1"/>
            <p:nvPr/>
          </p:nvSpPr>
          <p:spPr>
            <a:xfrm>
              <a:off x="2170185" y="4817298"/>
              <a:ext cx="1199739" cy="41205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50" dirty="0">
                  <a:latin typeface="Source Sans Pro" panose="020B0503030403020204" pitchFamily="34" charset="0"/>
                  <a:ea typeface="Source Sans Pro" panose="020B0503030403020204" pitchFamily="34" charset="0"/>
                </a:rPr>
                <a:t>computer</a:t>
              </a:r>
              <a:endParaRPr lang="en-US" dirty="0">
                <a:latin typeface="Source Sans Pro" panose="020B0503030403020204" pitchFamily="34" charset="0"/>
                <a:ea typeface="Source Sans Pro" panose="020B0503030403020204" pitchFamily="34" charset="0"/>
              </a:endParaRPr>
            </a:p>
          </p:txBody>
        </p:sp>
        <p:pic>
          <p:nvPicPr>
            <p:cNvPr id="12" name="Graphic 11" descr="Computer with solid fill">
              <a:extLst>
                <a:ext uri="{FF2B5EF4-FFF2-40B4-BE49-F238E27FC236}">
                  <a16:creationId xmlns:a16="http://schemas.microsoft.com/office/drawing/2014/main" id="{A48253F6-5390-E5B6-5A95-11C832C91119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2293657" y="4087564"/>
              <a:ext cx="914400" cy="914400"/>
            </a:xfrm>
            <a:prstGeom prst="rect">
              <a:avLst/>
            </a:prstGeom>
          </p:spPr>
        </p:pic>
      </p:grp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7C7A2A64-D4EE-53B8-8A6E-FA1C3F700623}"/>
              </a:ext>
            </a:extLst>
          </p:cNvPr>
          <p:cNvCxnSpPr>
            <a:cxnSpLocks/>
          </p:cNvCxnSpPr>
          <p:nvPr/>
        </p:nvCxnSpPr>
        <p:spPr>
          <a:xfrm>
            <a:off x="9958918" y="1053079"/>
            <a:ext cx="321924" cy="337245"/>
          </a:xfrm>
          <a:prstGeom prst="straightConnector1">
            <a:avLst/>
          </a:prstGeom>
          <a:ln w="38100">
            <a:solidFill>
              <a:schemeClr val="tx2">
                <a:lumMod val="50000"/>
                <a:lumOff val="50000"/>
              </a:schemeClr>
            </a:solidFill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DFDB7124-0E05-45BC-0CE1-691370118556}"/>
              </a:ext>
            </a:extLst>
          </p:cNvPr>
          <p:cNvCxnSpPr>
            <a:cxnSpLocks/>
          </p:cNvCxnSpPr>
          <p:nvPr/>
        </p:nvCxnSpPr>
        <p:spPr>
          <a:xfrm rot="5400000">
            <a:off x="10647305" y="1067093"/>
            <a:ext cx="321924" cy="337245"/>
          </a:xfrm>
          <a:prstGeom prst="straightConnector1">
            <a:avLst/>
          </a:prstGeom>
          <a:ln w="38100">
            <a:solidFill>
              <a:schemeClr val="tx2">
                <a:lumMod val="50000"/>
                <a:lumOff val="50000"/>
              </a:schemeClr>
            </a:solidFill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392E748B-C374-2A78-5E92-A490C49D881F}"/>
              </a:ext>
            </a:extLst>
          </p:cNvPr>
          <p:cNvSpPr txBox="1"/>
          <p:nvPr/>
        </p:nvSpPr>
        <p:spPr>
          <a:xfrm>
            <a:off x="10031741" y="1114692"/>
            <a:ext cx="85879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dirty="0" err="1">
                <a:latin typeface="Consolas" panose="020B0609020204030204" pitchFamily="49" charset="0"/>
              </a:rPr>
              <a:t>rsync</a:t>
            </a:r>
            <a:endParaRPr lang="en-US" dirty="0">
              <a:latin typeface="Consolas" panose="020B0609020204030204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0E42FE0-54D5-80EA-88F2-7A29A73BD7F1}"/>
              </a:ext>
            </a:extLst>
          </p:cNvPr>
          <p:cNvSpPr txBox="1"/>
          <p:nvPr/>
        </p:nvSpPr>
        <p:spPr>
          <a:xfrm>
            <a:off x="8265460" y="2660063"/>
            <a:ext cx="39265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u="sng" dirty="0">
                <a:latin typeface="Source Sans Pro" panose="020B0503030403020204" pitchFamily="34" charset="0"/>
                <a:ea typeface="Source Sans Pro" panose="020B0503030403020204" pitchFamily="34" charset="0"/>
              </a:rPr>
              <a:t>Helpful options for </a:t>
            </a:r>
            <a:r>
              <a:rPr lang="en-US" u="sng" dirty="0" err="1">
                <a:latin typeface="Consolas" panose="020B0609020204030204" pitchFamily="49" charset="0"/>
                <a:ea typeface="Source Sans Pro" panose="020B0503030403020204" pitchFamily="34" charset="0"/>
              </a:rPr>
              <a:t>rsync</a:t>
            </a:r>
            <a:endParaRPr lang="en-US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2B2385E7-0B60-8731-67C1-E38829906A0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61094030"/>
              </p:ext>
            </p:extLst>
          </p:nvPr>
        </p:nvGraphicFramePr>
        <p:xfrm>
          <a:off x="8368850" y="3102782"/>
          <a:ext cx="3572918" cy="3479800"/>
        </p:xfrm>
        <a:graphic>
          <a:graphicData uri="http://schemas.openxmlformats.org/drawingml/2006/table">
            <a:tbl>
              <a:tblPr firstRow="1" bandRow="1">
                <a:tableStyleId>{616DA210-FB5B-4158-B5E0-FEB733F419BA}</a:tableStyleId>
              </a:tblPr>
              <a:tblGrid>
                <a:gridCol w="1615492">
                  <a:extLst>
                    <a:ext uri="{9D8B030D-6E8A-4147-A177-3AD203B41FA5}">
                      <a16:colId xmlns:a16="http://schemas.microsoft.com/office/drawing/2014/main" val="3298165829"/>
                    </a:ext>
                  </a:extLst>
                </a:gridCol>
                <a:gridCol w="1957426">
                  <a:extLst>
                    <a:ext uri="{9D8B030D-6E8A-4147-A177-3AD203B41FA5}">
                      <a16:colId xmlns:a16="http://schemas.microsoft.com/office/drawing/2014/main" val="87184953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800" dirty="0">
                          <a:latin typeface="Consolas" panose="020B0609020204030204" pitchFamily="49" charset="0"/>
                          <a:ea typeface="Source Sans Pro" panose="020B0503030403020204" pitchFamily="34" charset="0"/>
                        </a:rPr>
                        <a:t>-a</a:t>
                      </a:r>
                      <a:r>
                        <a:rPr lang="en-US" sz="1800" dirty="0"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 </a:t>
                      </a:r>
                      <a:endParaRPr lang="en-US" sz="1800" b="0" dirty="0">
                        <a:latin typeface="Consolas" panose="020B0609020204030204" pitchFamily="49" charset="0"/>
                      </a:endParaRP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“archive mode”, produces most exact copy</a:t>
                      </a:r>
                      <a:endParaRPr lang="en-US" sz="1800" b="0" dirty="0">
                        <a:latin typeface="Consolas" panose="020B0609020204030204" pitchFamily="49" charset="0"/>
                      </a:endParaRP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31847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b="0" dirty="0">
                          <a:latin typeface="Consolas" panose="020B0609020204030204" pitchFamily="49" charset="0"/>
                        </a:rPr>
                        <a:t>-v</a:t>
                      </a: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“verbose”, prints more stuff</a:t>
                      </a:r>
                      <a:endParaRPr lang="en-US" sz="1800" b="0" dirty="0">
                        <a:latin typeface="Consolas" panose="020B0609020204030204" pitchFamily="49" charset="0"/>
                      </a:endParaRP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7767468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b="0" dirty="0">
                          <a:latin typeface="Consolas" panose="020B0609020204030204" pitchFamily="49" charset="0"/>
                        </a:rPr>
                        <a:t>-h</a:t>
                      </a: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“human readable” makes file sizes make sense</a:t>
                      </a:r>
                      <a:endParaRPr lang="en-US" sz="1800" b="0" dirty="0">
                        <a:latin typeface="Consolas" panose="020B0609020204030204" pitchFamily="49" charset="0"/>
                      </a:endParaRP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45670425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b="0" dirty="0">
                          <a:latin typeface="Consolas" panose="020B0609020204030204" pitchFamily="49" charset="0"/>
                        </a:rPr>
                        <a:t>--progress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displays progress</a:t>
                      </a:r>
                      <a:endParaRPr lang="en-US" sz="1800" b="0" dirty="0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621221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b="0" dirty="0">
                          <a:latin typeface="Consolas" panose="020B0609020204030204" pitchFamily="49" charset="0"/>
                        </a:rPr>
                        <a:t>--stats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prints stats at the end</a:t>
                      </a:r>
                      <a:endParaRPr lang="en-US" sz="1800" b="0" dirty="0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527155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1963169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EF99BF-B3FB-3A34-637D-3BEDC9A31B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3E8A56-B887-7EDE-C4D7-DF280E672C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8006" y="122602"/>
            <a:ext cx="10515600" cy="1325563"/>
          </a:xfrm>
        </p:spPr>
        <p:txBody>
          <a:bodyPr/>
          <a:lstStyle/>
          <a:p>
            <a:r>
              <a:rPr lang="en-US" dirty="0"/>
              <a:t>Transfer between the cluster and Google Drive: </a:t>
            </a:r>
            <a:r>
              <a:rPr lang="en-US" dirty="0" err="1">
                <a:latin typeface="Consolas" panose="020B0609020204030204" pitchFamily="49" charset="0"/>
              </a:rPr>
              <a:t>rclone</a:t>
            </a:r>
            <a:endParaRPr lang="en-US" dirty="0">
              <a:latin typeface="Consolas" panose="020B0609020204030204" pitchFamily="49" charset="0"/>
            </a:endParaRP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4E509FB9-4191-E5EA-62CB-C4075CF931A9}"/>
              </a:ext>
            </a:extLst>
          </p:cNvPr>
          <p:cNvGrpSpPr/>
          <p:nvPr/>
        </p:nvGrpSpPr>
        <p:grpSpPr>
          <a:xfrm>
            <a:off x="3142205" y="1686790"/>
            <a:ext cx="1101648" cy="1283732"/>
            <a:chOff x="5643892" y="387638"/>
            <a:chExt cx="1101648" cy="1283732"/>
          </a:xfrm>
        </p:grpSpPr>
        <p:pic>
          <p:nvPicPr>
            <p:cNvPr id="5" name="Graphic 4" descr="Server with solid fill">
              <a:extLst>
                <a:ext uri="{FF2B5EF4-FFF2-40B4-BE49-F238E27FC236}">
                  <a16:creationId xmlns:a16="http://schemas.microsoft.com/office/drawing/2014/main" id="{C890B700-0E88-C8E7-10B2-0E6B948230C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737516" y="387638"/>
              <a:ext cx="914400" cy="914400"/>
            </a:xfrm>
            <a:prstGeom prst="rect">
              <a:avLst/>
            </a:prstGeom>
          </p:spPr>
        </p:pic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FC0A9C9A-B0DC-6B8C-742F-ABE745E4EA2C}"/>
                </a:ext>
              </a:extLst>
            </p:cNvPr>
            <p:cNvSpPr txBox="1"/>
            <p:nvPr/>
          </p:nvSpPr>
          <p:spPr>
            <a:xfrm>
              <a:off x="5643892" y="1302038"/>
              <a:ext cx="110164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Source Sans Pro" panose="020B0503030403020204" pitchFamily="34" charset="0"/>
                  <a:ea typeface="Source Sans Pro" panose="020B0503030403020204" pitchFamily="34" charset="0"/>
                </a:rPr>
                <a:t>lab share</a:t>
              </a:r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E4F4594C-D9EF-19BA-3646-0DB2DCFDE2B8}"/>
              </a:ext>
            </a:extLst>
          </p:cNvPr>
          <p:cNvGrpSpPr/>
          <p:nvPr/>
        </p:nvGrpSpPr>
        <p:grpSpPr>
          <a:xfrm>
            <a:off x="5515002" y="1786152"/>
            <a:ext cx="780278" cy="1039070"/>
            <a:chOff x="9898343" y="3203218"/>
            <a:chExt cx="780278" cy="1039070"/>
          </a:xfrm>
        </p:grpSpPr>
        <p:pic>
          <p:nvPicPr>
            <p:cNvPr id="8" name="Picture 2">
              <a:hlinkClick r:id="rId4"/>
              <a:extLst>
                <a:ext uri="{FF2B5EF4-FFF2-40B4-BE49-F238E27FC236}">
                  <a16:creationId xmlns:a16="http://schemas.microsoft.com/office/drawing/2014/main" id="{E893AEE3-2570-508E-850B-9D6BF492456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898343" y="3203218"/>
              <a:ext cx="750341" cy="66973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7A3ED945-1032-FD62-54A9-D6CEE4C1CC9F}"/>
                </a:ext>
              </a:extLst>
            </p:cNvPr>
            <p:cNvSpPr txBox="1"/>
            <p:nvPr/>
          </p:nvSpPr>
          <p:spPr>
            <a:xfrm>
              <a:off x="9898343" y="3872956"/>
              <a:ext cx="78027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Source Sans Pro" panose="020B0503030403020204" pitchFamily="34" charset="0"/>
                  <a:ea typeface="Source Sans Pro" panose="020B0503030403020204" pitchFamily="34" charset="0"/>
                </a:rPr>
                <a:t>gdrive</a:t>
              </a:r>
              <a:endParaRPr lang="en-US" dirty="0">
                <a:latin typeface="Source Sans Pro" panose="020B0503030403020204" pitchFamily="34" charset="0"/>
                <a:ea typeface="Source Sans Pro" panose="020B0503030403020204" pitchFamily="34" charset="0"/>
              </a:endParaRPr>
            </a:p>
          </p:txBody>
        </p:sp>
      </p:grp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E5E93B4A-153E-A893-1724-7C562E6D9301}"/>
              </a:ext>
            </a:extLst>
          </p:cNvPr>
          <p:cNvCxnSpPr>
            <a:cxnSpLocks/>
            <a:stCxn id="5" idx="3"/>
          </p:cNvCxnSpPr>
          <p:nvPr/>
        </p:nvCxnSpPr>
        <p:spPr>
          <a:xfrm>
            <a:off x="4150229" y="2143990"/>
            <a:ext cx="1255852" cy="0"/>
          </a:xfrm>
          <a:prstGeom prst="straightConnector1">
            <a:avLst/>
          </a:prstGeom>
          <a:ln w="38100">
            <a:solidFill>
              <a:schemeClr val="tx2">
                <a:lumMod val="50000"/>
                <a:lumOff val="50000"/>
              </a:schemeClr>
            </a:solidFill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12" name="Group 11">
            <a:extLst>
              <a:ext uri="{FF2B5EF4-FFF2-40B4-BE49-F238E27FC236}">
                <a16:creationId xmlns:a16="http://schemas.microsoft.com/office/drawing/2014/main" id="{5EE60294-62EC-B004-360B-AA07A45367B3}"/>
              </a:ext>
            </a:extLst>
          </p:cNvPr>
          <p:cNvGrpSpPr/>
          <p:nvPr/>
        </p:nvGrpSpPr>
        <p:grpSpPr>
          <a:xfrm>
            <a:off x="7394008" y="1686790"/>
            <a:ext cx="1255728" cy="1283732"/>
            <a:chOff x="3032551" y="387638"/>
            <a:chExt cx="1255728" cy="1283732"/>
          </a:xfrm>
        </p:grpSpPr>
        <p:pic>
          <p:nvPicPr>
            <p:cNvPr id="13" name="Graphic 12" descr="Server with solid fill">
              <a:extLst>
                <a:ext uri="{FF2B5EF4-FFF2-40B4-BE49-F238E27FC236}">
                  <a16:creationId xmlns:a16="http://schemas.microsoft.com/office/drawing/2014/main" id="{D9E4800E-C88D-6836-0EF9-E816269783EE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3203215" y="387638"/>
              <a:ext cx="914400" cy="914400"/>
            </a:xfrm>
            <a:prstGeom prst="rect">
              <a:avLst/>
            </a:prstGeom>
          </p:spPr>
        </p:pic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18ABB30E-D7B1-4739-EBD9-01589D2233F4}"/>
                </a:ext>
              </a:extLst>
            </p:cNvPr>
            <p:cNvSpPr txBox="1"/>
            <p:nvPr/>
          </p:nvSpPr>
          <p:spPr>
            <a:xfrm>
              <a:off x="3032551" y="1302038"/>
              <a:ext cx="125572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Source Sans Pro" panose="020B0503030403020204" pitchFamily="34" charset="0"/>
                  <a:ea typeface="Source Sans Pro" panose="020B0503030403020204" pitchFamily="34" charset="0"/>
                </a:rPr>
                <a:t>netscratch</a:t>
              </a:r>
              <a:endParaRPr lang="en-US" dirty="0">
                <a:latin typeface="Source Sans Pro" panose="020B0503030403020204" pitchFamily="34" charset="0"/>
                <a:ea typeface="Source Sans Pro" panose="020B0503030403020204" pitchFamily="34" charset="0"/>
              </a:endParaRPr>
            </a:p>
          </p:txBody>
        </p:sp>
      </p:grp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BB563F7B-3EB8-FA92-AAB4-741D60CE4199}"/>
              </a:ext>
            </a:extLst>
          </p:cNvPr>
          <p:cNvCxnSpPr>
            <a:cxnSpLocks/>
          </p:cNvCxnSpPr>
          <p:nvPr/>
        </p:nvCxnSpPr>
        <p:spPr>
          <a:xfrm>
            <a:off x="6342469" y="2143990"/>
            <a:ext cx="1222203" cy="0"/>
          </a:xfrm>
          <a:prstGeom prst="straightConnector1">
            <a:avLst/>
          </a:prstGeom>
          <a:ln w="38100">
            <a:solidFill>
              <a:schemeClr val="tx2">
                <a:lumMod val="50000"/>
                <a:lumOff val="50000"/>
              </a:schemeClr>
            </a:solidFill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CBC82147-48D9-00C0-82C2-77E30C191AEE}"/>
              </a:ext>
            </a:extLst>
          </p:cNvPr>
          <p:cNvSpPr txBox="1"/>
          <p:nvPr/>
        </p:nvSpPr>
        <p:spPr>
          <a:xfrm>
            <a:off x="4348758" y="1805436"/>
            <a:ext cx="85879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err="1">
                <a:latin typeface="Consolas" panose="020B0609020204030204" pitchFamily="49" charset="0"/>
              </a:rPr>
              <a:t>rclone</a:t>
            </a:r>
            <a:endParaRPr lang="en-US" dirty="0"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AF0876C-E6B8-15C8-789E-9A36C8A6634E}"/>
              </a:ext>
            </a:extLst>
          </p:cNvPr>
          <p:cNvSpPr txBox="1"/>
          <p:nvPr/>
        </p:nvSpPr>
        <p:spPr>
          <a:xfrm>
            <a:off x="6535214" y="1805436"/>
            <a:ext cx="85879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err="1">
                <a:latin typeface="Consolas" panose="020B0609020204030204" pitchFamily="49" charset="0"/>
              </a:rPr>
              <a:t>rclone</a:t>
            </a:r>
            <a:endParaRPr lang="en-US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7026400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AE2DC6-8F58-77B7-B438-CEF3873A32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8006" y="122602"/>
            <a:ext cx="10515600" cy="1325563"/>
          </a:xfrm>
        </p:spPr>
        <p:txBody>
          <a:bodyPr/>
          <a:lstStyle/>
          <a:p>
            <a:r>
              <a:rPr lang="en-US" dirty="0"/>
              <a:t>Transfer between the cluster and Google Drive: </a:t>
            </a:r>
            <a:r>
              <a:rPr lang="en-US" dirty="0" err="1">
                <a:latin typeface="Consolas" panose="020B0609020204030204" pitchFamily="49" charset="0"/>
              </a:rPr>
              <a:t>rclone</a:t>
            </a:r>
            <a:endParaRPr lang="en-US" dirty="0">
              <a:latin typeface="Consolas" panose="020B0609020204030204" pitchFamily="49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337957-9563-935C-119F-4493F389EB3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3608915"/>
            <a:ext cx="10515600" cy="2535495"/>
          </a:xfrm>
        </p:spPr>
        <p:txBody>
          <a:bodyPr/>
          <a:lstStyle/>
          <a:p>
            <a:r>
              <a:rPr lang="en-US" dirty="0"/>
              <a:t>Not great for many small files (2 files per second limit)</a:t>
            </a:r>
          </a:p>
          <a:p>
            <a:r>
              <a:rPr lang="en-US" dirty="0"/>
              <a:t>FASRC Docs</a:t>
            </a:r>
          </a:p>
          <a:p>
            <a:pPr lvl="1"/>
            <a:r>
              <a:rPr lang="en-US" dirty="0">
                <a:hlinkClick r:id="rId2"/>
              </a:rPr>
              <a:t>https://docs.rc.fas.harvard.edu/kb/rclone/</a:t>
            </a:r>
            <a:r>
              <a:rPr lang="en-US" dirty="0"/>
              <a:t> </a:t>
            </a:r>
          </a:p>
          <a:p>
            <a:r>
              <a:rPr lang="en-US" dirty="0"/>
              <a:t>Walkthrough to connect to your google drive</a:t>
            </a:r>
          </a:p>
          <a:p>
            <a:pPr lvl="1"/>
            <a:r>
              <a:rPr lang="en-US" dirty="0">
                <a:hlinkClick r:id="rId3"/>
              </a:rPr>
              <a:t>https://rclone.org/drive/</a:t>
            </a:r>
            <a:r>
              <a:rPr lang="en-US" dirty="0"/>
              <a:t> 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41249D89-F7A3-4C8C-D7FB-2F462AF65A07}"/>
              </a:ext>
            </a:extLst>
          </p:cNvPr>
          <p:cNvGrpSpPr/>
          <p:nvPr/>
        </p:nvGrpSpPr>
        <p:grpSpPr>
          <a:xfrm>
            <a:off x="3142205" y="1686790"/>
            <a:ext cx="1101648" cy="1283732"/>
            <a:chOff x="5643892" y="387638"/>
            <a:chExt cx="1101648" cy="1283732"/>
          </a:xfrm>
        </p:grpSpPr>
        <p:pic>
          <p:nvPicPr>
            <p:cNvPr id="5" name="Graphic 4" descr="Server with solid fill">
              <a:extLst>
                <a:ext uri="{FF2B5EF4-FFF2-40B4-BE49-F238E27FC236}">
                  <a16:creationId xmlns:a16="http://schemas.microsoft.com/office/drawing/2014/main" id="{FD68547D-3122-D0C4-68D7-23F92E8C316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5737516" y="387638"/>
              <a:ext cx="914400" cy="914400"/>
            </a:xfrm>
            <a:prstGeom prst="rect">
              <a:avLst/>
            </a:prstGeom>
          </p:spPr>
        </p:pic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78A9332B-BF49-E644-060B-BBF4C53627D1}"/>
                </a:ext>
              </a:extLst>
            </p:cNvPr>
            <p:cNvSpPr txBox="1"/>
            <p:nvPr/>
          </p:nvSpPr>
          <p:spPr>
            <a:xfrm>
              <a:off x="5643892" y="1302038"/>
              <a:ext cx="110164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Source Sans Pro" panose="020B0503030403020204" pitchFamily="34" charset="0"/>
                  <a:ea typeface="Source Sans Pro" panose="020B0503030403020204" pitchFamily="34" charset="0"/>
                </a:rPr>
                <a:t>lab share</a:t>
              </a:r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57CE38CE-7397-5843-9A0C-58FC659522CF}"/>
              </a:ext>
            </a:extLst>
          </p:cNvPr>
          <p:cNvGrpSpPr/>
          <p:nvPr/>
        </p:nvGrpSpPr>
        <p:grpSpPr>
          <a:xfrm>
            <a:off x="5515002" y="1786152"/>
            <a:ext cx="780278" cy="1039070"/>
            <a:chOff x="9898343" y="3203218"/>
            <a:chExt cx="780278" cy="1039070"/>
          </a:xfrm>
        </p:grpSpPr>
        <p:pic>
          <p:nvPicPr>
            <p:cNvPr id="8" name="Picture 2">
              <a:hlinkClick r:id="rId6"/>
              <a:extLst>
                <a:ext uri="{FF2B5EF4-FFF2-40B4-BE49-F238E27FC236}">
                  <a16:creationId xmlns:a16="http://schemas.microsoft.com/office/drawing/2014/main" id="{444010F7-C350-3D51-35A2-27DA85398EE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898343" y="3203218"/>
              <a:ext cx="750341" cy="66973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56CBF775-CF6E-FBA8-BD75-F62192797396}"/>
                </a:ext>
              </a:extLst>
            </p:cNvPr>
            <p:cNvSpPr txBox="1"/>
            <p:nvPr/>
          </p:nvSpPr>
          <p:spPr>
            <a:xfrm>
              <a:off x="9898343" y="3872956"/>
              <a:ext cx="78027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Source Sans Pro" panose="020B0503030403020204" pitchFamily="34" charset="0"/>
                  <a:ea typeface="Source Sans Pro" panose="020B0503030403020204" pitchFamily="34" charset="0"/>
                </a:rPr>
                <a:t>gdrive</a:t>
              </a:r>
              <a:endParaRPr lang="en-US" dirty="0">
                <a:latin typeface="Source Sans Pro" panose="020B0503030403020204" pitchFamily="34" charset="0"/>
                <a:ea typeface="Source Sans Pro" panose="020B0503030403020204" pitchFamily="34" charset="0"/>
              </a:endParaRPr>
            </a:p>
          </p:txBody>
        </p:sp>
      </p:grp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110B6D67-1C37-606D-E1BF-DDF74D9A8206}"/>
              </a:ext>
            </a:extLst>
          </p:cNvPr>
          <p:cNvCxnSpPr>
            <a:cxnSpLocks/>
            <a:stCxn id="5" idx="3"/>
          </p:cNvCxnSpPr>
          <p:nvPr/>
        </p:nvCxnSpPr>
        <p:spPr>
          <a:xfrm>
            <a:off x="4150229" y="2143990"/>
            <a:ext cx="1255852" cy="0"/>
          </a:xfrm>
          <a:prstGeom prst="straightConnector1">
            <a:avLst/>
          </a:prstGeom>
          <a:ln w="38100">
            <a:solidFill>
              <a:schemeClr val="tx2">
                <a:lumMod val="50000"/>
                <a:lumOff val="50000"/>
              </a:schemeClr>
            </a:solidFill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12" name="Group 11">
            <a:extLst>
              <a:ext uri="{FF2B5EF4-FFF2-40B4-BE49-F238E27FC236}">
                <a16:creationId xmlns:a16="http://schemas.microsoft.com/office/drawing/2014/main" id="{32529AA6-CE93-59DF-F69F-F74194AB3746}"/>
              </a:ext>
            </a:extLst>
          </p:cNvPr>
          <p:cNvGrpSpPr/>
          <p:nvPr/>
        </p:nvGrpSpPr>
        <p:grpSpPr>
          <a:xfrm>
            <a:off x="7394008" y="1686790"/>
            <a:ext cx="1255728" cy="1283732"/>
            <a:chOff x="3032551" y="387638"/>
            <a:chExt cx="1255728" cy="1283732"/>
          </a:xfrm>
        </p:grpSpPr>
        <p:pic>
          <p:nvPicPr>
            <p:cNvPr id="13" name="Graphic 12" descr="Server with solid fill">
              <a:extLst>
                <a:ext uri="{FF2B5EF4-FFF2-40B4-BE49-F238E27FC236}">
                  <a16:creationId xmlns:a16="http://schemas.microsoft.com/office/drawing/2014/main" id="{B370B1A7-C295-E65E-364F-E35A2CEAB24C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3203215" y="387638"/>
              <a:ext cx="914400" cy="914400"/>
            </a:xfrm>
            <a:prstGeom prst="rect">
              <a:avLst/>
            </a:prstGeom>
          </p:spPr>
        </p:pic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598BB53B-CC27-03F5-E7A6-B8920B8EBE1A}"/>
                </a:ext>
              </a:extLst>
            </p:cNvPr>
            <p:cNvSpPr txBox="1"/>
            <p:nvPr/>
          </p:nvSpPr>
          <p:spPr>
            <a:xfrm>
              <a:off x="3032551" y="1302038"/>
              <a:ext cx="125572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Source Sans Pro" panose="020B0503030403020204" pitchFamily="34" charset="0"/>
                  <a:ea typeface="Source Sans Pro" panose="020B0503030403020204" pitchFamily="34" charset="0"/>
                </a:rPr>
                <a:t>netscratch</a:t>
              </a:r>
              <a:endParaRPr lang="en-US" dirty="0">
                <a:latin typeface="Source Sans Pro" panose="020B0503030403020204" pitchFamily="34" charset="0"/>
                <a:ea typeface="Source Sans Pro" panose="020B0503030403020204" pitchFamily="34" charset="0"/>
              </a:endParaRPr>
            </a:p>
          </p:txBody>
        </p:sp>
      </p:grp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0BE1CBEF-D1F5-6A2A-7B57-0C0A9727D41F}"/>
              </a:ext>
            </a:extLst>
          </p:cNvPr>
          <p:cNvCxnSpPr>
            <a:cxnSpLocks/>
          </p:cNvCxnSpPr>
          <p:nvPr/>
        </p:nvCxnSpPr>
        <p:spPr>
          <a:xfrm>
            <a:off x="6342469" y="2143990"/>
            <a:ext cx="1222203" cy="0"/>
          </a:xfrm>
          <a:prstGeom prst="straightConnector1">
            <a:avLst/>
          </a:prstGeom>
          <a:ln w="38100">
            <a:solidFill>
              <a:schemeClr val="tx2">
                <a:lumMod val="50000"/>
                <a:lumOff val="50000"/>
              </a:schemeClr>
            </a:solidFill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B736E192-F822-CDA6-A60F-BAE61A484E56}"/>
              </a:ext>
            </a:extLst>
          </p:cNvPr>
          <p:cNvSpPr txBox="1"/>
          <p:nvPr/>
        </p:nvSpPr>
        <p:spPr>
          <a:xfrm>
            <a:off x="4348758" y="1805436"/>
            <a:ext cx="85879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err="1">
                <a:latin typeface="Consolas" panose="020B0609020204030204" pitchFamily="49" charset="0"/>
              </a:rPr>
              <a:t>rclone</a:t>
            </a:r>
            <a:endParaRPr lang="en-US" dirty="0"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BC68DE7-6FB1-D1A7-5E99-544266BA3D60}"/>
              </a:ext>
            </a:extLst>
          </p:cNvPr>
          <p:cNvSpPr txBox="1"/>
          <p:nvPr/>
        </p:nvSpPr>
        <p:spPr>
          <a:xfrm>
            <a:off x="6535214" y="1805436"/>
            <a:ext cx="85879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err="1">
                <a:latin typeface="Consolas" panose="020B0609020204030204" pitchFamily="49" charset="0"/>
              </a:rPr>
              <a:t>rclone</a:t>
            </a:r>
            <a:endParaRPr lang="en-US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6869006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DA5000-E07A-FE66-E039-208E7EC956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B97B91-3A6D-6ECD-076F-1F30C8192C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419" y="166861"/>
            <a:ext cx="10515600" cy="1325563"/>
          </a:xfrm>
        </p:spPr>
        <p:txBody>
          <a:bodyPr/>
          <a:lstStyle/>
          <a:p>
            <a:r>
              <a:rPr lang="en-US" dirty="0"/>
              <a:t>Command line file transfer commands summary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252A55DA-5CAE-D186-9A7E-26B451E42AD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68034867"/>
              </p:ext>
            </p:extLst>
          </p:nvPr>
        </p:nvGraphicFramePr>
        <p:xfrm>
          <a:off x="204427" y="1973301"/>
          <a:ext cx="11783145" cy="3992880"/>
        </p:xfrm>
        <a:graphic>
          <a:graphicData uri="http://schemas.openxmlformats.org/drawingml/2006/table">
            <a:tbl>
              <a:tblPr firstRow="1" bandRow="1">
                <a:tableStyleId>{616DA210-FB5B-4158-B5E0-FEB733F419BA}</a:tableStyleId>
              </a:tblPr>
              <a:tblGrid>
                <a:gridCol w="6964191">
                  <a:extLst>
                    <a:ext uri="{9D8B030D-6E8A-4147-A177-3AD203B41FA5}">
                      <a16:colId xmlns:a16="http://schemas.microsoft.com/office/drawing/2014/main" val="3298165829"/>
                    </a:ext>
                  </a:extLst>
                </a:gridCol>
                <a:gridCol w="4818954">
                  <a:extLst>
                    <a:ext uri="{9D8B030D-6E8A-4147-A177-3AD203B41FA5}">
                      <a16:colId xmlns:a16="http://schemas.microsoft.com/office/drawing/2014/main" val="249242652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2000" b="0" dirty="0">
                          <a:latin typeface="Consolas" panose="020B0609020204030204" pitchFamily="49" charset="0"/>
                        </a:rPr>
                        <a:t>cp</a:t>
                      </a:r>
                      <a:r>
                        <a:rPr lang="en-US" sz="2000" b="0" dirty="0"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/</a:t>
                      </a:r>
                      <a:r>
                        <a:rPr lang="en-US" sz="2000" b="0" dirty="0">
                          <a:latin typeface="Consolas" panose="020B0609020204030204" pitchFamily="49" charset="0"/>
                        </a:rPr>
                        <a:t>mv</a:t>
                      </a: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000" b="0" dirty="0"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Computers must be networked already. Good for small transfers.</a:t>
                      </a: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5308104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000" b="0" dirty="0" err="1">
                          <a:latin typeface="Consolas" panose="020B0609020204030204" pitchFamily="49" charset="0"/>
                        </a:rPr>
                        <a:t>rsync</a:t>
                      </a:r>
                      <a:r>
                        <a:rPr lang="en-US" sz="2000" b="0" dirty="0">
                          <a:latin typeface="Consolas" panose="020B0609020204030204" pitchFamily="49" charset="0"/>
                        </a:rPr>
                        <a:t> [OPTIONS] &lt;SOURCE FILE&gt; &lt;DESTINATION FILE&gt;</a:t>
                      </a: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000" b="0" dirty="0"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Can transfer between networked and non-networked machines. Good for longer file transfers, cloning without overwriting, and transferring from </a:t>
                      </a:r>
                      <a:r>
                        <a:rPr lang="en-US" sz="2000" b="1" dirty="0"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cloud services</a:t>
                      </a:r>
                      <a:r>
                        <a:rPr lang="en-US" sz="2000" b="0" dirty="0"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.</a:t>
                      </a: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31847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000" b="0" dirty="0" err="1">
                          <a:latin typeface="Consolas" panose="020B0609020204030204" pitchFamily="49" charset="0"/>
                        </a:rPr>
                        <a:t>rclone</a:t>
                      </a:r>
                      <a:endParaRPr lang="en-US" sz="2000" b="0" dirty="0">
                        <a:latin typeface="Consolas" panose="020B0609020204030204" pitchFamily="49" charset="0"/>
                      </a:endParaRP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000" b="0" kern="120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  <a:cs typeface="+mn-cs"/>
                        </a:rPr>
                        <a:t>Similar to </a:t>
                      </a:r>
                      <a:r>
                        <a:rPr lang="en-US" sz="2000" b="0" kern="1200" dirty="0" err="1">
                          <a:solidFill>
                            <a:schemeClr val="bg1">
                              <a:lumMod val="50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  <a:cs typeface="+mn-cs"/>
                        </a:rPr>
                        <a:t>rsync</a:t>
                      </a:r>
                      <a:r>
                        <a:rPr lang="en-US" sz="2000" b="0" kern="120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  <a:cs typeface="+mn-cs"/>
                        </a:rPr>
                        <a:t>.</a:t>
                      </a: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7767468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000" b="0" dirty="0" err="1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nsolas" panose="020B0609020204030204" pitchFamily="49" charset="0"/>
                        </a:rPr>
                        <a:t>scp</a:t>
                      </a:r>
                      <a:endParaRPr lang="en-US" sz="2000" b="0" dirty="0">
                        <a:solidFill>
                          <a:schemeClr val="bg1">
                            <a:lumMod val="50000"/>
                          </a:schemeClr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0" kern="120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  <a:cs typeface="+mn-cs"/>
                        </a:rPr>
                        <a:t>Similar to </a:t>
                      </a:r>
                      <a:r>
                        <a:rPr lang="en-US" sz="2000" b="0" kern="1200" dirty="0" err="1">
                          <a:solidFill>
                            <a:schemeClr val="bg1">
                              <a:lumMod val="50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  <a:cs typeface="+mn-cs"/>
                        </a:rPr>
                        <a:t>rsync</a:t>
                      </a:r>
                      <a:r>
                        <a:rPr lang="en-US" sz="2000" b="0" kern="120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  <a:cs typeface="+mn-cs"/>
                        </a:rPr>
                        <a:t>.</a:t>
                      </a: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45670425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000" b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nsolas" panose="020B0609020204030204" pitchFamily="49" charset="0"/>
                        </a:rPr>
                        <a:t>sftp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0" kern="120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  <a:cs typeface="+mn-cs"/>
                        </a:rPr>
                        <a:t>Similar to </a:t>
                      </a:r>
                      <a:r>
                        <a:rPr lang="en-US" sz="2000" b="0" kern="1200" dirty="0" err="1">
                          <a:solidFill>
                            <a:schemeClr val="bg1">
                              <a:lumMod val="50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  <a:cs typeface="+mn-cs"/>
                        </a:rPr>
                        <a:t>rsync</a:t>
                      </a:r>
                      <a:r>
                        <a:rPr lang="en-US" sz="2000" b="0" kern="120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  <a:cs typeface="+mn-cs"/>
                        </a:rPr>
                        <a:t>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621221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000" b="0" dirty="0" err="1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nsolas" panose="020B0609020204030204" pitchFamily="49" charset="0"/>
                        </a:rPr>
                        <a:t>lftp</a:t>
                      </a:r>
                      <a:endParaRPr lang="en-US" sz="2000" b="0" dirty="0">
                        <a:solidFill>
                          <a:schemeClr val="bg1">
                            <a:lumMod val="50000"/>
                          </a:schemeClr>
                        </a:solidFill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0" kern="120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  <a:cs typeface="+mn-cs"/>
                        </a:rPr>
                        <a:t>Similar to </a:t>
                      </a:r>
                      <a:r>
                        <a:rPr lang="en-US" sz="2000" b="0" kern="1200" dirty="0" err="1">
                          <a:solidFill>
                            <a:schemeClr val="bg1">
                              <a:lumMod val="50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  <a:cs typeface="+mn-cs"/>
                        </a:rPr>
                        <a:t>rsync</a:t>
                      </a:r>
                      <a:r>
                        <a:rPr lang="en-US" sz="2000" b="0" kern="120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  <a:cs typeface="+mn-cs"/>
                        </a:rPr>
                        <a:t>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5271557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nsolas" panose="020B0609020204030204" pitchFamily="49" charset="0"/>
                        </a:rPr>
                        <a:t>curl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0" kern="120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  <a:cs typeface="+mn-cs"/>
                        </a:rPr>
                        <a:t>Similar to </a:t>
                      </a:r>
                      <a:r>
                        <a:rPr lang="en-US" sz="2000" b="0" kern="1200" dirty="0" err="1">
                          <a:solidFill>
                            <a:schemeClr val="bg1">
                              <a:lumMod val="50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  <a:cs typeface="+mn-cs"/>
                        </a:rPr>
                        <a:t>rsync</a:t>
                      </a:r>
                      <a:r>
                        <a:rPr lang="en-US" sz="2000" b="0" kern="120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  <a:cs typeface="+mn-cs"/>
                        </a:rPr>
                        <a:t>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530216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1379749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D96C64-2773-9344-6B51-1946B83C68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2EA759C1-2DFA-B200-E5C1-DE19F6FD0E9B}"/>
              </a:ext>
            </a:extLst>
          </p:cNvPr>
          <p:cNvSpPr txBox="1">
            <a:spLocks/>
          </p:cNvSpPr>
          <p:nvPr/>
        </p:nvSpPr>
        <p:spPr>
          <a:xfrm>
            <a:off x="124392" y="142740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+mj-cs"/>
              </a:defRPr>
            </a:lvl1pPr>
          </a:lstStyle>
          <a:p>
            <a:r>
              <a:rPr lang="en-US" dirty="0"/>
              <a:t>Graphical file transfer programs: </a:t>
            </a:r>
          </a:p>
          <a:p>
            <a:r>
              <a:rPr lang="en-US" b="1" dirty="0"/>
              <a:t>FTP</a:t>
            </a:r>
            <a:r>
              <a:rPr lang="en-US" dirty="0"/>
              <a:t> clients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EA6C5E75-C053-E2A8-E724-1D7B1BAB57A1}"/>
              </a:ext>
            </a:extLst>
          </p:cNvPr>
          <p:cNvGrpSpPr/>
          <p:nvPr/>
        </p:nvGrpSpPr>
        <p:grpSpPr>
          <a:xfrm>
            <a:off x="8664862" y="244715"/>
            <a:ext cx="1101648" cy="1283732"/>
            <a:chOff x="5643892" y="387638"/>
            <a:chExt cx="1101648" cy="1283732"/>
          </a:xfrm>
        </p:grpSpPr>
        <p:pic>
          <p:nvPicPr>
            <p:cNvPr id="26" name="Graphic 25" descr="Server with solid fill">
              <a:extLst>
                <a:ext uri="{FF2B5EF4-FFF2-40B4-BE49-F238E27FC236}">
                  <a16:creationId xmlns:a16="http://schemas.microsoft.com/office/drawing/2014/main" id="{F8A7DCA9-63FE-B09D-E5F2-307367A45BD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737516" y="387638"/>
              <a:ext cx="914400" cy="914400"/>
            </a:xfrm>
            <a:prstGeom prst="rect">
              <a:avLst/>
            </a:prstGeom>
          </p:spPr>
        </p:pic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9D3A47B8-73D4-4E20-EB46-90E25F179FDC}"/>
                </a:ext>
              </a:extLst>
            </p:cNvPr>
            <p:cNvSpPr txBox="1"/>
            <p:nvPr/>
          </p:nvSpPr>
          <p:spPr>
            <a:xfrm>
              <a:off x="5643892" y="1302038"/>
              <a:ext cx="110164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Source Sans Pro" panose="020B0503030403020204" pitchFamily="34" charset="0"/>
                  <a:ea typeface="Source Sans Pro" panose="020B0503030403020204" pitchFamily="34" charset="0"/>
                </a:rPr>
                <a:t>lab share</a:t>
              </a:r>
            </a:p>
          </p:txBody>
        </p: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F213D609-1D67-CF67-943E-DD95697A11D2}"/>
              </a:ext>
            </a:extLst>
          </p:cNvPr>
          <p:cNvGrpSpPr/>
          <p:nvPr/>
        </p:nvGrpSpPr>
        <p:grpSpPr>
          <a:xfrm>
            <a:off x="10578256" y="249489"/>
            <a:ext cx="1161344" cy="1099066"/>
            <a:chOff x="2170185" y="4087564"/>
            <a:chExt cx="1161344" cy="1099066"/>
          </a:xfrm>
        </p:grpSpPr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E737E508-B91D-A9FE-2ED5-E5FABBFAE5F8}"/>
                </a:ext>
              </a:extLst>
            </p:cNvPr>
            <p:cNvSpPr txBox="1"/>
            <p:nvPr/>
          </p:nvSpPr>
          <p:spPr>
            <a:xfrm>
              <a:off x="2170185" y="4817298"/>
              <a:ext cx="116134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Source Sans Pro" panose="020B0503030403020204" pitchFamily="34" charset="0"/>
                  <a:ea typeface="Source Sans Pro" panose="020B0503030403020204" pitchFamily="34" charset="0"/>
                </a:rPr>
                <a:t>computer</a:t>
              </a:r>
            </a:p>
          </p:txBody>
        </p:sp>
        <p:pic>
          <p:nvPicPr>
            <p:cNvPr id="30" name="Graphic 29" descr="Computer with solid fill">
              <a:extLst>
                <a:ext uri="{FF2B5EF4-FFF2-40B4-BE49-F238E27FC236}">
                  <a16:creationId xmlns:a16="http://schemas.microsoft.com/office/drawing/2014/main" id="{41420E5C-806F-F52F-E9B9-C11F1540E2E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2293657" y="4087564"/>
              <a:ext cx="914400" cy="914400"/>
            </a:xfrm>
            <a:prstGeom prst="rect">
              <a:avLst/>
            </a:prstGeom>
          </p:spPr>
        </p:pic>
      </p:grp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136F848B-61C9-6A15-488F-AEB0D888B623}"/>
              </a:ext>
            </a:extLst>
          </p:cNvPr>
          <p:cNvCxnSpPr>
            <a:cxnSpLocks/>
            <a:stCxn id="30" idx="1"/>
          </p:cNvCxnSpPr>
          <p:nvPr/>
        </p:nvCxnSpPr>
        <p:spPr>
          <a:xfrm flipH="1">
            <a:off x="9564130" y="706689"/>
            <a:ext cx="1137598" cy="0"/>
          </a:xfrm>
          <a:prstGeom prst="straightConnector1">
            <a:avLst/>
          </a:prstGeom>
          <a:ln w="38100">
            <a:solidFill>
              <a:schemeClr val="tx2">
                <a:lumMod val="50000"/>
                <a:lumOff val="50000"/>
              </a:schemeClr>
            </a:solidFill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32" name="Group 31">
            <a:extLst>
              <a:ext uri="{FF2B5EF4-FFF2-40B4-BE49-F238E27FC236}">
                <a16:creationId xmlns:a16="http://schemas.microsoft.com/office/drawing/2014/main" id="{1574808B-405C-541E-23E7-89D461B95216}"/>
              </a:ext>
            </a:extLst>
          </p:cNvPr>
          <p:cNvGrpSpPr/>
          <p:nvPr/>
        </p:nvGrpSpPr>
        <p:grpSpPr>
          <a:xfrm>
            <a:off x="10506350" y="1952942"/>
            <a:ext cx="1255728" cy="1283732"/>
            <a:chOff x="3032551" y="387638"/>
            <a:chExt cx="1255728" cy="1283732"/>
          </a:xfrm>
        </p:grpSpPr>
        <p:pic>
          <p:nvPicPr>
            <p:cNvPr id="33" name="Graphic 32" descr="Server with solid fill">
              <a:extLst>
                <a:ext uri="{FF2B5EF4-FFF2-40B4-BE49-F238E27FC236}">
                  <a16:creationId xmlns:a16="http://schemas.microsoft.com/office/drawing/2014/main" id="{404397CB-16F5-B2D7-C85C-ADC93246EDF2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3203215" y="387638"/>
              <a:ext cx="914400" cy="914400"/>
            </a:xfrm>
            <a:prstGeom prst="rect">
              <a:avLst/>
            </a:prstGeom>
          </p:spPr>
        </p:pic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650A7D8A-11C0-F943-B415-BC7D253257CC}"/>
                </a:ext>
              </a:extLst>
            </p:cNvPr>
            <p:cNvSpPr txBox="1"/>
            <p:nvPr/>
          </p:nvSpPr>
          <p:spPr>
            <a:xfrm>
              <a:off x="3032551" y="1302038"/>
              <a:ext cx="125572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Source Sans Pro" panose="020B0503030403020204" pitchFamily="34" charset="0"/>
                  <a:ea typeface="Source Sans Pro" panose="020B0503030403020204" pitchFamily="34" charset="0"/>
                </a:rPr>
                <a:t>netscratch</a:t>
              </a:r>
              <a:endParaRPr lang="en-US" dirty="0">
                <a:latin typeface="Source Sans Pro" panose="020B0503030403020204" pitchFamily="34" charset="0"/>
                <a:ea typeface="Source Sans Pro" panose="020B0503030403020204" pitchFamily="34" charset="0"/>
              </a:endParaRPr>
            </a:p>
          </p:txBody>
        </p:sp>
      </p:grp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527FD974-F4B5-8476-2326-C02D52B7AB6E}"/>
              </a:ext>
            </a:extLst>
          </p:cNvPr>
          <p:cNvCxnSpPr>
            <a:cxnSpLocks/>
          </p:cNvCxnSpPr>
          <p:nvPr/>
        </p:nvCxnSpPr>
        <p:spPr>
          <a:xfrm>
            <a:off x="11134214" y="1325563"/>
            <a:ext cx="0" cy="659134"/>
          </a:xfrm>
          <a:prstGeom prst="straightConnector1">
            <a:avLst/>
          </a:prstGeom>
          <a:ln w="38100">
            <a:solidFill>
              <a:schemeClr val="tx2">
                <a:lumMod val="50000"/>
                <a:lumOff val="50000"/>
              </a:schemeClr>
            </a:solidFill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E365CE29-CB8D-F7BB-4063-1002CCD405D8}"/>
              </a:ext>
            </a:extLst>
          </p:cNvPr>
          <p:cNvSpPr txBox="1"/>
          <p:nvPr/>
        </p:nvSpPr>
        <p:spPr>
          <a:xfrm>
            <a:off x="9688134" y="408865"/>
            <a:ext cx="858794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50" dirty="0">
                <a:latin typeface="Source Sans Pro" panose="020B0503030403020204" pitchFamily="34" charset="0"/>
                <a:ea typeface="Source Sans Pro" panose="020B0503030403020204" pitchFamily="34" charset="0"/>
              </a:rPr>
              <a:t>FTP</a:t>
            </a:r>
            <a:endParaRPr lang="en-US" sz="11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9973BF6D-948D-3822-8F2F-1B129BD8A3E0}"/>
              </a:ext>
            </a:extLst>
          </p:cNvPr>
          <p:cNvSpPr txBox="1"/>
          <p:nvPr/>
        </p:nvSpPr>
        <p:spPr>
          <a:xfrm>
            <a:off x="10506350" y="1535961"/>
            <a:ext cx="858794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50" dirty="0">
                <a:latin typeface="Source Sans Pro" panose="020B0503030403020204" pitchFamily="34" charset="0"/>
                <a:ea typeface="Source Sans Pro" panose="020B0503030403020204" pitchFamily="34" charset="0"/>
              </a:rPr>
              <a:t>FTP</a:t>
            </a:r>
            <a:endParaRPr lang="en-US" sz="11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7336506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AF7434-3729-BCE9-2AE9-3D9B7EA8AF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 descr="A red text on a white background&#10;&#10;AI-generated content may be incorrect.">
            <a:extLst>
              <a:ext uri="{FF2B5EF4-FFF2-40B4-BE49-F238E27FC236}">
                <a16:creationId xmlns:a16="http://schemas.microsoft.com/office/drawing/2014/main" id="{AA60A0A5-3043-751C-A03F-4529EC6F3DF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559" y="2453502"/>
            <a:ext cx="3839510" cy="827679"/>
          </a:xfrm>
          <a:prstGeom prst="rect">
            <a:avLst/>
          </a:prstGeom>
        </p:spPr>
      </p:pic>
      <p:pic>
        <p:nvPicPr>
          <p:cNvPr id="5122" name="Picture 2">
            <a:extLst>
              <a:ext uri="{FF2B5EF4-FFF2-40B4-BE49-F238E27FC236}">
                <a16:creationId xmlns:a16="http://schemas.microsoft.com/office/drawing/2014/main" id="{3F0C2756-27C7-929D-F150-D0D37BA0E05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41453" y="1721579"/>
            <a:ext cx="5181045" cy="45152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itle 1">
            <a:extLst>
              <a:ext uri="{FF2B5EF4-FFF2-40B4-BE49-F238E27FC236}">
                <a16:creationId xmlns:a16="http://schemas.microsoft.com/office/drawing/2014/main" id="{66E599DA-EFF6-3861-0321-CE6FA32D9A16}"/>
              </a:ext>
            </a:extLst>
          </p:cNvPr>
          <p:cNvSpPr txBox="1">
            <a:spLocks/>
          </p:cNvSpPr>
          <p:nvPr/>
        </p:nvSpPr>
        <p:spPr>
          <a:xfrm>
            <a:off x="124392" y="142740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+mj-cs"/>
              </a:defRPr>
            </a:lvl1pPr>
          </a:lstStyle>
          <a:p>
            <a:r>
              <a:rPr lang="en-US" dirty="0"/>
              <a:t>Graphical file transfer programs: </a:t>
            </a:r>
          </a:p>
          <a:p>
            <a:r>
              <a:rPr lang="en-US" b="1" dirty="0"/>
              <a:t>FTP</a:t>
            </a:r>
            <a:r>
              <a:rPr lang="en-US" dirty="0"/>
              <a:t> clients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38E7B06-0EF7-BE2E-AF5D-7EF7782ADDD2}"/>
              </a:ext>
            </a:extLst>
          </p:cNvPr>
          <p:cNvSpPr txBox="1"/>
          <p:nvPr/>
        </p:nvSpPr>
        <p:spPr>
          <a:xfrm>
            <a:off x="1055788" y="3392154"/>
            <a:ext cx="280705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  <a:hlinkClick r:id="rId4"/>
              </a:rPr>
              <a:t>https://filezilla-project.org/</a:t>
            </a:r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 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43496133-7831-FEA9-0DCF-2413C8A64FE2}"/>
              </a:ext>
            </a:extLst>
          </p:cNvPr>
          <p:cNvGrpSpPr/>
          <p:nvPr/>
        </p:nvGrpSpPr>
        <p:grpSpPr>
          <a:xfrm>
            <a:off x="8664862" y="244715"/>
            <a:ext cx="1101648" cy="1283732"/>
            <a:chOff x="5643892" y="387638"/>
            <a:chExt cx="1101648" cy="1283732"/>
          </a:xfrm>
        </p:grpSpPr>
        <p:pic>
          <p:nvPicPr>
            <p:cNvPr id="26" name="Graphic 25" descr="Server with solid fill">
              <a:extLst>
                <a:ext uri="{FF2B5EF4-FFF2-40B4-BE49-F238E27FC236}">
                  <a16:creationId xmlns:a16="http://schemas.microsoft.com/office/drawing/2014/main" id="{3631AA85-FDBE-D8F8-2FAE-251C98F73B8B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5737516" y="387638"/>
              <a:ext cx="914400" cy="914400"/>
            </a:xfrm>
            <a:prstGeom prst="rect">
              <a:avLst/>
            </a:prstGeom>
          </p:spPr>
        </p:pic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C1D8082D-197E-3A7C-E8DA-389ACBA74095}"/>
                </a:ext>
              </a:extLst>
            </p:cNvPr>
            <p:cNvSpPr txBox="1"/>
            <p:nvPr/>
          </p:nvSpPr>
          <p:spPr>
            <a:xfrm>
              <a:off x="5643892" y="1302038"/>
              <a:ext cx="110164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Source Sans Pro" panose="020B0503030403020204" pitchFamily="34" charset="0"/>
                  <a:ea typeface="Source Sans Pro" panose="020B0503030403020204" pitchFamily="34" charset="0"/>
                </a:rPr>
                <a:t>lab share</a:t>
              </a:r>
            </a:p>
          </p:txBody>
        </p: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E55D4928-0D64-CDC2-3B27-4E18D8F2F89A}"/>
              </a:ext>
            </a:extLst>
          </p:cNvPr>
          <p:cNvGrpSpPr/>
          <p:nvPr/>
        </p:nvGrpSpPr>
        <p:grpSpPr>
          <a:xfrm>
            <a:off x="10578256" y="249489"/>
            <a:ext cx="1161344" cy="1099066"/>
            <a:chOff x="2170185" y="4087564"/>
            <a:chExt cx="1161344" cy="1099066"/>
          </a:xfrm>
        </p:grpSpPr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9E678370-7FB6-E664-06CA-DC97EDB9AE81}"/>
                </a:ext>
              </a:extLst>
            </p:cNvPr>
            <p:cNvSpPr txBox="1"/>
            <p:nvPr/>
          </p:nvSpPr>
          <p:spPr>
            <a:xfrm>
              <a:off x="2170185" y="4817298"/>
              <a:ext cx="116134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Source Sans Pro" panose="020B0503030403020204" pitchFamily="34" charset="0"/>
                  <a:ea typeface="Source Sans Pro" panose="020B0503030403020204" pitchFamily="34" charset="0"/>
                </a:rPr>
                <a:t>computer</a:t>
              </a:r>
            </a:p>
          </p:txBody>
        </p:sp>
        <p:pic>
          <p:nvPicPr>
            <p:cNvPr id="30" name="Graphic 29" descr="Computer with solid fill">
              <a:extLst>
                <a:ext uri="{FF2B5EF4-FFF2-40B4-BE49-F238E27FC236}">
                  <a16:creationId xmlns:a16="http://schemas.microsoft.com/office/drawing/2014/main" id="{A039966C-8E17-6A04-7627-4346397BBC98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2293657" y="4087564"/>
              <a:ext cx="914400" cy="914400"/>
            </a:xfrm>
            <a:prstGeom prst="rect">
              <a:avLst/>
            </a:prstGeom>
          </p:spPr>
        </p:pic>
      </p:grp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253EC5E5-C8CC-6889-2553-16C34D761F75}"/>
              </a:ext>
            </a:extLst>
          </p:cNvPr>
          <p:cNvCxnSpPr>
            <a:cxnSpLocks/>
            <a:stCxn id="30" idx="1"/>
          </p:cNvCxnSpPr>
          <p:nvPr/>
        </p:nvCxnSpPr>
        <p:spPr>
          <a:xfrm flipH="1">
            <a:off x="9564130" y="706689"/>
            <a:ext cx="1137598" cy="0"/>
          </a:xfrm>
          <a:prstGeom prst="straightConnector1">
            <a:avLst/>
          </a:prstGeom>
          <a:ln w="38100">
            <a:solidFill>
              <a:schemeClr val="tx2">
                <a:lumMod val="50000"/>
                <a:lumOff val="50000"/>
              </a:schemeClr>
            </a:solidFill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32" name="Group 31">
            <a:extLst>
              <a:ext uri="{FF2B5EF4-FFF2-40B4-BE49-F238E27FC236}">
                <a16:creationId xmlns:a16="http://schemas.microsoft.com/office/drawing/2014/main" id="{CC498216-1019-59D2-A69C-DF04082448B1}"/>
              </a:ext>
            </a:extLst>
          </p:cNvPr>
          <p:cNvGrpSpPr/>
          <p:nvPr/>
        </p:nvGrpSpPr>
        <p:grpSpPr>
          <a:xfrm>
            <a:off x="10506350" y="1952942"/>
            <a:ext cx="1255728" cy="1283732"/>
            <a:chOff x="3032551" y="387638"/>
            <a:chExt cx="1255728" cy="1283732"/>
          </a:xfrm>
        </p:grpSpPr>
        <p:pic>
          <p:nvPicPr>
            <p:cNvPr id="33" name="Graphic 32" descr="Server with solid fill">
              <a:extLst>
                <a:ext uri="{FF2B5EF4-FFF2-40B4-BE49-F238E27FC236}">
                  <a16:creationId xmlns:a16="http://schemas.microsoft.com/office/drawing/2014/main" id="{A1C4E423-EF9D-D4F0-B19D-DC3811DB5897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3203215" y="387638"/>
              <a:ext cx="914400" cy="914400"/>
            </a:xfrm>
            <a:prstGeom prst="rect">
              <a:avLst/>
            </a:prstGeom>
          </p:spPr>
        </p:pic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0657F68A-CCB4-2A80-6A68-2815A77E4778}"/>
                </a:ext>
              </a:extLst>
            </p:cNvPr>
            <p:cNvSpPr txBox="1"/>
            <p:nvPr/>
          </p:nvSpPr>
          <p:spPr>
            <a:xfrm>
              <a:off x="3032551" y="1302038"/>
              <a:ext cx="125572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Source Sans Pro" panose="020B0503030403020204" pitchFamily="34" charset="0"/>
                  <a:ea typeface="Source Sans Pro" panose="020B0503030403020204" pitchFamily="34" charset="0"/>
                </a:rPr>
                <a:t>netscratch</a:t>
              </a:r>
              <a:endParaRPr lang="en-US" dirty="0">
                <a:latin typeface="Source Sans Pro" panose="020B0503030403020204" pitchFamily="34" charset="0"/>
                <a:ea typeface="Source Sans Pro" panose="020B0503030403020204" pitchFamily="34" charset="0"/>
              </a:endParaRPr>
            </a:p>
          </p:txBody>
        </p:sp>
      </p:grp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1A40E269-197D-F739-5D78-0949F542A520}"/>
              </a:ext>
            </a:extLst>
          </p:cNvPr>
          <p:cNvCxnSpPr>
            <a:cxnSpLocks/>
          </p:cNvCxnSpPr>
          <p:nvPr/>
        </p:nvCxnSpPr>
        <p:spPr>
          <a:xfrm>
            <a:off x="11134214" y="1325563"/>
            <a:ext cx="0" cy="659134"/>
          </a:xfrm>
          <a:prstGeom prst="straightConnector1">
            <a:avLst/>
          </a:prstGeom>
          <a:ln w="38100">
            <a:solidFill>
              <a:schemeClr val="tx2">
                <a:lumMod val="50000"/>
                <a:lumOff val="50000"/>
              </a:schemeClr>
            </a:solidFill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70A40241-5FEE-35FE-9B8B-2384ACB71633}"/>
              </a:ext>
            </a:extLst>
          </p:cNvPr>
          <p:cNvSpPr txBox="1"/>
          <p:nvPr/>
        </p:nvSpPr>
        <p:spPr>
          <a:xfrm>
            <a:off x="9688134" y="408865"/>
            <a:ext cx="858794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50" dirty="0">
                <a:latin typeface="Source Sans Pro" panose="020B0503030403020204" pitchFamily="34" charset="0"/>
                <a:ea typeface="Source Sans Pro" panose="020B0503030403020204" pitchFamily="34" charset="0"/>
              </a:rPr>
              <a:t>FileZilla</a:t>
            </a:r>
            <a:endParaRPr lang="en-US" sz="11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21B7FC57-EA2A-A6BF-7132-8F253597DCEF}"/>
              </a:ext>
            </a:extLst>
          </p:cNvPr>
          <p:cNvSpPr txBox="1"/>
          <p:nvPr/>
        </p:nvSpPr>
        <p:spPr>
          <a:xfrm>
            <a:off x="10300134" y="1523790"/>
            <a:ext cx="858794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50" dirty="0">
                <a:latin typeface="Source Sans Pro" panose="020B0503030403020204" pitchFamily="34" charset="0"/>
                <a:ea typeface="Source Sans Pro" panose="020B0503030403020204" pitchFamily="34" charset="0"/>
              </a:rPr>
              <a:t>FileZilla</a:t>
            </a:r>
            <a:endParaRPr lang="en-US" sz="11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9144682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5E93D6-549A-49BA-A584-5DDFB86773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191132-D36F-FCDF-0153-5AD3B0A75A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Filezilla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D6CE5B7-A4F2-C1A6-E6EC-3106065034C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5032375"/>
          </a:xfrm>
        </p:spPr>
        <p:txBody>
          <a:bodyPr>
            <a:normAutofit/>
          </a:bodyPr>
          <a:lstStyle/>
          <a:p>
            <a:r>
              <a:rPr lang="en-US" dirty="0"/>
              <a:t>Secure File Transfer Protocol (SFTP) application</a:t>
            </a:r>
          </a:p>
          <a:p>
            <a:r>
              <a:rPr lang="en-US" dirty="0"/>
              <a:t>Available on Mac, Windows, and Linux</a:t>
            </a:r>
          </a:p>
          <a:p>
            <a:r>
              <a:rPr lang="en-US" dirty="0"/>
              <a:t>Instructions to set up on FASRC Docs page</a:t>
            </a:r>
          </a:p>
          <a:p>
            <a:pPr lvl="1"/>
            <a:r>
              <a:rPr lang="en-US" dirty="0">
                <a:hlinkClick r:id="rId2"/>
              </a:rPr>
              <a:t>https://docs.rc.fas.harvard.edu/kb/sftp-file-transfer/</a:t>
            </a:r>
            <a:r>
              <a:rPr lang="en-US" dirty="0"/>
              <a:t> </a:t>
            </a:r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14" name="Picture 13" descr="A red text on a white background&#10;&#10;AI-generated content may be incorrect.">
            <a:extLst>
              <a:ext uri="{FF2B5EF4-FFF2-40B4-BE49-F238E27FC236}">
                <a16:creationId xmlns:a16="http://schemas.microsoft.com/office/drawing/2014/main" id="{043A8133-9255-529E-6661-3323EE9832E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5735" y="408865"/>
            <a:ext cx="3839510" cy="827679"/>
          </a:xfrm>
          <a:prstGeom prst="rect">
            <a:avLst/>
          </a:prstGeom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751E95B-BE02-D8A5-4179-8CC33D85F949}"/>
              </a:ext>
            </a:extLst>
          </p:cNvPr>
          <p:cNvGrpSpPr/>
          <p:nvPr/>
        </p:nvGrpSpPr>
        <p:grpSpPr>
          <a:xfrm>
            <a:off x="8664862" y="244715"/>
            <a:ext cx="1101648" cy="1283732"/>
            <a:chOff x="5643892" y="387638"/>
            <a:chExt cx="1101648" cy="1283732"/>
          </a:xfrm>
        </p:grpSpPr>
        <p:pic>
          <p:nvPicPr>
            <p:cNvPr id="5" name="Graphic 4" descr="Server with solid fill">
              <a:extLst>
                <a:ext uri="{FF2B5EF4-FFF2-40B4-BE49-F238E27FC236}">
                  <a16:creationId xmlns:a16="http://schemas.microsoft.com/office/drawing/2014/main" id="{F8222F7F-523C-F73A-3188-41347C3FD6D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5737516" y="387638"/>
              <a:ext cx="914400" cy="914400"/>
            </a:xfrm>
            <a:prstGeom prst="rect">
              <a:avLst/>
            </a:prstGeom>
          </p:spPr>
        </p:pic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762FE939-E10D-5A7F-CD7D-0EDA0A5BEACD}"/>
                </a:ext>
              </a:extLst>
            </p:cNvPr>
            <p:cNvSpPr txBox="1"/>
            <p:nvPr/>
          </p:nvSpPr>
          <p:spPr>
            <a:xfrm>
              <a:off x="5643892" y="1302038"/>
              <a:ext cx="110164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Source Sans Pro" panose="020B0503030403020204" pitchFamily="34" charset="0"/>
                  <a:ea typeface="Source Sans Pro" panose="020B0503030403020204" pitchFamily="34" charset="0"/>
                </a:rPr>
                <a:t>lab share</a:t>
              </a:r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FC3C16A4-9EEB-0E0E-AA55-95C881C740FD}"/>
              </a:ext>
            </a:extLst>
          </p:cNvPr>
          <p:cNvGrpSpPr/>
          <p:nvPr/>
        </p:nvGrpSpPr>
        <p:grpSpPr>
          <a:xfrm>
            <a:off x="10578256" y="249489"/>
            <a:ext cx="1161344" cy="1099066"/>
            <a:chOff x="2170185" y="4087564"/>
            <a:chExt cx="1161344" cy="1099066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F96420D4-9951-D0CE-1FD6-050B42E3DFB1}"/>
                </a:ext>
              </a:extLst>
            </p:cNvPr>
            <p:cNvSpPr txBox="1"/>
            <p:nvPr/>
          </p:nvSpPr>
          <p:spPr>
            <a:xfrm>
              <a:off x="2170185" y="4817298"/>
              <a:ext cx="116134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Source Sans Pro" panose="020B0503030403020204" pitchFamily="34" charset="0"/>
                  <a:ea typeface="Source Sans Pro" panose="020B0503030403020204" pitchFamily="34" charset="0"/>
                </a:rPr>
                <a:t>computer</a:t>
              </a:r>
            </a:p>
          </p:txBody>
        </p:sp>
        <p:pic>
          <p:nvPicPr>
            <p:cNvPr id="9" name="Graphic 8" descr="Computer with solid fill">
              <a:extLst>
                <a:ext uri="{FF2B5EF4-FFF2-40B4-BE49-F238E27FC236}">
                  <a16:creationId xmlns:a16="http://schemas.microsoft.com/office/drawing/2014/main" id="{35DF95B0-2907-D73A-04A2-73D760D2F2EF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2293657" y="4087564"/>
              <a:ext cx="914400" cy="914400"/>
            </a:xfrm>
            <a:prstGeom prst="rect">
              <a:avLst/>
            </a:prstGeom>
          </p:spPr>
        </p:pic>
      </p:grp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571BD17C-366F-7D19-3E65-BEFF8275BFA7}"/>
              </a:ext>
            </a:extLst>
          </p:cNvPr>
          <p:cNvCxnSpPr>
            <a:cxnSpLocks/>
            <a:stCxn id="9" idx="1"/>
          </p:cNvCxnSpPr>
          <p:nvPr/>
        </p:nvCxnSpPr>
        <p:spPr>
          <a:xfrm flipH="1">
            <a:off x="9564130" y="706689"/>
            <a:ext cx="1137598" cy="0"/>
          </a:xfrm>
          <a:prstGeom prst="straightConnector1">
            <a:avLst/>
          </a:prstGeom>
          <a:ln w="38100">
            <a:solidFill>
              <a:schemeClr val="tx2">
                <a:lumMod val="50000"/>
                <a:lumOff val="50000"/>
              </a:schemeClr>
            </a:solidFill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11" name="Group 10">
            <a:extLst>
              <a:ext uri="{FF2B5EF4-FFF2-40B4-BE49-F238E27FC236}">
                <a16:creationId xmlns:a16="http://schemas.microsoft.com/office/drawing/2014/main" id="{613C6387-5287-50D0-E5EE-24B8C304DDB3}"/>
              </a:ext>
            </a:extLst>
          </p:cNvPr>
          <p:cNvGrpSpPr/>
          <p:nvPr/>
        </p:nvGrpSpPr>
        <p:grpSpPr>
          <a:xfrm>
            <a:off x="10506350" y="1952942"/>
            <a:ext cx="1255728" cy="1283732"/>
            <a:chOff x="3032551" y="387638"/>
            <a:chExt cx="1255728" cy="1283732"/>
          </a:xfrm>
        </p:grpSpPr>
        <p:pic>
          <p:nvPicPr>
            <p:cNvPr id="12" name="Graphic 11" descr="Server with solid fill">
              <a:extLst>
                <a:ext uri="{FF2B5EF4-FFF2-40B4-BE49-F238E27FC236}">
                  <a16:creationId xmlns:a16="http://schemas.microsoft.com/office/drawing/2014/main" id="{2BBB0294-525E-A018-3DD3-D322F060D92B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3203215" y="387638"/>
              <a:ext cx="914400" cy="914400"/>
            </a:xfrm>
            <a:prstGeom prst="rect">
              <a:avLst/>
            </a:prstGeom>
          </p:spPr>
        </p:pic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A57634F9-1CE4-AB8F-F211-5FD9FA281BEF}"/>
                </a:ext>
              </a:extLst>
            </p:cNvPr>
            <p:cNvSpPr txBox="1"/>
            <p:nvPr/>
          </p:nvSpPr>
          <p:spPr>
            <a:xfrm>
              <a:off x="3032551" y="1302038"/>
              <a:ext cx="125572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Source Sans Pro" panose="020B0503030403020204" pitchFamily="34" charset="0"/>
                  <a:ea typeface="Source Sans Pro" panose="020B0503030403020204" pitchFamily="34" charset="0"/>
                </a:rPr>
                <a:t>netscratch</a:t>
              </a:r>
              <a:endParaRPr lang="en-US" dirty="0">
                <a:latin typeface="Source Sans Pro" panose="020B0503030403020204" pitchFamily="34" charset="0"/>
                <a:ea typeface="Source Sans Pro" panose="020B0503030403020204" pitchFamily="34" charset="0"/>
              </a:endParaRPr>
            </a:p>
          </p:txBody>
        </p:sp>
      </p:grp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114293D1-4C42-8FF0-ACE9-F3C51EC419D1}"/>
              </a:ext>
            </a:extLst>
          </p:cNvPr>
          <p:cNvCxnSpPr>
            <a:cxnSpLocks/>
          </p:cNvCxnSpPr>
          <p:nvPr/>
        </p:nvCxnSpPr>
        <p:spPr>
          <a:xfrm>
            <a:off x="11134214" y="1325563"/>
            <a:ext cx="0" cy="659134"/>
          </a:xfrm>
          <a:prstGeom prst="straightConnector1">
            <a:avLst/>
          </a:prstGeom>
          <a:ln w="38100">
            <a:solidFill>
              <a:schemeClr val="tx2">
                <a:lumMod val="50000"/>
                <a:lumOff val="50000"/>
              </a:schemeClr>
            </a:solidFill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9A71B7C2-F21C-CB1D-5941-8BDBF7A62884}"/>
              </a:ext>
            </a:extLst>
          </p:cNvPr>
          <p:cNvSpPr txBox="1"/>
          <p:nvPr/>
        </p:nvSpPr>
        <p:spPr>
          <a:xfrm>
            <a:off x="9688134" y="408865"/>
            <a:ext cx="858794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50" dirty="0">
                <a:latin typeface="Source Sans Pro" panose="020B0503030403020204" pitchFamily="34" charset="0"/>
                <a:ea typeface="Source Sans Pro" panose="020B0503030403020204" pitchFamily="34" charset="0"/>
              </a:rPr>
              <a:t>FileZilla</a:t>
            </a:r>
            <a:endParaRPr lang="en-US" sz="11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B19BCE2-5582-549B-14E0-A760EA3E48FD}"/>
              </a:ext>
            </a:extLst>
          </p:cNvPr>
          <p:cNvSpPr txBox="1"/>
          <p:nvPr/>
        </p:nvSpPr>
        <p:spPr>
          <a:xfrm>
            <a:off x="10300134" y="1523790"/>
            <a:ext cx="858794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50" dirty="0">
                <a:latin typeface="Source Sans Pro" panose="020B0503030403020204" pitchFamily="34" charset="0"/>
                <a:ea typeface="Source Sans Pro" panose="020B0503030403020204" pitchFamily="34" charset="0"/>
              </a:rPr>
              <a:t>FileZilla</a:t>
            </a:r>
            <a:endParaRPr lang="en-US" sz="11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1387820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DE83A7-BB90-949B-0DCA-9859B44407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Filezilla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05B4A6-C0CF-0368-01E0-9F66B0F9FF4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5032375"/>
          </a:xfrm>
        </p:spPr>
        <p:txBody>
          <a:bodyPr>
            <a:normAutofit/>
          </a:bodyPr>
          <a:lstStyle/>
          <a:p>
            <a:r>
              <a:rPr lang="en-US" dirty="0"/>
              <a:t>Secure File Transfer Protocol (SFTP) application</a:t>
            </a:r>
          </a:p>
          <a:p>
            <a:r>
              <a:rPr lang="en-US" dirty="0"/>
              <a:t>Available on Mac, Windows, and Linux</a:t>
            </a:r>
          </a:p>
          <a:p>
            <a:r>
              <a:rPr lang="en-US" dirty="0"/>
              <a:t>Instructions to set up on FASRC Docs page</a:t>
            </a:r>
          </a:p>
          <a:p>
            <a:pPr lvl="1"/>
            <a:r>
              <a:rPr lang="en-US" dirty="0">
                <a:hlinkClick r:id="rId2"/>
              </a:rPr>
              <a:t>https://docs.rc.fas.harvard.edu/kb/sftp-file-transfer/</a:t>
            </a:r>
            <a:r>
              <a:rPr lang="en-US" dirty="0"/>
              <a:t> </a:t>
            </a:r>
          </a:p>
          <a:p>
            <a:pPr marL="0" indent="0">
              <a:buNone/>
            </a:pPr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Demo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Open site manager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Connect to </a:t>
            </a:r>
            <a:r>
              <a:rPr lang="en-US" dirty="0">
                <a:solidFill>
                  <a:schemeClr val="bg1">
                    <a:lumMod val="65000"/>
                  </a:schemeClr>
                </a:solidFill>
                <a:latin typeface="Consolas" panose="020B0609020204030204" pitchFamily="49" charset="0"/>
              </a:rPr>
              <a:t>login.rc.fas.harvard.edu</a:t>
            </a:r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 with SFTP and interactive login type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(optional) choose default remote directory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Limit the number of simultaneous connections to 1</a:t>
            </a:r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14" name="Picture 13" descr="A red text on a white background&#10;&#10;AI-generated content may be incorrect.">
            <a:extLst>
              <a:ext uri="{FF2B5EF4-FFF2-40B4-BE49-F238E27FC236}">
                <a16:creationId xmlns:a16="http://schemas.microsoft.com/office/drawing/2014/main" id="{5CB52076-0DFD-AFF5-39EE-32B8F055529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5735" y="408865"/>
            <a:ext cx="3839510" cy="827679"/>
          </a:xfrm>
          <a:prstGeom prst="rect">
            <a:avLst/>
          </a:prstGeom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2F423068-7550-9D6E-2BE7-6C028235783E}"/>
              </a:ext>
            </a:extLst>
          </p:cNvPr>
          <p:cNvGrpSpPr/>
          <p:nvPr/>
        </p:nvGrpSpPr>
        <p:grpSpPr>
          <a:xfrm>
            <a:off x="8664862" y="244715"/>
            <a:ext cx="1101648" cy="1283732"/>
            <a:chOff x="5643892" y="387638"/>
            <a:chExt cx="1101648" cy="1283732"/>
          </a:xfrm>
        </p:grpSpPr>
        <p:pic>
          <p:nvPicPr>
            <p:cNvPr id="5" name="Graphic 4" descr="Server with solid fill">
              <a:extLst>
                <a:ext uri="{FF2B5EF4-FFF2-40B4-BE49-F238E27FC236}">
                  <a16:creationId xmlns:a16="http://schemas.microsoft.com/office/drawing/2014/main" id="{4700A7D3-0BAE-C14E-3C3D-8A3B71E345F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5737516" y="387638"/>
              <a:ext cx="914400" cy="914400"/>
            </a:xfrm>
            <a:prstGeom prst="rect">
              <a:avLst/>
            </a:prstGeom>
          </p:spPr>
        </p:pic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AC9E6100-7B67-983E-67AA-5DFF45B6B25B}"/>
                </a:ext>
              </a:extLst>
            </p:cNvPr>
            <p:cNvSpPr txBox="1"/>
            <p:nvPr/>
          </p:nvSpPr>
          <p:spPr>
            <a:xfrm>
              <a:off x="5643892" y="1302038"/>
              <a:ext cx="110164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Source Sans Pro" panose="020B0503030403020204" pitchFamily="34" charset="0"/>
                  <a:ea typeface="Source Sans Pro" panose="020B0503030403020204" pitchFamily="34" charset="0"/>
                </a:rPr>
                <a:t>lab share</a:t>
              </a:r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9E3E69FF-AB20-26FC-BEA7-05181B79A827}"/>
              </a:ext>
            </a:extLst>
          </p:cNvPr>
          <p:cNvGrpSpPr/>
          <p:nvPr/>
        </p:nvGrpSpPr>
        <p:grpSpPr>
          <a:xfrm>
            <a:off x="10578256" y="249489"/>
            <a:ext cx="1161344" cy="1099066"/>
            <a:chOff x="2170185" y="4087564"/>
            <a:chExt cx="1161344" cy="1099066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A6310B73-86A9-4F66-877F-FE44C18D8375}"/>
                </a:ext>
              </a:extLst>
            </p:cNvPr>
            <p:cNvSpPr txBox="1"/>
            <p:nvPr/>
          </p:nvSpPr>
          <p:spPr>
            <a:xfrm>
              <a:off x="2170185" y="4817298"/>
              <a:ext cx="116134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Source Sans Pro" panose="020B0503030403020204" pitchFamily="34" charset="0"/>
                  <a:ea typeface="Source Sans Pro" panose="020B0503030403020204" pitchFamily="34" charset="0"/>
                </a:rPr>
                <a:t>computer</a:t>
              </a:r>
            </a:p>
          </p:txBody>
        </p:sp>
        <p:pic>
          <p:nvPicPr>
            <p:cNvPr id="9" name="Graphic 8" descr="Computer with solid fill">
              <a:extLst>
                <a:ext uri="{FF2B5EF4-FFF2-40B4-BE49-F238E27FC236}">
                  <a16:creationId xmlns:a16="http://schemas.microsoft.com/office/drawing/2014/main" id="{40152C68-E64A-0B23-3A97-45C3A9EF6E1C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2293657" y="4087564"/>
              <a:ext cx="914400" cy="914400"/>
            </a:xfrm>
            <a:prstGeom prst="rect">
              <a:avLst/>
            </a:prstGeom>
          </p:spPr>
        </p:pic>
      </p:grp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FF39BBEB-7642-E02D-7E8C-899D84754A32}"/>
              </a:ext>
            </a:extLst>
          </p:cNvPr>
          <p:cNvCxnSpPr>
            <a:cxnSpLocks/>
            <a:stCxn id="9" idx="1"/>
          </p:cNvCxnSpPr>
          <p:nvPr/>
        </p:nvCxnSpPr>
        <p:spPr>
          <a:xfrm flipH="1">
            <a:off x="9564130" y="706689"/>
            <a:ext cx="1137598" cy="0"/>
          </a:xfrm>
          <a:prstGeom prst="straightConnector1">
            <a:avLst/>
          </a:prstGeom>
          <a:ln w="38100">
            <a:solidFill>
              <a:schemeClr val="tx2">
                <a:lumMod val="50000"/>
                <a:lumOff val="50000"/>
              </a:schemeClr>
            </a:solidFill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11" name="Group 10">
            <a:extLst>
              <a:ext uri="{FF2B5EF4-FFF2-40B4-BE49-F238E27FC236}">
                <a16:creationId xmlns:a16="http://schemas.microsoft.com/office/drawing/2014/main" id="{8654D16B-997F-657A-724D-A0665C51F957}"/>
              </a:ext>
            </a:extLst>
          </p:cNvPr>
          <p:cNvGrpSpPr/>
          <p:nvPr/>
        </p:nvGrpSpPr>
        <p:grpSpPr>
          <a:xfrm>
            <a:off x="10506350" y="1952942"/>
            <a:ext cx="1255728" cy="1283732"/>
            <a:chOff x="3032551" y="387638"/>
            <a:chExt cx="1255728" cy="1283732"/>
          </a:xfrm>
        </p:grpSpPr>
        <p:pic>
          <p:nvPicPr>
            <p:cNvPr id="12" name="Graphic 11" descr="Server with solid fill">
              <a:extLst>
                <a:ext uri="{FF2B5EF4-FFF2-40B4-BE49-F238E27FC236}">
                  <a16:creationId xmlns:a16="http://schemas.microsoft.com/office/drawing/2014/main" id="{6EB5F08C-B3E1-2CDA-10D2-82314805E4FF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3203215" y="387638"/>
              <a:ext cx="914400" cy="914400"/>
            </a:xfrm>
            <a:prstGeom prst="rect">
              <a:avLst/>
            </a:prstGeom>
          </p:spPr>
        </p:pic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A8C6BDC4-9D02-DA87-49C5-F66BF455875C}"/>
                </a:ext>
              </a:extLst>
            </p:cNvPr>
            <p:cNvSpPr txBox="1"/>
            <p:nvPr/>
          </p:nvSpPr>
          <p:spPr>
            <a:xfrm>
              <a:off x="3032551" y="1302038"/>
              <a:ext cx="125572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Source Sans Pro" panose="020B0503030403020204" pitchFamily="34" charset="0"/>
                  <a:ea typeface="Source Sans Pro" panose="020B0503030403020204" pitchFamily="34" charset="0"/>
                </a:rPr>
                <a:t>netscratch</a:t>
              </a:r>
              <a:endParaRPr lang="en-US" dirty="0">
                <a:latin typeface="Source Sans Pro" panose="020B0503030403020204" pitchFamily="34" charset="0"/>
                <a:ea typeface="Source Sans Pro" panose="020B0503030403020204" pitchFamily="34" charset="0"/>
              </a:endParaRPr>
            </a:p>
          </p:txBody>
        </p:sp>
      </p:grp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FD96ED8A-AB0F-C47A-CE68-AB1B60B2E697}"/>
              </a:ext>
            </a:extLst>
          </p:cNvPr>
          <p:cNvCxnSpPr>
            <a:cxnSpLocks/>
          </p:cNvCxnSpPr>
          <p:nvPr/>
        </p:nvCxnSpPr>
        <p:spPr>
          <a:xfrm>
            <a:off x="11134214" y="1325563"/>
            <a:ext cx="0" cy="659134"/>
          </a:xfrm>
          <a:prstGeom prst="straightConnector1">
            <a:avLst/>
          </a:prstGeom>
          <a:ln w="38100">
            <a:solidFill>
              <a:schemeClr val="tx2">
                <a:lumMod val="50000"/>
                <a:lumOff val="50000"/>
              </a:schemeClr>
            </a:solidFill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FF8CA751-EB5F-2B9D-C888-D6F14E38D060}"/>
              </a:ext>
            </a:extLst>
          </p:cNvPr>
          <p:cNvSpPr txBox="1"/>
          <p:nvPr/>
        </p:nvSpPr>
        <p:spPr>
          <a:xfrm>
            <a:off x="9688134" y="408865"/>
            <a:ext cx="858794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50" dirty="0">
                <a:latin typeface="Source Sans Pro" panose="020B0503030403020204" pitchFamily="34" charset="0"/>
                <a:ea typeface="Source Sans Pro" panose="020B0503030403020204" pitchFamily="34" charset="0"/>
              </a:rPr>
              <a:t>FileZilla</a:t>
            </a:r>
            <a:endParaRPr lang="en-US" sz="11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FED220A-485E-0531-C7A6-C84F7A902C0A}"/>
              </a:ext>
            </a:extLst>
          </p:cNvPr>
          <p:cNvSpPr txBox="1"/>
          <p:nvPr/>
        </p:nvSpPr>
        <p:spPr>
          <a:xfrm>
            <a:off x="10300134" y="1523790"/>
            <a:ext cx="858794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50" dirty="0">
                <a:latin typeface="Source Sans Pro" panose="020B0503030403020204" pitchFamily="34" charset="0"/>
                <a:ea typeface="Source Sans Pro" panose="020B0503030403020204" pitchFamily="34" charset="0"/>
              </a:rPr>
              <a:t>FileZilla</a:t>
            </a:r>
            <a:endParaRPr lang="en-US" sz="11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2072284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A248C4-2FC8-A1A1-3A88-0D9C4F9493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4974" y="89284"/>
            <a:ext cx="10515600" cy="1325563"/>
          </a:xfrm>
        </p:spPr>
        <p:txBody>
          <a:bodyPr/>
          <a:lstStyle/>
          <a:p>
            <a:r>
              <a:rPr lang="en-US" b="1" dirty="0"/>
              <a:t>Mounting</a:t>
            </a:r>
            <a:r>
              <a:rPr lang="en-US" dirty="0"/>
              <a:t> folders to local computer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C79810C-D812-A3BB-AD05-D961978C0C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92330" y="2092310"/>
            <a:ext cx="4891216" cy="4351338"/>
          </a:xfrm>
        </p:spPr>
        <p:txBody>
          <a:bodyPr>
            <a:normAutofit/>
          </a:bodyPr>
          <a:lstStyle/>
          <a:p>
            <a:r>
              <a:rPr lang="en-US" dirty="0"/>
              <a:t>Most intuitive, but limited potential use: only tier 1 and tier 2 storage is mountable, not tier 0 or scratch 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5873E92D-27BA-11EF-6EA7-CF75D0DC3C47}"/>
              </a:ext>
            </a:extLst>
          </p:cNvPr>
          <p:cNvGrpSpPr/>
          <p:nvPr/>
        </p:nvGrpSpPr>
        <p:grpSpPr>
          <a:xfrm>
            <a:off x="8958649" y="579328"/>
            <a:ext cx="1101648" cy="1283732"/>
            <a:chOff x="5643892" y="387638"/>
            <a:chExt cx="1101648" cy="1283732"/>
          </a:xfrm>
        </p:grpSpPr>
        <p:pic>
          <p:nvPicPr>
            <p:cNvPr id="5" name="Graphic 4" descr="Server with solid fill">
              <a:extLst>
                <a:ext uri="{FF2B5EF4-FFF2-40B4-BE49-F238E27FC236}">
                  <a16:creationId xmlns:a16="http://schemas.microsoft.com/office/drawing/2014/main" id="{03536E63-5F3C-5203-B56A-B3BB466C925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737516" y="387638"/>
              <a:ext cx="914400" cy="914400"/>
            </a:xfrm>
            <a:prstGeom prst="rect">
              <a:avLst/>
            </a:prstGeom>
          </p:spPr>
        </p:pic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D9CE85B7-EAE1-3660-3D8C-97B0BCF99685}"/>
                </a:ext>
              </a:extLst>
            </p:cNvPr>
            <p:cNvSpPr txBox="1"/>
            <p:nvPr/>
          </p:nvSpPr>
          <p:spPr>
            <a:xfrm>
              <a:off x="5643892" y="1302038"/>
              <a:ext cx="110164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Source Sans Pro" panose="020B0503030403020204" pitchFamily="34" charset="0"/>
                  <a:ea typeface="Source Sans Pro" panose="020B0503030403020204" pitchFamily="34" charset="0"/>
                </a:rPr>
                <a:t>lab share</a:t>
              </a:r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3C4FF97E-AF53-80E4-918B-9354BB3016A7}"/>
              </a:ext>
            </a:extLst>
          </p:cNvPr>
          <p:cNvGrpSpPr/>
          <p:nvPr/>
        </p:nvGrpSpPr>
        <p:grpSpPr>
          <a:xfrm>
            <a:off x="10573797" y="633597"/>
            <a:ext cx="1161344" cy="1099066"/>
            <a:chOff x="2170185" y="4087564"/>
            <a:chExt cx="1161344" cy="1099066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DEA31A3D-6242-701A-5E13-23459AFDD18F}"/>
                </a:ext>
              </a:extLst>
            </p:cNvPr>
            <p:cNvSpPr txBox="1"/>
            <p:nvPr/>
          </p:nvSpPr>
          <p:spPr>
            <a:xfrm>
              <a:off x="2170185" y="4817298"/>
              <a:ext cx="116134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Source Sans Pro" panose="020B0503030403020204" pitchFamily="34" charset="0"/>
                  <a:ea typeface="Source Sans Pro" panose="020B0503030403020204" pitchFamily="34" charset="0"/>
                </a:rPr>
                <a:t>computer</a:t>
              </a:r>
            </a:p>
          </p:txBody>
        </p:sp>
        <p:pic>
          <p:nvPicPr>
            <p:cNvPr id="9" name="Graphic 8" descr="Computer with solid fill">
              <a:extLst>
                <a:ext uri="{FF2B5EF4-FFF2-40B4-BE49-F238E27FC236}">
                  <a16:creationId xmlns:a16="http://schemas.microsoft.com/office/drawing/2014/main" id="{54F769C9-F758-C69B-9AD7-B13CA7261AD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2293657" y="4087564"/>
              <a:ext cx="914400" cy="914400"/>
            </a:xfrm>
            <a:prstGeom prst="rect">
              <a:avLst/>
            </a:prstGeom>
          </p:spPr>
        </p:pic>
      </p:grp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35459D6D-8F63-59CB-8D0C-D7C91EDB0B71}"/>
              </a:ext>
            </a:extLst>
          </p:cNvPr>
          <p:cNvCxnSpPr>
            <a:cxnSpLocks/>
            <a:stCxn id="9" idx="1"/>
          </p:cNvCxnSpPr>
          <p:nvPr/>
        </p:nvCxnSpPr>
        <p:spPr>
          <a:xfrm flipH="1">
            <a:off x="9873049" y="1090797"/>
            <a:ext cx="824220" cy="0"/>
          </a:xfrm>
          <a:prstGeom prst="straightConnector1">
            <a:avLst/>
          </a:prstGeom>
          <a:ln w="38100">
            <a:solidFill>
              <a:schemeClr val="tx2">
                <a:lumMod val="50000"/>
                <a:lumOff val="50000"/>
              </a:schemeClr>
            </a:solidFill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1026" name="Picture 2" descr="Map Google Drive to File Explorer – Mount via CloudMounter">
            <a:extLst>
              <a:ext uri="{FF2B5EF4-FFF2-40B4-BE49-F238E27FC236}">
                <a16:creationId xmlns:a16="http://schemas.microsoft.com/office/drawing/2014/main" id="{8B6FEC7B-A2DF-773B-8E93-0CF94A32EC2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399" y="1414847"/>
            <a:ext cx="6184126" cy="44319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D3A518AC-20E1-5A33-21BB-4828B230BDE7}"/>
              </a:ext>
            </a:extLst>
          </p:cNvPr>
          <p:cNvSpPr txBox="1"/>
          <p:nvPr/>
        </p:nvSpPr>
        <p:spPr>
          <a:xfrm>
            <a:off x="6331469" y="4488246"/>
            <a:ext cx="544160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  <a:hlinkClick r:id="rId7"/>
              </a:rPr>
              <a:t>https://docs.rc.fas.harvard.edu/kb/mounting-storage/</a:t>
            </a:r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 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3AB89B5-ED71-91F1-4530-537FAE42C416}"/>
              </a:ext>
            </a:extLst>
          </p:cNvPr>
          <p:cNvSpPr txBox="1"/>
          <p:nvPr/>
        </p:nvSpPr>
        <p:spPr>
          <a:xfrm>
            <a:off x="9855762" y="827573"/>
            <a:ext cx="858794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50" dirty="0">
                <a:latin typeface="Source Sans Pro" panose="020B0503030403020204" pitchFamily="34" charset="0"/>
                <a:ea typeface="Source Sans Pro" panose="020B0503030403020204" pitchFamily="34" charset="0"/>
              </a:rPr>
              <a:t>Mount</a:t>
            </a:r>
            <a:endParaRPr lang="en-US" sz="11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0224399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7F0824-C299-1407-1AED-469839C0DC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E0C9D7-E35F-357B-3DC2-BB58FEC3EA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0935" y="125031"/>
            <a:ext cx="10515600" cy="1325563"/>
          </a:xfrm>
        </p:spPr>
        <p:txBody>
          <a:bodyPr/>
          <a:lstStyle/>
          <a:p>
            <a:r>
              <a:rPr lang="en-US" dirty="0"/>
              <a:t>Globus file transfer</a:t>
            </a:r>
          </a:p>
        </p:txBody>
      </p:sp>
      <p:pic>
        <p:nvPicPr>
          <p:cNvPr id="12" name="Content Placeholder 11" descr="A blue and white logo&#10;&#10;AI-generated content may be incorrect.">
            <a:extLst>
              <a:ext uri="{FF2B5EF4-FFF2-40B4-BE49-F238E27FC236}">
                <a16:creationId xmlns:a16="http://schemas.microsoft.com/office/drawing/2014/main" id="{DBF3CBAE-708F-BC1A-A8AC-654297FD5E9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7688915" y="286006"/>
            <a:ext cx="3530600" cy="977900"/>
          </a:xfrm>
        </p:spPr>
      </p:pic>
      <p:grpSp>
        <p:nvGrpSpPr>
          <p:cNvPr id="13" name="Group 12">
            <a:extLst>
              <a:ext uri="{FF2B5EF4-FFF2-40B4-BE49-F238E27FC236}">
                <a16:creationId xmlns:a16="http://schemas.microsoft.com/office/drawing/2014/main" id="{24E040D5-2C85-AC71-4322-3389EEB11A0E}"/>
              </a:ext>
            </a:extLst>
          </p:cNvPr>
          <p:cNvGrpSpPr/>
          <p:nvPr/>
        </p:nvGrpSpPr>
        <p:grpSpPr>
          <a:xfrm>
            <a:off x="7004246" y="1864519"/>
            <a:ext cx="1255728" cy="1283732"/>
            <a:chOff x="3032551" y="387638"/>
            <a:chExt cx="1255728" cy="1283732"/>
          </a:xfrm>
        </p:grpSpPr>
        <p:pic>
          <p:nvPicPr>
            <p:cNvPr id="14" name="Graphic 13" descr="Server with solid fill">
              <a:extLst>
                <a:ext uri="{FF2B5EF4-FFF2-40B4-BE49-F238E27FC236}">
                  <a16:creationId xmlns:a16="http://schemas.microsoft.com/office/drawing/2014/main" id="{D641AA42-F0B7-DDC2-5184-7C484EDBBC3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3203215" y="387638"/>
              <a:ext cx="914400" cy="914400"/>
            </a:xfrm>
            <a:prstGeom prst="rect">
              <a:avLst/>
            </a:prstGeom>
          </p:spPr>
        </p:pic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3BF1F616-F6AA-6661-2B94-06CE03C18729}"/>
                </a:ext>
              </a:extLst>
            </p:cNvPr>
            <p:cNvSpPr txBox="1"/>
            <p:nvPr/>
          </p:nvSpPr>
          <p:spPr>
            <a:xfrm>
              <a:off x="3032551" y="1302038"/>
              <a:ext cx="125572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Source Sans Pro" panose="020B0503030403020204" pitchFamily="34" charset="0"/>
                  <a:ea typeface="Source Sans Pro" panose="020B0503030403020204" pitchFamily="34" charset="0"/>
                </a:rPr>
                <a:t>netscratch</a:t>
              </a:r>
              <a:endParaRPr lang="en-US" dirty="0">
                <a:latin typeface="Source Sans Pro" panose="020B0503030403020204" pitchFamily="34" charset="0"/>
                <a:ea typeface="Source Sans Pro" panose="020B0503030403020204" pitchFamily="34" charset="0"/>
              </a:endParaRP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0BA0CAE2-3091-16AF-72B9-42FA76CFF60D}"/>
              </a:ext>
            </a:extLst>
          </p:cNvPr>
          <p:cNvGrpSpPr/>
          <p:nvPr/>
        </p:nvGrpSpPr>
        <p:grpSpPr>
          <a:xfrm>
            <a:off x="8500341" y="1864519"/>
            <a:ext cx="2007281" cy="1541312"/>
            <a:chOff x="5246009" y="387638"/>
            <a:chExt cx="2007281" cy="1541312"/>
          </a:xfrm>
        </p:grpSpPr>
        <p:pic>
          <p:nvPicPr>
            <p:cNvPr id="17" name="Graphic 16" descr="Server with solid fill">
              <a:extLst>
                <a:ext uri="{FF2B5EF4-FFF2-40B4-BE49-F238E27FC236}">
                  <a16:creationId xmlns:a16="http://schemas.microsoft.com/office/drawing/2014/main" id="{0E2AB2AB-4DFC-2E3A-E222-3624984310B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5737516" y="387638"/>
              <a:ext cx="914400" cy="914400"/>
            </a:xfrm>
            <a:prstGeom prst="rect">
              <a:avLst/>
            </a:prstGeom>
          </p:spPr>
        </p:pic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6158B139-6C5D-0CB9-9678-BC7468CA5EF1}"/>
                </a:ext>
              </a:extLst>
            </p:cNvPr>
            <p:cNvSpPr txBox="1"/>
            <p:nvPr/>
          </p:nvSpPr>
          <p:spPr>
            <a:xfrm>
              <a:off x="5246009" y="1282619"/>
              <a:ext cx="2007281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>
                  <a:latin typeface="Source Sans Pro" panose="020B0503030403020204" pitchFamily="34" charset="0"/>
                  <a:ea typeface="Source Sans Pro" panose="020B0503030403020204" pitchFamily="34" charset="0"/>
                </a:rPr>
                <a:t>lab share</a:t>
              </a:r>
            </a:p>
            <a:p>
              <a:pPr algn="ctr"/>
              <a:r>
                <a:rPr lang="en-US" b="1" dirty="0">
                  <a:latin typeface="Source Sans Pro" panose="020B0503030403020204" pitchFamily="34" charset="0"/>
                  <a:ea typeface="Source Sans Pro" panose="020B0503030403020204" pitchFamily="34" charset="0"/>
                </a:rPr>
                <a:t>(</a:t>
              </a:r>
              <a:r>
                <a:rPr lang="en-US" b="1" dirty="0">
                  <a:latin typeface="Consolas" panose="020B0609020204030204" pitchFamily="49" charset="0"/>
                  <a:ea typeface="Source Sans Pro" panose="020B0503030403020204" pitchFamily="34" charset="0"/>
                </a:rPr>
                <a:t>Lab/</a:t>
              </a:r>
              <a:r>
                <a:rPr lang="en-US" b="1" dirty="0">
                  <a:latin typeface="Source Sans Pro" panose="020B0503030403020204" pitchFamily="34" charset="0"/>
                  <a:ea typeface="Source Sans Pro" panose="020B0503030403020204" pitchFamily="34" charset="0"/>
                </a:rPr>
                <a:t> folder only)</a:t>
              </a:r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3E27AA1F-FFBA-64FE-A801-DD1C97192220}"/>
              </a:ext>
            </a:extLst>
          </p:cNvPr>
          <p:cNvGrpSpPr/>
          <p:nvPr/>
        </p:nvGrpSpPr>
        <p:grpSpPr>
          <a:xfrm>
            <a:off x="10762316" y="1864519"/>
            <a:ext cx="914400" cy="1283732"/>
            <a:chOff x="8288401" y="387638"/>
            <a:chExt cx="914400" cy="1283732"/>
          </a:xfrm>
        </p:grpSpPr>
        <p:pic>
          <p:nvPicPr>
            <p:cNvPr id="20" name="Graphic 19" descr="Server with solid fill">
              <a:extLst>
                <a:ext uri="{FF2B5EF4-FFF2-40B4-BE49-F238E27FC236}">
                  <a16:creationId xmlns:a16="http://schemas.microsoft.com/office/drawing/2014/main" id="{D6897317-5367-36B5-903B-C8E31291ED19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8288401" y="387638"/>
              <a:ext cx="914400" cy="914400"/>
            </a:xfrm>
            <a:prstGeom prst="rect">
              <a:avLst/>
            </a:prstGeom>
          </p:spPr>
        </p:pic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7FE0E3F6-6BFC-DE3F-8753-C50206CC0948}"/>
                </a:ext>
              </a:extLst>
            </p:cNvPr>
            <p:cNvSpPr txBox="1"/>
            <p:nvPr/>
          </p:nvSpPr>
          <p:spPr>
            <a:xfrm>
              <a:off x="8428494" y="1302038"/>
              <a:ext cx="63421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Source Sans Pro" panose="020B0503030403020204" pitchFamily="34" charset="0"/>
                  <a:ea typeface="Source Sans Pro" panose="020B0503030403020204" pitchFamily="34" charset="0"/>
                </a:rPr>
                <a:t>tape</a:t>
              </a:r>
            </a:p>
          </p:txBody>
        </p: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72B75B2D-E672-22C0-7F0A-F6DEE8FFB708}"/>
              </a:ext>
            </a:extLst>
          </p:cNvPr>
          <p:cNvGrpSpPr/>
          <p:nvPr/>
        </p:nvGrpSpPr>
        <p:grpSpPr>
          <a:xfrm>
            <a:off x="9325576" y="3863031"/>
            <a:ext cx="1161344" cy="1099066"/>
            <a:chOff x="2170185" y="4087564"/>
            <a:chExt cx="1161344" cy="1099066"/>
          </a:xfrm>
        </p:grpSpPr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7908E2B3-619B-9296-0E2C-7675704EE0FA}"/>
                </a:ext>
              </a:extLst>
            </p:cNvPr>
            <p:cNvSpPr txBox="1"/>
            <p:nvPr/>
          </p:nvSpPr>
          <p:spPr>
            <a:xfrm>
              <a:off x="2170185" y="4817298"/>
              <a:ext cx="116134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Source Sans Pro" panose="020B0503030403020204" pitchFamily="34" charset="0"/>
                  <a:ea typeface="Source Sans Pro" panose="020B0503030403020204" pitchFamily="34" charset="0"/>
                </a:rPr>
                <a:t>computer</a:t>
              </a:r>
            </a:p>
          </p:txBody>
        </p:sp>
        <p:pic>
          <p:nvPicPr>
            <p:cNvPr id="24" name="Graphic 23" descr="Computer with solid fill">
              <a:extLst>
                <a:ext uri="{FF2B5EF4-FFF2-40B4-BE49-F238E27FC236}">
                  <a16:creationId xmlns:a16="http://schemas.microsoft.com/office/drawing/2014/main" id="{B23607C3-27B7-0FAC-406C-E5433DD926BA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2293657" y="4087564"/>
              <a:ext cx="914400" cy="914400"/>
            </a:xfrm>
            <a:prstGeom prst="rect">
              <a:avLst/>
            </a:prstGeom>
          </p:spPr>
        </p:pic>
      </p:grp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6A1D43E0-62E9-BA21-516B-9B2C235B2436}"/>
              </a:ext>
            </a:extLst>
          </p:cNvPr>
          <p:cNvCxnSpPr>
            <a:cxnSpLocks/>
            <a:stCxn id="14" idx="3"/>
          </p:cNvCxnSpPr>
          <p:nvPr/>
        </p:nvCxnSpPr>
        <p:spPr>
          <a:xfrm flipV="1">
            <a:off x="8089310" y="2320453"/>
            <a:ext cx="902538" cy="1266"/>
          </a:xfrm>
          <a:prstGeom prst="straightConnector1">
            <a:avLst/>
          </a:prstGeom>
          <a:ln w="38100">
            <a:solidFill>
              <a:schemeClr val="tx2">
                <a:lumMod val="50000"/>
                <a:lumOff val="50000"/>
              </a:schemeClr>
            </a:solidFill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ADC59A37-10AB-EC64-68A8-4AAF80DD9293}"/>
              </a:ext>
            </a:extLst>
          </p:cNvPr>
          <p:cNvCxnSpPr>
            <a:cxnSpLocks/>
            <a:endCxn id="20" idx="1"/>
          </p:cNvCxnSpPr>
          <p:nvPr/>
        </p:nvCxnSpPr>
        <p:spPr>
          <a:xfrm>
            <a:off x="9894386" y="2320453"/>
            <a:ext cx="867930" cy="1266"/>
          </a:xfrm>
          <a:prstGeom prst="straightConnector1">
            <a:avLst/>
          </a:prstGeom>
          <a:ln w="38100"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49C7E9B4-5278-EBD3-B8CA-02DFD2B5F72A}"/>
              </a:ext>
            </a:extLst>
          </p:cNvPr>
          <p:cNvCxnSpPr>
            <a:cxnSpLocks/>
            <a:endCxn id="18" idx="2"/>
          </p:cNvCxnSpPr>
          <p:nvPr/>
        </p:nvCxnSpPr>
        <p:spPr>
          <a:xfrm flipH="1" flipV="1">
            <a:off x="9503982" y="3405831"/>
            <a:ext cx="321400" cy="591971"/>
          </a:xfrm>
          <a:prstGeom prst="straightConnector1">
            <a:avLst/>
          </a:prstGeom>
          <a:ln w="38100">
            <a:solidFill>
              <a:schemeClr val="tx2">
                <a:lumMod val="50000"/>
                <a:lumOff val="50000"/>
              </a:schemeClr>
            </a:solidFill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5FF1A71F-1BE1-72A8-27C2-6D8D7C4A2DDF}"/>
              </a:ext>
            </a:extLst>
          </p:cNvPr>
          <p:cNvCxnSpPr>
            <a:cxnSpLocks/>
            <a:stCxn id="24" idx="1"/>
            <a:endCxn id="15" idx="2"/>
          </p:cNvCxnSpPr>
          <p:nvPr/>
        </p:nvCxnSpPr>
        <p:spPr>
          <a:xfrm flipH="1" flipV="1">
            <a:off x="7632110" y="3148251"/>
            <a:ext cx="1816938" cy="1171980"/>
          </a:xfrm>
          <a:prstGeom prst="straightConnector1">
            <a:avLst/>
          </a:prstGeom>
          <a:ln w="38100">
            <a:solidFill>
              <a:schemeClr val="tx2">
                <a:lumMod val="50000"/>
                <a:lumOff val="50000"/>
              </a:schemeClr>
            </a:solidFill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38C6F6AC-450E-9E1C-DE09-6EA94E6C9259}"/>
              </a:ext>
            </a:extLst>
          </p:cNvPr>
          <p:cNvSpPr txBox="1"/>
          <p:nvPr/>
        </p:nvSpPr>
        <p:spPr>
          <a:xfrm>
            <a:off x="8111182" y="2051348"/>
            <a:ext cx="858794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50" dirty="0">
                <a:latin typeface="Source Sans Pro" panose="020B0503030403020204" pitchFamily="34" charset="0"/>
                <a:ea typeface="Source Sans Pro" panose="020B0503030403020204" pitchFamily="34" charset="0"/>
              </a:rPr>
              <a:t>Globus</a:t>
            </a:r>
            <a:endParaRPr lang="en-US" sz="11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380FB8B-6C1B-149D-7BB7-AF601EBF28A5}"/>
              </a:ext>
            </a:extLst>
          </p:cNvPr>
          <p:cNvSpPr txBox="1"/>
          <p:nvPr/>
        </p:nvSpPr>
        <p:spPr>
          <a:xfrm>
            <a:off x="8225230" y="3425250"/>
            <a:ext cx="858794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50" dirty="0">
                <a:latin typeface="Source Sans Pro" panose="020B0503030403020204" pitchFamily="34" charset="0"/>
                <a:ea typeface="Source Sans Pro" panose="020B0503030403020204" pitchFamily="34" charset="0"/>
              </a:rPr>
              <a:t>Globus</a:t>
            </a:r>
            <a:endParaRPr lang="en-US" sz="11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9A4BA91-2346-2A8F-B95A-A5A63FE588A3}"/>
              </a:ext>
            </a:extLst>
          </p:cNvPr>
          <p:cNvSpPr txBox="1"/>
          <p:nvPr/>
        </p:nvSpPr>
        <p:spPr>
          <a:xfrm>
            <a:off x="9512861" y="3507473"/>
            <a:ext cx="858794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50" dirty="0">
                <a:latin typeface="Source Sans Pro" panose="020B0503030403020204" pitchFamily="34" charset="0"/>
                <a:ea typeface="Source Sans Pro" panose="020B0503030403020204" pitchFamily="34" charset="0"/>
              </a:rPr>
              <a:t>Globus</a:t>
            </a:r>
            <a:endParaRPr lang="en-US" sz="11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2044706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EFE5DF-DD42-DA91-FC50-53C7F16DB0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527CB1-E075-C8C9-250B-536991CF52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0935" y="125031"/>
            <a:ext cx="10515600" cy="1325563"/>
          </a:xfrm>
        </p:spPr>
        <p:txBody>
          <a:bodyPr/>
          <a:lstStyle/>
          <a:p>
            <a:r>
              <a:rPr lang="en-US" dirty="0"/>
              <a:t>Globus file transfer</a:t>
            </a:r>
          </a:p>
        </p:txBody>
      </p:sp>
      <p:pic>
        <p:nvPicPr>
          <p:cNvPr id="12" name="Content Placeholder 11" descr="A blue and white logo&#10;&#10;AI-generated content may be incorrect.">
            <a:extLst>
              <a:ext uri="{FF2B5EF4-FFF2-40B4-BE49-F238E27FC236}">
                <a16:creationId xmlns:a16="http://schemas.microsoft.com/office/drawing/2014/main" id="{1DFDC6BF-DA23-37A8-94B6-448A4D49384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7688915" y="286006"/>
            <a:ext cx="3530600" cy="977900"/>
          </a:xfrm>
        </p:spPr>
      </p:pic>
      <p:grpSp>
        <p:nvGrpSpPr>
          <p:cNvPr id="13" name="Group 12">
            <a:extLst>
              <a:ext uri="{FF2B5EF4-FFF2-40B4-BE49-F238E27FC236}">
                <a16:creationId xmlns:a16="http://schemas.microsoft.com/office/drawing/2014/main" id="{0F98E2F0-9A2F-3158-1C95-9EBA27CED635}"/>
              </a:ext>
            </a:extLst>
          </p:cNvPr>
          <p:cNvGrpSpPr/>
          <p:nvPr/>
        </p:nvGrpSpPr>
        <p:grpSpPr>
          <a:xfrm>
            <a:off x="7004246" y="1864519"/>
            <a:ext cx="1255728" cy="1283732"/>
            <a:chOff x="3032551" y="387638"/>
            <a:chExt cx="1255728" cy="1283732"/>
          </a:xfrm>
        </p:grpSpPr>
        <p:pic>
          <p:nvPicPr>
            <p:cNvPr id="14" name="Graphic 13" descr="Server with solid fill">
              <a:extLst>
                <a:ext uri="{FF2B5EF4-FFF2-40B4-BE49-F238E27FC236}">
                  <a16:creationId xmlns:a16="http://schemas.microsoft.com/office/drawing/2014/main" id="{A697F18A-C21B-BCE3-8678-AD9F2F9253B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3203215" y="387638"/>
              <a:ext cx="914400" cy="914400"/>
            </a:xfrm>
            <a:prstGeom prst="rect">
              <a:avLst/>
            </a:prstGeom>
          </p:spPr>
        </p:pic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12967954-E3D6-D3A8-170B-7F4D14A41102}"/>
                </a:ext>
              </a:extLst>
            </p:cNvPr>
            <p:cNvSpPr txBox="1"/>
            <p:nvPr/>
          </p:nvSpPr>
          <p:spPr>
            <a:xfrm>
              <a:off x="3032551" y="1302038"/>
              <a:ext cx="125572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Source Sans Pro" panose="020B0503030403020204" pitchFamily="34" charset="0"/>
                  <a:ea typeface="Source Sans Pro" panose="020B0503030403020204" pitchFamily="34" charset="0"/>
                </a:rPr>
                <a:t>netscratch</a:t>
              </a:r>
              <a:endParaRPr lang="en-US" dirty="0">
                <a:latin typeface="Source Sans Pro" panose="020B0503030403020204" pitchFamily="34" charset="0"/>
                <a:ea typeface="Source Sans Pro" panose="020B0503030403020204" pitchFamily="34" charset="0"/>
              </a:endParaRP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FFF0A082-2F43-5EE8-EE4D-65E5C0442766}"/>
              </a:ext>
            </a:extLst>
          </p:cNvPr>
          <p:cNvGrpSpPr/>
          <p:nvPr/>
        </p:nvGrpSpPr>
        <p:grpSpPr>
          <a:xfrm>
            <a:off x="8500341" y="1864519"/>
            <a:ext cx="2007281" cy="1541312"/>
            <a:chOff x="5246009" y="387638"/>
            <a:chExt cx="2007281" cy="1541312"/>
          </a:xfrm>
        </p:grpSpPr>
        <p:pic>
          <p:nvPicPr>
            <p:cNvPr id="17" name="Graphic 16" descr="Server with solid fill">
              <a:extLst>
                <a:ext uri="{FF2B5EF4-FFF2-40B4-BE49-F238E27FC236}">
                  <a16:creationId xmlns:a16="http://schemas.microsoft.com/office/drawing/2014/main" id="{DDB6EF02-9EC6-D9D4-38C6-446291CBE88B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5737516" y="387638"/>
              <a:ext cx="914400" cy="914400"/>
            </a:xfrm>
            <a:prstGeom prst="rect">
              <a:avLst/>
            </a:prstGeom>
          </p:spPr>
        </p:pic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951D0837-BAB1-D793-E292-7222C3DD851A}"/>
                </a:ext>
              </a:extLst>
            </p:cNvPr>
            <p:cNvSpPr txBox="1"/>
            <p:nvPr/>
          </p:nvSpPr>
          <p:spPr>
            <a:xfrm>
              <a:off x="5246009" y="1282619"/>
              <a:ext cx="2007281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>
                  <a:latin typeface="Source Sans Pro" panose="020B0503030403020204" pitchFamily="34" charset="0"/>
                  <a:ea typeface="Source Sans Pro" panose="020B0503030403020204" pitchFamily="34" charset="0"/>
                </a:rPr>
                <a:t>lab share</a:t>
              </a:r>
            </a:p>
            <a:p>
              <a:pPr algn="ctr"/>
              <a:r>
                <a:rPr lang="en-US" b="1" dirty="0">
                  <a:latin typeface="Source Sans Pro" panose="020B0503030403020204" pitchFamily="34" charset="0"/>
                  <a:ea typeface="Source Sans Pro" panose="020B0503030403020204" pitchFamily="34" charset="0"/>
                </a:rPr>
                <a:t>(</a:t>
              </a:r>
              <a:r>
                <a:rPr lang="en-US" b="1" dirty="0">
                  <a:latin typeface="Consolas" panose="020B0609020204030204" pitchFamily="49" charset="0"/>
                  <a:ea typeface="Source Sans Pro" panose="020B0503030403020204" pitchFamily="34" charset="0"/>
                </a:rPr>
                <a:t>Lab/</a:t>
              </a:r>
              <a:r>
                <a:rPr lang="en-US" b="1" dirty="0">
                  <a:latin typeface="Source Sans Pro" panose="020B0503030403020204" pitchFamily="34" charset="0"/>
                  <a:ea typeface="Source Sans Pro" panose="020B0503030403020204" pitchFamily="34" charset="0"/>
                </a:rPr>
                <a:t> folder only)</a:t>
              </a:r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EB89B073-9060-4751-0446-D814091B8F26}"/>
              </a:ext>
            </a:extLst>
          </p:cNvPr>
          <p:cNvGrpSpPr/>
          <p:nvPr/>
        </p:nvGrpSpPr>
        <p:grpSpPr>
          <a:xfrm>
            <a:off x="10762316" y="1864519"/>
            <a:ext cx="914400" cy="1283732"/>
            <a:chOff x="8288401" y="387638"/>
            <a:chExt cx="914400" cy="1283732"/>
          </a:xfrm>
        </p:grpSpPr>
        <p:pic>
          <p:nvPicPr>
            <p:cNvPr id="20" name="Graphic 19" descr="Server with solid fill">
              <a:extLst>
                <a:ext uri="{FF2B5EF4-FFF2-40B4-BE49-F238E27FC236}">
                  <a16:creationId xmlns:a16="http://schemas.microsoft.com/office/drawing/2014/main" id="{C05BE2F9-0902-E1B3-51A1-2460812977CD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8288401" y="387638"/>
              <a:ext cx="914400" cy="914400"/>
            </a:xfrm>
            <a:prstGeom prst="rect">
              <a:avLst/>
            </a:prstGeom>
          </p:spPr>
        </p:pic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E6CF41F3-CBCE-DE92-B8B5-10EF1F953506}"/>
                </a:ext>
              </a:extLst>
            </p:cNvPr>
            <p:cNvSpPr txBox="1"/>
            <p:nvPr/>
          </p:nvSpPr>
          <p:spPr>
            <a:xfrm>
              <a:off x="8428494" y="1302038"/>
              <a:ext cx="63421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Source Sans Pro" panose="020B0503030403020204" pitchFamily="34" charset="0"/>
                  <a:ea typeface="Source Sans Pro" panose="020B0503030403020204" pitchFamily="34" charset="0"/>
                </a:rPr>
                <a:t>tape</a:t>
              </a:r>
            </a:p>
          </p:txBody>
        </p: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BF921D85-79D8-E46D-53E0-FA0DA42EB697}"/>
              </a:ext>
            </a:extLst>
          </p:cNvPr>
          <p:cNvGrpSpPr/>
          <p:nvPr/>
        </p:nvGrpSpPr>
        <p:grpSpPr>
          <a:xfrm>
            <a:off x="9325576" y="3863031"/>
            <a:ext cx="1161344" cy="1099066"/>
            <a:chOff x="2170185" y="4087564"/>
            <a:chExt cx="1161344" cy="1099066"/>
          </a:xfrm>
        </p:grpSpPr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3254EE4A-7F4A-50C5-FB43-AD31B1591894}"/>
                </a:ext>
              </a:extLst>
            </p:cNvPr>
            <p:cNvSpPr txBox="1"/>
            <p:nvPr/>
          </p:nvSpPr>
          <p:spPr>
            <a:xfrm>
              <a:off x="2170185" y="4817298"/>
              <a:ext cx="116134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Source Sans Pro" panose="020B0503030403020204" pitchFamily="34" charset="0"/>
                  <a:ea typeface="Source Sans Pro" panose="020B0503030403020204" pitchFamily="34" charset="0"/>
                </a:rPr>
                <a:t>computer</a:t>
              </a:r>
            </a:p>
          </p:txBody>
        </p:sp>
        <p:pic>
          <p:nvPicPr>
            <p:cNvPr id="24" name="Graphic 23" descr="Computer with solid fill">
              <a:extLst>
                <a:ext uri="{FF2B5EF4-FFF2-40B4-BE49-F238E27FC236}">
                  <a16:creationId xmlns:a16="http://schemas.microsoft.com/office/drawing/2014/main" id="{5F5BEE0F-E9FE-8AE6-B0C3-D97004C990D4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2293657" y="4087564"/>
              <a:ext cx="914400" cy="914400"/>
            </a:xfrm>
            <a:prstGeom prst="rect">
              <a:avLst/>
            </a:prstGeom>
          </p:spPr>
        </p:pic>
      </p:grp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040FD085-916B-4296-1F2E-28C6E82C33FB}"/>
              </a:ext>
            </a:extLst>
          </p:cNvPr>
          <p:cNvCxnSpPr>
            <a:cxnSpLocks/>
            <a:stCxn id="14" idx="3"/>
          </p:cNvCxnSpPr>
          <p:nvPr/>
        </p:nvCxnSpPr>
        <p:spPr>
          <a:xfrm flipV="1">
            <a:off x="8089310" y="2320453"/>
            <a:ext cx="902538" cy="1266"/>
          </a:xfrm>
          <a:prstGeom prst="straightConnector1">
            <a:avLst/>
          </a:prstGeom>
          <a:ln w="38100">
            <a:solidFill>
              <a:schemeClr val="tx2">
                <a:lumMod val="50000"/>
                <a:lumOff val="50000"/>
              </a:schemeClr>
            </a:solidFill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B218BD40-78B0-4DD7-BD44-3F5B106D99C9}"/>
              </a:ext>
            </a:extLst>
          </p:cNvPr>
          <p:cNvCxnSpPr>
            <a:cxnSpLocks/>
            <a:endCxn id="20" idx="1"/>
          </p:cNvCxnSpPr>
          <p:nvPr/>
        </p:nvCxnSpPr>
        <p:spPr>
          <a:xfrm>
            <a:off x="9894386" y="2320453"/>
            <a:ext cx="867930" cy="1266"/>
          </a:xfrm>
          <a:prstGeom prst="straightConnector1">
            <a:avLst/>
          </a:prstGeom>
          <a:ln w="38100"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C6D9C6C0-0A00-039C-4434-8C9C31DD0B0E}"/>
              </a:ext>
            </a:extLst>
          </p:cNvPr>
          <p:cNvCxnSpPr>
            <a:cxnSpLocks/>
            <a:endCxn id="18" idx="2"/>
          </p:cNvCxnSpPr>
          <p:nvPr/>
        </p:nvCxnSpPr>
        <p:spPr>
          <a:xfrm flipH="1" flipV="1">
            <a:off x="9503982" y="3405831"/>
            <a:ext cx="321400" cy="591971"/>
          </a:xfrm>
          <a:prstGeom prst="straightConnector1">
            <a:avLst/>
          </a:prstGeom>
          <a:ln w="38100">
            <a:solidFill>
              <a:schemeClr val="tx2">
                <a:lumMod val="50000"/>
                <a:lumOff val="50000"/>
              </a:schemeClr>
            </a:solidFill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1E37A154-2CDB-AF68-9E9B-BB6FCD8B1620}"/>
              </a:ext>
            </a:extLst>
          </p:cNvPr>
          <p:cNvCxnSpPr>
            <a:cxnSpLocks/>
            <a:stCxn id="24" idx="1"/>
            <a:endCxn id="15" idx="2"/>
          </p:cNvCxnSpPr>
          <p:nvPr/>
        </p:nvCxnSpPr>
        <p:spPr>
          <a:xfrm flipH="1" flipV="1">
            <a:off x="7632110" y="3148251"/>
            <a:ext cx="1816938" cy="1171980"/>
          </a:xfrm>
          <a:prstGeom prst="straightConnector1">
            <a:avLst/>
          </a:prstGeom>
          <a:ln w="38100">
            <a:solidFill>
              <a:schemeClr val="tx2">
                <a:lumMod val="50000"/>
                <a:lumOff val="50000"/>
              </a:schemeClr>
            </a:solidFill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12A0C04F-2EBD-8DEB-ED2C-2D0CB05BAD1D}"/>
              </a:ext>
            </a:extLst>
          </p:cNvPr>
          <p:cNvSpPr txBox="1"/>
          <p:nvPr/>
        </p:nvSpPr>
        <p:spPr>
          <a:xfrm>
            <a:off x="8111182" y="2051348"/>
            <a:ext cx="858794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50" dirty="0">
                <a:latin typeface="Source Sans Pro" panose="020B0503030403020204" pitchFamily="34" charset="0"/>
                <a:ea typeface="Source Sans Pro" panose="020B0503030403020204" pitchFamily="34" charset="0"/>
              </a:rPr>
              <a:t>Globus</a:t>
            </a:r>
            <a:endParaRPr lang="en-US" sz="11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F0D6C44-0142-54B0-CEBE-277753C1DCC3}"/>
              </a:ext>
            </a:extLst>
          </p:cNvPr>
          <p:cNvSpPr txBox="1"/>
          <p:nvPr/>
        </p:nvSpPr>
        <p:spPr>
          <a:xfrm>
            <a:off x="8225230" y="3425250"/>
            <a:ext cx="858794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50" dirty="0">
                <a:latin typeface="Source Sans Pro" panose="020B0503030403020204" pitchFamily="34" charset="0"/>
                <a:ea typeface="Source Sans Pro" panose="020B0503030403020204" pitchFamily="34" charset="0"/>
              </a:rPr>
              <a:t>Globus</a:t>
            </a:r>
            <a:endParaRPr lang="en-US" sz="11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9333E8F-5CBB-4A45-8944-7D1137BF2748}"/>
              </a:ext>
            </a:extLst>
          </p:cNvPr>
          <p:cNvSpPr txBox="1"/>
          <p:nvPr/>
        </p:nvSpPr>
        <p:spPr>
          <a:xfrm>
            <a:off x="9512861" y="3507473"/>
            <a:ext cx="858794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50" dirty="0">
                <a:latin typeface="Source Sans Pro" panose="020B0503030403020204" pitchFamily="34" charset="0"/>
                <a:ea typeface="Source Sans Pro" panose="020B0503030403020204" pitchFamily="34" charset="0"/>
              </a:rPr>
              <a:t>Globus</a:t>
            </a:r>
            <a:endParaRPr lang="en-US" sz="11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1AB0C54-8D5F-9CEE-5D40-55F12A21C3AD}"/>
              </a:ext>
            </a:extLst>
          </p:cNvPr>
          <p:cNvSpPr txBox="1"/>
          <p:nvPr/>
        </p:nvSpPr>
        <p:spPr>
          <a:xfrm>
            <a:off x="220722" y="1368198"/>
            <a:ext cx="6612860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All purpose transfer tool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Transfers between clusters and between clusters + your computer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Only way to access tape storage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b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Great for sharing data with collaborators at other institutions or on other clusters</a:t>
            </a:r>
          </a:p>
        </p:txBody>
      </p:sp>
    </p:spTree>
    <p:extLst>
      <p:ext uri="{BB962C8B-B14F-4D97-AF65-F5344CB8AC3E}">
        <p14:creationId xmlns:p14="http://schemas.microsoft.com/office/powerpoint/2010/main" val="307546270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25BE4F-3960-5C80-3CCF-2C0AB3FDE0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8E184F-B2D5-B3CB-2F4B-FCCFAF9DBA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0935" y="125031"/>
            <a:ext cx="10515600" cy="1325563"/>
          </a:xfrm>
        </p:spPr>
        <p:txBody>
          <a:bodyPr/>
          <a:lstStyle/>
          <a:p>
            <a:r>
              <a:rPr lang="en-US" dirty="0"/>
              <a:t>Globus file transfer</a:t>
            </a:r>
          </a:p>
        </p:txBody>
      </p:sp>
      <p:pic>
        <p:nvPicPr>
          <p:cNvPr id="12" name="Content Placeholder 11" descr="A blue and white logo&#10;&#10;AI-generated content may be incorrect.">
            <a:extLst>
              <a:ext uri="{FF2B5EF4-FFF2-40B4-BE49-F238E27FC236}">
                <a16:creationId xmlns:a16="http://schemas.microsoft.com/office/drawing/2014/main" id="{900F2F77-D0FB-DB57-1D29-BFEC7603F1A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7688915" y="286006"/>
            <a:ext cx="3530600" cy="977900"/>
          </a:xfrm>
        </p:spPr>
      </p:pic>
      <p:grpSp>
        <p:nvGrpSpPr>
          <p:cNvPr id="13" name="Group 12">
            <a:extLst>
              <a:ext uri="{FF2B5EF4-FFF2-40B4-BE49-F238E27FC236}">
                <a16:creationId xmlns:a16="http://schemas.microsoft.com/office/drawing/2014/main" id="{F854FCAA-84EA-65E7-9338-1D67C57B4EB3}"/>
              </a:ext>
            </a:extLst>
          </p:cNvPr>
          <p:cNvGrpSpPr/>
          <p:nvPr/>
        </p:nvGrpSpPr>
        <p:grpSpPr>
          <a:xfrm>
            <a:off x="7004246" y="1864519"/>
            <a:ext cx="1255728" cy="1283732"/>
            <a:chOff x="3032551" y="387638"/>
            <a:chExt cx="1255728" cy="1283732"/>
          </a:xfrm>
        </p:grpSpPr>
        <p:pic>
          <p:nvPicPr>
            <p:cNvPr id="14" name="Graphic 13" descr="Server with solid fill">
              <a:extLst>
                <a:ext uri="{FF2B5EF4-FFF2-40B4-BE49-F238E27FC236}">
                  <a16:creationId xmlns:a16="http://schemas.microsoft.com/office/drawing/2014/main" id="{5864BB63-685C-F1C0-31E4-380F8FE57D9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3203215" y="387638"/>
              <a:ext cx="914400" cy="914400"/>
            </a:xfrm>
            <a:prstGeom prst="rect">
              <a:avLst/>
            </a:prstGeom>
          </p:spPr>
        </p:pic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0489B2AE-4FCA-7D41-30FA-55531537A859}"/>
                </a:ext>
              </a:extLst>
            </p:cNvPr>
            <p:cNvSpPr txBox="1"/>
            <p:nvPr/>
          </p:nvSpPr>
          <p:spPr>
            <a:xfrm>
              <a:off x="3032551" y="1302038"/>
              <a:ext cx="125572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Source Sans Pro" panose="020B0503030403020204" pitchFamily="34" charset="0"/>
                  <a:ea typeface="Source Sans Pro" panose="020B0503030403020204" pitchFamily="34" charset="0"/>
                </a:rPr>
                <a:t>netscratch</a:t>
              </a:r>
              <a:endParaRPr lang="en-US" dirty="0">
                <a:latin typeface="Source Sans Pro" panose="020B0503030403020204" pitchFamily="34" charset="0"/>
                <a:ea typeface="Source Sans Pro" panose="020B0503030403020204" pitchFamily="34" charset="0"/>
              </a:endParaRP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5E73819A-DA09-2D80-1B7E-376C1A4F7079}"/>
              </a:ext>
            </a:extLst>
          </p:cNvPr>
          <p:cNvGrpSpPr/>
          <p:nvPr/>
        </p:nvGrpSpPr>
        <p:grpSpPr>
          <a:xfrm>
            <a:off x="8500341" y="1864519"/>
            <a:ext cx="2007281" cy="1541312"/>
            <a:chOff x="5246009" y="387638"/>
            <a:chExt cx="2007281" cy="1541312"/>
          </a:xfrm>
        </p:grpSpPr>
        <p:pic>
          <p:nvPicPr>
            <p:cNvPr id="17" name="Graphic 16" descr="Server with solid fill">
              <a:extLst>
                <a:ext uri="{FF2B5EF4-FFF2-40B4-BE49-F238E27FC236}">
                  <a16:creationId xmlns:a16="http://schemas.microsoft.com/office/drawing/2014/main" id="{3ADAC8CB-1C74-F7D6-556E-F1FF100622EC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5737516" y="387638"/>
              <a:ext cx="914400" cy="914400"/>
            </a:xfrm>
            <a:prstGeom prst="rect">
              <a:avLst/>
            </a:prstGeom>
          </p:spPr>
        </p:pic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4994FB44-2B52-A915-0D90-40B240E17A2F}"/>
                </a:ext>
              </a:extLst>
            </p:cNvPr>
            <p:cNvSpPr txBox="1"/>
            <p:nvPr/>
          </p:nvSpPr>
          <p:spPr>
            <a:xfrm>
              <a:off x="5246009" y="1282619"/>
              <a:ext cx="2007281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>
                  <a:latin typeface="Source Sans Pro" panose="020B0503030403020204" pitchFamily="34" charset="0"/>
                  <a:ea typeface="Source Sans Pro" panose="020B0503030403020204" pitchFamily="34" charset="0"/>
                </a:rPr>
                <a:t>lab share</a:t>
              </a:r>
            </a:p>
            <a:p>
              <a:pPr algn="ctr"/>
              <a:r>
                <a:rPr lang="en-US" b="1" dirty="0">
                  <a:latin typeface="Source Sans Pro" panose="020B0503030403020204" pitchFamily="34" charset="0"/>
                  <a:ea typeface="Source Sans Pro" panose="020B0503030403020204" pitchFamily="34" charset="0"/>
                </a:rPr>
                <a:t>(</a:t>
              </a:r>
              <a:r>
                <a:rPr lang="en-US" b="1" dirty="0">
                  <a:latin typeface="Consolas" panose="020B0609020204030204" pitchFamily="49" charset="0"/>
                  <a:ea typeface="Source Sans Pro" panose="020B0503030403020204" pitchFamily="34" charset="0"/>
                </a:rPr>
                <a:t>Lab/</a:t>
              </a:r>
              <a:r>
                <a:rPr lang="en-US" b="1" dirty="0">
                  <a:latin typeface="Source Sans Pro" panose="020B0503030403020204" pitchFamily="34" charset="0"/>
                  <a:ea typeface="Source Sans Pro" panose="020B0503030403020204" pitchFamily="34" charset="0"/>
                </a:rPr>
                <a:t> folder only)</a:t>
              </a:r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FF50E52B-20DF-5132-17A2-9D1DE5048569}"/>
              </a:ext>
            </a:extLst>
          </p:cNvPr>
          <p:cNvGrpSpPr/>
          <p:nvPr/>
        </p:nvGrpSpPr>
        <p:grpSpPr>
          <a:xfrm>
            <a:off x="10762316" y="1864519"/>
            <a:ext cx="914400" cy="1283732"/>
            <a:chOff x="8288401" y="387638"/>
            <a:chExt cx="914400" cy="1283732"/>
          </a:xfrm>
        </p:grpSpPr>
        <p:pic>
          <p:nvPicPr>
            <p:cNvPr id="20" name="Graphic 19" descr="Server with solid fill">
              <a:extLst>
                <a:ext uri="{FF2B5EF4-FFF2-40B4-BE49-F238E27FC236}">
                  <a16:creationId xmlns:a16="http://schemas.microsoft.com/office/drawing/2014/main" id="{0143B5F8-45C3-AD58-BED7-93E48B6A1BB3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8288401" y="387638"/>
              <a:ext cx="914400" cy="914400"/>
            </a:xfrm>
            <a:prstGeom prst="rect">
              <a:avLst/>
            </a:prstGeom>
          </p:spPr>
        </p:pic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82CA4A71-572A-B73B-088E-15F8C1810F4F}"/>
                </a:ext>
              </a:extLst>
            </p:cNvPr>
            <p:cNvSpPr txBox="1"/>
            <p:nvPr/>
          </p:nvSpPr>
          <p:spPr>
            <a:xfrm>
              <a:off x="8428494" y="1302038"/>
              <a:ext cx="63421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Source Sans Pro" panose="020B0503030403020204" pitchFamily="34" charset="0"/>
                  <a:ea typeface="Source Sans Pro" panose="020B0503030403020204" pitchFamily="34" charset="0"/>
                </a:rPr>
                <a:t>tape</a:t>
              </a:r>
            </a:p>
          </p:txBody>
        </p: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3F08EAD9-529E-1800-37FE-1CD1CCF91344}"/>
              </a:ext>
            </a:extLst>
          </p:cNvPr>
          <p:cNvGrpSpPr/>
          <p:nvPr/>
        </p:nvGrpSpPr>
        <p:grpSpPr>
          <a:xfrm>
            <a:off x="9325576" y="3863031"/>
            <a:ext cx="1161344" cy="1099066"/>
            <a:chOff x="2170185" y="4087564"/>
            <a:chExt cx="1161344" cy="1099066"/>
          </a:xfrm>
        </p:grpSpPr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5E8CA52F-6384-A877-2930-31C57C6A18D9}"/>
                </a:ext>
              </a:extLst>
            </p:cNvPr>
            <p:cNvSpPr txBox="1"/>
            <p:nvPr/>
          </p:nvSpPr>
          <p:spPr>
            <a:xfrm>
              <a:off x="2170185" y="4817298"/>
              <a:ext cx="116134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Source Sans Pro" panose="020B0503030403020204" pitchFamily="34" charset="0"/>
                  <a:ea typeface="Source Sans Pro" panose="020B0503030403020204" pitchFamily="34" charset="0"/>
                </a:rPr>
                <a:t>computer</a:t>
              </a:r>
            </a:p>
          </p:txBody>
        </p:sp>
        <p:pic>
          <p:nvPicPr>
            <p:cNvPr id="24" name="Graphic 23" descr="Computer with solid fill">
              <a:extLst>
                <a:ext uri="{FF2B5EF4-FFF2-40B4-BE49-F238E27FC236}">
                  <a16:creationId xmlns:a16="http://schemas.microsoft.com/office/drawing/2014/main" id="{FFD0EA4D-599A-41CC-96B3-9AAA50B44CEB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2293657" y="4087564"/>
              <a:ext cx="914400" cy="914400"/>
            </a:xfrm>
            <a:prstGeom prst="rect">
              <a:avLst/>
            </a:prstGeom>
          </p:spPr>
        </p:pic>
      </p:grp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5B7F3914-F89D-1594-8218-847893233FD4}"/>
              </a:ext>
            </a:extLst>
          </p:cNvPr>
          <p:cNvCxnSpPr>
            <a:cxnSpLocks/>
            <a:stCxn id="14" idx="3"/>
          </p:cNvCxnSpPr>
          <p:nvPr/>
        </p:nvCxnSpPr>
        <p:spPr>
          <a:xfrm flipV="1">
            <a:off x="8089310" y="2320453"/>
            <a:ext cx="902538" cy="1266"/>
          </a:xfrm>
          <a:prstGeom prst="straightConnector1">
            <a:avLst/>
          </a:prstGeom>
          <a:ln w="38100">
            <a:solidFill>
              <a:schemeClr val="tx2">
                <a:lumMod val="50000"/>
                <a:lumOff val="50000"/>
              </a:schemeClr>
            </a:solidFill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5A76C216-1BFB-7A95-09E2-8E989371FFDE}"/>
              </a:ext>
            </a:extLst>
          </p:cNvPr>
          <p:cNvCxnSpPr>
            <a:cxnSpLocks/>
            <a:endCxn id="20" idx="1"/>
          </p:cNvCxnSpPr>
          <p:nvPr/>
        </p:nvCxnSpPr>
        <p:spPr>
          <a:xfrm>
            <a:off x="9894386" y="2320453"/>
            <a:ext cx="867930" cy="1266"/>
          </a:xfrm>
          <a:prstGeom prst="straightConnector1">
            <a:avLst/>
          </a:prstGeom>
          <a:ln w="38100"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12F76B98-5228-20AA-606F-38137237AACB}"/>
              </a:ext>
            </a:extLst>
          </p:cNvPr>
          <p:cNvCxnSpPr>
            <a:cxnSpLocks/>
            <a:endCxn id="18" idx="2"/>
          </p:cNvCxnSpPr>
          <p:nvPr/>
        </p:nvCxnSpPr>
        <p:spPr>
          <a:xfrm flipH="1" flipV="1">
            <a:off x="9503982" y="3405831"/>
            <a:ext cx="321400" cy="591971"/>
          </a:xfrm>
          <a:prstGeom prst="straightConnector1">
            <a:avLst/>
          </a:prstGeom>
          <a:ln w="38100">
            <a:solidFill>
              <a:schemeClr val="tx2">
                <a:lumMod val="50000"/>
                <a:lumOff val="50000"/>
              </a:schemeClr>
            </a:solidFill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7074849B-A3B3-3C91-EC36-929AA72026DB}"/>
              </a:ext>
            </a:extLst>
          </p:cNvPr>
          <p:cNvCxnSpPr>
            <a:cxnSpLocks/>
            <a:stCxn id="24" idx="1"/>
            <a:endCxn id="15" idx="2"/>
          </p:cNvCxnSpPr>
          <p:nvPr/>
        </p:nvCxnSpPr>
        <p:spPr>
          <a:xfrm flipH="1" flipV="1">
            <a:off x="7632110" y="3148251"/>
            <a:ext cx="1816938" cy="1171980"/>
          </a:xfrm>
          <a:prstGeom prst="straightConnector1">
            <a:avLst/>
          </a:prstGeom>
          <a:ln w="38100">
            <a:solidFill>
              <a:schemeClr val="tx2">
                <a:lumMod val="50000"/>
                <a:lumOff val="50000"/>
              </a:schemeClr>
            </a:solidFill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A6340AD4-9DF1-4E6D-DD47-76283450A4EC}"/>
              </a:ext>
            </a:extLst>
          </p:cNvPr>
          <p:cNvSpPr txBox="1"/>
          <p:nvPr/>
        </p:nvSpPr>
        <p:spPr>
          <a:xfrm>
            <a:off x="8111182" y="2051348"/>
            <a:ext cx="858794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50" dirty="0">
                <a:latin typeface="Source Sans Pro" panose="020B0503030403020204" pitchFamily="34" charset="0"/>
                <a:ea typeface="Source Sans Pro" panose="020B0503030403020204" pitchFamily="34" charset="0"/>
              </a:rPr>
              <a:t>Globus</a:t>
            </a:r>
            <a:endParaRPr lang="en-US" sz="11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326D271-CB29-275C-A35A-8DF776062CD1}"/>
              </a:ext>
            </a:extLst>
          </p:cNvPr>
          <p:cNvSpPr txBox="1"/>
          <p:nvPr/>
        </p:nvSpPr>
        <p:spPr>
          <a:xfrm>
            <a:off x="8225230" y="3425250"/>
            <a:ext cx="858794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50" dirty="0">
                <a:latin typeface="Source Sans Pro" panose="020B0503030403020204" pitchFamily="34" charset="0"/>
                <a:ea typeface="Source Sans Pro" panose="020B0503030403020204" pitchFamily="34" charset="0"/>
              </a:rPr>
              <a:t>Globus</a:t>
            </a:r>
            <a:endParaRPr lang="en-US" sz="11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9A53064-CADD-0916-EC1C-7B9175736A53}"/>
              </a:ext>
            </a:extLst>
          </p:cNvPr>
          <p:cNvSpPr txBox="1"/>
          <p:nvPr/>
        </p:nvSpPr>
        <p:spPr>
          <a:xfrm>
            <a:off x="9512861" y="3507473"/>
            <a:ext cx="858794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50" dirty="0">
                <a:latin typeface="Source Sans Pro" panose="020B0503030403020204" pitchFamily="34" charset="0"/>
                <a:ea typeface="Source Sans Pro" panose="020B0503030403020204" pitchFamily="34" charset="0"/>
              </a:rPr>
              <a:t>Globus</a:t>
            </a:r>
            <a:endParaRPr lang="en-US" sz="11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3929CD3-B1EB-0FB9-C899-3D65DFD574D1}"/>
              </a:ext>
            </a:extLst>
          </p:cNvPr>
          <p:cNvSpPr txBox="1"/>
          <p:nvPr/>
        </p:nvSpPr>
        <p:spPr>
          <a:xfrm>
            <a:off x="220722" y="1368198"/>
            <a:ext cx="6612860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All purpose transfer tool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Transfers between clusters and between clusters + your computer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Only way to access tape storage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b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Great for sharing data with collaborators at other institutions or on other clusters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72F82FA-F235-4644-C7D3-603D2F83C0A5}"/>
              </a:ext>
            </a:extLst>
          </p:cNvPr>
          <p:cNvSpPr txBox="1"/>
          <p:nvPr/>
        </p:nvSpPr>
        <p:spPr>
          <a:xfrm>
            <a:off x="291711" y="3863031"/>
            <a:ext cx="6470882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25400">
            <a:solidFill>
              <a:schemeClr val="accent2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ONLY </a:t>
            </a:r>
            <a:r>
              <a:rPr lang="en-US" sz="2400" dirty="0">
                <a:highlight>
                  <a:srgbClr val="FFFF00"/>
                </a:highlight>
                <a:latin typeface="Consolas" panose="020B0609020204030204" pitchFamily="49" charset="0"/>
                <a:ea typeface="Source Sans Pro" panose="020B0503030403020204" pitchFamily="34" charset="0"/>
              </a:rPr>
              <a:t>scratch/</a:t>
            </a:r>
            <a:r>
              <a:rPr lang="en-US" sz="2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and </a:t>
            </a:r>
            <a:r>
              <a:rPr lang="en-US" sz="2400" dirty="0">
                <a:highlight>
                  <a:srgbClr val="FFFF00"/>
                </a:highlight>
                <a:latin typeface="Consolas" panose="020B0609020204030204" pitchFamily="49" charset="0"/>
                <a:ea typeface="Source Sans Pro" panose="020B0503030403020204" pitchFamily="34" charset="0"/>
              </a:rPr>
              <a:t>&lt;pi&gt;_lab/Lab/</a:t>
            </a:r>
            <a:r>
              <a:rPr lang="en-US" sz="2400" dirty="0">
                <a:latin typeface="Consolas" panose="020B0609020204030204" pitchFamily="49" charset="0"/>
                <a:ea typeface="Source Sans Pro" panose="020B0503030403020204" pitchFamily="34" charset="0"/>
              </a:rPr>
              <a:t> </a:t>
            </a:r>
            <a:r>
              <a:rPr lang="en-US" sz="2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folders are available from Cannon</a:t>
            </a:r>
          </a:p>
          <a:p>
            <a:pPr algn="ctr"/>
            <a:r>
              <a:rPr lang="en-US" sz="2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(Permissions issue with Everyone folder)</a:t>
            </a:r>
          </a:p>
        </p:txBody>
      </p:sp>
    </p:spTree>
    <p:extLst>
      <p:ext uri="{BB962C8B-B14F-4D97-AF65-F5344CB8AC3E}">
        <p14:creationId xmlns:p14="http://schemas.microsoft.com/office/powerpoint/2010/main" val="357408287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F5D95E59-A74B-01C0-1551-A181C45FBE89}"/>
              </a:ext>
            </a:extLst>
          </p:cNvPr>
          <p:cNvSpPr/>
          <p:nvPr/>
        </p:nvSpPr>
        <p:spPr>
          <a:xfrm>
            <a:off x="1295610" y="5345603"/>
            <a:ext cx="9600780" cy="1015634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Self-paced Globus Training </a:t>
            </a:r>
          </a:p>
          <a:p>
            <a:pPr algn="ctr"/>
            <a:r>
              <a:rPr lang="en-US" sz="2400" dirty="0">
                <a:latin typeface="Source Sans Pro" panose="020B0503030403020204" pitchFamily="34" charset="0"/>
                <a:ea typeface="Source Sans Pro" panose="020B0503030403020204" pitchFamily="34" charset="0"/>
                <a:hlinkClick r:id="rId2"/>
              </a:rPr>
              <a:t>https://canvas.harvard.edu/courses/157915/pages/globus-overview-2</a:t>
            </a:r>
            <a:endParaRPr lang="en-US" sz="24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B8C3352-EDA4-E6F7-BD29-7EF02ED09C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0935" y="125031"/>
            <a:ext cx="10515600" cy="1325563"/>
          </a:xfrm>
        </p:spPr>
        <p:txBody>
          <a:bodyPr/>
          <a:lstStyle/>
          <a:p>
            <a:r>
              <a:rPr lang="en-US" dirty="0"/>
              <a:t>Globus file transfer</a:t>
            </a:r>
          </a:p>
        </p:txBody>
      </p:sp>
      <p:pic>
        <p:nvPicPr>
          <p:cNvPr id="12" name="Content Placeholder 11" descr="A blue and white logo&#10;&#10;AI-generated content may be incorrect.">
            <a:extLst>
              <a:ext uri="{FF2B5EF4-FFF2-40B4-BE49-F238E27FC236}">
                <a16:creationId xmlns:a16="http://schemas.microsoft.com/office/drawing/2014/main" id="{18BB4DA2-9F1F-8984-3899-7A921984ACF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7688915" y="286006"/>
            <a:ext cx="3530600" cy="977900"/>
          </a:xfrm>
        </p:spPr>
      </p:pic>
      <p:grpSp>
        <p:nvGrpSpPr>
          <p:cNvPr id="13" name="Group 12">
            <a:extLst>
              <a:ext uri="{FF2B5EF4-FFF2-40B4-BE49-F238E27FC236}">
                <a16:creationId xmlns:a16="http://schemas.microsoft.com/office/drawing/2014/main" id="{F0C0D0A8-8712-8B1E-A006-D5E9D26DFE9C}"/>
              </a:ext>
            </a:extLst>
          </p:cNvPr>
          <p:cNvGrpSpPr/>
          <p:nvPr/>
        </p:nvGrpSpPr>
        <p:grpSpPr>
          <a:xfrm>
            <a:off x="7004246" y="1864519"/>
            <a:ext cx="1255728" cy="1283732"/>
            <a:chOff x="3032551" y="387638"/>
            <a:chExt cx="1255728" cy="1283732"/>
          </a:xfrm>
        </p:grpSpPr>
        <p:pic>
          <p:nvPicPr>
            <p:cNvPr id="14" name="Graphic 13" descr="Server with solid fill">
              <a:extLst>
                <a:ext uri="{FF2B5EF4-FFF2-40B4-BE49-F238E27FC236}">
                  <a16:creationId xmlns:a16="http://schemas.microsoft.com/office/drawing/2014/main" id="{C0C97CB2-DD67-D896-F12A-B196228B08D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3203215" y="387638"/>
              <a:ext cx="914400" cy="914400"/>
            </a:xfrm>
            <a:prstGeom prst="rect">
              <a:avLst/>
            </a:prstGeom>
          </p:spPr>
        </p:pic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166C9877-C3C6-5AF2-4F91-0C2E77863F49}"/>
                </a:ext>
              </a:extLst>
            </p:cNvPr>
            <p:cNvSpPr txBox="1"/>
            <p:nvPr/>
          </p:nvSpPr>
          <p:spPr>
            <a:xfrm>
              <a:off x="3032551" y="1302038"/>
              <a:ext cx="125572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Source Sans Pro" panose="020B0503030403020204" pitchFamily="34" charset="0"/>
                  <a:ea typeface="Source Sans Pro" panose="020B0503030403020204" pitchFamily="34" charset="0"/>
                </a:rPr>
                <a:t>netscratch</a:t>
              </a:r>
              <a:endParaRPr lang="en-US" dirty="0">
                <a:latin typeface="Source Sans Pro" panose="020B0503030403020204" pitchFamily="34" charset="0"/>
                <a:ea typeface="Source Sans Pro" panose="020B0503030403020204" pitchFamily="34" charset="0"/>
              </a:endParaRP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F21EEDB2-1E7F-3960-FE5E-16BCF3DA876E}"/>
              </a:ext>
            </a:extLst>
          </p:cNvPr>
          <p:cNvGrpSpPr/>
          <p:nvPr/>
        </p:nvGrpSpPr>
        <p:grpSpPr>
          <a:xfrm>
            <a:off x="8500341" y="1864519"/>
            <a:ext cx="2007281" cy="1541312"/>
            <a:chOff x="5246009" y="387638"/>
            <a:chExt cx="2007281" cy="1541312"/>
          </a:xfrm>
        </p:grpSpPr>
        <p:pic>
          <p:nvPicPr>
            <p:cNvPr id="17" name="Graphic 16" descr="Server with solid fill">
              <a:extLst>
                <a:ext uri="{FF2B5EF4-FFF2-40B4-BE49-F238E27FC236}">
                  <a16:creationId xmlns:a16="http://schemas.microsoft.com/office/drawing/2014/main" id="{160C120C-20E5-FA44-E8D2-066837164B7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5737516" y="387638"/>
              <a:ext cx="914400" cy="914400"/>
            </a:xfrm>
            <a:prstGeom prst="rect">
              <a:avLst/>
            </a:prstGeom>
          </p:spPr>
        </p:pic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EA9137EB-63E8-96E0-32DB-B2D5A5504A83}"/>
                </a:ext>
              </a:extLst>
            </p:cNvPr>
            <p:cNvSpPr txBox="1"/>
            <p:nvPr/>
          </p:nvSpPr>
          <p:spPr>
            <a:xfrm>
              <a:off x="5246009" y="1282619"/>
              <a:ext cx="2007281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>
                  <a:latin typeface="Source Sans Pro" panose="020B0503030403020204" pitchFamily="34" charset="0"/>
                  <a:ea typeface="Source Sans Pro" panose="020B0503030403020204" pitchFamily="34" charset="0"/>
                </a:rPr>
                <a:t>lab share</a:t>
              </a:r>
            </a:p>
            <a:p>
              <a:pPr algn="ctr"/>
              <a:r>
                <a:rPr lang="en-US" b="1" dirty="0">
                  <a:latin typeface="Source Sans Pro" panose="020B0503030403020204" pitchFamily="34" charset="0"/>
                  <a:ea typeface="Source Sans Pro" panose="020B0503030403020204" pitchFamily="34" charset="0"/>
                </a:rPr>
                <a:t>(</a:t>
              </a:r>
              <a:r>
                <a:rPr lang="en-US" b="1" dirty="0">
                  <a:latin typeface="Consolas" panose="020B0609020204030204" pitchFamily="49" charset="0"/>
                  <a:ea typeface="Source Sans Pro" panose="020B0503030403020204" pitchFamily="34" charset="0"/>
                </a:rPr>
                <a:t>Lab/</a:t>
              </a:r>
              <a:r>
                <a:rPr lang="en-US" b="1" dirty="0">
                  <a:latin typeface="Source Sans Pro" panose="020B0503030403020204" pitchFamily="34" charset="0"/>
                  <a:ea typeface="Source Sans Pro" panose="020B0503030403020204" pitchFamily="34" charset="0"/>
                </a:rPr>
                <a:t> folder only)</a:t>
              </a:r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0721FCDB-BC91-5499-88B5-454ECBB0216B}"/>
              </a:ext>
            </a:extLst>
          </p:cNvPr>
          <p:cNvGrpSpPr/>
          <p:nvPr/>
        </p:nvGrpSpPr>
        <p:grpSpPr>
          <a:xfrm>
            <a:off x="10762316" y="1864519"/>
            <a:ext cx="914400" cy="1283732"/>
            <a:chOff x="8288401" y="387638"/>
            <a:chExt cx="914400" cy="1283732"/>
          </a:xfrm>
        </p:grpSpPr>
        <p:pic>
          <p:nvPicPr>
            <p:cNvPr id="20" name="Graphic 19" descr="Server with solid fill">
              <a:extLst>
                <a:ext uri="{FF2B5EF4-FFF2-40B4-BE49-F238E27FC236}">
                  <a16:creationId xmlns:a16="http://schemas.microsoft.com/office/drawing/2014/main" id="{A51301E6-7AB0-7DC2-2E64-5555D01BFD07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8288401" y="387638"/>
              <a:ext cx="914400" cy="914400"/>
            </a:xfrm>
            <a:prstGeom prst="rect">
              <a:avLst/>
            </a:prstGeom>
          </p:spPr>
        </p:pic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91D91346-47A5-17D5-6C72-89C29C450F97}"/>
                </a:ext>
              </a:extLst>
            </p:cNvPr>
            <p:cNvSpPr txBox="1"/>
            <p:nvPr/>
          </p:nvSpPr>
          <p:spPr>
            <a:xfrm>
              <a:off x="8428494" y="1302038"/>
              <a:ext cx="63421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Source Sans Pro" panose="020B0503030403020204" pitchFamily="34" charset="0"/>
                  <a:ea typeface="Source Sans Pro" panose="020B0503030403020204" pitchFamily="34" charset="0"/>
                </a:rPr>
                <a:t>tape</a:t>
              </a:r>
            </a:p>
          </p:txBody>
        </p: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6F1EE601-1D11-C9A4-F369-0DCF0F1ECFF8}"/>
              </a:ext>
            </a:extLst>
          </p:cNvPr>
          <p:cNvGrpSpPr/>
          <p:nvPr/>
        </p:nvGrpSpPr>
        <p:grpSpPr>
          <a:xfrm>
            <a:off x="9325576" y="3863031"/>
            <a:ext cx="1161344" cy="1099066"/>
            <a:chOff x="2170185" y="4087564"/>
            <a:chExt cx="1161344" cy="1099066"/>
          </a:xfrm>
        </p:grpSpPr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978FED3C-1386-6C2C-CD13-513AB2FC4CA4}"/>
                </a:ext>
              </a:extLst>
            </p:cNvPr>
            <p:cNvSpPr txBox="1"/>
            <p:nvPr/>
          </p:nvSpPr>
          <p:spPr>
            <a:xfrm>
              <a:off x="2170185" y="4817298"/>
              <a:ext cx="116134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Source Sans Pro" panose="020B0503030403020204" pitchFamily="34" charset="0"/>
                  <a:ea typeface="Source Sans Pro" panose="020B0503030403020204" pitchFamily="34" charset="0"/>
                </a:rPr>
                <a:t>computer</a:t>
              </a:r>
            </a:p>
          </p:txBody>
        </p:sp>
        <p:pic>
          <p:nvPicPr>
            <p:cNvPr id="24" name="Graphic 23" descr="Computer with solid fill">
              <a:extLst>
                <a:ext uri="{FF2B5EF4-FFF2-40B4-BE49-F238E27FC236}">
                  <a16:creationId xmlns:a16="http://schemas.microsoft.com/office/drawing/2014/main" id="{F26564B4-F4C6-74A9-9645-B0E65CE168DC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2293657" y="4087564"/>
              <a:ext cx="914400" cy="914400"/>
            </a:xfrm>
            <a:prstGeom prst="rect">
              <a:avLst/>
            </a:prstGeom>
          </p:spPr>
        </p:pic>
      </p:grp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9DEDE44E-402D-751C-98D5-74AB77CC94E2}"/>
              </a:ext>
            </a:extLst>
          </p:cNvPr>
          <p:cNvCxnSpPr>
            <a:cxnSpLocks/>
            <a:stCxn id="14" idx="3"/>
          </p:cNvCxnSpPr>
          <p:nvPr/>
        </p:nvCxnSpPr>
        <p:spPr>
          <a:xfrm flipV="1">
            <a:off x="8089310" y="2320453"/>
            <a:ext cx="902538" cy="1266"/>
          </a:xfrm>
          <a:prstGeom prst="straightConnector1">
            <a:avLst/>
          </a:prstGeom>
          <a:ln w="38100">
            <a:solidFill>
              <a:schemeClr val="tx2">
                <a:lumMod val="50000"/>
                <a:lumOff val="50000"/>
              </a:schemeClr>
            </a:solidFill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7A6BD6DC-7E30-6F68-1C97-3D9FDC55E178}"/>
              </a:ext>
            </a:extLst>
          </p:cNvPr>
          <p:cNvCxnSpPr>
            <a:cxnSpLocks/>
            <a:endCxn id="20" idx="1"/>
          </p:cNvCxnSpPr>
          <p:nvPr/>
        </p:nvCxnSpPr>
        <p:spPr>
          <a:xfrm>
            <a:off x="9894386" y="2320453"/>
            <a:ext cx="867930" cy="1266"/>
          </a:xfrm>
          <a:prstGeom prst="straightConnector1">
            <a:avLst/>
          </a:prstGeom>
          <a:ln w="38100"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AAB7D59A-F5EB-3B7E-67CE-FBAD493DD348}"/>
              </a:ext>
            </a:extLst>
          </p:cNvPr>
          <p:cNvCxnSpPr>
            <a:cxnSpLocks/>
            <a:endCxn id="18" idx="2"/>
          </p:cNvCxnSpPr>
          <p:nvPr/>
        </p:nvCxnSpPr>
        <p:spPr>
          <a:xfrm flipH="1" flipV="1">
            <a:off x="9503982" y="3405831"/>
            <a:ext cx="321400" cy="591971"/>
          </a:xfrm>
          <a:prstGeom prst="straightConnector1">
            <a:avLst/>
          </a:prstGeom>
          <a:ln w="38100">
            <a:solidFill>
              <a:schemeClr val="tx2">
                <a:lumMod val="50000"/>
                <a:lumOff val="50000"/>
              </a:schemeClr>
            </a:solidFill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53B81894-193C-0226-7B3A-A2EB6A39F859}"/>
              </a:ext>
            </a:extLst>
          </p:cNvPr>
          <p:cNvCxnSpPr>
            <a:cxnSpLocks/>
            <a:stCxn id="24" idx="1"/>
            <a:endCxn id="15" idx="2"/>
          </p:cNvCxnSpPr>
          <p:nvPr/>
        </p:nvCxnSpPr>
        <p:spPr>
          <a:xfrm flipH="1" flipV="1">
            <a:off x="7632110" y="3148251"/>
            <a:ext cx="1816938" cy="1171980"/>
          </a:xfrm>
          <a:prstGeom prst="straightConnector1">
            <a:avLst/>
          </a:prstGeom>
          <a:ln w="38100">
            <a:solidFill>
              <a:schemeClr val="tx2">
                <a:lumMod val="50000"/>
                <a:lumOff val="50000"/>
              </a:schemeClr>
            </a:solidFill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0E8C1E42-21DF-169E-5267-987CA68EA232}"/>
              </a:ext>
            </a:extLst>
          </p:cNvPr>
          <p:cNvSpPr txBox="1"/>
          <p:nvPr/>
        </p:nvSpPr>
        <p:spPr>
          <a:xfrm>
            <a:off x="8111182" y="2051348"/>
            <a:ext cx="858794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50" dirty="0">
                <a:latin typeface="Source Sans Pro" panose="020B0503030403020204" pitchFamily="34" charset="0"/>
                <a:ea typeface="Source Sans Pro" panose="020B0503030403020204" pitchFamily="34" charset="0"/>
              </a:rPr>
              <a:t>Globus</a:t>
            </a:r>
            <a:endParaRPr lang="en-US" sz="11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0EFA996-6714-AAE8-3388-1A2AABB5C2D0}"/>
              </a:ext>
            </a:extLst>
          </p:cNvPr>
          <p:cNvSpPr txBox="1"/>
          <p:nvPr/>
        </p:nvSpPr>
        <p:spPr>
          <a:xfrm>
            <a:off x="8225230" y="3425250"/>
            <a:ext cx="858794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50" dirty="0">
                <a:latin typeface="Source Sans Pro" panose="020B0503030403020204" pitchFamily="34" charset="0"/>
                <a:ea typeface="Source Sans Pro" panose="020B0503030403020204" pitchFamily="34" charset="0"/>
              </a:rPr>
              <a:t>Globus</a:t>
            </a:r>
            <a:endParaRPr lang="en-US" sz="11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79B61EC-F6CA-81A9-A558-B1111E132D2A}"/>
              </a:ext>
            </a:extLst>
          </p:cNvPr>
          <p:cNvSpPr txBox="1"/>
          <p:nvPr/>
        </p:nvSpPr>
        <p:spPr>
          <a:xfrm>
            <a:off x="9512861" y="3507473"/>
            <a:ext cx="858794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50" dirty="0">
                <a:latin typeface="Source Sans Pro" panose="020B0503030403020204" pitchFamily="34" charset="0"/>
                <a:ea typeface="Source Sans Pro" panose="020B0503030403020204" pitchFamily="34" charset="0"/>
              </a:rPr>
              <a:t>Globus</a:t>
            </a:r>
            <a:endParaRPr lang="en-US" sz="11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BE5FE4F-FB90-CE20-C868-C02935C4B254}"/>
              </a:ext>
            </a:extLst>
          </p:cNvPr>
          <p:cNvSpPr txBox="1"/>
          <p:nvPr/>
        </p:nvSpPr>
        <p:spPr>
          <a:xfrm>
            <a:off x="220722" y="1368198"/>
            <a:ext cx="6612860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All purpose transfer tool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Transfers between clusters and between clusters + your computer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Only way to access tape storage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b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Great for sharing data with collaborators at other institutions or on other clusters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B4D81A4-6159-8C61-285C-246E116A49F3}"/>
              </a:ext>
            </a:extLst>
          </p:cNvPr>
          <p:cNvSpPr txBox="1"/>
          <p:nvPr/>
        </p:nvSpPr>
        <p:spPr>
          <a:xfrm>
            <a:off x="291711" y="3863031"/>
            <a:ext cx="6470882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25400">
            <a:solidFill>
              <a:schemeClr val="accent2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ONLY </a:t>
            </a:r>
            <a:r>
              <a:rPr lang="en-US" sz="2400" dirty="0">
                <a:highlight>
                  <a:srgbClr val="FFFF00"/>
                </a:highlight>
                <a:latin typeface="Consolas" panose="020B0609020204030204" pitchFamily="49" charset="0"/>
                <a:ea typeface="Source Sans Pro" panose="020B0503030403020204" pitchFamily="34" charset="0"/>
              </a:rPr>
              <a:t>scratch/</a:t>
            </a:r>
            <a:r>
              <a:rPr lang="en-US" sz="2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and </a:t>
            </a:r>
            <a:r>
              <a:rPr lang="en-US" sz="2400" dirty="0">
                <a:highlight>
                  <a:srgbClr val="FFFF00"/>
                </a:highlight>
                <a:latin typeface="Consolas" panose="020B0609020204030204" pitchFamily="49" charset="0"/>
                <a:ea typeface="Source Sans Pro" panose="020B0503030403020204" pitchFamily="34" charset="0"/>
              </a:rPr>
              <a:t>&lt;pi&gt;_lab/Lab/</a:t>
            </a:r>
            <a:r>
              <a:rPr lang="en-US" sz="2400" dirty="0">
                <a:latin typeface="Consolas" panose="020B0609020204030204" pitchFamily="49" charset="0"/>
                <a:ea typeface="Source Sans Pro" panose="020B0503030403020204" pitchFamily="34" charset="0"/>
              </a:rPr>
              <a:t> </a:t>
            </a:r>
            <a:r>
              <a:rPr lang="en-US" sz="2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folders are available from Cannon</a:t>
            </a:r>
          </a:p>
          <a:p>
            <a:pPr algn="ctr"/>
            <a:r>
              <a:rPr lang="en-US" sz="2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(Permissions issue with Everyone folder)</a:t>
            </a:r>
          </a:p>
        </p:txBody>
      </p:sp>
    </p:spTree>
    <p:extLst>
      <p:ext uri="{BB962C8B-B14F-4D97-AF65-F5344CB8AC3E}">
        <p14:creationId xmlns:p14="http://schemas.microsoft.com/office/powerpoint/2010/main" val="211999504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nline Media 1" title="FASRC Globus login">
            <a:hlinkClick r:id="" action="ppaction://media"/>
            <a:extLst>
              <a:ext uri="{FF2B5EF4-FFF2-40B4-BE49-F238E27FC236}">
                <a16:creationId xmlns:a16="http://schemas.microsoft.com/office/drawing/2014/main" id="{134D90A9-EE8B-4152-33EF-4DE9375518E8}"/>
              </a:ext>
            </a:extLst>
          </p:cNvPr>
          <p:cNvPicPr>
            <a:picLocks noRot="1" noChangeAspect="1"/>
          </p:cNvPicPr>
          <p:nvPr>
            <a:videoFile r:link="rId1"/>
          </p:nvPr>
        </p:nvPicPr>
        <p:blipFill>
          <a:blip r:embed="rId3"/>
          <a:stretch>
            <a:fillRect/>
          </a:stretch>
        </p:blipFill>
        <p:spPr>
          <a:xfrm>
            <a:off x="284204" y="0"/>
            <a:ext cx="11623591" cy="6567344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EF795CEB-2990-7E71-FC44-40DF748B407A}"/>
              </a:ext>
            </a:extLst>
          </p:cNvPr>
          <p:cNvSpPr txBox="1"/>
          <p:nvPr/>
        </p:nvSpPr>
        <p:spPr>
          <a:xfrm>
            <a:off x="2985879" y="6550223"/>
            <a:ext cx="609700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  <a:hlinkClick r:id="rId4"/>
              </a:rPr>
              <a:t>https://www.youtube.com/watch?v=YSOlgZpC9K4</a:t>
            </a:r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2067224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"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A638FC-AF03-5AD1-8B75-BF5CB03557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hlinkClick r:id="rId2"/>
              </a:rPr>
              <a:t>Create globus collections to share data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00879E-FC09-152D-AED5-DD1A9FC6463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52282"/>
            <a:ext cx="10515600" cy="516367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Demo</a:t>
            </a:r>
          </a:p>
          <a:p>
            <a:r>
              <a:rPr lang="en-US" dirty="0"/>
              <a:t>Great way to share with collaborates internal and external to Harvard</a:t>
            </a:r>
          </a:p>
          <a:p>
            <a:r>
              <a:rPr lang="en-US" dirty="0"/>
              <a:t>Collaborators have read-only access so they can copy out but can’t modify</a:t>
            </a:r>
          </a:p>
          <a:p>
            <a:r>
              <a:rPr lang="en-US" dirty="0"/>
              <a:t>Only shares from the </a:t>
            </a:r>
            <a:r>
              <a:rPr lang="en-US" dirty="0">
                <a:latin typeface="Consolas" panose="020B0609020204030204" pitchFamily="49" charset="0"/>
              </a:rPr>
              <a:t>&lt;pi&gt;_lab/Lab/</a:t>
            </a:r>
            <a:r>
              <a:rPr lang="en-US" dirty="0"/>
              <a:t> or </a:t>
            </a:r>
            <a:r>
              <a:rPr lang="en-US" dirty="0">
                <a:latin typeface="Consolas" panose="020B0609020204030204" pitchFamily="49" charset="0"/>
              </a:rPr>
              <a:t>&lt;pi&gt;_lab/User/</a:t>
            </a:r>
            <a:r>
              <a:rPr lang="en-US" dirty="0"/>
              <a:t> directory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C89DD8B0-DD0E-19A3-8245-92DF8E3BCF08}"/>
              </a:ext>
            </a:extLst>
          </p:cNvPr>
          <p:cNvSpPr/>
          <p:nvPr/>
        </p:nvSpPr>
        <p:spPr>
          <a:xfrm>
            <a:off x="1295610" y="5345603"/>
            <a:ext cx="9600780" cy="1015634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Self-paced Globus Training </a:t>
            </a:r>
          </a:p>
          <a:p>
            <a:pPr algn="ctr"/>
            <a:r>
              <a:rPr lang="en-US" sz="2400" dirty="0">
                <a:latin typeface="Source Sans Pro" panose="020B0503030403020204" pitchFamily="34" charset="0"/>
                <a:ea typeface="Source Sans Pro" panose="020B0503030403020204" pitchFamily="34" charset="0"/>
                <a:hlinkClick r:id="rId3"/>
              </a:rPr>
              <a:t>https://canvas.harvard.edu/courses/157915/pages/globus-overview-2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245929159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FD36AB-B15A-7658-D2C7-3EBF09E38A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0682" y="198309"/>
            <a:ext cx="10515600" cy="1325563"/>
          </a:xfrm>
        </p:spPr>
        <p:txBody>
          <a:bodyPr/>
          <a:lstStyle/>
          <a:p>
            <a:r>
              <a:rPr lang="en-US" dirty="0"/>
              <a:t>Use globus connect personal to transfer locally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8DC944-EB32-77DD-4BCE-55270BAAAD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/>
              <a:t>Demo</a:t>
            </a:r>
          </a:p>
          <a:p>
            <a:pPr marL="514350" indent="-514350">
              <a:buFont typeface="+mj-lt"/>
              <a:buAutoNum type="arabicPeriod"/>
            </a:pPr>
            <a:r>
              <a:rPr lang="en-US"/>
              <a:t>Download globus connect personal</a:t>
            </a:r>
          </a:p>
          <a:p>
            <a:pPr marL="514350" indent="-514350">
              <a:buFont typeface="+mj-lt"/>
              <a:buAutoNum type="arabicPeriod"/>
            </a:pPr>
            <a:r>
              <a:rPr lang="en-US"/>
              <a:t>Log in using your HarvardKey</a:t>
            </a:r>
          </a:p>
          <a:p>
            <a:pPr marL="514350" indent="-514350">
              <a:buFont typeface="+mj-lt"/>
              <a:buAutoNum type="arabicPeriod"/>
            </a:pPr>
            <a:r>
              <a:rPr lang="en-US"/>
              <a:t>Choose which folder(s) to share</a:t>
            </a:r>
          </a:p>
          <a:p>
            <a:pPr marL="514350" indent="-514350">
              <a:buFont typeface="+mj-lt"/>
              <a:buAutoNum type="arabicPeriod"/>
            </a:pPr>
            <a:r>
              <a:rPr lang="en-US"/>
              <a:t>You can now use Globus to transfer from any other collection to your computer</a:t>
            </a:r>
          </a:p>
        </p:txBody>
      </p:sp>
    </p:spTree>
    <p:extLst>
      <p:ext uri="{BB962C8B-B14F-4D97-AF65-F5344CB8AC3E}">
        <p14:creationId xmlns:p14="http://schemas.microsoft.com/office/powerpoint/2010/main" val="2987665117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3769EA-BD43-F748-482F-3541345A92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7738" y="206613"/>
            <a:ext cx="10515600" cy="1325563"/>
          </a:xfrm>
        </p:spPr>
        <p:txBody>
          <a:bodyPr/>
          <a:lstStyle/>
          <a:p>
            <a:r>
              <a:rPr lang="en-US" dirty="0"/>
              <a:t>Globus tips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89333B-A9FE-C303-B441-E0E42201AA1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3916" y="1687362"/>
            <a:ext cx="4968574" cy="4351338"/>
          </a:xfrm>
        </p:spPr>
        <p:txBody>
          <a:bodyPr/>
          <a:lstStyle/>
          <a:p>
            <a:r>
              <a:rPr lang="en-US" dirty="0"/>
              <a:t>Bookmark your scratch and lab directory</a:t>
            </a:r>
          </a:p>
          <a:p>
            <a:r>
              <a:rPr lang="en-US" dirty="0"/>
              <a:t>Set up automatic file sync to back up files</a:t>
            </a:r>
          </a:p>
          <a:p>
            <a:r>
              <a:rPr lang="en-US" dirty="0"/>
              <a:t>Write down your lab’s Globus protocols</a:t>
            </a:r>
          </a:p>
        </p:txBody>
      </p:sp>
      <p:pic>
        <p:nvPicPr>
          <p:cNvPr id="39" name="Content Placeholder 11" descr="A blue and white logo&#10;&#10;AI-generated content may be incorrect.">
            <a:extLst>
              <a:ext uri="{FF2B5EF4-FFF2-40B4-BE49-F238E27FC236}">
                <a16:creationId xmlns:a16="http://schemas.microsoft.com/office/drawing/2014/main" id="{86D5A4DD-9CF4-0C13-0212-52259BB5BB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8915" y="286006"/>
            <a:ext cx="3530600" cy="977900"/>
          </a:xfrm>
          <a:prstGeom prst="rect">
            <a:avLst/>
          </a:prstGeom>
        </p:spPr>
      </p:pic>
      <p:grpSp>
        <p:nvGrpSpPr>
          <p:cNvPr id="40" name="Group 39">
            <a:extLst>
              <a:ext uri="{FF2B5EF4-FFF2-40B4-BE49-F238E27FC236}">
                <a16:creationId xmlns:a16="http://schemas.microsoft.com/office/drawing/2014/main" id="{E092322C-8BC1-A24F-CE4D-AC4C3E537894}"/>
              </a:ext>
            </a:extLst>
          </p:cNvPr>
          <p:cNvGrpSpPr/>
          <p:nvPr/>
        </p:nvGrpSpPr>
        <p:grpSpPr>
          <a:xfrm>
            <a:off x="7004246" y="1864519"/>
            <a:ext cx="1255728" cy="1283732"/>
            <a:chOff x="3032551" y="387638"/>
            <a:chExt cx="1255728" cy="1283732"/>
          </a:xfrm>
        </p:grpSpPr>
        <p:pic>
          <p:nvPicPr>
            <p:cNvPr id="41" name="Graphic 40" descr="Server with solid fill">
              <a:extLst>
                <a:ext uri="{FF2B5EF4-FFF2-40B4-BE49-F238E27FC236}">
                  <a16:creationId xmlns:a16="http://schemas.microsoft.com/office/drawing/2014/main" id="{8152541A-876E-97E4-A089-808A57E3177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3203215" y="387638"/>
              <a:ext cx="914400" cy="914400"/>
            </a:xfrm>
            <a:prstGeom prst="rect">
              <a:avLst/>
            </a:prstGeom>
          </p:spPr>
        </p:pic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37379645-69BE-4565-4227-6B48437A4F91}"/>
                </a:ext>
              </a:extLst>
            </p:cNvPr>
            <p:cNvSpPr txBox="1"/>
            <p:nvPr/>
          </p:nvSpPr>
          <p:spPr>
            <a:xfrm>
              <a:off x="3032551" y="1302038"/>
              <a:ext cx="125572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Source Sans Pro" panose="020B0503030403020204" pitchFamily="34" charset="0"/>
                  <a:ea typeface="Source Sans Pro" panose="020B0503030403020204" pitchFamily="34" charset="0"/>
                </a:rPr>
                <a:t>netscratch</a:t>
              </a:r>
              <a:endParaRPr lang="en-US" dirty="0">
                <a:latin typeface="Source Sans Pro" panose="020B0503030403020204" pitchFamily="34" charset="0"/>
                <a:ea typeface="Source Sans Pro" panose="020B0503030403020204" pitchFamily="34" charset="0"/>
              </a:endParaRPr>
            </a:p>
          </p:txBody>
        </p:sp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63D6290F-8C91-B844-3D60-F9810003C6A7}"/>
              </a:ext>
            </a:extLst>
          </p:cNvPr>
          <p:cNvGrpSpPr/>
          <p:nvPr/>
        </p:nvGrpSpPr>
        <p:grpSpPr>
          <a:xfrm>
            <a:off x="8500343" y="1864519"/>
            <a:ext cx="2007281" cy="1541312"/>
            <a:chOff x="5246011" y="387638"/>
            <a:chExt cx="2007281" cy="1541312"/>
          </a:xfrm>
        </p:grpSpPr>
        <p:pic>
          <p:nvPicPr>
            <p:cNvPr id="44" name="Graphic 43" descr="Server with solid fill">
              <a:extLst>
                <a:ext uri="{FF2B5EF4-FFF2-40B4-BE49-F238E27FC236}">
                  <a16:creationId xmlns:a16="http://schemas.microsoft.com/office/drawing/2014/main" id="{2DB95DCF-F50C-F0F0-A943-7EA61C38A5DF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5737516" y="387638"/>
              <a:ext cx="914400" cy="914400"/>
            </a:xfrm>
            <a:prstGeom prst="rect">
              <a:avLst/>
            </a:prstGeom>
          </p:spPr>
        </p:pic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42A566F4-4DF5-6285-D8EE-FAD13AFFE6E0}"/>
                </a:ext>
              </a:extLst>
            </p:cNvPr>
            <p:cNvSpPr txBox="1"/>
            <p:nvPr/>
          </p:nvSpPr>
          <p:spPr>
            <a:xfrm>
              <a:off x="5246011" y="1282619"/>
              <a:ext cx="2007281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>
                  <a:latin typeface="Source Sans Pro" panose="020B0503030403020204" pitchFamily="34" charset="0"/>
                  <a:ea typeface="Source Sans Pro" panose="020B0503030403020204" pitchFamily="34" charset="0"/>
                </a:rPr>
                <a:t>lab share</a:t>
              </a:r>
            </a:p>
            <a:p>
              <a:pPr algn="ctr"/>
              <a:r>
                <a:rPr lang="en-US" b="1" dirty="0">
                  <a:latin typeface="Source Sans Pro" panose="020B0503030403020204" pitchFamily="34" charset="0"/>
                  <a:ea typeface="Source Sans Pro" panose="020B0503030403020204" pitchFamily="34" charset="0"/>
                </a:rPr>
                <a:t>(</a:t>
              </a:r>
              <a:r>
                <a:rPr lang="en-US" b="1" dirty="0">
                  <a:latin typeface="Consolas" panose="020B0609020204030204" pitchFamily="49" charset="0"/>
                  <a:ea typeface="Source Sans Pro" panose="020B0503030403020204" pitchFamily="34" charset="0"/>
                </a:rPr>
                <a:t>Lab/</a:t>
              </a:r>
              <a:r>
                <a:rPr lang="en-US" b="1" dirty="0">
                  <a:latin typeface="Source Sans Pro" panose="020B0503030403020204" pitchFamily="34" charset="0"/>
                  <a:ea typeface="Source Sans Pro" panose="020B0503030403020204" pitchFamily="34" charset="0"/>
                </a:rPr>
                <a:t> folder only)</a:t>
              </a:r>
            </a:p>
          </p:txBody>
        </p: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A19D6076-8AB4-A64D-19E0-81C62CAD34D6}"/>
              </a:ext>
            </a:extLst>
          </p:cNvPr>
          <p:cNvGrpSpPr/>
          <p:nvPr/>
        </p:nvGrpSpPr>
        <p:grpSpPr>
          <a:xfrm>
            <a:off x="10762316" y="1864519"/>
            <a:ext cx="914400" cy="1283732"/>
            <a:chOff x="8288401" y="387638"/>
            <a:chExt cx="914400" cy="1283732"/>
          </a:xfrm>
        </p:grpSpPr>
        <p:pic>
          <p:nvPicPr>
            <p:cNvPr id="47" name="Graphic 46" descr="Server with solid fill">
              <a:extLst>
                <a:ext uri="{FF2B5EF4-FFF2-40B4-BE49-F238E27FC236}">
                  <a16:creationId xmlns:a16="http://schemas.microsoft.com/office/drawing/2014/main" id="{4F6D84C9-FE4E-18EC-4BCD-086ABF30BDE8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8288401" y="387638"/>
              <a:ext cx="914400" cy="914400"/>
            </a:xfrm>
            <a:prstGeom prst="rect">
              <a:avLst/>
            </a:prstGeom>
          </p:spPr>
        </p:pic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9A83F902-4316-D534-E67A-2650EA6C2310}"/>
                </a:ext>
              </a:extLst>
            </p:cNvPr>
            <p:cNvSpPr txBox="1"/>
            <p:nvPr/>
          </p:nvSpPr>
          <p:spPr>
            <a:xfrm>
              <a:off x="8428494" y="1302038"/>
              <a:ext cx="63421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Source Sans Pro" panose="020B0503030403020204" pitchFamily="34" charset="0"/>
                  <a:ea typeface="Source Sans Pro" panose="020B0503030403020204" pitchFamily="34" charset="0"/>
                </a:rPr>
                <a:t>tape</a:t>
              </a:r>
            </a:p>
          </p:txBody>
        </p:sp>
      </p:grpSp>
      <p:grpSp>
        <p:nvGrpSpPr>
          <p:cNvPr id="49" name="Group 48">
            <a:extLst>
              <a:ext uri="{FF2B5EF4-FFF2-40B4-BE49-F238E27FC236}">
                <a16:creationId xmlns:a16="http://schemas.microsoft.com/office/drawing/2014/main" id="{944978E1-7794-5337-5359-CA86286A8103}"/>
              </a:ext>
            </a:extLst>
          </p:cNvPr>
          <p:cNvGrpSpPr/>
          <p:nvPr/>
        </p:nvGrpSpPr>
        <p:grpSpPr>
          <a:xfrm>
            <a:off x="9325576" y="3863031"/>
            <a:ext cx="1161344" cy="1099066"/>
            <a:chOff x="2170185" y="4087564"/>
            <a:chExt cx="1161344" cy="1099066"/>
          </a:xfrm>
        </p:grpSpPr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1659F3D0-0AE1-7CD4-62B4-991A421DD581}"/>
                </a:ext>
              </a:extLst>
            </p:cNvPr>
            <p:cNvSpPr txBox="1"/>
            <p:nvPr/>
          </p:nvSpPr>
          <p:spPr>
            <a:xfrm>
              <a:off x="2170185" y="4817298"/>
              <a:ext cx="116134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Source Sans Pro" panose="020B0503030403020204" pitchFamily="34" charset="0"/>
                  <a:ea typeface="Source Sans Pro" panose="020B0503030403020204" pitchFamily="34" charset="0"/>
                </a:rPr>
                <a:t>computer</a:t>
              </a:r>
            </a:p>
          </p:txBody>
        </p:sp>
        <p:pic>
          <p:nvPicPr>
            <p:cNvPr id="51" name="Graphic 50" descr="Computer with solid fill">
              <a:extLst>
                <a:ext uri="{FF2B5EF4-FFF2-40B4-BE49-F238E27FC236}">
                  <a16:creationId xmlns:a16="http://schemas.microsoft.com/office/drawing/2014/main" id="{A0F48DFE-9306-F28C-53D2-533539D0D90C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2293657" y="4087564"/>
              <a:ext cx="914400" cy="914400"/>
            </a:xfrm>
            <a:prstGeom prst="rect">
              <a:avLst/>
            </a:prstGeom>
          </p:spPr>
        </p:pic>
      </p:grp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37FCB6FF-DA0F-C0F8-396F-640E47E83702}"/>
              </a:ext>
            </a:extLst>
          </p:cNvPr>
          <p:cNvCxnSpPr>
            <a:cxnSpLocks/>
            <a:stCxn id="41" idx="3"/>
          </p:cNvCxnSpPr>
          <p:nvPr/>
        </p:nvCxnSpPr>
        <p:spPr>
          <a:xfrm flipV="1">
            <a:off x="8089310" y="2320453"/>
            <a:ext cx="902538" cy="1266"/>
          </a:xfrm>
          <a:prstGeom prst="straightConnector1">
            <a:avLst/>
          </a:prstGeom>
          <a:ln w="38100">
            <a:solidFill>
              <a:schemeClr val="tx2">
                <a:lumMod val="50000"/>
                <a:lumOff val="50000"/>
              </a:schemeClr>
            </a:solidFill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11FD8204-69D9-8D00-9A00-9A84FD2C3FFC}"/>
              </a:ext>
            </a:extLst>
          </p:cNvPr>
          <p:cNvCxnSpPr>
            <a:cxnSpLocks/>
            <a:endCxn id="47" idx="1"/>
          </p:cNvCxnSpPr>
          <p:nvPr/>
        </p:nvCxnSpPr>
        <p:spPr>
          <a:xfrm>
            <a:off x="9894386" y="2320453"/>
            <a:ext cx="867930" cy="1266"/>
          </a:xfrm>
          <a:prstGeom prst="straightConnector1">
            <a:avLst/>
          </a:prstGeom>
          <a:ln w="38100"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8CB2908F-38A1-82CC-0C1D-272A611BE7C2}"/>
              </a:ext>
            </a:extLst>
          </p:cNvPr>
          <p:cNvCxnSpPr>
            <a:cxnSpLocks/>
            <a:endCxn id="45" idx="2"/>
          </p:cNvCxnSpPr>
          <p:nvPr/>
        </p:nvCxnSpPr>
        <p:spPr>
          <a:xfrm flipH="1" flipV="1">
            <a:off x="9503984" y="3405831"/>
            <a:ext cx="321398" cy="591971"/>
          </a:xfrm>
          <a:prstGeom prst="straightConnector1">
            <a:avLst/>
          </a:prstGeom>
          <a:ln w="38100">
            <a:solidFill>
              <a:schemeClr val="tx2">
                <a:lumMod val="50000"/>
                <a:lumOff val="50000"/>
              </a:schemeClr>
            </a:solidFill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D7F21215-3B11-99FF-EBDC-AF618D6D9573}"/>
              </a:ext>
            </a:extLst>
          </p:cNvPr>
          <p:cNvCxnSpPr>
            <a:cxnSpLocks/>
            <a:stCxn id="51" idx="1"/>
            <a:endCxn id="42" idx="2"/>
          </p:cNvCxnSpPr>
          <p:nvPr/>
        </p:nvCxnSpPr>
        <p:spPr>
          <a:xfrm flipH="1" flipV="1">
            <a:off x="7632110" y="3148251"/>
            <a:ext cx="1816938" cy="1171980"/>
          </a:xfrm>
          <a:prstGeom prst="straightConnector1">
            <a:avLst/>
          </a:prstGeom>
          <a:ln w="38100">
            <a:solidFill>
              <a:schemeClr val="tx2">
                <a:lumMod val="50000"/>
                <a:lumOff val="50000"/>
              </a:schemeClr>
            </a:solidFill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6" name="TextBox 55">
            <a:extLst>
              <a:ext uri="{FF2B5EF4-FFF2-40B4-BE49-F238E27FC236}">
                <a16:creationId xmlns:a16="http://schemas.microsoft.com/office/drawing/2014/main" id="{27CF3688-2CF8-0ABD-4C04-94709DE91FE8}"/>
              </a:ext>
            </a:extLst>
          </p:cNvPr>
          <p:cNvSpPr txBox="1"/>
          <p:nvPr/>
        </p:nvSpPr>
        <p:spPr>
          <a:xfrm>
            <a:off x="8111182" y="2051348"/>
            <a:ext cx="858794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50" dirty="0">
                <a:latin typeface="Source Sans Pro" panose="020B0503030403020204" pitchFamily="34" charset="0"/>
                <a:ea typeface="Source Sans Pro" panose="020B0503030403020204" pitchFamily="34" charset="0"/>
              </a:rPr>
              <a:t>Globus</a:t>
            </a:r>
            <a:endParaRPr lang="en-US" sz="11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C75456AB-9FF4-AA9E-C223-B55B55603688}"/>
              </a:ext>
            </a:extLst>
          </p:cNvPr>
          <p:cNvSpPr txBox="1"/>
          <p:nvPr/>
        </p:nvSpPr>
        <p:spPr>
          <a:xfrm>
            <a:off x="8225230" y="3425250"/>
            <a:ext cx="858794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50" dirty="0">
                <a:latin typeface="Source Sans Pro" panose="020B0503030403020204" pitchFamily="34" charset="0"/>
                <a:ea typeface="Source Sans Pro" panose="020B0503030403020204" pitchFamily="34" charset="0"/>
              </a:rPr>
              <a:t>Globus</a:t>
            </a:r>
            <a:endParaRPr lang="en-US" sz="11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D214F63B-C49D-5F41-69AB-285A6DB47F1F}"/>
              </a:ext>
            </a:extLst>
          </p:cNvPr>
          <p:cNvSpPr txBox="1"/>
          <p:nvPr/>
        </p:nvSpPr>
        <p:spPr>
          <a:xfrm>
            <a:off x="9512861" y="3507473"/>
            <a:ext cx="858794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50" dirty="0">
                <a:latin typeface="Source Sans Pro" panose="020B0503030403020204" pitchFamily="34" charset="0"/>
                <a:ea typeface="Source Sans Pro" panose="020B0503030403020204" pitchFamily="34" charset="0"/>
              </a:rPr>
              <a:t>Globus</a:t>
            </a:r>
            <a:endParaRPr lang="en-US" sz="11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3904573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3DEEA7-949C-AF5E-1FC3-295CE3F4C1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16B187-C01C-CDF6-E43B-8532D8BE87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419" y="166861"/>
            <a:ext cx="10515600" cy="1325563"/>
          </a:xfrm>
        </p:spPr>
        <p:txBody>
          <a:bodyPr/>
          <a:lstStyle/>
          <a:p>
            <a:r>
              <a:rPr lang="en-US" dirty="0"/>
              <a:t>Graphical file transfer program summary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4CAE0FDD-65F8-99DB-4E33-9128C149994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48112737"/>
              </p:ext>
            </p:extLst>
          </p:nvPr>
        </p:nvGraphicFramePr>
        <p:xfrm>
          <a:off x="204427" y="2529840"/>
          <a:ext cx="11783145" cy="1798320"/>
        </p:xfrm>
        <a:graphic>
          <a:graphicData uri="http://schemas.openxmlformats.org/drawingml/2006/table">
            <a:tbl>
              <a:tblPr firstRow="1" bandRow="1">
                <a:tableStyleId>{616DA210-FB5B-4158-B5E0-FEB733F419BA}</a:tableStyleId>
              </a:tblPr>
              <a:tblGrid>
                <a:gridCol w="3840291">
                  <a:extLst>
                    <a:ext uri="{9D8B030D-6E8A-4147-A177-3AD203B41FA5}">
                      <a16:colId xmlns:a16="http://schemas.microsoft.com/office/drawing/2014/main" val="3298165829"/>
                    </a:ext>
                  </a:extLst>
                </a:gridCol>
                <a:gridCol w="7942854">
                  <a:extLst>
                    <a:ext uri="{9D8B030D-6E8A-4147-A177-3AD203B41FA5}">
                      <a16:colId xmlns:a16="http://schemas.microsoft.com/office/drawing/2014/main" val="249242652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2000" b="0" dirty="0"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FTP clients (FileZilla)</a:t>
                      </a: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000" b="0" dirty="0"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Easy to use, reliable, good for small to large transfers.</a:t>
                      </a: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5308104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000" b="0" dirty="0"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Mounting</a:t>
                      </a: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000" b="0" dirty="0"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Intuitive, interfaces directly with OS file system. Difficult to set up?</a:t>
                      </a: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31847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000" b="0" dirty="0"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Globus</a:t>
                      </a: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000" b="0" kern="1200" dirty="0">
                          <a:solidFill>
                            <a:schemeClr val="tx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  <a:cs typeface="+mn-cs"/>
                        </a:rPr>
                        <a:t>Great for large file transfers between remote computers (doesn’t need to use your computer as an intermediary). Great for transferring data to collaborators.</a:t>
                      </a: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7767468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591803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5912FC-5774-F1D7-209F-EA60ECB179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TextBox 41">
            <a:extLst>
              <a:ext uri="{FF2B5EF4-FFF2-40B4-BE49-F238E27FC236}">
                <a16:creationId xmlns:a16="http://schemas.microsoft.com/office/drawing/2014/main" id="{D5B3483F-D49B-788F-A1EE-06A66A333EA8}"/>
              </a:ext>
            </a:extLst>
          </p:cNvPr>
          <p:cNvSpPr txBox="1"/>
          <p:nvPr/>
        </p:nvSpPr>
        <p:spPr>
          <a:xfrm>
            <a:off x="1846904" y="376195"/>
            <a:ext cx="7696772" cy="376351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Cluster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B840B5D4-7FD7-C7DE-F347-82366FA86C12}"/>
              </a:ext>
            </a:extLst>
          </p:cNvPr>
          <p:cNvSpPr txBox="1"/>
          <p:nvPr/>
        </p:nvSpPr>
        <p:spPr>
          <a:xfrm>
            <a:off x="6741105" y="5321409"/>
            <a:ext cx="3543820" cy="37635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Cloud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9EE2265-1AFA-66B9-6107-8B9EF924E507}"/>
              </a:ext>
            </a:extLst>
          </p:cNvPr>
          <p:cNvSpPr txBox="1"/>
          <p:nvPr/>
        </p:nvSpPr>
        <p:spPr>
          <a:xfrm>
            <a:off x="1093817" y="5888425"/>
            <a:ext cx="3543820" cy="37635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Local</a:t>
            </a: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476EA0C9-8C1D-9A77-1730-0D2CE849DC8B}"/>
              </a:ext>
            </a:extLst>
          </p:cNvPr>
          <p:cNvGrpSpPr/>
          <p:nvPr/>
        </p:nvGrpSpPr>
        <p:grpSpPr>
          <a:xfrm>
            <a:off x="2361335" y="800326"/>
            <a:ext cx="1255728" cy="1283732"/>
            <a:chOff x="3032551" y="387638"/>
            <a:chExt cx="1255728" cy="1283732"/>
          </a:xfrm>
        </p:grpSpPr>
        <p:pic>
          <p:nvPicPr>
            <p:cNvPr id="9" name="Graphic 8" descr="Server with solid fill">
              <a:extLst>
                <a:ext uri="{FF2B5EF4-FFF2-40B4-BE49-F238E27FC236}">
                  <a16:creationId xmlns:a16="http://schemas.microsoft.com/office/drawing/2014/main" id="{55584B46-EF5A-4662-CFFA-0538B24D217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3203215" y="387638"/>
              <a:ext cx="914400" cy="914400"/>
            </a:xfrm>
            <a:prstGeom prst="rect">
              <a:avLst/>
            </a:prstGeom>
          </p:spPr>
        </p:pic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9B3B2A52-EB69-CF11-0265-7A0D8BCC3FF9}"/>
                </a:ext>
              </a:extLst>
            </p:cNvPr>
            <p:cNvSpPr txBox="1"/>
            <p:nvPr/>
          </p:nvSpPr>
          <p:spPr>
            <a:xfrm>
              <a:off x="3032551" y="1302038"/>
              <a:ext cx="125572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/>
                <a:t>netscratch</a:t>
              </a:r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71EE4337-8373-C9BC-E974-98B696111C2E}"/>
              </a:ext>
            </a:extLst>
          </p:cNvPr>
          <p:cNvGrpSpPr/>
          <p:nvPr/>
        </p:nvGrpSpPr>
        <p:grpSpPr>
          <a:xfrm>
            <a:off x="5200283" y="800326"/>
            <a:ext cx="1101648" cy="1283732"/>
            <a:chOff x="5643892" y="387638"/>
            <a:chExt cx="1101648" cy="1283732"/>
          </a:xfrm>
        </p:grpSpPr>
        <p:pic>
          <p:nvPicPr>
            <p:cNvPr id="5" name="Graphic 4" descr="Server with solid fill">
              <a:extLst>
                <a:ext uri="{FF2B5EF4-FFF2-40B4-BE49-F238E27FC236}">
                  <a16:creationId xmlns:a16="http://schemas.microsoft.com/office/drawing/2014/main" id="{F06C3890-AAF9-D716-C0E3-2C9C6F8462F6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5737516" y="387638"/>
              <a:ext cx="914400" cy="914400"/>
            </a:xfrm>
            <a:prstGeom prst="rect">
              <a:avLst/>
            </a:prstGeom>
          </p:spPr>
        </p:pic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7D004F45-8EB7-B7E3-D7F0-38E4E18296CF}"/>
                </a:ext>
              </a:extLst>
            </p:cNvPr>
            <p:cNvSpPr txBox="1"/>
            <p:nvPr/>
          </p:nvSpPr>
          <p:spPr>
            <a:xfrm>
              <a:off x="5643892" y="1302038"/>
              <a:ext cx="110164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/>
                <a:t>lab share</a:t>
              </a:r>
            </a:p>
          </p:txBody>
        </p: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06FC7D8A-6F47-FECD-075A-C448C272199B}"/>
              </a:ext>
            </a:extLst>
          </p:cNvPr>
          <p:cNvGrpSpPr/>
          <p:nvPr/>
        </p:nvGrpSpPr>
        <p:grpSpPr>
          <a:xfrm>
            <a:off x="8055816" y="800326"/>
            <a:ext cx="914400" cy="1283732"/>
            <a:chOff x="8288401" y="387638"/>
            <a:chExt cx="914400" cy="1283732"/>
          </a:xfrm>
        </p:grpSpPr>
        <p:pic>
          <p:nvPicPr>
            <p:cNvPr id="4" name="Graphic 3" descr="Server with solid fill">
              <a:extLst>
                <a:ext uri="{FF2B5EF4-FFF2-40B4-BE49-F238E27FC236}">
                  <a16:creationId xmlns:a16="http://schemas.microsoft.com/office/drawing/2014/main" id="{B41DFA05-6F3E-E9B8-3E9D-78F8E9FAF7F8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8288401" y="387638"/>
              <a:ext cx="914400" cy="914400"/>
            </a:xfrm>
            <a:prstGeom prst="rect">
              <a:avLst/>
            </a:prstGeom>
          </p:spPr>
        </p:pic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0BECE5D4-5523-7F51-9C81-A426FD9FC3B0}"/>
                </a:ext>
              </a:extLst>
            </p:cNvPr>
            <p:cNvSpPr txBox="1"/>
            <p:nvPr/>
          </p:nvSpPr>
          <p:spPr>
            <a:xfrm>
              <a:off x="8428494" y="1302038"/>
              <a:ext cx="63421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/>
                <a:t>tape</a:t>
              </a:r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A7C02C91-D8B9-8E95-BBFF-D2CC867CAAED}"/>
              </a:ext>
            </a:extLst>
          </p:cNvPr>
          <p:cNvGrpSpPr/>
          <p:nvPr/>
        </p:nvGrpSpPr>
        <p:grpSpPr>
          <a:xfrm>
            <a:off x="2285055" y="3538031"/>
            <a:ext cx="1161344" cy="1099066"/>
            <a:chOff x="2170185" y="4087564"/>
            <a:chExt cx="1161344" cy="1099066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2CFEFA4C-F903-904E-1C98-D9AC477B860F}"/>
                </a:ext>
              </a:extLst>
            </p:cNvPr>
            <p:cNvSpPr txBox="1"/>
            <p:nvPr/>
          </p:nvSpPr>
          <p:spPr>
            <a:xfrm>
              <a:off x="2170185" y="4817298"/>
              <a:ext cx="116134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Source Sans Pro" panose="020B0503030403020204" pitchFamily="34" charset="0"/>
                  <a:ea typeface="Source Sans Pro" panose="020B0503030403020204" pitchFamily="34" charset="0"/>
                </a:rPr>
                <a:t>computer</a:t>
              </a:r>
            </a:p>
          </p:txBody>
        </p:sp>
        <p:pic>
          <p:nvPicPr>
            <p:cNvPr id="16" name="Graphic 15" descr="Computer with solid fill">
              <a:extLst>
                <a:ext uri="{FF2B5EF4-FFF2-40B4-BE49-F238E27FC236}">
                  <a16:creationId xmlns:a16="http://schemas.microsoft.com/office/drawing/2014/main" id="{4210ABB3-6FC9-E46B-9738-C9F8AD12966C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2293657" y="4087564"/>
              <a:ext cx="914400" cy="914400"/>
            </a:xfrm>
            <a:prstGeom prst="rect">
              <a:avLst/>
            </a:prstGeom>
          </p:spPr>
        </p:pic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FF86449A-5BE5-80C9-5923-26A199F228AA}"/>
              </a:ext>
            </a:extLst>
          </p:cNvPr>
          <p:cNvGrpSpPr/>
          <p:nvPr/>
        </p:nvGrpSpPr>
        <p:grpSpPr>
          <a:xfrm>
            <a:off x="3159863" y="4639654"/>
            <a:ext cx="914400" cy="1176497"/>
            <a:chOff x="5481143" y="3640801"/>
            <a:chExt cx="914400" cy="1176497"/>
          </a:xfrm>
        </p:grpSpPr>
        <p:pic>
          <p:nvPicPr>
            <p:cNvPr id="25" name="Graphic 24" descr="Usb Stick with solid fill">
              <a:extLst>
                <a:ext uri="{FF2B5EF4-FFF2-40B4-BE49-F238E27FC236}">
                  <a16:creationId xmlns:a16="http://schemas.microsoft.com/office/drawing/2014/main" id="{AB33B5ED-F8B7-0D41-0407-3D2D8F6D27D4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p:blipFill>
          <p:spPr>
            <a:xfrm>
              <a:off x="5481143" y="3640801"/>
              <a:ext cx="914400" cy="914400"/>
            </a:xfrm>
            <a:prstGeom prst="rect">
              <a:avLst/>
            </a:prstGeom>
          </p:spPr>
        </p:pic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AE44746B-D520-C832-CB33-BA367D9DD228}"/>
                </a:ext>
              </a:extLst>
            </p:cNvPr>
            <p:cNvSpPr txBox="1"/>
            <p:nvPr/>
          </p:nvSpPr>
          <p:spPr>
            <a:xfrm>
              <a:off x="5662886" y="4447966"/>
              <a:ext cx="55496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Source Sans Pro" panose="020B0503030403020204" pitchFamily="34" charset="0"/>
                  <a:ea typeface="Source Sans Pro" panose="020B0503030403020204" pitchFamily="34" charset="0"/>
                </a:rPr>
                <a:t>usb</a:t>
              </a:r>
              <a:endParaRPr lang="en-US" dirty="0">
                <a:latin typeface="Source Sans Pro" panose="020B0503030403020204" pitchFamily="34" charset="0"/>
                <a:ea typeface="Source Sans Pro" panose="020B0503030403020204" pitchFamily="34" charset="0"/>
              </a:endParaRPr>
            </a:p>
          </p:txBody>
        </p: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B524FA79-E510-96AB-DB6B-59C563FB2C64}"/>
              </a:ext>
            </a:extLst>
          </p:cNvPr>
          <p:cNvGrpSpPr/>
          <p:nvPr/>
        </p:nvGrpSpPr>
        <p:grpSpPr>
          <a:xfrm>
            <a:off x="7096954" y="3999807"/>
            <a:ext cx="1098955" cy="1283621"/>
            <a:chOff x="7968765" y="3038463"/>
            <a:chExt cx="1098955" cy="1283621"/>
          </a:xfrm>
        </p:grpSpPr>
        <p:pic>
          <p:nvPicPr>
            <p:cNvPr id="23" name="Graphic 22">
              <a:extLst>
                <a:ext uri="{FF2B5EF4-FFF2-40B4-BE49-F238E27FC236}">
                  <a16:creationId xmlns:a16="http://schemas.microsoft.com/office/drawing/2014/main" id="{A256031B-129D-4AC7-5604-82B9F3FDB381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>
              <a:fillRect/>
            </a:stretch>
          </p:blipFill>
          <p:spPr>
            <a:xfrm>
              <a:off x="7968765" y="3038463"/>
              <a:ext cx="1098955" cy="1098955"/>
            </a:xfrm>
            <a:prstGeom prst="rect">
              <a:avLst/>
            </a:prstGeom>
          </p:spPr>
        </p:pic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8D9425AC-2396-4B4E-797F-905D4A8A8CDB}"/>
                </a:ext>
              </a:extLst>
            </p:cNvPr>
            <p:cNvSpPr txBox="1"/>
            <p:nvPr/>
          </p:nvSpPr>
          <p:spPr>
            <a:xfrm>
              <a:off x="8018169" y="3952752"/>
              <a:ext cx="100014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Source Sans Pro" panose="020B0503030403020204" pitchFamily="34" charset="0"/>
                  <a:ea typeface="Source Sans Pro" panose="020B0503030403020204" pitchFamily="34" charset="0"/>
                </a:rPr>
                <a:t>dropbox</a:t>
              </a:r>
              <a:endParaRPr lang="en-US" dirty="0">
                <a:latin typeface="Source Sans Pro" panose="020B0503030403020204" pitchFamily="34" charset="0"/>
                <a:ea typeface="Source Sans Pro" panose="020B0503030403020204" pitchFamily="34" charset="0"/>
              </a:endParaRPr>
            </a:p>
          </p:txBody>
        </p: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253895A6-16CC-AAF3-C43E-EFCAAED62A69}"/>
              </a:ext>
            </a:extLst>
          </p:cNvPr>
          <p:cNvGrpSpPr/>
          <p:nvPr/>
        </p:nvGrpSpPr>
        <p:grpSpPr>
          <a:xfrm>
            <a:off x="9153537" y="4198557"/>
            <a:ext cx="780278" cy="1039070"/>
            <a:chOff x="9898343" y="3203218"/>
            <a:chExt cx="780278" cy="1039070"/>
          </a:xfrm>
        </p:grpSpPr>
        <p:pic>
          <p:nvPicPr>
            <p:cNvPr id="1026" name="Picture 2">
              <a:hlinkClick r:id="rId15"/>
              <a:extLst>
                <a:ext uri="{FF2B5EF4-FFF2-40B4-BE49-F238E27FC236}">
                  <a16:creationId xmlns:a16="http://schemas.microsoft.com/office/drawing/2014/main" id="{422AA0BE-3822-7FC9-0317-DBF6C1AD944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898343" y="3203218"/>
              <a:ext cx="750341" cy="66973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98ADFCBC-805D-22C3-D740-21671157D1D5}"/>
                </a:ext>
              </a:extLst>
            </p:cNvPr>
            <p:cNvSpPr txBox="1"/>
            <p:nvPr/>
          </p:nvSpPr>
          <p:spPr>
            <a:xfrm>
              <a:off x="9898343" y="3872956"/>
              <a:ext cx="78027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Source Sans Pro" panose="020B0503030403020204" pitchFamily="34" charset="0"/>
                  <a:ea typeface="Source Sans Pro" panose="020B0503030403020204" pitchFamily="34" charset="0"/>
                </a:rPr>
                <a:t>gdrive</a:t>
              </a:r>
              <a:endParaRPr lang="en-US" dirty="0">
                <a:latin typeface="Source Sans Pro" panose="020B0503030403020204" pitchFamily="34" charset="0"/>
                <a:ea typeface="Source Sans Pro" panose="020B0503030403020204" pitchFamily="34" charset="0"/>
              </a:endParaRPr>
            </a:p>
          </p:txBody>
        </p:sp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E80537EA-B398-3324-311F-C9935D11990E}"/>
              </a:ext>
            </a:extLst>
          </p:cNvPr>
          <p:cNvGrpSpPr/>
          <p:nvPr/>
        </p:nvGrpSpPr>
        <p:grpSpPr>
          <a:xfrm>
            <a:off x="1531073" y="4605444"/>
            <a:ext cx="943744" cy="1264365"/>
            <a:chOff x="9899067" y="1970798"/>
            <a:chExt cx="943744" cy="1264365"/>
          </a:xfrm>
        </p:grpSpPr>
        <p:pic>
          <p:nvPicPr>
            <p:cNvPr id="38" name="Graphic 37" descr="Server outline">
              <a:extLst>
                <a:ext uri="{FF2B5EF4-FFF2-40B4-BE49-F238E27FC236}">
                  <a16:creationId xmlns:a16="http://schemas.microsoft.com/office/drawing/2014/main" id="{344F288C-BC6C-BCFF-F27B-F0F6DC96A816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>
              <a:extLst>
                <a:ext uri="{96DAC541-7B7A-43D3-8B79-37D633B846F1}">
                  <asvg:svgBlip xmlns:asvg="http://schemas.microsoft.com/office/drawing/2016/SVG/main" r:embed="rId18"/>
                </a:ext>
              </a:extLst>
            </a:blip>
            <a:stretch>
              <a:fillRect/>
            </a:stretch>
          </p:blipFill>
          <p:spPr>
            <a:xfrm>
              <a:off x="9928411" y="1970798"/>
              <a:ext cx="914400" cy="914400"/>
            </a:xfrm>
            <a:prstGeom prst="rect">
              <a:avLst/>
            </a:prstGeom>
          </p:spPr>
        </p:pic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3291D09E-B19D-0345-224D-BB1986705DAA}"/>
                </a:ext>
              </a:extLst>
            </p:cNvPr>
            <p:cNvSpPr txBox="1"/>
            <p:nvPr/>
          </p:nvSpPr>
          <p:spPr>
            <a:xfrm>
              <a:off x="9899067" y="2865831"/>
              <a:ext cx="93326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Source Sans Pro" panose="020B0503030403020204" pitchFamily="34" charset="0"/>
                  <a:ea typeface="Source Sans Pro" panose="020B0503030403020204" pitchFamily="34" charset="0"/>
                </a:rPr>
                <a:t>lab NAS</a:t>
              </a:r>
            </a:p>
          </p:txBody>
        </p:sp>
      </p:grpSp>
      <p:sp>
        <p:nvSpPr>
          <p:cNvPr id="41" name="Rounded Rectangle 40">
            <a:extLst>
              <a:ext uri="{FF2B5EF4-FFF2-40B4-BE49-F238E27FC236}">
                <a16:creationId xmlns:a16="http://schemas.microsoft.com/office/drawing/2014/main" id="{FC429A12-2014-AA79-154C-AE216F2596DE}"/>
              </a:ext>
            </a:extLst>
          </p:cNvPr>
          <p:cNvSpPr/>
          <p:nvPr/>
        </p:nvSpPr>
        <p:spPr>
          <a:xfrm>
            <a:off x="1861873" y="170996"/>
            <a:ext cx="7681803" cy="2245757"/>
          </a:xfrm>
          <a:prstGeom prst="roundRect">
            <a:avLst>
              <a:gd name="adj" fmla="val 8618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endParaRPr lang="en-US" dirty="0">
              <a:solidFill>
                <a:schemeClr val="tx1"/>
              </a:solidFill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43" name="Rounded Rectangle 42">
            <a:extLst>
              <a:ext uri="{FF2B5EF4-FFF2-40B4-BE49-F238E27FC236}">
                <a16:creationId xmlns:a16="http://schemas.microsoft.com/office/drawing/2014/main" id="{66289005-0E80-BB1B-78DB-E3D0D15577DA}"/>
              </a:ext>
            </a:extLst>
          </p:cNvPr>
          <p:cNvSpPr/>
          <p:nvPr/>
        </p:nvSpPr>
        <p:spPr>
          <a:xfrm>
            <a:off x="1093816" y="3573102"/>
            <a:ext cx="3543821" cy="2908703"/>
          </a:xfrm>
          <a:prstGeom prst="roundRect">
            <a:avLst>
              <a:gd name="adj" fmla="val 8762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endParaRPr lang="en-US" dirty="0">
              <a:solidFill>
                <a:schemeClr val="tx1"/>
              </a:solidFill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41B4222A-AA85-FE35-E977-E075C870069E}"/>
              </a:ext>
            </a:extLst>
          </p:cNvPr>
          <p:cNvCxnSpPr/>
          <p:nvPr/>
        </p:nvCxnSpPr>
        <p:spPr>
          <a:xfrm>
            <a:off x="3446399" y="1256260"/>
            <a:ext cx="1847508" cy="0"/>
          </a:xfrm>
          <a:prstGeom prst="straightConnector1">
            <a:avLst/>
          </a:prstGeom>
          <a:ln w="38100">
            <a:solidFill>
              <a:schemeClr val="tx2">
                <a:lumMod val="50000"/>
                <a:lumOff val="50000"/>
              </a:schemeClr>
            </a:solidFill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59291000-F571-25EC-AE85-923D376317B1}"/>
              </a:ext>
            </a:extLst>
          </p:cNvPr>
          <p:cNvCxnSpPr/>
          <p:nvPr/>
        </p:nvCxnSpPr>
        <p:spPr>
          <a:xfrm>
            <a:off x="6208308" y="1256260"/>
            <a:ext cx="1847508" cy="0"/>
          </a:xfrm>
          <a:prstGeom prst="straightConnector1">
            <a:avLst/>
          </a:prstGeom>
          <a:ln w="38100"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E3DB254D-4272-16E1-7F22-FB918398C993}"/>
              </a:ext>
            </a:extLst>
          </p:cNvPr>
          <p:cNvCxnSpPr>
            <a:cxnSpLocks/>
            <a:stCxn id="16" idx="3"/>
            <a:endCxn id="11" idx="1"/>
          </p:cNvCxnSpPr>
          <p:nvPr/>
        </p:nvCxnSpPr>
        <p:spPr>
          <a:xfrm flipV="1">
            <a:off x="3322927" y="1899392"/>
            <a:ext cx="1877356" cy="2095839"/>
          </a:xfrm>
          <a:prstGeom prst="straightConnector1">
            <a:avLst/>
          </a:prstGeom>
          <a:ln w="38100">
            <a:solidFill>
              <a:schemeClr val="tx2">
                <a:lumMod val="50000"/>
                <a:lumOff val="50000"/>
              </a:schemeClr>
            </a:solidFill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03D5E3F5-BCB4-BD4E-4EDD-924796D50005}"/>
              </a:ext>
            </a:extLst>
          </p:cNvPr>
          <p:cNvCxnSpPr>
            <a:cxnSpLocks/>
            <a:stCxn id="11" idx="3"/>
            <a:endCxn id="1026" idx="1"/>
          </p:cNvCxnSpPr>
          <p:nvPr/>
        </p:nvCxnSpPr>
        <p:spPr>
          <a:xfrm>
            <a:off x="6301931" y="1899392"/>
            <a:ext cx="2851606" cy="2634034"/>
          </a:xfrm>
          <a:prstGeom prst="straightConnector1">
            <a:avLst/>
          </a:prstGeom>
          <a:ln w="38100">
            <a:solidFill>
              <a:schemeClr val="tx2">
                <a:lumMod val="50000"/>
                <a:lumOff val="50000"/>
              </a:schemeClr>
            </a:solidFill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BF10B428-5015-B47B-FABB-2B27CE242FE2}"/>
              </a:ext>
            </a:extLst>
          </p:cNvPr>
          <p:cNvCxnSpPr>
            <a:cxnSpLocks/>
            <a:endCxn id="10" idx="2"/>
          </p:cNvCxnSpPr>
          <p:nvPr/>
        </p:nvCxnSpPr>
        <p:spPr>
          <a:xfrm flipV="1">
            <a:off x="2864389" y="2084058"/>
            <a:ext cx="124810" cy="1584023"/>
          </a:xfrm>
          <a:prstGeom prst="straightConnector1">
            <a:avLst/>
          </a:prstGeom>
          <a:ln w="38100">
            <a:solidFill>
              <a:schemeClr val="tx2">
                <a:lumMod val="50000"/>
                <a:lumOff val="50000"/>
              </a:schemeClr>
            </a:solidFill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9DBA29A8-ECB1-06D4-03EA-55AFB0E56AB3}"/>
              </a:ext>
            </a:extLst>
          </p:cNvPr>
          <p:cNvSpPr txBox="1"/>
          <p:nvPr/>
        </p:nvSpPr>
        <p:spPr>
          <a:xfrm>
            <a:off x="2361335" y="2501778"/>
            <a:ext cx="1106515" cy="830997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 w="25400"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Globus</a:t>
            </a:r>
          </a:p>
          <a:p>
            <a:pPr algn="ctr"/>
            <a:r>
              <a:rPr lang="en-US" sz="12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Mount</a:t>
            </a:r>
          </a:p>
          <a:p>
            <a:pPr algn="ctr"/>
            <a:r>
              <a:rPr lang="en-US" sz="12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FileZilla (FTP)</a:t>
            </a:r>
          </a:p>
          <a:p>
            <a:pPr algn="ctr"/>
            <a:r>
              <a:rPr lang="en-US" sz="1200" dirty="0" err="1">
                <a:latin typeface="Consolas" panose="020B0609020204030204" pitchFamily="49" charset="0"/>
                <a:ea typeface="Source Sans Pro" panose="020B0503030403020204" pitchFamily="34" charset="0"/>
              </a:rPr>
              <a:t>rsync</a:t>
            </a:r>
            <a:endParaRPr lang="en-US" sz="1400" dirty="0">
              <a:latin typeface="Consolas" panose="020B0609020204030204" pitchFamily="49" charset="0"/>
              <a:ea typeface="Source Sans Pro" panose="020B0503030403020204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53BC9CD-2697-2FB9-7321-11005CF6A642}"/>
              </a:ext>
            </a:extLst>
          </p:cNvPr>
          <p:cNvSpPr txBox="1"/>
          <p:nvPr/>
        </p:nvSpPr>
        <p:spPr>
          <a:xfrm>
            <a:off x="4021869" y="1020063"/>
            <a:ext cx="677860" cy="461665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 w="25400"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latin typeface="Consolas" panose="020B0609020204030204" pitchFamily="49" charset="0"/>
                <a:ea typeface="Source Sans Pro" panose="020B0503030403020204" pitchFamily="34" charset="0"/>
              </a:rPr>
              <a:t>cp</a:t>
            </a:r>
          </a:p>
          <a:p>
            <a:pPr algn="ctr"/>
            <a:r>
              <a:rPr lang="en-US" sz="1200" dirty="0" err="1">
                <a:latin typeface="Consolas" panose="020B0609020204030204" pitchFamily="49" charset="0"/>
                <a:ea typeface="Source Sans Pro" panose="020B0503030403020204" pitchFamily="34" charset="0"/>
              </a:rPr>
              <a:t>rsync</a:t>
            </a:r>
            <a:endParaRPr lang="en-US" sz="1400" dirty="0">
              <a:latin typeface="Consolas" panose="020B0609020204030204" pitchFamily="49" charset="0"/>
              <a:ea typeface="Source Sans Pro" panose="020B0503030403020204" pitchFamily="34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6B5DD14-DEE0-1657-4EC8-2FC8E121CC33}"/>
              </a:ext>
            </a:extLst>
          </p:cNvPr>
          <p:cNvSpPr txBox="1"/>
          <p:nvPr/>
        </p:nvSpPr>
        <p:spPr>
          <a:xfrm>
            <a:off x="7377956" y="3021750"/>
            <a:ext cx="768548" cy="276999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 w="25400"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200" dirty="0" err="1">
                <a:latin typeface="Consolas" panose="020B0609020204030204" pitchFamily="49" charset="0"/>
                <a:ea typeface="Source Sans Pro" panose="020B0503030403020204" pitchFamily="34" charset="0"/>
              </a:rPr>
              <a:t>rclone</a:t>
            </a:r>
            <a:endParaRPr lang="en-US" sz="1400" dirty="0">
              <a:latin typeface="Consolas" panose="020B0609020204030204" pitchFamily="49" charset="0"/>
              <a:ea typeface="Source Sans Pro" panose="020B0503030403020204" pitchFamily="34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9FD6CAA-92AF-4017-B5A4-740553B9F271}"/>
              </a:ext>
            </a:extLst>
          </p:cNvPr>
          <p:cNvSpPr txBox="1"/>
          <p:nvPr/>
        </p:nvSpPr>
        <p:spPr>
          <a:xfrm>
            <a:off x="3753004" y="2501777"/>
            <a:ext cx="1106515" cy="830997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 w="25400"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Globus</a:t>
            </a:r>
          </a:p>
          <a:p>
            <a:pPr algn="ctr"/>
            <a:r>
              <a:rPr lang="en-US" sz="12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Mount</a:t>
            </a:r>
          </a:p>
          <a:p>
            <a:pPr algn="ctr"/>
            <a:r>
              <a:rPr lang="en-US" sz="12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FileZilla (FTP)</a:t>
            </a:r>
          </a:p>
          <a:p>
            <a:pPr algn="ctr"/>
            <a:r>
              <a:rPr lang="en-US" sz="1200" dirty="0" err="1">
                <a:latin typeface="Consolas" panose="020B0609020204030204" pitchFamily="49" charset="0"/>
                <a:ea typeface="Source Sans Pro" panose="020B0503030403020204" pitchFamily="34" charset="0"/>
              </a:rPr>
              <a:t>rsync</a:t>
            </a:r>
            <a:endParaRPr lang="en-US" sz="1400" dirty="0">
              <a:latin typeface="Consolas" panose="020B0609020204030204" pitchFamily="49" charset="0"/>
              <a:ea typeface="Source Sans Pro" panose="020B0503030403020204" pitchFamily="34" charset="0"/>
            </a:endParaRPr>
          </a:p>
        </p:txBody>
      </p:sp>
      <p:sp>
        <p:nvSpPr>
          <p:cNvPr id="35" name="Rounded Rectangle 42">
            <a:extLst>
              <a:ext uri="{FF2B5EF4-FFF2-40B4-BE49-F238E27FC236}">
                <a16:creationId xmlns:a16="http://schemas.microsoft.com/office/drawing/2014/main" id="{3B3A4E33-CF92-663B-AC3F-C3B0192061CF}"/>
              </a:ext>
            </a:extLst>
          </p:cNvPr>
          <p:cNvSpPr/>
          <p:nvPr/>
        </p:nvSpPr>
        <p:spPr>
          <a:xfrm>
            <a:off x="6741104" y="3573102"/>
            <a:ext cx="3543821" cy="2296707"/>
          </a:xfrm>
          <a:prstGeom prst="roundRect">
            <a:avLst>
              <a:gd name="adj" fmla="val 8762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endParaRPr lang="en-US" dirty="0">
              <a:solidFill>
                <a:schemeClr val="tx1"/>
              </a:solidFill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22532696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887391-5CBD-D670-56F7-A9D25F3406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C14BA0CE-C5D0-3692-3641-8AAD080BF87D}"/>
              </a:ext>
            </a:extLst>
          </p:cNvPr>
          <p:cNvCxnSpPr/>
          <p:nvPr/>
        </p:nvCxnSpPr>
        <p:spPr>
          <a:xfrm>
            <a:off x="3446399" y="1256260"/>
            <a:ext cx="1847508" cy="0"/>
          </a:xfrm>
          <a:prstGeom prst="straightConnector1">
            <a:avLst/>
          </a:prstGeom>
          <a:ln w="38100">
            <a:solidFill>
              <a:schemeClr val="tx2">
                <a:lumMod val="50000"/>
                <a:lumOff val="50000"/>
              </a:schemeClr>
            </a:solidFill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B6966FC8-2A04-16A4-1772-85065B9109C2}"/>
              </a:ext>
            </a:extLst>
          </p:cNvPr>
          <p:cNvSpPr txBox="1"/>
          <p:nvPr/>
        </p:nvSpPr>
        <p:spPr>
          <a:xfrm>
            <a:off x="151552" y="2954606"/>
            <a:ext cx="1496229" cy="276999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Collaborators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0B757DD4-14C9-8EC0-C211-48E8B8ECA64C}"/>
              </a:ext>
            </a:extLst>
          </p:cNvPr>
          <p:cNvSpPr txBox="1"/>
          <p:nvPr/>
        </p:nvSpPr>
        <p:spPr>
          <a:xfrm>
            <a:off x="1846904" y="376195"/>
            <a:ext cx="7696772" cy="376351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Cluster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824616EB-0F55-FC7F-7DB5-9BDBE2C0459E}"/>
              </a:ext>
            </a:extLst>
          </p:cNvPr>
          <p:cNvSpPr txBox="1"/>
          <p:nvPr/>
        </p:nvSpPr>
        <p:spPr>
          <a:xfrm>
            <a:off x="6741105" y="5321409"/>
            <a:ext cx="3543820" cy="37635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Cloud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132BAF2-3E37-D739-994E-8A903230AA09}"/>
              </a:ext>
            </a:extLst>
          </p:cNvPr>
          <p:cNvSpPr txBox="1"/>
          <p:nvPr/>
        </p:nvSpPr>
        <p:spPr>
          <a:xfrm>
            <a:off x="1093817" y="5888425"/>
            <a:ext cx="3543820" cy="37635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Local</a:t>
            </a: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BDCD3CE8-D998-FC4C-84B4-91779A8F601B}"/>
              </a:ext>
            </a:extLst>
          </p:cNvPr>
          <p:cNvGrpSpPr/>
          <p:nvPr/>
        </p:nvGrpSpPr>
        <p:grpSpPr>
          <a:xfrm>
            <a:off x="2361335" y="800326"/>
            <a:ext cx="1255728" cy="1283732"/>
            <a:chOff x="3032551" y="387638"/>
            <a:chExt cx="1255728" cy="1283732"/>
          </a:xfrm>
        </p:grpSpPr>
        <p:pic>
          <p:nvPicPr>
            <p:cNvPr id="9" name="Graphic 8" descr="Server with solid fill">
              <a:extLst>
                <a:ext uri="{FF2B5EF4-FFF2-40B4-BE49-F238E27FC236}">
                  <a16:creationId xmlns:a16="http://schemas.microsoft.com/office/drawing/2014/main" id="{50A9FCF0-5365-68F6-B7FE-639B638F2E5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3203215" y="387638"/>
              <a:ext cx="914400" cy="914400"/>
            </a:xfrm>
            <a:prstGeom prst="rect">
              <a:avLst/>
            </a:prstGeom>
          </p:spPr>
        </p:pic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DC02A190-868C-122B-9233-4B0EF6699ACF}"/>
                </a:ext>
              </a:extLst>
            </p:cNvPr>
            <p:cNvSpPr txBox="1"/>
            <p:nvPr/>
          </p:nvSpPr>
          <p:spPr>
            <a:xfrm>
              <a:off x="3032551" y="1302038"/>
              <a:ext cx="125572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/>
                <a:t>netscratch</a:t>
              </a:r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71E653EE-5E8C-B5F7-C32E-295BDB00CF5A}"/>
              </a:ext>
            </a:extLst>
          </p:cNvPr>
          <p:cNvGrpSpPr/>
          <p:nvPr/>
        </p:nvGrpSpPr>
        <p:grpSpPr>
          <a:xfrm>
            <a:off x="5200283" y="800326"/>
            <a:ext cx="1101648" cy="1283732"/>
            <a:chOff x="5643892" y="387638"/>
            <a:chExt cx="1101648" cy="1283732"/>
          </a:xfrm>
        </p:grpSpPr>
        <p:pic>
          <p:nvPicPr>
            <p:cNvPr id="5" name="Graphic 4" descr="Server with solid fill">
              <a:extLst>
                <a:ext uri="{FF2B5EF4-FFF2-40B4-BE49-F238E27FC236}">
                  <a16:creationId xmlns:a16="http://schemas.microsoft.com/office/drawing/2014/main" id="{B41DB967-AEA6-E7D4-4D2C-B84BE6A3B800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5737516" y="387638"/>
              <a:ext cx="914400" cy="914400"/>
            </a:xfrm>
            <a:prstGeom prst="rect">
              <a:avLst/>
            </a:prstGeom>
          </p:spPr>
        </p:pic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F2854159-62F1-AE80-EB0E-EC29393F43E0}"/>
                </a:ext>
              </a:extLst>
            </p:cNvPr>
            <p:cNvSpPr txBox="1"/>
            <p:nvPr/>
          </p:nvSpPr>
          <p:spPr>
            <a:xfrm>
              <a:off x="5643892" y="1302038"/>
              <a:ext cx="110164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lab share</a:t>
              </a:r>
            </a:p>
          </p:txBody>
        </p: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C1B66DDF-2435-6FD1-EC57-35276F1D1620}"/>
              </a:ext>
            </a:extLst>
          </p:cNvPr>
          <p:cNvGrpSpPr/>
          <p:nvPr/>
        </p:nvGrpSpPr>
        <p:grpSpPr>
          <a:xfrm>
            <a:off x="8055816" y="800326"/>
            <a:ext cx="914400" cy="1283732"/>
            <a:chOff x="8288401" y="387638"/>
            <a:chExt cx="914400" cy="1283732"/>
          </a:xfrm>
        </p:grpSpPr>
        <p:pic>
          <p:nvPicPr>
            <p:cNvPr id="4" name="Graphic 3" descr="Server with solid fill">
              <a:extLst>
                <a:ext uri="{FF2B5EF4-FFF2-40B4-BE49-F238E27FC236}">
                  <a16:creationId xmlns:a16="http://schemas.microsoft.com/office/drawing/2014/main" id="{E3DEF7DC-416B-8CBF-C1F9-C24198072485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8288401" y="387638"/>
              <a:ext cx="914400" cy="914400"/>
            </a:xfrm>
            <a:prstGeom prst="rect">
              <a:avLst/>
            </a:prstGeom>
          </p:spPr>
        </p:pic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2ADA91CB-4514-D512-322D-F99122C7006C}"/>
                </a:ext>
              </a:extLst>
            </p:cNvPr>
            <p:cNvSpPr txBox="1"/>
            <p:nvPr/>
          </p:nvSpPr>
          <p:spPr>
            <a:xfrm>
              <a:off x="8428494" y="1302038"/>
              <a:ext cx="63421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/>
                <a:t>tape</a:t>
              </a:r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B4A0A445-C426-E5DB-BA74-7FB5F5137DED}"/>
              </a:ext>
            </a:extLst>
          </p:cNvPr>
          <p:cNvGrpSpPr/>
          <p:nvPr/>
        </p:nvGrpSpPr>
        <p:grpSpPr>
          <a:xfrm>
            <a:off x="2285055" y="3538031"/>
            <a:ext cx="1161344" cy="1099066"/>
            <a:chOff x="2170185" y="4087564"/>
            <a:chExt cx="1161344" cy="1099066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BF9903D6-7B25-5E77-1E83-E154E571D733}"/>
                </a:ext>
              </a:extLst>
            </p:cNvPr>
            <p:cNvSpPr txBox="1"/>
            <p:nvPr/>
          </p:nvSpPr>
          <p:spPr>
            <a:xfrm>
              <a:off x="2170185" y="4817298"/>
              <a:ext cx="116134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Source Sans Pro" panose="020B0503030403020204" pitchFamily="34" charset="0"/>
                  <a:ea typeface="Source Sans Pro" panose="020B0503030403020204" pitchFamily="34" charset="0"/>
                </a:rPr>
                <a:t>computer</a:t>
              </a:r>
            </a:p>
          </p:txBody>
        </p:sp>
        <p:pic>
          <p:nvPicPr>
            <p:cNvPr id="16" name="Graphic 15" descr="Computer with solid fill">
              <a:extLst>
                <a:ext uri="{FF2B5EF4-FFF2-40B4-BE49-F238E27FC236}">
                  <a16:creationId xmlns:a16="http://schemas.microsoft.com/office/drawing/2014/main" id="{3E595D25-2601-A380-DD27-A4A4A6954260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2293657" y="4087564"/>
              <a:ext cx="914400" cy="914400"/>
            </a:xfrm>
            <a:prstGeom prst="rect">
              <a:avLst/>
            </a:prstGeom>
          </p:spPr>
        </p:pic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2F7A0E3C-B051-1823-3BA6-D579A4871A9C}"/>
              </a:ext>
            </a:extLst>
          </p:cNvPr>
          <p:cNvGrpSpPr/>
          <p:nvPr/>
        </p:nvGrpSpPr>
        <p:grpSpPr>
          <a:xfrm>
            <a:off x="3159863" y="4639654"/>
            <a:ext cx="914400" cy="1176497"/>
            <a:chOff x="5481143" y="3640801"/>
            <a:chExt cx="914400" cy="1176497"/>
          </a:xfrm>
        </p:grpSpPr>
        <p:pic>
          <p:nvPicPr>
            <p:cNvPr id="25" name="Graphic 24" descr="Usb Stick with solid fill">
              <a:extLst>
                <a:ext uri="{FF2B5EF4-FFF2-40B4-BE49-F238E27FC236}">
                  <a16:creationId xmlns:a16="http://schemas.microsoft.com/office/drawing/2014/main" id="{BAA22600-B0AC-F2D9-5122-222031061739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p:blipFill>
          <p:spPr>
            <a:xfrm>
              <a:off x="5481143" y="3640801"/>
              <a:ext cx="914400" cy="914400"/>
            </a:xfrm>
            <a:prstGeom prst="rect">
              <a:avLst/>
            </a:prstGeom>
          </p:spPr>
        </p:pic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F772439F-B454-8778-EDF9-B7AA75C0C30E}"/>
                </a:ext>
              </a:extLst>
            </p:cNvPr>
            <p:cNvSpPr txBox="1"/>
            <p:nvPr/>
          </p:nvSpPr>
          <p:spPr>
            <a:xfrm>
              <a:off x="5662886" y="4447966"/>
              <a:ext cx="55496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Source Sans Pro" panose="020B0503030403020204" pitchFamily="34" charset="0"/>
                  <a:ea typeface="Source Sans Pro" panose="020B0503030403020204" pitchFamily="34" charset="0"/>
                </a:rPr>
                <a:t>usb</a:t>
              </a:r>
              <a:endParaRPr lang="en-US" dirty="0">
                <a:latin typeface="Source Sans Pro" panose="020B0503030403020204" pitchFamily="34" charset="0"/>
                <a:ea typeface="Source Sans Pro" panose="020B0503030403020204" pitchFamily="34" charset="0"/>
              </a:endParaRPr>
            </a:p>
          </p:txBody>
        </p: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F3344C6E-42AD-CDF1-0571-88D1CD1D6EEB}"/>
              </a:ext>
            </a:extLst>
          </p:cNvPr>
          <p:cNvGrpSpPr/>
          <p:nvPr/>
        </p:nvGrpSpPr>
        <p:grpSpPr>
          <a:xfrm>
            <a:off x="7096954" y="3999807"/>
            <a:ext cx="1098955" cy="1283621"/>
            <a:chOff x="7968765" y="3038463"/>
            <a:chExt cx="1098955" cy="1283621"/>
          </a:xfrm>
        </p:grpSpPr>
        <p:pic>
          <p:nvPicPr>
            <p:cNvPr id="23" name="Graphic 22">
              <a:extLst>
                <a:ext uri="{FF2B5EF4-FFF2-40B4-BE49-F238E27FC236}">
                  <a16:creationId xmlns:a16="http://schemas.microsoft.com/office/drawing/2014/main" id="{8C707924-ED7E-01ED-2EFE-0B39284D9D0C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>
              <a:fillRect/>
            </a:stretch>
          </p:blipFill>
          <p:spPr>
            <a:xfrm>
              <a:off x="7968765" y="3038463"/>
              <a:ext cx="1098955" cy="1098955"/>
            </a:xfrm>
            <a:prstGeom prst="rect">
              <a:avLst/>
            </a:prstGeom>
          </p:spPr>
        </p:pic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872F95FB-59A1-38EB-B899-58ADCE2B7716}"/>
                </a:ext>
              </a:extLst>
            </p:cNvPr>
            <p:cNvSpPr txBox="1"/>
            <p:nvPr/>
          </p:nvSpPr>
          <p:spPr>
            <a:xfrm>
              <a:off x="8018169" y="3952752"/>
              <a:ext cx="100014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Source Sans Pro" panose="020B0503030403020204" pitchFamily="34" charset="0"/>
                  <a:ea typeface="Source Sans Pro" panose="020B0503030403020204" pitchFamily="34" charset="0"/>
                </a:rPr>
                <a:t>dropbox</a:t>
              </a:r>
              <a:endParaRPr lang="en-US" dirty="0">
                <a:latin typeface="Source Sans Pro" panose="020B0503030403020204" pitchFamily="34" charset="0"/>
                <a:ea typeface="Source Sans Pro" panose="020B0503030403020204" pitchFamily="34" charset="0"/>
              </a:endParaRPr>
            </a:p>
          </p:txBody>
        </p: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CA764CBD-D9FA-A8A8-7656-C51BE172D5E1}"/>
              </a:ext>
            </a:extLst>
          </p:cNvPr>
          <p:cNvGrpSpPr/>
          <p:nvPr/>
        </p:nvGrpSpPr>
        <p:grpSpPr>
          <a:xfrm>
            <a:off x="9153537" y="4198557"/>
            <a:ext cx="780278" cy="1039070"/>
            <a:chOff x="9898343" y="3203218"/>
            <a:chExt cx="780278" cy="1039070"/>
          </a:xfrm>
        </p:grpSpPr>
        <p:pic>
          <p:nvPicPr>
            <p:cNvPr id="1026" name="Picture 2">
              <a:hlinkClick r:id="rId15"/>
              <a:extLst>
                <a:ext uri="{FF2B5EF4-FFF2-40B4-BE49-F238E27FC236}">
                  <a16:creationId xmlns:a16="http://schemas.microsoft.com/office/drawing/2014/main" id="{1204316A-5129-F0DE-A16A-F1D8D01580D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898343" y="3203218"/>
              <a:ext cx="750341" cy="66973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14201F72-87B4-134D-62A0-3D8C956E77A4}"/>
                </a:ext>
              </a:extLst>
            </p:cNvPr>
            <p:cNvSpPr txBox="1"/>
            <p:nvPr/>
          </p:nvSpPr>
          <p:spPr>
            <a:xfrm>
              <a:off x="9898343" y="3872956"/>
              <a:ext cx="78027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Source Sans Pro" panose="020B0503030403020204" pitchFamily="34" charset="0"/>
                  <a:ea typeface="Source Sans Pro" panose="020B0503030403020204" pitchFamily="34" charset="0"/>
                </a:rPr>
                <a:t>gdrive</a:t>
              </a:r>
              <a:endParaRPr lang="en-US" dirty="0">
                <a:latin typeface="Source Sans Pro" panose="020B0503030403020204" pitchFamily="34" charset="0"/>
                <a:ea typeface="Source Sans Pro" panose="020B0503030403020204" pitchFamily="34" charset="0"/>
              </a:endParaRPr>
            </a:p>
          </p:txBody>
        </p:sp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AD683FD1-1FAF-DC13-F619-D70CE07D3E2B}"/>
              </a:ext>
            </a:extLst>
          </p:cNvPr>
          <p:cNvGrpSpPr/>
          <p:nvPr/>
        </p:nvGrpSpPr>
        <p:grpSpPr>
          <a:xfrm>
            <a:off x="1531073" y="4605444"/>
            <a:ext cx="943744" cy="1264365"/>
            <a:chOff x="9899067" y="1970798"/>
            <a:chExt cx="943744" cy="1264365"/>
          </a:xfrm>
        </p:grpSpPr>
        <p:pic>
          <p:nvPicPr>
            <p:cNvPr id="38" name="Graphic 37" descr="Server outline">
              <a:extLst>
                <a:ext uri="{FF2B5EF4-FFF2-40B4-BE49-F238E27FC236}">
                  <a16:creationId xmlns:a16="http://schemas.microsoft.com/office/drawing/2014/main" id="{DD744229-D529-6364-AA90-DD6D39F7F1CD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>
              <a:extLst>
                <a:ext uri="{96DAC541-7B7A-43D3-8B79-37D633B846F1}">
                  <asvg:svgBlip xmlns:asvg="http://schemas.microsoft.com/office/drawing/2016/SVG/main" r:embed="rId18"/>
                </a:ext>
              </a:extLst>
            </a:blip>
            <a:stretch>
              <a:fillRect/>
            </a:stretch>
          </p:blipFill>
          <p:spPr>
            <a:xfrm>
              <a:off x="9928411" y="1970798"/>
              <a:ext cx="914400" cy="914400"/>
            </a:xfrm>
            <a:prstGeom prst="rect">
              <a:avLst/>
            </a:prstGeom>
          </p:spPr>
        </p:pic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6A2E5CFA-17B2-3AD6-2B58-39600DC4BE99}"/>
                </a:ext>
              </a:extLst>
            </p:cNvPr>
            <p:cNvSpPr txBox="1"/>
            <p:nvPr/>
          </p:nvSpPr>
          <p:spPr>
            <a:xfrm>
              <a:off x="9899067" y="2865831"/>
              <a:ext cx="93326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Source Sans Pro" panose="020B0503030403020204" pitchFamily="34" charset="0"/>
                  <a:ea typeface="Source Sans Pro" panose="020B0503030403020204" pitchFamily="34" charset="0"/>
                </a:rPr>
                <a:t>lab NAS</a:t>
              </a:r>
            </a:p>
          </p:txBody>
        </p:sp>
      </p:grpSp>
      <p:sp>
        <p:nvSpPr>
          <p:cNvPr id="41" name="Rounded Rectangle 40">
            <a:extLst>
              <a:ext uri="{FF2B5EF4-FFF2-40B4-BE49-F238E27FC236}">
                <a16:creationId xmlns:a16="http://schemas.microsoft.com/office/drawing/2014/main" id="{317B548A-75BC-D20C-29F7-7022039EA7E4}"/>
              </a:ext>
            </a:extLst>
          </p:cNvPr>
          <p:cNvSpPr/>
          <p:nvPr/>
        </p:nvSpPr>
        <p:spPr>
          <a:xfrm>
            <a:off x="1861873" y="170996"/>
            <a:ext cx="7681803" cy="2245757"/>
          </a:xfrm>
          <a:prstGeom prst="roundRect">
            <a:avLst>
              <a:gd name="adj" fmla="val 8618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endParaRPr lang="en-US" dirty="0">
              <a:solidFill>
                <a:schemeClr val="tx1"/>
              </a:solidFill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43" name="Rounded Rectangle 42">
            <a:extLst>
              <a:ext uri="{FF2B5EF4-FFF2-40B4-BE49-F238E27FC236}">
                <a16:creationId xmlns:a16="http://schemas.microsoft.com/office/drawing/2014/main" id="{75CD153B-A924-4911-9318-3E628AF3370E}"/>
              </a:ext>
            </a:extLst>
          </p:cNvPr>
          <p:cNvSpPr/>
          <p:nvPr/>
        </p:nvSpPr>
        <p:spPr>
          <a:xfrm>
            <a:off x="1093816" y="3573102"/>
            <a:ext cx="3543821" cy="2908703"/>
          </a:xfrm>
          <a:prstGeom prst="roundRect">
            <a:avLst>
              <a:gd name="adj" fmla="val 8762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endParaRPr lang="en-US" dirty="0">
              <a:solidFill>
                <a:schemeClr val="tx1"/>
              </a:solidFill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B5B07D25-717C-4A39-ECB2-90954FC14C46}"/>
              </a:ext>
            </a:extLst>
          </p:cNvPr>
          <p:cNvCxnSpPr>
            <a:cxnSpLocks/>
          </p:cNvCxnSpPr>
          <p:nvPr/>
        </p:nvCxnSpPr>
        <p:spPr>
          <a:xfrm flipV="1">
            <a:off x="1093816" y="1398730"/>
            <a:ext cx="756148" cy="605144"/>
          </a:xfrm>
          <a:prstGeom prst="straightConnector1">
            <a:avLst/>
          </a:prstGeom>
          <a:ln w="38100">
            <a:solidFill>
              <a:schemeClr val="tx2">
                <a:lumMod val="50000"/>
                <a:lumOff val="50000"/>
              </a:schemeClr>
            </a:solidFill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EE3350BC-1FD4-1F1F-D79D-5CB7E0538D4B}"/>
              </a:ext>
            </a:extLst>
          </p:cNvPr>
          <p:cNvCxnSpPr/>
          <p:nvPr/>
        </p:nvCxnSpPr>
        <p:spPr>
          <a:xfrm>
            <a:off x="6208308" y="1256260"/>
            <a:ext cx="1847508" cy="0"/>
          </a:xfrm>
          <a:prstGeom prst="straightConnector1">
            <a:avLst/>
          </a:prstGeom>
          <a:ln w="38100"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F5D0CC08-97D4-A44A-58E4-E1D59F81AC24}"/>
              </a:ext>
            </a:extLst>
          </p:cNvPr>
          <p:cNvCxnSpPr>
            <a:cxnSpLocks/>
            <a:stCxn id="16" idx="3"/>
            <a:endCxn id="11" idx="1"/>
          </p:cNvCxnSpPr>
          <p:nvPr/>
        </p:nvCxnSpPr>
        <p:spPr>
          <a:xfrm flipV="1">
            <a:off x="3322927" y="1899392"/>
            <a:ext cx="1877356" cy="2095839"/>
          </a:xfrm>
          <a:prstGeom prst="straightConnector1">
            <a:avLst/>
          </a:prstGeom>
          <a:ln w="38100">
            <a:solidFill>
              <a:schemeClr val="tx2">
                <a:lumMod val="50000"/>
                <a:lumOff val="50000"/>
              </a:schemeClr>
            </a:solidFill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B942CD5A-92F6-CD6C-DC6B-37DCB494814F}"/>
              </a:ext>
            </a:extLst>
          </p:cNvPr>
          <p:cNvCxnSpPr>
            <a:cxnSpLocks/>
            <a:stCxn id="11" idx="3"/>
            <a:endCxn id="1026" idx="1"/>
          </p:cNvCxnSpPr>
          <p:nvPr/>
        </p:nvCxnSpPr>
        <p:spPr>
          <a:xfrm>
            <a:off x="6301931" y="1899392"/>
            <a:ext cx="2851606" cy="2634034"/>
          </a:xfrm>
          <a:prstGeom prst="straightConnector1">
            <a:avLst/>
          </a:prstGeom>
          <a:ln w="38100">
            <a:solidFill>
              <a:schemeClr val="tx2">
                <a:lumMod val="50000"/>
                <a:lumOff val="50000"/>
              </a:schemeClr>
            </a:solidFill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EA1D4659-7909-3F3E-35CF-173B3AE62AC9}"/>
              </a:ext>
            </a:extLst>
          </p:cNvPr>
          <p:cNvCxnSpPr>
            <a:cxnSpLocks/>
            <a:endCxn id="10" idx="2"/>
          </p:cNvCxnSpPr>
          <p:nvPr/>
        </p:nvCxnSpPr>
        <p:spPr>
          <a:xfrm flipV="1">
            <a:off x="2864389" y="2084058"/>
            <a:ext cx="124810" cy="1584023"/>
          </a:xfrm>
          <a:prstGeom prst="straightConnector1">
            <a:avLst/>
          </a:prstGeom>
          <a:ln w="38100">
            <a:solidFill>
              <a:schemeClr val="tx2">
                <a:lumMod val="50000"/>
                <a:lumOff val="50000"/>
              </a:schemeClr>
            </a:solidFill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07F55096-E4FA-7E3C-B891-53827955A8DD}"/>
              </a:ext>
            </a:extLst>
          </p:cNvPr>
          <p:cNvSpPr txBox="1"/>
          <p:nvPr/>
        </p:nvSpPr>
        <p:spPr>
          <a:xfrm>
            <a:off x="2361335" y="2501778"/>
            <a:ext cx="1106515" cy="830997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 w="25400"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Globus</a:t>
            </a:r>
          </a:p>
          <a:p>
            <a:pPr algn="ctr"/>
            <a:r>
              <a:rPr lang="en-US" sz="12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Mount</a:t>
            </a:r>
          </a:p>
          <a:p>
            <a:pPr algn="ctr"/>
            <a:r>
              <a:rPr lang="en-US" sz="12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FileZilla (FTP)</a:t>
            </a:r>
          </a:p>
          <a:p>
            <a:pPr algn="ctr"/>
            <a:r>
              <a:rPr lang="en-US" sz="1200" dirty="0" err="1">
                <a:latin typeface="Consolas" panose="020B0609020204030204" pitchFamily="49" charset="0"/>
                <a:ea typeface="Source Sans Pro" panose="020B0503030403020204" pitchFamily="34" charset="0"/>
              </a:rPr>
              <a:t>rsync</a:t>
            </a:r>
            <a:endParaRPr lang="en-US" sz="1400" dirty="0">
              <a:latin typeface="Consolas" panose="020B0609020204030204" pitchFamily="49" charset="0"/>
              <a:ea typeface="Source Sans Pro" panose="020B0503030403020204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F511FAD-91AE-D99D-38AE-8B3AD8AA2BD7}"/>
              </a:ext>
            </a:extLst>
          </p:cNvPr>
          <p:cNvSpPr txBox="1"/>
          <p:nvPr/>
        </p:nvSpPr>
        <p:spPr>
          <a:xfrm>
            <a:off x="4021869" y="1020063"/>
            <a:ext cx="677860" cy="461665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 w="25400"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latin typeface="Consolas" panose="020B0609020204030204" pitchFamily="49" charset="0"/>
                <a:ea typeface="Source Sans Pro" panose="020B0503030403020204" pitchFamily="34" charset="0"/>
              </a:rPr>
              <a:t>cp</a:t>
            </a:r>
          </a:p>
          <a:p>
            <a:pPr algn="ctr"/>
            <a:r>
              <a:rPr lang="en-US" sz="1200" dirty="0" err="1">
                <a:latin typeface="Consolas" panose="020B0609020204030204" pitchFamily="49" charset="0"/>
                <a:ea typeface="Source Sans Pro" panose="020B0503030403020204" pitchFamily="34" charset="0"/>
              </a:rPr>
              <a:t>rsync</a:t>
            </a:r>
            <a:endParaRPr lang="en-US" sz="1400" dirty="0">
              <a:latin typeface="Consolas" panose="020B0609020204030204" pitchFamily="49" charset="0"/>
              <a:ea typeface="Source Sans Pro" panose="020B0503030403020204" pitchFamily="34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1CC595D-4827-DB20-7B7B-5E94D57EB7BA}"/>
              </a:ext>
            </a:extLst>
          </p:cNvPr>
          <p:cNvSpPr txBox="1"/>
          <p:nvPr/>
        </p:nvSpPr>
        <p:spPr>
          <a:xfrm>
            <a:off x="7377956" y="3021750"/>
            <a:ext cx="768548" cy="276999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 w="25400"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200" dirty="0" err="1">
                <a:latin typeface="Consolas" panose="020B0609020204030204" pitchFamily="49" charset="0"/>
                <a:ea typeface="Source Sans Pro" panose="020B0503030403020204" pitchFamily="34" charset="0"/>
              </a:rPr>
              <a:t>rclone</a:t>
            </a:r>
            <a:endParaRPr lang="en-US" sz="1400" dirty="0">
              <a:latin typeface="Consolas" panose="020B0609020204030204" pitchFamily="49" charset="0"/>
              <a:ea typeface="Source Sans Pro" panose="020B0503030403020204" pitchFamily="34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3F12D39-2542-04D0-52AB-DCFCD1A5269D}"/>
              </a:ext>
            </a:extLst>
          </p:cNvPr>
          <p:cNvSpPr txBox="1"/>
          <p:nvPr/>
        </p:nvSpPr>
        <p:spPr>
          <a:xfrm>
            <a:off x="3753004" y="2501777"/>
            <a:ext cx="1106515" cy="830997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 w="25400"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Globus</a:t>
            </a:r>
          </a:p>
          <a:p>
            <a:pPr algn="ctr"/>
            <a:r>
              <a:rPr lang="en-US" sz="12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Mount</a:t>
            </a:r>
          </a:p>
          <a:p>
            <a:pPr algn="ctr"/>
            <a:r>
              <a:rPr lang="en-US" sz="12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FileZilla (FTP)</a:t>
            </a:r>
          </a:p>
          <a:p>
            <a:pPr algn="ctr"/>
            <a:r>
              <a:rPr lang="en-US" sz="1200" dirty="0" err="1">
                <a:latin typeface="Consolas" panose="020B0609020204030204" pitchFamily="49" charset="0"/>
                <a:ea typeface="Source Sans Pro" panose="020B0503030403020204" pitchFamily="34" charset="0"/>
              </a:rPr>
              <a:t>rsync</a:t>
            </a:r>
            <a:endParaRPr lang="en-US" sz="1400" dirty="0">
              <a:latin typeface="Consolas" panose="020B0609020204030204" pitchFamily="49" charset="0"/>
              <a:ea typeface="Source Sans Pro" panose="020B0503030403020204" pitchFamily="34" charset="0"/>
            </a:endParaRPr>
          </a:p>
        </p:txBody>
      </p:sp>
      <p:sp>
        <p:nvSpPr>
          <p:cNvPr id="35" name="Rounded Rectangle 42">
            <a:extLst>
              <a:ext uri="{FF2B5EF4-FFF2-40B4-BE49-F238E27FC236}">
                <a16:creationId xmlns:a16="http://schemas.microsoft.com/office/drawing/2014/main" id="{B47BDC57-6463-260B-469C-9885B03E92C8}"/>
              </a:ext>
            </a:extLst>
          </p:cNvPr>
          <p:cNvSpPr/>
          <p:nvPr/>
        </p:nvSpPr>
        <p:spPr>
          <a:xfrm>
            <a:off x="6741104" y="3573102"/>
            <a:ext cx="3543821" cy="2296707"/>
          </a:xfrm>
          <a:prstGeom prst="roundRect">
            <a:avLst>
              <a:gd name="adj" fmla="val 8762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endParaRPr lang="en-US" dirty="0">
              <a:solidFill>
                <a:schemeClr val="tx1"/>
              </a:solidFill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5E734F2-C492-8BE6-566D-2E292EE4B9CC}"/>
              </a:ext>
            </a:extLst>
          </p:cNvPr>
          <p:cNvSpPr txBox="1"/>
          <p:nvPr/>
        </p:nvSpPr>
        <p:spPr>
          <a:xfrm>
            <a:off x="957731" y="1562802"/>
            <a:ext cx="1106515" cy="276999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 w="25400"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Globus</a:t>
            </a:r>
          </a:p>
        </p:txBody>
      </p:sp>
      <p:sp>
        <p:nvSpPr>
          <p:cNvPr id="24" name="Rounded Rectangle 42">
            <a:extLst>
              <a:ext uri="{FF2B5EF4-FFF2-40B4-BE49-F238E27FC236}">
                <a16:creationId xmlns:a16="http://schemas.microsoft.com/office/drawing/2014/main" id="{A7BAC6F5-77BC-76C4-0AF8-F74E835C1FD8}"/>
              </a:ext>
            </a:extLst>
          </p:cNvPr>
          <p:cNvSpPr/>
          <p:nvPr/>
        </p:nvSpPr>
        <p:spPr>
          <a:xfrm>
            <a:off x="151552" y="2038945"/>
            <a:ext cx="1496229" cy="1360551"/>
          </a:xfrm>
          <a:prstGeom prst="roundRect">
            <a:avLst>
              <a:gd name="adj" fmla="val 8762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endParaRPr lang="en-US" dirty="0">
              <a:solidFill>
                <a:schemeClr val="tx1"/>
              </a:solidFill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grpSp>
        <p:nvGrpSpPr>
          <p:cNvPr id="44" name="Group 43">
            <a:extLst>
              <a:ext uri="{FF2B5EF4-FFF2-40B4-BE49-F238E27FC236}">
                <a16:creationId xmlns:a16="http://schemas.microsoft.com/office/drawing/2014/main" id="{EE0DF752-5D7B-0811-09A5-85E63022789D}"/>
              </a:ext>
            </a:extLst>
          </p:cNvPr>
          <p:cNvGrpSpPr/>
          <p:nvPr/>
        </p:nvGrpSpPr>
        <p:grpSpPr>
          <a:xfrm>
            <a:off x="242108" y="2105666"/>
            <a:ext cx="743563" cy="695927"/>
            <a:chOff x="2170185" y="4087564"/>
            <a:chExt cx="1227579" cy="1148934"/>
          </a:xfrm>
        </p:grpSpPr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3681F2CE-6DB1-70B7-DF68-E43514F1216A}"/>
                </a:ext>
              </a:extLst>
            </p:cNvPr>
            <p:cNvSpPr txBox="1"/>
            <p:nvPr/>
          </p:nvSpPr>
          <p:spPr>
            <a:xfrm>
              <a:off x="2170185" y="4817298"/>
              <a:ext cx="1227579" cy="4192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50" dirty="0">
                  <a:latin typeface="Source Sans Pro" panose="020B0503030403020204" pitchFamily="34" charset="0"/>
                  <a:ea typeface="Source Sans Pro" panose="020B0503030403020204" pitchFamily="34" charset="0"/>
                </a:rPr>
                <a:t>computer</a:t>
              </a:r>
            </a:p>
          </p:txBody>
        </p:sp>
        <p:pic>
          <p:nvPicPr>
            <p:cNvPr id="46" name="Graphic 45" descr="Computer with solid fill">
              <a:extLst>
                <a:ext uri="{FF2B5EF4-FFF2-40B4-BE49-F238E27FC236}">
                  <a16:creationId xmlns:a16="http://schemas.microsoft.com/office/drawing/2014/main" id="{200FA7ED-463C-7403-FF3D-F078C945BFFD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2293657" y="4087564"/>
              <a:ext cx="914400" cy="914400"/>
            </a:xfrm>
            <a:prstGeom prst="rect">
              <a:avLst/>
            </a:prstGeom>
          </p:spPr>
        </p:pic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535FD516-4478-830E-C3A9-2B85A2BCEE6F}"/>
              </a:ext>
            </a:extLst>
          </p:cNvPr>
          <p:cNvGrpSpPr/>
          <p:nvPr/>
        </p:nvGrpSpPr>
        <p:grpSpPr>
          <a:xfrm>
            <a:off x="960851" y="2105666"/>
            <a:ext cx="572593" cy="731053"/>
            <a:chOff x="5643892" y="387638"/>
            <a:chExt cx="1079917" cy="1378776"/>
          </a:xfrm>
        </p:grpSpPr>
        <p:pic>
          <p:nvPicPr>
            <p:cNvPr id="51" name="Graphic 50" descr="Server with solid fill">
              <a:extLst>
                <a:ext uri="{FF2B5EF4-FFF2-40B4-BE49-F238E27FC236}">
                  <a16:creationId xmlns:a16="http://schemas.microsoft.com/office/drawing/2014/main" id="{E98C1AEA-EC3D-3355-549D-AED745A64BB1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tretch>
              <a:fillRect/>
            </a:stretch>
          </p:blipFill>
          <p:spPr>
            <a:xfrm>
              <a:off x="5737516" y="387638"/>
              <a:ext cx="914400" cy="914400"/>
            </a:xfrm>
            <a:prstGeom prst="rect">
              <a:avLst/>
            </a:prstGeom>
          </p:spPr>
        </p:pic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8A82B9F9-D412-1C9F-5247-CF5E03C0A37E}"/>
                </a:ext>
              </a:extLst>
            </p:cNvPr>
            <p:cNvSpPr txBox="1"/>
            <p:nvPr/>
          </p:nvSpPr>
          <p:spPr>
            <a:xfrm>
              <a:off x="5643892" y="1302038"/>
              <a:ext cx="1079917" cy="46437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dirty="0"/>
                <a:t>cluster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790759280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4E0E11-91A6-6D20-5E39-E0668C63CB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67665F77-996D-540A-6AE6-C6E9F54F748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6D42FE1-1FEA-4F79-A5FF-04823279422C}"/>
              </a:ext>
            </a:extLst>
          </p:cNvPr>
          <p:cNvSpPr txBox="1"/>
          <p:nvPr/>
        </p:nvSpPr>
        <p:spPr>
          <a:xfrm>
            <a:off x="0" y="1674048"/>
            <a:ext cx="12192000" cy="646331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Viewing and editing files on the cluster</a:t>
            </a:r>
            <a:endParaRPr lang="en-US" sz="3600" dirty="0">
              <a:latin typeface="Consolas" panose="020B0609020204030204" pitchFamily="49" charset="0"/>
              <a:ea typeface="Source Sans Pro" panose="020B0503030403020204" pitchFamily="34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9D5E656-88A6-5C60-A8CE-284CFD569C7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18344" y="2320379"/>
            <a:ext cx="5155312" cy="31723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8119471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7AB0BE-813C-6880-0BE9-3BB91320A9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516BA0-9FBA-592C-37FD-54C3872032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2583" y="122185"/>
            <a:ext cx="10515600" cy="1325563"/>
          </a:xfrm>
        </p:spPr>
        <p:txBody>
          <a:bodyPr/>
          <a:lstStyle/>
          <a:p>
            <a:r>
              <a:rPr lang="en-US" dirty="0"/>
              <a:t>In-terminal text editors and viewers: </a:t>
            </a:r>
            <a:r>
              <a:rPr lang="en-US" dirty="0">
                <a:latin typeface="Consolas" panose="020B0609020204030204" pitchFamily="49" charset="0"/>
              </a:rPr>
              <a:t>nano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CBB1962-43BC-8575-CFD4-07E052A064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583" y="2880656"/>
            <a:ext cx="4684612" cy="1096686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75893093-674E-597E-4EE6-F624D446C290}"/>
              </a:ext>
            </a:extLst>
          </p:cNvPr>
          <p:cNvSpPr txBox="1"/>
          <p:nvPr/>
        </p:nvSpPr>
        <p:spPr>
          <a:xfrm>
            <a:off x="341748" y="4216828"/>
            <a:ext cx="4246281" cy="1754326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25400">
            <a:round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880005"/>
                      <a:gd name="csY0" fmla="*/ 0 h 369332"/>
                      <a:gd name="csX1" fmla="*/ 457603 w 880005"/>
                      <a:gd name="csY1" fmla="*/ 0 h 369332"/>
                      <a:gd name="csX2" fmla="*/ 880005 w 880005"/>
                      <a:gd name="csY2" fmla="*/ 0 h 369332"/>
                      <a:gd name="csX3" fmla="*/ 880005 w 880005"/>
                      <a:gd name="csY3" fmla="*/ 369332 h 369332"/>
                      <a:gd name="csX4" fmla="*/ 448803 w 880005"/>
                      <a:gd name="csY4" fmla="*/ 369332 h 369332"/>
                      <a:gd name="csX5" fmla="*/ 0 w 880005"/>
                      <a:gd name="csY5" fmla="*/ 369332 h 369332"/>
                      <a:gd name="csX6" fmla="*/ 0 w 880005"/>
                      <a:gd name="csY6" fmla="*/ 0 h 36933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880005" h="369332" fill="none" extrusionOk="0">
                        <a:moveTo>
                          <a:pt x="0" y="0"/>
                        </a:moveTo>
                        <a:cubicBezTo>
                          <a:pt x="201900" y="-37713"/>
                          <a:pt x="351525" y="28891"/>
                          <a:pt x="457603" y="0"/>
                        </a:cubicBezTo>
                        <a:cubicBezTo>
                          <a:pt x="563681" y="-28891"/>
                          <a:pt x="722276" y="45370"/>
                          <a:pt x="880005" y="0"/>
                        </a:cubicBezTo>
                        <a:cubicBezTo>
                          <a:pt x="881535" y="150881"/>
                          <a:pt x="877252" y="222968"/>
                          <a:pt x="880005" y="369332"/>
                        </a:cubicBezTo>
                        <a:cubicBezTo>
                          <a:pt x="708206" y="372227"/>
                          <a:pt x="628419" y="331255"/>
                          <a:pt x="448803" y="369332"/>
                        </a:cubicBezTo>
                        <a:cubicBezTo>
                          <a:pt x="269187" y="407409"/>
                          <a:pt x="91315" y="362225"/>
                          <a:pt x="0" y="369332"/>
                        </a:cubicBezTo>
                        <a:cubicBezTo>
                          <a:pt x="-23840" y="235268"/>
                          <a:pt x="5511" y="129660"/>
                          <a:pt x="0" y="0"/>
                        </a:cubicBezTo>
                        <a:close/>
                      </a:path>
                      <a:path w="880005" h="369332" stroke="0" extrusionOk="0">
                        <a:moveTo>
                          <a:pt x="0" y="0"/>
                        </a:moveTo>
                        <a:cubicBezTo>
                          <a:pt x="142253" y="-32936"/>
                          <a:pt x="247997" y="27122"/>
                          <a:pt x="431202" y="0"/>
                        </a:cubicBezTo>
                        <a:cubicBezTo>
                          <a:pt x="614407" y="-27122"/>
                          <a:pt x="677258" y="29720"/>
                          <a:pt x="880005" y="0"/>
                        </a:cubicBezTo>
                        <a:cubicBezTo>
                          <a:pt x="907968" y="78977"/>
                          <a:pt x="849581" y="271296"/>
                          <a:pt x="880005" y="369332"/>
                        </a:cubicBezTo>
                        <a:cubicBezTo>
                          <a:pt x="724165" y="412455"/>
                          <a:pt x="639134" y="357050"/>
                          <a:pt x="440003" y="369332"/>
                        </a:cubicBezTo>
                        <a:cubicBezTo>
                          <a:pt x="240872" y="381614"/>
                          <a:pt x="202949" y="346116"/>
                          <a:pt x="0" y="369332"/>
                        </a:cubicBezTo>
                        <a:cubicBezTo>
                          <a:pt x="-6017" y="217080"/>
                          <a:pt x="5246" y="88445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Consolas" panose="020B0609020204030204" pitchFamily="49" charset="0"/>
                <a:ea typeface="Source Sans Pro" panose="020B0503030403020204" pitchFamily="34" charset="0"/>
              </a:rPr>
              <a:t>nano</a:t>
            </a:r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 is a command line text-editor invoked by typing:</a:t>
            </a:r>
          </a:p>
          <a:p>
            <a:pPr algn="ctr"/>
            <a:endParaRPr lang="en-US" b="1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  <a:p>
            <a:pPr algn="ctr"/>
            <a:r>
              <a:rPr lang="en-US" b="1" dirty="0">
                <a:latin typeface="Consolas" panose="020B0609020204030204" pitchFamily="49" charset="0"/>
                <a:ea typeface="Source Sans Pro" panose="020B0503030403020204" pitchFamily="34" charset="0"/>
              </a:rPr>
              <a:t>nano &lt;filename or path&gt;</a:t>
            </a:r>
          </a:p>
          <a:p>
            <a:pPr algn="ctr"/>
            <a:endParaRPr lang="en-US" b="1" dirty="0">
              <a:latin typeface="Consolas" panose="020B0609020204030204" pitchFamily="49" charset="0"/>
              <a:ea typeface="Source Sans Pro" panose="020B0503030403020204" pitchFamily="34" charset="0"/>
            </a:endParaRPr>
          </a:p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And then hitting Enter.</a:t>
            </a:r>
          </a:p>
        </p:txBody>
      </p:sp>
    </p:spTree>
    <p:extLst>
      <p:ext uri="{BB962C8B-B14F-4D97-AF65-F5344CB8AC3E}">
        <p14:creationId xmlns:p14="http://schemas.microsoft.com/office/powerpoint/2010/main" val="1155827645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5D1F4D-9097-5D72-94FD-D6AA1DB7B8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391C5-2968-26C3-7D19-EBE224EEA6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2583" y="122185"/>
            <a:ext cx="10515600" cy="1325563"/>
          </a:xfrm>
        </p:spPr>
        <p:txBody>
          <a:bodyPr/>
          <a:lstStyle/>
          <a:p>
            <a:r>
              <a:rPr lang="en-US" dirty="0"/>
              <a:t>In-terminal text editors and viewers: </a:t>
            </a:r>
            <a:r>
              <a:rPr lang="en-US" dirty="0">
                <a:latin typeface="Consolas" panose="020B0609020204030204" pitchFamily="49" charset="0"/>
              </a:rPr>
              <a:t>nano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D9DEFB2-72A3-C37D-EFD4-98A08FD34D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583" y="2880656"/>
            <a:ext cx="4684612" cy="1096686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BB05E78A-F70D-3410-6DED-A12AB416D36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21093" y="1244409"/>
            <a:ext cx="5771378" cy="5613591"/>
          </a:xfrm>
          <a:prstGeom prst="rect">
            <a:avLst/>
          </a:prstGeom>
        </p:spPr>
      </p:pic>
      <p:sp>
        <p:nvSpPr>
          <p:cNvPr id="8" name="Arrow: Right 7">
            <a:extLst>
              <a:ext uri="{FF2B5EF4-FFF2-40B4-BE49-F238E27FC236}">
                <a16:creationId xmlns:a16="http://schemas.microsoft.com/office/drawing/2014/main" id="{D3B0C101-835E-A8E1-56C7-6BE71E4C1057}"/>
              </a:ext>
            </a:extLst>
          </p:cNvPr>
          <p:cNvSpPr/>
          <p:nvPr/>
        </p:nvSpPr>
        <p:spPr>
          <a:xfrm>
            <a:off x="5023400" y="3233529"/>
            <a:ext cx="981487" cy="390939"/>
          </a:xfrm>
          <a:prstGeom prst="rightArrow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4FDA0B5-45CA-C1B6-C94E-069C8013EB89}"/>
              </a:ext>
            </a:extLst>
          </p:cNvPr>
          <p:cNvSpPr txBox="1"/>
          <p:nvPr/>
        </p:nvSpPr>
        <p:spPr>
          <a:xfrm>
            <a:off x="341748" y="4216828"/>
            <a:ext cx="4246281" cy="2308324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25400">
            <a:round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880005"/>
                      <a:gd name="csY0" fmla="*/ 0 h 369332"/>
                      <a:gd name="csX1" fmla="*/ 457603 w 880005"/>
                      <a:gd name="csY1" fmla="*/ 0 h 369332"/>
                      <a:gd name="csX2" fmla="*/ 880005 w 880005"/>
                      <a:gd name="csY2" fmla="*/ 0 h 369332"/>
                      <a:gd name="csX3" fmla="*/ 880005 w 880005"/>
                      <a:gd name="csY3" fmla="*/ 369332 h 369332"/>
                      <a:gd name="csX4" fmla="*/ 448803 w 880005"/>
                      <a:gd name="csY4" fmla="*/ 369332 h 369332"/>
                      <a:gd name="csX5" fmla="*/ 0 w 880005"/>
                      <a:gd name="csY5" fmla="*/ 369332 h 369332"/>
                      <a:gd name="csX6" fmla="*/ 0 w 880005"/>
                      <a:gd name="csY6" fmla="*/ 0 h 36933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880005" h="369332" fill="none" extrusionOk="0">
                        <a:moveTo>
                          <a:pt x="0" y="0"/>
                        </a:moveTo>
                        <a:cubicBezTo>
                          <a:pt x="201900" y="-37713"/>
                          <a:pt x="351525" y="28891"/>
                          <a:pt x="457603" y="0"/>
                        </a:cubicBezTo>
                        <a:cubicBezTo>
                          <a:pt x="563681" y="-28891"/>
                          <a:pt x="722276" y="45370"/>
                          <a:pt x="880005" y="0"/>
                        </a:cubicBezTo>
                        <a:cubicBezTo>
                          <a:pt x="881535" y="150881"/>
                          <a:pt x="877252" y="222968"/>
                          <a:pt x="880005" y="369332"/>
                        </a:cubicBezTo>
                        <a:cubicBezTo>
                          <a:pt x="708206" y="372227"/>
                          <a:pt x="628419" y="331255"/>
                          <a:pt x="448803" y="369332"/>
                        </a:cubicBezTo>
                        <a:cubicBezTo>
                          <a:pt x="269187" y="407409"/>
                          <a:pt x="91315" y="362225"/>
                          <a:pt x="0" y="369332"/>
                        </a:cubicBezTo>
                        <a:cubicBezTo>
                          <a:pt x="-23840" y="235268"/>
                          <a:pt x="5511" y="129660"/>
                          <a:pt x="0" y="0"/>
                        </a:cubicBezTo>
                        <a:close/>
                      </a:path>
                      <a:path w="880005" h="369332" stroke="0" extrusionOk="0">
                        <a:moveTo>
                          <a:pt x="0" y="0"/>
                        </a:moveTo>
                        <a:cubicBezTo>
                          <a:pt x="142253" y="-32936"/>
                          <a:pt x="247997" y="27122"/>
                          <a:pt x="431202" y="0"/>
                        </a:cubicBezTo>
                        <a:cubicBezTo>
                          <a:pt x="614407" y="-27122"/>
                          <a:pt x="677258" y="29720"/>
                          <a:pt x="880005" y="0"/>
                        </a:cubicBezTo>
                        <a:cubicBezTo>
                          <a:pt x="907968" y="78977"/>
                          <a:pt x="849581" y="271296"/>
                          <a:pt x="880005" y="369332"/>
                        </a:cubicBezTo>
                        <a:cubicBezTo>
                          <a:pt x="724165" y="412455"/>
                          <a:pt x="639134" y="357050"/>
                          <a:pt x="440003" y="369332"/>
                        </a:cubicBezTo>
                        <a:cubicBezTo>
                          <a:pt x="240872" y="381614"/>
                          <a:pt x="202949" y="346116"/>
                          <a:pt x="0" y="369332"/>
                        </a:cubicBezTo>
                        <a:cubicBezTo>
                          <a:pt x="-6017" y="217080"/>
                          <a:pt x="5246" y="88445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Consolas" panose="020B0609020204030204" pitchFamily="49" charset="0"/>
                <a:ea typeface="Source Sans Pro" panose="020B0503030403020204" pitchFamily="34" charset="0"/>
              </a:rPr>
              <a:t>nano</a:t>
            </a:r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 is a command line text-editor invoked by typing:</a:t>
            </a:r>
          </a:p>
          <a:p>
            <a:pPr algn="ctr"/>
            <a:endParaRPr lang="en-US" b="1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  <a:p>
            <a:pPr algn="ctr"/>
            <a:r>
              <a:rPr lang="en-US" b="1" dirty="0">
                <a:latin typeface="Consolas" panose="020B0609020204030204" pitchFamily="49" charset="0"/>
                <a:ea typeface="Source Sans Pro" panose="020B0503030403020204" pitchFamily="34" charset="0"/>
              </a:rPr>
              <a:t>nano &lt;filename or path&gt;</a:t>
            </a:r>
          </a:p>
          <a:p>
            <a:pPr algn="ctr"/>
            <a:endParaRPr lang="en-US" b="1" dirty="0">
              <a:latin typeface="Consolas" panose="020B0609020204030204" pitchFamily="49" charset="0"/>
              <a:ea typeface="Source Sans Pro" panose="020B0503030403020204" pitchFamily="34" charset="0"/>
            </a:endParaRPr>
          </a:p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And then hitting Enter.</a:t>
            </a:r>
          </a:p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This will change the entire terminal interface to the text editor.</a:t>
            </a:r>
          </a:p>
        </p:txBody>
      </p:sp>
    </p:spTree>
    <p:extLst>
      <p:ext uri="{BB962C8B-B14F-4D97-AF65-F5344CB8AC3E}">
        <p14:creationId xmlns:p14="http://schemas.microsoft.com/office/powerpoint/2010/main" val="1829577116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6F23F7-78B3-7AE9-B037-AB4A0B1384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4A95C5A-48E8-392A-C568-2874ABAD77D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26667" y="1244409"/>
            <a:ext cx="5765804" cy="561359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1528FB8-FDBD-AA7B-66CD-F04F3A79E8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2583" y="122185"/>
            <a:ext cx="10515600" cy="1325563"/>
          </a:xfrm>
        </p:spPr>
        <p:txBody>
          <a:bodyPr/>
          <a:lstStyle/>
          <a:p>
            <a:r>
              <a:rPr lang="en-US" dirty="0"/>
              <a:t>In-terminal text editors and viewers: </a:t>
            </a:r>
            <a:r>
              <a:rPr lang="en-US" dirty="0">
                <a:latin typeface="Consolas" panose="020B0609020204030204" pitchFamily="49" charset="0"/>
              </a:rPr>
              <a:t>nano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2307F08-502D-972A-42C1-2BDEAD0F38F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2583" y="2880656"/>
            <a:ext cx="4684612" cy="1096686"/>
          </a:xfrm>
          <a:prstGeom prst="rect">
            <a:avLst/>
          </a:prstGeom>
        </p:spPr>
      </p:pic>
      <p:sp>
        <p:nvSpPr>
          <p:cNvPr id="8" name="Arrow: Right 7">
            <a:extLst>
              <a:ext uri="{FF2B5EF4-FFF2-40B4-BE49-F238E27FC236}">
                <a16:creationId xmlns:a16="http://schemas.microsoft.com/office/drawing/2014/main" id="{2A2F458C-522C-C002-F0C5-A5F165F8851D}"/>
              </a:ext>
            </a:extLst>
          </p:cNvPr>
          <p:cNvSpPr/>
          <p:nvPr/>
        </p:nvSpPr>
        <p:spPr>
          <a:xfrm>
            <a:off x="5023400" y="3233529"/>
            <a:ext cx="981487" cy="390939"/>
          </a:xfrm>
          <a:prstGeom prst="rightArrow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DBA33FF-2837-6143-4F6A-2E9AD9453174}"/>
              </a:ext>
            </a:extLst>
          </p:cNvPr>
          <p:cNvSpPr txBox="1"/>
          <p:nvPr/>
        </p:nvSpPr>
        <p:spPr>
          <a:xfrm>
            <a:off x="341748" y="4216828"/>
            <a:ext cx="4246281" cy="923330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25400">
            <a:round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880005"/>
                      <a:gd name="csY0" fmla="*/ 0 h 369332"/>
                      <a:gd name="csX1" fmla="*/ 457603 w 880005"/>
                      <a:gd name="csY1" fmla="*/ 0 h 369332"/>
                      <a:gd name="csX2" fmla="*/ 880005 w 880005"/>
                      <a:gd name="csY2" fmla="*/ 0 h 369332"/>
                      <a:gd name="csX3" fmla="*/ 880005 w 880005"/>
                      <a:gd name="csY3" fmla="*/ 369332 h 369332"/>
                      <a:gd name="csX4" fmla="*/ 448803 w 880005"/>
                      <a:gd name="csY4" fmla="*/ 369332 h 369332"/>
                      <a:gd name="csX5" fmla="*/ 0 w 880005"/>
                      <a:gd name="csY5" fmla="*/ 369332 h 369332"/>
                      <a:gd name="csX6" fmla="*/ 0 w 880005"/>
                      <a:gd name="csY6" fmla="*/ 0 h 36933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880005" h="369332" fill="none" extrusionOk="0">
                        <a:moveTo>
                          <a:pt x="0" y="0"/>
                        </a:moveTo>
                        <a:cubicBezTo>
                          <a:pt x="201900" y="-37713"/>
                          <a:pt x="351525" y="28891"/>
                          <a:pt x="457603" y="0"/>
                        </a:cubicBezTo>
                        <a:cubicBezTo>
                          <a:pt x="563681" y="-28891"/>
                          <a:pt x="722276" y="45370"/>
                          <a:pt x="880005" y="0"/>
                        </a:cubicBezTo>
                        <a:cubicBezTo>
                          <a:pt x="881535" y="150881"/>
                          <a:pt x="877252" y="222968"/>
                          <a:pt x="880005" y="369332"/>
                        </a:cubicBezTo>
                        <a:cubicBezTo>
                          <a:pt x="708206" y="372227"/>
                          <a:pt x="628419" y="331255"/>
                          <a:pt x="448803" y="369332"/>
                        </a:cubicBezTo>
                        <a:cubicBezTo>
                          <a:pt x="269187" y="407409"/>
                          <a:pt x="91315" y="362225"/>
                          <a:pt x="0" y="369332"/>
                        </a:cubicBezTo>
                        <a:cubicBezTo>
                          <a:pt x="-23840" y="235268"/>
                          <a:pt x="5511" y="129660"/>
                          <a:pt x="0" y="0"/>
                        </a:cubicBezTo>
                        <a:close/>
                      </a:path>
                      <a:path w="880005" h="369332" stroke="0" extrusionOk="0">
                        <a:moveTo>
                          <a:pt x="0" y="0"/>
                        </a:moveTo>
                        <a:cubicBezTo>
                          <a:pt x="142253" y="-32936"/>
                          <a:pt x="247997" y="27122"/>
                          <a:pt x="431202" y="0"/>
                        </a:cubicBezTo>
                        <a:cubicBezTo>
                          <a:pt x="614407" y="-27122"/>
                          <a:pt x="677258" y="29720"/>
                          <a:pt x="880005" y="0"/>
                        </a:cubicBezTo>
                        <a:cubicBezTo>
                          <a:pt x="907968" y="78977"/>
                          <a:pt x="849581" y="271296"/>
                          <a:pt x="880005" y="369332"/>
                        </a:cubicBezTo>
                        <a:cubicBezTo>
                          <a:pt x="724165" y="412455"/>
                          <a:pt x="639134" y="357050"/>
                          <a:pt x="440003" y="369332"/>
                        </a:cubicBezTo>
                        <a:cubicBezTo>
                          <a:pt x="240872" y="381614"/>
                          <a:pt x="202949" y="346116"/>
                          <a:pt x="0" y="369332"/>
                        </a:cubicBezTo>
                        <a:cubicBezTo>
                          <a:pt x="-6017" y="217080"/>
                          <a:pt x="5246" y="88445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Within the </a:t>
            </a:r>
            <a:r>
              <a:rPr lang="en-US" dirty="0">
                <a:latin typeface="Consolas" panose="020B0609020204030204" pitchFamily="49" charset="0"/>
                <a:ea typeface="Source Sans Pro" panose="020B0503030403020204" pitchFamily="34" charset="0"/>
              </a:rPr>
              <a:t>nano</a:t>
            </a:r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 editor, you can enter any text. You could even manually enter formatted text or code!</a:t>
            </a:r>
          </a:p>
        </p:txBody>
      </p:sp>
    </p:spTree>
    <p:extLst>
      <p:ext uri="{BB962C8B-B14F-4D97-AF65-F5344CB8AC3E}">
        <p14:creationId xmlns:p14="http://schemas.microsoft.com/office/powerpoint/2010/main" val="228790675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34C954-DDAA-DDD8-D54C-31518C8F3C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3BD0DF3-98E8-D478-48F3-62996D026E9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26667" y="1244409"/>
            <a:ext cx="5765804" cy="561359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380C5CB-F63A-F104-52E0-FCB5E88B7E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2583" y="122185"/>
            <a:ext cx="10515600" cy="1325563"/>
          </a:xfrm>
        </p:spPr>
        <p:txBody>
          <a:bodyPr/>
          <a:lstStyle/>
          <a:p>
            <a:r>
              <a:rPr lang="en-US" dirty="0"/>
              <a:t>In-terminal text editors and viewers: </a:t>
            </a:r>
            <a:r>
              <a:rPr lang="en-US" dirty="0">
                <a:latin typeface="Consolas" panose="020B0609020204030204" pitchFamily="49" charset="0"/>
              </a:rPr>
              <a:t>nano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43DBFFC-D3DC-D3FA-9A9C-35637447707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2583" y="2880656"/>
            <a:ext cx="4684612" cy="1096686"/>
          </a:xfrm>
          <a:prstGeom prst="rect">
            <a:avLst/>
          </a:prstGeom>
        </p:spPr>
      </p:pic>
      <p:sp>
        <p:nvSpPr>
          <p:cNvPr id="8" name="Arrow: Right 7">
            <a:extLst>
              <a:ext uri="{FF2B5EF4-FFF2-40B4-BE49-F238E27FC236}">
                <a16:creationId xmlns:a16="http://schemas.microsoft.com/office/drawing/2014/main" id="{8A43B195-540A-2075-E8A6-02762D97A9EF}"/>
              </a:ext>
            </a:extLst>
          </p:cNvPr>
          <p:cNvSpPr/>
          <p:nvPr/>
        </p:nvSpPr>
        <p:spPr>
          <a:xfrm>
            <a:off x="5023400" y="3233529"/>
            <a:ext cx="981487" cy="390939"/>
          </a:xfrm>
          <a:prstGeom prst="rightArrow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394C066-63DF-D306-618E-02FEBD279422}"/>
              </a:ext>
            </a:extLst>
          </p:cNvPr>
          <p:cNvSpPr txBox="1"/>
          <p:nvPr/>
        </p:nvSpPr>
        <p:spPr>
          <a:xfrm>
            <a:off x="341748" y="4216828"/>
            <a:ext cx="4246281" cy="923330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25400">
            <a:round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880005"/>
                      <a:gd name="csY0" fmla="*/ 0 h 369332"/>
                      <a:gd name="csX1" fmla="*/ 457603 w 880005"/>
                      <a:gd name="csY1" fmla="*/ 0 h 369332"/>
                      <a:gd name="csX2" fmla="*/ 880005 w 880005"/>
                      <a:gd name="csY2" fmla="*/ 0 h 369332"/>
                      <a:gd name="csX3" fmla="*/ 880005 w 880005"/>
                      <a:gd name="csY3" fmla="*/ 369332 h 369332"/>
                      <a:gd name="csX4" fmla="*/ 448803 w 880005"/>
                      <a:gd name="csY4" fmla="*/ 369332 h 369332"/>
                      <a:gd name="csX5" fmla="*/ 0 w 880005"/>
                      <a:gd name="csY5" fmla="*/ 369332 h 369332"/>
                      <a:gd name="csX6" fmla="*/ 0 w 880005"/>
                      <a:gd name="csY6" fmla="*/ 0 h 36933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880005" h="369332" fill="none" extrusionOk="0">
                        <a:moveTo>
                          <a:pt x="0" y="0"/>
                        </a:moveTo>
                        <a:cubicBezTo>
                          <a:pt x="201900" y="-37713"/>
                          <a:pt x="351525" y="28891"/>
                          <a:pt x="457603" y="0"/>
                        </a:cubicBezTo>
                        <a:cubicBezTo>
                          <a:pt x="563681" y="-28891"/>
                          <a:pt x="722276" y="45370"/>
                          <a:pt x="880005" y="0"/>
                        </a:cubicBezTo>
                        <a:cubicBezTo>
                          <a:pt x="881535" y="150881"/>
                          <a:pt x="877252" y="222968"/>
                          <a:pt x="880005" y="369332"/>
                        </a:cubicBezTo>
                        <a:cubicBezTo>
                          <a:pt x="708206" y="372227"/>
                          <a:pt x="628419" y="331255"/>
                          <a:pt x="448803" y="369332"/>
                        </a:cubicBezTo>
                        <a:cubicBezTo>
                          <a:pt x="269187" y="407409"/>
                          <a:pt x="91315" y="362225"/>
                          <a:pt x="0" y="369332"/>
                        </a:cubicBezTo>
                        <a:cubicBezTo>
                          <a:pt x="-23840" y="235268"/>
                          <a:pt x="5511" y="129660"/>
                          <a:pt x="0" y="0"/>
                        </a:cubicBezTo>
                        <a:close/>
                      </a:path>
                      <a:path w="880005" h="369332" stroke="0" extrusionOk="0">
                        <a:moveTo>
                          <a:pt x="0" y="0"/>
                        </a:moveTo>
                        <a:cubicBezTo>
                          <a:pt x="142253" y="-32936"/>
                          <a:pt x="247997" y="27122"/>
                          <a:pt x="431202" y="0"/>
                        </a:cubicBezTo>
                        <a:cubicBezTo>
                          <a:pt x="614407" y="-27122"/>
                          <a:pt x="677258" y="29720"/>
                          <a:pt x="880005" y="0"/>
                        </a:cubicBezTo>
                        <a:cubicBezTo>
                          <a:pt x="907968" y="78977"/>
                          <a:pt x="849581" y="271296"/>
                          <a:pt x="880005" y="369332"/>
                        </a:cubicBezTo>
                        <a:cubicBezTo>
                          <a:pt x="724165" y="412455"/>
                          <a:pt x="639134" y="357050"/>
                          <a:pt x="440003" y="369332"/>
                        </a:cubicBezTo>
                        <a:cubicBezTo>
                          <a:pt x="240872" y="381614"/>
                          <a:pt x="202949" y="346116"/>
                          <a:pt x="0" y="369332"/>
                        </a:cubicBezTo>
                        <a:cubicBezTo>
                          <a:pt x="-6017" y="217080"/>
                          <a:pt x="5246" y="88445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Within the </a:t>
            </a:r>
            <a:r>
              <a:rPr lang="en-US" dirty="0">
                <a:latin typeface="Consolas" panose="020B0609020204030204" pitchFamily="49" charset="0"/>
                <a:ea typeface="Source Sans Pro" panose="020B0503030403020204" pitchFamily="34" charset="0"/>
              </a:rPr>
              <a:t>nano</a:t>
            </a:r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 editor, you can enter any text. You could even manually enter formatted text or code!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C75A281-A2D0-DC5E-D382-68467017CA88}"/>
              </a:ext>
            </a:extLst>
          </p:cNvPr>
          <p:cNvSpPr txBox="1"/>
          <p:nvPr/>
        </p:nvSpPr>
        <p:spPr>
          <a:xfrm>
            <a:off x="341747" y="5410250"/>
            <a:ext cx="4246281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25400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880005"/>
                      <a:gd name="csY0" fmla="*/ 0 h 369332"/>
                      <a:gd name="csX1" fmla="*/ 457603 w 880005"/>
                      <a:gd name="csY1" fmla="*/ 0 h 369332"/>
                      <a:gd name="csX2" fmla="*/ 880005 w 880005"/>
                      <a:gd name="csY2" fmla="*/ 0 h 369332"/>
                      <a:gd name="csX3" fmla="*/ 880005 w 880005"/>
                      <a:gd name="csY3" fmla="*/ 369332 h 369332"/>
                      <a:gd name="csX4" fmla="*/ 448803 w 880005"/>
                      <a:gd name="csY4" fmla="*/ 369332 h 369332"/>
                      <a:gd name="csX5" fmla="*/ 0 w 880005"/>
                      <a:gd name="csY5" fmla="*/ 369332 h 369332"/>
                      <a:gd name="csX6" fmla="*/ 0 w 880005"/>
                      <a:gd name="csY6" fmla="*/ 0 h 36933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880005" h="369332" fill="none" extrusionOk="0">
                        <a:moveTo>
                          <a:pt x="0" y="0"/>
                        </a:moveTo>
                        <a:cubicBezTo>
                          <a:pt x="201900" y="-37713"/>
                          <a:pt x="351525" y="28891"/>
                          <a:pt x="457603" y="0"/>
                        </a:cubicBezTo>
                        <a:cubicBezTo>
                          <a:pt x="563681" y="-28891"/>
                          <a:pt x="722276" y="45370"/>
                          <a:pt x="880005" y="0"/>
                        </a:cubicBezTo>
                        <a:cubicBezTo>
                          <a:pt x="881535" y="150881"/>
                          <a:pt x="877252" y="222968"/>
                          <a:pt x="880005" y="369332"/>
                        </a:cubicBezTo>
                        <a:cubicBezTo>
                          <a:pt x="708206" y="372227"/>
                          <a:pt x="628419" y="331255"/>
                          <a:pt x="448803" y="369332"/>
                        </a:cubicBezTo>
                        <a:cubicBezTo>
                          <a:pt x="269187" y="407409"/>
                          <a:pt x="91315" y="362225"/>
                          <a:pt x="0" y="369332"/>
                        </a:cubicBezTo>
                        <a:cubicBezTo>
                          <a:pt x="-23840" y="235268"/>
                          <a:pt x="5511" y="129660"/>
                          <a:pt x="0" y="0"/>
                        </a:cubicBezTo>
                        <a:close/>
                      </a:path>
                      <a:path w="880005" h="369332" stroke="0" extrusionOk="0">
                        <a:moveTo>
                          <a:pt x="0" y="0"/>
                        </a:moveTo>
                        <a:cubicBezTo>
                          <a:pt x="142253" y="-32936"/>
                          <a:pt x="247997" y="27122"/>
                          <a:pt x="431202" y="0"/>
                        </a:cubicBezTo>
                        <a:cubicBezTo>
                          <a:pt x="614407" y="-27122"/>
                          <a:pt x="677258" y="29720"/>
                          <a:pt x="880005" y="0"/>
                        </a:cubicBezTo>
                        <a:cubicBezTo>
                          <a:pt x="907968" y="78977"/>
                          <a:pt x="849581" y="271296"/>
                          <a:pt x="880005" y="369332"/>
                        </a:cubicBezTo>
                        <a:cubicBezTo>
                          <a:pt x="724165" y="412455"/>
                          <a:pt x="639134" y="357050"/>
                          <a:pt x="440003" y="369332"/>
                        </a:cubicBezTo>
                        <a:cubicBezTo>
                          <a:pt x="240872" y="381614"/>
                          <a:pt x="202949" y="346116"/>
                          <a:pt x="0" y="369332"/>
                        </a:cubicBezTo>
                        <a:cubicBezTo>
                          <a:pt x="-6017" y="217080"/>
                          <a:pt x="5246" y="88445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Tedious to navigate lines and hard to view large files.</a:t>
            </a:r>
          </a:p>
          <a:p>
            <a:pPr algn="ctr"/>
            <a:endParaRPr lang="en-US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Best for quick and small edits.</a:t>
            </a:r>
          </a:p>
        </p:txBody>
      </p:sp>
    </p:spTree>
    <p:extLst>
      <p:ext uri="{BB962C8B-B14F-4D97-AF65-F5344CB8AC3E}">
        <p14:creationId xmlns:p14="http://schemas.microsoft.com/office/powerpoint/2010/main" val="4017398430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3E02E2-E143-6682-9275-E3A3531904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17CE56A3-38E6-5F47-2A85-C3C67671A2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26667" y="1244409"/>
            <a:ext cx="5765804" cy="561359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CE9467D-C5D2-73FD-2A12-B1B2C8A85C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2583" y="122185"/>
            <a:ext cx="10515600" cy="1325563"/>
          </a:xfrm>
        </p:spPr>
        <p:txBody>
          <a:bodyPr/>
          <a:lstStyle/>
          <a:p>
            <a:r>
              <a:rPr lang="en-US" dirty="0"/>
              <a:t>In-terminal text editors and viewers: </a:t>
            </a:r>
            <a:r>
              <a:rPr lang="en-US" dirty="0">
                <a:latin typeface="Consolas" panose="020B0609020204030204" pitchFamily="49" charset="0"/>
              </a:rPr>
              <a:t>nano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EC3B05C-CC60-69D0-A7E9-72DA94409D5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2583" y="2880656"/>
            <a:ext cx="4684612" cy="1096686"/>
          </a:xfrm>
          <a:prstGeom prst="rect">
            <a:avLst/>
          </a:prstGeom>
        </p:spPr>
      </p:pic>
      <p:sp>
        <p:nvSpPr>
          <p:cNvPr id="8" name="Arrow: Right 7">
            <a:extLst>
              <a:ext uri="{FF2B5EF4-FFF2-40B4-BE49-F238E27FC236}">
                <a16:creationId xmlns:a16="http://schemas.microsoft.com/office/drawing/2014/main" id="{D0D431C6-1AEA-086A-547F-C7403EF60FAE}"/>
              </a:ext>
            </a:extLst>
          </p:cNvPr>
          <p:cNvSpPr/>
          <p:nvPr/>
        </p:nvSpPr>
        <p:spPr>
          <a:xfrm>
            <a:off x="5023400" y="3233529"/>
            <a:ext cx="981487" cy="390939"/>
          </a:xfrm>
          <a:prstGeom prst="rightArrow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A684709B-F1AF-9B6D-6330-5810FAD9873B}"/>
              </a:ext>
            </a:extLst>
          </p:cNvPr>
          <p:cNvSpPr/>
          <p:nvPr/>
        </p:nvSpPr>
        <p:spPr>
          <a:xfrm>
            <a:off x="6240416" y="6455802"/>
            <a:ext cx="5234271" cy="402198"/>
          </a:xfrm>
          <a:prstGeom prst="roundRect">
            <a:avLst>
              <a:gd name="adj" fmla="val 2378"/>
            </a:avLst>
          </a:prstGeom>
          <a:noFill/>
          <a:ln w="38100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F9435CF-F505-CBD4-9D63-78F090FD75C3}"/>
              </a:ext>
            </a:extLst>
          </p:cNvPr>
          <p:cNvSpPr txBox="1"/>
          <p:nvPr/>
        </p:nvSpPr>
        <p:spPr>
          <a:xfrm>
            <a:off x="341748" y="4216828"/>
            <a:ext cx="4246281" cy="1200329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25400">
            <a:round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880005"/>
                      <a:gd name="csY0" fmla="*/ 0 h 369332"/>
                      <a:gd name="csX1" fmla="*/ 457603 w 880005"/>
                      <a:gd name="csY1" fmla="*/ 0 h 369332"/>
                      <a:gd name="csX2" fmla="*/ 880005 w 880005"/>
                      <a:gd name="csY2" fmla="*/ 0 h 369332"/>
                      <a:gd name="csX3" fmla="*/ 880005 w 880005"/>
                      <a:gd name="csY3" fmla="*/ 369332 h 369332"/>
                      <a:gd name="csX4" fmla="*/ 448803 w 880005"/>
                      <a:gd name="csY4" fmla="*/ 369332 h 369332"/>
                      <a:gd name="csX5" fmla="*/ 0 w 880005"/>
                      <a:gd name="csY5" fmla="*/ 369332 h 369332"/>
                      <a:gd name="csX6" fmla="*/ 0 w 880005"/>
                      <a:gd name="csY6" fmla="*/ 0 h 36933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880005" h="369332" fill="none" extrusionOk="0">
                        <a:moveTo>
                          <a:pt x="0" y="0"/>
                        </a:moveTo>
                        <a:cubicBezTo>
                          <a:pt x="201900" y="-37713"/>
                          <a:pt x="351525" y="28891"/>
                          <a:pt x="457603" y="0"/>
                        </a:cubicBezTo>
                        <a:cubicBezTo>
                          <a:pt x="563681" y="-28891"/>
                          <a:pt x="722276" y="45370"/>
                          <a:pt x="880005" y="0"/>
                        </a:cubicBezTo>
                        <a:cubicBezTo>
                          <a:pt x="881535" y="150881"/>
                          <a:pt x="877252" y="222968"/>
                          <a:pt x="880005" y="369332"/>
                        </a:cubicBezTo>
                        <a:cubicBezTo>
                          <a:pt x="708206" y="372227"/>
                          <a:pt x="628419" y="331255"/>
                          <a:pt x="448803" y="369332"/>
                        </a:cubicBezTo>
                        <a:cubicBezTo>
                          <a:pt x="269187" y="407409"/>
                          <a:pt x="91315" y="362225"/>
                          <a:pt x="0" y="369332"/>
                        </a:cubicBezTo>
                        <a:cubicBezTo>
                          <a:pt x="-23840" y="235268"/>
                          <a:pt x="5511" y="129660"/>
                          <a:pt x="0" y="0"/>
                        </a:cubicBezTo>
                        <a:close/>
                      </a:path>
                      <a:path w="880005" h="369332" stroke="0" extrusionOk="0">
                        <a:moveTo>
                          <a:pt x="0" y="0"/>
                        </a:moveTo>
                        <a:cubicBezTo>
                          <a:pt x="142253" y="-32936"/>
                          <a:pt x="247997" y="27122"/>
                          <a:pt x="431202" y="0"/>
                        </a:cubicBezTo>
                        <a:cubicBezTo>
                          <a:pt x="614407" y="-27122"/>
                          <a:pt x="677258" y="29720"/>
                          <a:pt x="880005" y="0"/>
                        </a:cubicBezTo>
                        <a:cubicBezTo>
                          <a:pt x="907968" y="78977"/>
                          <a:pt x="849581" y="271296"/>
                          <a:pt x="880005" y="369332"/>
                        </a:cubicBezTo>
                        <a:cubicBezTo>
                          <a:pt x="724165" y="412455"/>
                          <a:pt x="639134" y="357050"/>
                          <a:pt x="440003" y="369332"/>
                        </a:cubicBezTo>
                        <a:cubicBezTo>
                          <a:pt x="240872" y="381614"/>
                          <a:pt x="202949" y="346116"/>
                          <a:pt x="0" y="369332"/>
                        </a:cubicBezTo>
                        <a:cubicBezTo>
                          <a:pt x="-6017" y="217080"/>
                          <a:pt x="5246" y="88445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Keyboard commands to move around and perform file operations.</a:t>
            </a:r>
          </a:p>
          <a:p>
            <a:pPr algn="ctr"/>
            <a:endParaRPr lang="en-US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  <a:p>
            <a:pPr algn="ctr"/>
            <a:r>
              <a:rPr lang="en-US" dirty="0">
                <a:latin typeface="Consolas" panose="020B0609020204030204" pitchFamily="49" charset="0"/>
                <a:ea typeface="Source Sans Pro" panose="020B0503030403020204" pitchFamily="34" charset="0"/>
              </a:rPr>
              <a:t>^</a:t>
            </a:r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 means ctrl key</a:t>
            </a:r>
          </a:p>
        </p:txBody>
      </p:sp>
    </p:spTree>
    <p:extLst>
      <p:ext uri="{BB962C8B-B14F-4D97-AF65-F5344CB8AC3E}">
        <p14:creationId xmlns:p14="http://schemas.microsoft.com/office/powerpoint/2010/main" val="2664004769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5A3880-1955-7749-4935-4B33D882DA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A09604D4-8B5B-199A-BB65-94E37F9DA5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87115" y="1196669"/>
            <a:ext cx="5814507" cy="566133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9885BE3-02F3-70CF-4D57-BD45F28838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2583" y="122185"/>
            <a:ext cx="10515600" cy="1325563"/>
          </a:xfrm>
        </p:spPr>
        <p:txBody>
          <a:bodyPr/>
          <a:lstStyle/>
          <a:p>
            <a:r>
              <a:rPr lang="en-US" dirty="0"/>
              <a:t>In-terminal text editors and viewers: </a:t>
            </a:r>
            <a:r>
              <a:rPr lang="en-US" dirty="0">
                <a:latin typeface="Consolas" panose="020B0609020204030204" pitchFamily="49" charset="0"/>
              </a:rPr>
              <a:t>nano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B80AD3B-C405-6889-5E18-ADA37D79CCB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2583" y="2880656"/>
            <a:ext cx="4684612" cy="1096686"/>
          </a:xfrm>
          <a:prstGeom prst="rect">
            <a:avLst/>
          </a:prstGeom>
        </p:spPr>
      </p:pic>
      <p:sp>
        <p:nvSpPr>
          <p:cNvPr id="8" name="Arrow: Right 7">
            <a:extLst>
              <a:ext uri="{FF2B5EF4-FFF2-40B4-BE49-F238E27FC236}">
                <a16:creationId xmlns:a16="http://schemas.microsoft.com/office/drawing/2014/main" id="{45F56CB9-25A7-2494-DB1C-DE9B02EC943E}"/>
              </a:ext>
            </a:extLst>
          </p:cNvPr>
          <p:cNvSpPr/>
          <p:nvPr/>
        </p:nvSpPr>
        <p:spPr>
          <a:xfrm>
            <a:off x="5023400" y="3233529"/>
            <a:ext cx="981487" cy="390939"/>
          </a:xfrm>
          <a:prstGeom prst="rightArrow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D07762B3-ED90-8E2B-4D99-059DFA1A899C}"/>
              </a:ext>
            </a:extLst>
          </p:cNvPr>
          <p:cNvSpPr/>
          <p:nvPr/>
        </p:nvSpPr>
        <p:spPr>
          <a:xfrm>
            <a:off x="6240416" y="6318298"/>
            <a:ext cx="5681160" cy="539702"/>
          </a:xfrm>
          <a:prstGeom prst="roundRect">
            <a:avLst>
              <a:gd name="adj" fmla="val 2378"/>
            </a:avLst>
          </a:prstGeom>
          <a:noFill/>
          <a:ln w="38100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AB5B4CC-06A9-5870-BB04-84B121091211}"/>
              </a:ext>
            </a:extLst>
          </p:cNvPr>
          <p:cNvSpPr txBox="1"/>
          <p:nvPr/>
        </p:nvSpPr>
        <p:spPr>
          <a:xfrm>
            <a:off x="341748" y="4151854"/>
            <a:ext cx="4246281" cy="2308324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25400">
            <a:round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880005"/>
                      <a:gd name="csY0" fmla="*/ 0 h 369332"/>
                      <a:gd name="csX1" fmla="*/ 457603 w 880005"/>
                      <a:gd name="csY1" fmla="*/ 0 h 369332"/>
                      <a:gd name="csX2" fmla="*/ 880005 w 880005"/>
                      <a:gd name="csY2" fmla="*/ 0 h 369332"/>
                      <a:gd name="csX3" fmla="*/ 880005 w 880005"/>
                      <a:gd name="csY3" fmla="*/ 369332 h 369332"/>
                      <a:gd name="csX4" fmla="*/ 448803 w 880005"/>
                      <a:gd name="csY4" fmla="*/ 369332 h 369332"/>
                      <a:gd name="csX5" fmla="*/ 0 w 880005"/>
                      <a:gd name="csY5" fmla="*/ 369332 h 369332"/>
                      <a:gd name="csX6" fmla="*/ 0 w 880005"/>
                      <a:gd name="csY6" fmla="*/ 0 h 36933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880005" h="369332" fill="none" extrusionOk="0">
                        <a:moveTo>
                          <a:pt x="0" y="0"/>
                        </a:moveTo>
                        <a:cubicBezTo>
                          <a:pt x="201900" y="-37713"/>
                          <a:pt x="351525" y="28891"/>
                          <a:pt x="457603" y="0"/>
                        </a:cubicBezTo>
                        <a:cubicBezTo>
                          <a:pt x="563681" y="-28891"/>
                          <a:pt x="722276" y="45370"/>
                          <a:pt x="880005" y="0"/>
                        </a:cubicBezTo>
                        <a:cubicBezTo>
                          <a:pt x="881535" y="150881"/>
                          <a:pt x="877252" y="222968"/>
                          <a:pt x="880005" y="369332"/>
                        </a:cubicBezTo>
                        <a:cubicBezTo>
                          <a:pt x="708206" y="372227"/>
                          <a:pt x="628419" y="331255"/>
                          <a:pt x="448803" y="369332"/>
                        </a:cubicBezTo>
                        <a:cubicBezTo>
                          <a:pt x="269187" y="407409"/>
                          <a:pt x="91315" y="362225"/>
                          <a:pt x="0" y="369332"/>
                        </a:cubicBezTo>
                        <a:cubicBezTo>
                          <a:pt x="-23840" y="235268"/>
                          <a:pt x="5511" y="129660"/>
                          <a:pt x="0" y="0"/>
                        </a:cubicBezTo>
                        <a:close/>
                      </a:path>
                      <a:path w="880005" h="369332" stroke="0" extrusionOk="0">
                        <a:moveTo>
                          <a:pt x="0" y="0"/>
                        </a:moveTo>
                        <a:cubicBezTo>
                          <a:pt x="142253" y="-32936"/>
                          <a:pt x="247997" y="27122"/>
                          <a:pt x="431202" y="0"/>
                        </a:cubicBezTo>
                        <a:cubicBezTo>
                          <a:pt x="614407" y="-27122"/>
                          <a:pt x="677258" y="29720"/>
                          <a:pt x="880005" y="0"/>
                        </a:cubicBezTo>
                        <a:cubicBezTo>
                          <a:pt x="907968" y="78977"/>
                          <a:pt x="849581" y="271296"/>
                          <a:pt x="880005" y="369332"/>
                        </a:cubicBezTo>
                        <a:cubicBezTo>
                          <a:pt x="724165" y="412455"/>
                          <a:pt x="639134" y="357050"/>
                          <a:pt x="440003" y="369332"/>
                        </a:cubicBezTo>
                        <a:cubicBezTo>
                          <a:pt x="240872" y="381614"/>
                          <a:pt x="202949" y="346116"/>
                          <a:pt x="0" y="369332"/>
                        </a:cubicBezTo>
                        <a:cubicBezTo>
                          <a:pt x="-6017" y="217080"/>
                          <a:pt x="5246" y="88445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u="sng" dirty="0">
                <a:latin typeface="Source Sans Pro" panose="020B0503030403020204" pitchFamily="34" charset="0"/>
                <a:ea typeface="Source Sans Pro" panose="020B0503030403020204" pitchFamily="34" charset="0"/>
              </a:rPr>
              <a:t>Common commands</a:t>
            </a:r>
          </a:p>
          <a:p>
            <a:pPr algn="ctr"/>
            <a:endParaRPr lang="en-US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 Save file (</a:t>
            </a:r>
            <a:r>
              <a:rPr lang="en-US" i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Write Out</a:t>
            </a:r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): </a:t>
            </a:r>
            <a:r>
              <a:rPr lang="en-US" b="1" dirty="0">
                <a:latin typeface="Consolas" panose="020B0609020204030204" pitchFamily="49" charset="0"/>
                <a:ea typeface="Source Sans Pro" panose="020B0503030403020204" pitchFamily="34" charset="0"/>
              </a:rPr>
              <a:t>ctrl-W</a:t>
            </a:r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, which brings up dialog to name or re-name file. Hit Enter to keep filename</a:t>
            </a:r>
          </a:p>
          <a:p>
            <a:pPr algn="ctr"/>
            <a:endParaRPr lang="en-US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  <a:p>
            <a:pPr algn="ctr"/>
            <a:r>
              <a:rPr lang="en-US" i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Exit</a:t>
            </a:r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 the </a:t>
            </a:r>
            <a:r>
              <a:rPr lang="en-US" dirty="0">
                <a:latin typeface="Consolas" panose="020B0609020204030204" pitchFamily="49" charset="0"/>
                <a:ea typeface="Source Sans Pro" panose="020B0503030403020204" pitchFamily="34" charset="0"/>
              </a:rPr>
              <a:t>nano</a:t>
            </a:r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 interface and return to terminal: </a:t>
            </a:r>
            <a:r>
              <a:rPr lang="en-US" b="1" dirty="0">
                <a:latin typeface="Consolas" panose="020B0609020204030204" pitchFamily="49" charset="0"/>
                <a:ea typeface="Source Sans Pro" panose="020B0503030403020204" pitchFamily="34" charset="0"/>
              </a:rPr>
              <a:t>ctrl X</a:t>
            </a:r>
          </a:p>
        </p:txBody>
      </p:sp>
    </p:spTree>
    <p:extLst>
      <p:ext uri="{BB962C8B-B14F-4D97-AF65-F5344CB8AC3E}">
        <p14:creationId xmlns:p14="http://schemas.microsoft.com/office/powerpoint/2010/main" val="1479971106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E1DBB2-C81D-19F7-2964-C18458805D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540BBE8E-58F3-C7C0-588A-5DEC3792F69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582" y="2819830"/>
            <a:ext cx="4684612" cy="124476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7B53BB1-66D9-4B2A-F6FC-5C6AA825C5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2583" y="122185"/>
            <a:ext cx="10515600" cy="1325563"/>
          </a:xfrm>
        </p:spPr>
        <p:txBody>
          <a:bodyPr/>
          <a:lstStyle/>
          <a:p>
            <a:r>
              <a:rPr lang="en-US" dirty="0"/>
              <a:t>In-terminal text editors and viewers: </a:t>
            </a:r>
            <a:r>
              <a:rPr lang="en-US" dirty="0">
                <a:latin typeface="Consolas" panose="020B0609020204030204" pitchFamily="49" charset="0"/>
              </a:rPr>
              <a:t>nano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7D3620E-B56E-A8B5-4AE3-3B10B40BC7C5}"/>
              </a:ext>
            </a:extLst>
          </p:cNvPr>
          <p:cNvSpPr txBox="1"/>
          <p:nvPr/>
        </p:nvSpPr>
        <p:spPr>
          <a:xfrm>
            <a:off x="347764" y="4639133"/>
            <a:ext cx="4246281" cy="646331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25400">
            <a:round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880005"/>
                      <a:gd name="csY0" fmla="*/ 0 h 369332"/>
                      <a:gd name="csX1" fmla="*/ 457603 w 880005"/>
                      <a:gd name="csY1" fmla="*/ 0 h 369332"/>
                      <a:gd name="csX2" fmla="*/ 880005 w 880005"/>
                      <a:gd name="csY2" fmla="*/ 0 h 369332"/>
                      <a:gd name="csX3" fmla="*/ 880005 w 880005"/>
                      <a:gd name="csY3" fmla="*/ 369332 h 369332"/>
                      <a:gd name="csX4" fmla="*/ 448803 w 880005"/>
                      <a:gd name="csY4" fmla="*/ 369332 h 369332"/>
                      <a:gd name="csX5" fmla="*/ 0 w 880005"/>
                      <a:gd name="csY5" fmla="*/ 369332 h 369332"/>
                      <a:gd name="csX6" fmla="*/ 0 w 880005"/>
                      <a:gd name="csY6" fmla="*/ 0 h 36933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880005" h="369332" fill="none" extrusionOk="0">
                        <a:moveTo>
                          <a:pt x="0" y="0"/>
                        </a:moveTo>
                        <a:cubicBezTo>
                          <a:pt x="201900" y="-37713"/>
                          <a:pt x="351525" y="28891"/>
                          <a:pt x="457603" y="0"/>
                        </a:cubicBezTo>
                        <a:cubicBezTo>
                          <a:pt x="563681" y="-28891"/>
                          <a:pt x="722276" y="45370"/>
                          <a:pt x="880005" y="0"/>
                        </a:cubicBezTo>
                        <a:cubicBezTo>
                          <a:pt x="881535" y="150881"/>
                          <a:pt x="877252" y="222968"/>
                          <a:pt x="880005" y="369332"/>
                        </a:cubicBezTo>
                        <a:cubicBezTo>
                          <a:pt x="708206" y="372227"/>
                          <a:pt x="628419" y="331255"/>
                          <a:pt x="448803" y="369332"/>
                        </a:cubicBezTo>
                        <a:cubicBezTo>
                          <a:pt x="269187" y="407409"/>
                          <a:pt x="91315" y="362225"/>
                          <a:pt x="0" y="369332"/>
                        </a:cubicBezTo>
                        <a:cubicBezTo>
                          <a:pt x="-23840" y="235268"/>
                          <a:pt x="5511" y="129660"/>
                          <a:pt x="0" y="0"/>
                        </a:cubicBezTo>
                        <a:close/>
                      </a:path>
                      <a:path w="880005" h="369332" stroke="0" extrusionOk="0">
                        <a:moveTo>
                          <a:pt x="0" y="0"/>
                        </a:moveTo>
                        <a:cubicBezTo>
                          <a:pt x="142253" y="-32936"/>
                          <a:pt x="247997" y="27122"/>
                          <a:pt x="431202" y="0"/>
                        </a:cubicBezTo>
                        <a:cubicBezTo>
                          <a:pt x="614407" y="-27122"/>
                          <a:pt x="677258" y="29720"/>
                          <a:pt x="880005" y="0"/>
                        </a:cubicBezTo>
                        <a:cubicBezTo>
                          <a:pt x="907968" y="78977"/>
                          <a:pt x="849581" y="271296"/>
                          <a:pt x="880005" y="369332"/>
                        </a:cubicBezTo>
                        <a:cubicBezTo>
                          <a:pt x="724165" y="412455"/>
                          <a:pt x="639134" y="357050"/>
                          <a:pt x="440003" y="369332"/>
                        </a:cubicBezTo>
                        <a:cubicBezTo>
                          <a:pt x="240872" y="381614"/>
                          <a:pt x="202949" y="346116"/>
                          <a:pt x="0" y="369332"/>
                        </a:cubicBezTo>
                        <a:cubicBezTo>
                          <a:pt x="-6017" y="217080"/>
                          <a:pt x="5246" y="88445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Open pre-existing files to view/edit their content by providing their </a:t>
            </a:r>
            <a:r>
              <a:rPr lang="en-US" b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path</a:t>
            </a:r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.</a:t>
            </a:r>
            <a:endParaRPr lang="en-US" b="1" dirty="0">
              <a:latin typeface="Consolas" panose="020B0609020204030204" pitchFamily="49" charset="0"/>
              <a:ea typeface="Source Sans Pro" panose="020B05030304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98259138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706F0C-17EB-DFF4-C96E-4DC8298FD8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5CD7870D-571F-4C7D-AE20-8E66B1033F8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87115" y="1205861"/>
            <a:ext cx="5784146" cy="5643069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E98CFCAE-2A1E-0D4F-D063-C0E94945BC6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2582" y="2819830"/>
            <a:ext cx="4684612" cy="124476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E1C1911-CA95-C932-B1E9-259B7E5865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2583" y="122185"/>
            <a:ext cx="10515600" cy="1325563"/>
          </a:xfrm>
        </p:spPr>
        <p:txBody>
          <a:bodyPr/>
          <a:lstStyle/>
          <a:p>
            <a:r>
              <a:rPr lang="en-US" dirty="0"/>
              <a:t>In-terminal text editors and viewers: </a:t>
            </a:r>
            <a:r>
              <a:rPr lang="en-US" dirty="0">
                <a:latin typeface="Consolas" panose="020B0609020204030204" pitchFamily="49" charset="0"/>
              </a:rPr>
              <a:t>nano</a:t>
            </a:r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9F54FE79-1544-BB9E-729B-EFEDA473BA7A}"/>
              </a:ext>
            </a:extLst>
          </p:cNvPr>
          <p:cNvSpPr/>
          <p:nvPr/>
        </p:nvSpPr>
        <p:spPr>
          <a:xfrm>
            <a:off x="5023400" y="3233529"/>
            <a:ext cx="981487" cy="390939"/>
          </a:xfrm>
          <a:prstGeom prst="rightArrow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F58CA44-87A0-5E59-BA91-930465252EBE}"/>
              </a:ext>
            </a:extLst>
          </p:cNvPr>
          <p:cNvSpPr txBox="1"/>
          <p:nvPr/>
        </p:nvSpPr>
        <p:spPr>
          <a:xfrm>
            <a:off x="347764" y="4639133"/>
            <a:ext cx="4246281" cy="646331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25400">
            <a:round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880005"/>
                      <a:gd name="csY0" fmla="*/ 0 h 369332"/>
                      <a:gd name="csX1" fmla="*/ 457603 w 880005"/>
                      <a:gd name="csY1" fmla="*/ 0 h 369332"/>
                      <a:gd name="csX2" fmla="*/ 880005 w 880005"/>
                      <a:gd name="csY2" fmla="*/ 0 h 369332"/>
                      <a:gd name="csX3" fmla="*/ 880005 w 880005"/>
                      <a:gd name="csY3" fmla="*/ 369332 h 369332"/>
                      <a:gd name="csX4" fmla="*/ 448803 w 880005"/>
                      <a:gd name="csY4" fmla="*/ 369332 h 369332"/>
                      <a:gd name="csX5" fmla="*/ 0 w 880005"/>
                      <a:gd name="csY5" fmla="*/ 369332 h 369332"/>
                      <a:gd name="csX6" fmla="*/ 0 w 880005"/>
                      <a:gd name="csY6" fmla="*/ 0 h 36933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880005" h="369332" fill="none" extrusionOk="0">
                        <a:moveTo>
                          <a:pt x="0" y="0"/>
                        </a:moveTo>
                        <a:cubicBezTo>
                          <a:pt x="201900" y="-37713"/>
                          <a:pt x="351525" y="28891"/>
                          <a:pt x="457603" y="0"/>
                        </a:cubicBezTo>
                        <a:cubicBezTo>
                          <a:pt x="563681" y="-28891"/>
                          <a:pt x="722276" y="45370"/>
                          <a:pt x="880005" y="0"/>
                        </a:cubicBezTo>
                        <a:cubicBezTo>
                          <a:pt x="881535" y="150881"/>
                          <a:pt x="877252" y="222968"/>
                          <a:pt x="880005" y="369332"/>
                        </a:cubicBezTo>
                        <a:cubicBezTo>
                          <a:pt x="708206" y="372227"/>
                          <a:pt x="628419" y="331255"/>
                          <a:pt x="448803" y="369332"/>
                        </a:cubicBezTo>
                        <a:cubicBezTo>
                          <a:pt x="269187" y="407409"/>
                          <a:pt x="91315" y="362225"/>
                          <a:pt x="0" y="369332"/>
                        </a:cubicBezTo>
                        <a:cubicBezTo>
                          <a:pt x="-23840" y="235268"/>
                          <a:pt x="5511" y="129660"/>
                          <a:pt x="0" y="0"/>
                        </a:cubicBezTo>
                        <a:close/>
                      </a:path>
                      <a:path w="880005" h="369332" stroke="0" extrusionOk="0">
                        <a:moveTo>
                          <a:pt x="0" y="0"/>
                        </a:moveTo>
                        <a:cubicBezTo>
                          <a:pt x="142253" y="-32936"/>
                          <a:pt x="247997" y="27122"/>
                          <a:pt x="431202" y="0"/>
                        </a:cubicBezTo>
                        <a:cubicBezTo>
                          <a:pt x="614407" y="-27122"/>
                          <a:pt x="677258" y="29720"/>
                          <a:pt x="880005" y="0"/>
                        </a:cubicBezTo>
                        <a:cubicBezTo>
                          <a:pt x="907968" y="78977"/>
                          <a:pt x="849581" y="271296"/>
                          <a:pt x="880005" y="369332"/>
                        </a:cubicBezTo>
                        <a:cubicBezTo>
                          <a:pt x="724165" y="412455"/>
                          <a:pt x="639134" y="357050"/>
                          <a:pt x="440003" y="369332"/>
                        </a:cubicBezTo>
                        <a:cubicBezTo>
                          <a:pt x="240872" y="381614"/>
                          <a:pt x="202949" y="346116"/>
                          <a:pt x="0" y="369332"/>
                        </a:cubicBezTo>
                        <a:cubicBezTo>
                          <a:pt x="-6017" y="217080"/>
                          <a:pt x="5246" y="88445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Open pre-existing files to view/edit their content by providing their </a:t>
            </a:r>
            <a:r>
              <a:rPr lang="en-US" b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path</a:t>
            </a:r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.</a:t>
            </a:r>
            <a:endParaRPr lang="en-US" b="1" dirty="0">
              <a:latin typeface="Consolas" panose="020B0609020204030204" pitchFamily="49" charset="0"/>
              <a:ea typeface="Source Sans Pro" panose="020B05030304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49246268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9A5850-E82B-893E-BCC7-83A8DA7853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903F23C8-D76E-CE95-1F93-AF2D499B4A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583" y="2880657"/>
            <a:ext cx="4684612" cy="118298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181A3D0-E9E9-BB50-A4F0-B5B34B3D95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2583" y="122185"/>
            <a:ext cx="10515600" cy="1325563"/>
          </a:xfrm>
        </p:spPr>
        <p:txBody>
          <a:bodyPr/>
          <a:lstStyle/>
          <a:p>
            <a:r>
              <a:rPr lang="en-US" dirty="0"/>
              <a:t>In-terminal text editors and viewers: </a:t>
            </a:r>
            <a:r>
              <a:rPr lang="en-US" dirty="0">
                <a:latin typeface="Consolas" panose="020B0609020204030204" pitchFamily="49" charset="0"/>
              </a:rPr>
              <a:t>less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F69621A-D0BD-472B-E0B0-351530308C16}"/>
              </a:ext>
            </a:extLst>
          </p:cNvPr>
          <p:cNvSpPr txBox="1"/>
          <p:nvPr/>
        </p:nvSpPr>
        <p:spPr>
          <a:xfrm>
            <a:off x="341748" y="4216828"/>
            <a:ext cx="4246281" cy="1754326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25400">
            <a:round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880005"/>
                      <a:gd name="csY0" fmla="*/ 0 h 369332"/>
                      <a:gd name="csX1" fmla="*/ 457603 w 880005"/>
                      <a:gd name="csY1" fmla="*/ 0 h 369332"/>
                      <a:gd name="csX2" fmla="*/ 880005 w 880005"/>
                      <a:gd name="csY2" fmla="*/ 0 h 369332"/>
                      <a:gd name="csX3" fmla="*/ 880005 w 880005"/>
                      <a:gd name="csY3" fmla="*/ 369332 h 369332"/>
                      <a:gd name="csX4" fmla="*/ 448803 w 880005"/>
                      <a:gd name="csY4" fmla="*/ 369332 h 369332"/>
                      <a:gd name="csX5" fmla="*/ 0 w 880005"/>
                      <a:gd name="csY5" fmla="*/ 369332 h 369332"/>
                      <a:gd name="csX6" fmla="*/ 0 w 880005"/>
                      <a:gd name="csY6" fmla="*/ 0 h 36933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880005" h="369332" fill="none" extrusionOk="0">
                        <a:moveTo>
                          <a:pt x="0" y="0"/>
                        </a:moveTo>
                        <a:cubicBezTo>
                          <a:pt x="201900" y="-37713"/>
                          <a:pt x="351525" y="28891"/>
                          <a:pt x="457603" y="0"/>
                        </a:cubicBezTo>
                        <a:cubicBezTo>
                          <a:pt x="563681" y="-28891"/>
                          <a:pt x="722276" y="45370"/>
                          <a:pt x="880005" y="0"/>
                        </a:cubicBezTo>
                        <a:cubicBezTo>
                          <a:pt x="881535" y="150881"/>
                          <a:pt x="877252" y="222968"/>
                          <a:pt x="880005" y="369332"/>
                        </a:cubicBezTo>
                        <a:cubicBezTo>
                          <a:pt x="708206" y="372227"/>
                          <a:pt x="628419" y="331255"/>
                          <a:pt x="448803" y="369332"/>
                        </a:cubicBezTo>
                        <a:cubicBezTo>
                          <a:pt x="269187" y="407409"/>
                          <a:pt x="91315" y="362225"/>
                          <a:pt x="0" y="369332"/>
                        </a:cubicBezTo>
                        <a:cubicBezTo>
                          <a:pt x="-23840" y="235268"/>
                          <a:pt x="5511" y="129660"/>
                          <a:pt x="0" y="0"/>
                        </a:cubicBezTo>
                        <a:close/>
                      </a:path>
                      <a:path w="880005" h="369332" stroke="0" extrusionOk="0">
                        <a:moveTo>
                          <a:pt x="0" y="0"/>
                        </a:moveTo>
                        <a:cubicBezTo>
                          <a:pt x="142253" y="-32936"/>
                          <a:pt x="247997" y="27122"/>
                          <a:pt x="431202" y="0"/>
                        </a:cubicBezTo>
                        <a:cubicBezTo>
                          <a:pt x="614407" y="-27122"/>
                          <a:pt x="677258" y="29720"/>
                          <a:pt x="880005" y="0"/>
                        </a:cubicBezTo>
                        <a:cubicBezTo>
                          <a:pt x="907968" y="78977"/>
                          <a:pt x="849581" y="271296"/>
                          <a:pt x="880005" y="369332"/>
                        </a:cubicBezTo>
                        <a:cubicBezTo>
                          <a:pt x="724165" y="412455"/>
                          <a:pt x="639134" y="357050"/>
                          <a:pt x="440003" y="369332"/>
                        </a:cubicBezTo>
                        <a:cubicBezTo>
                          <a:pt x="240872" y="381614"/>
                          <a:pt x="202949" y="346116"/>
                          <a:pt x="0" y="369332"/>
                        </a:cubicBezTo>
                        <a:cubicBezTo>
                          <a:pt x="-6017" y="217080"/>
                          <a:pt x="5246" y="88445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Consolas" panose="020B0609020204030204" pitchFamily="49" charset="0"/>
                <a:ea typeface="Source Sans Pro" panose="020B0503030403020204" pitchFamily="34" charset="0"/>
              </a:rPr>
              <a:t>less</a:t>
            </a:r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 is a command line text viewer invoked by typing:</a:t>
            </a:r>
          </a:p>
          <a:p>
            <a:pPr algn="ctr"/>
            <a:endParaRPr lang="en-US" b="1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  <a:p>
            <a:pPr algn="ctr"/>
            <a:r>
              <a:rPr lang="en-US" b="1" dirty="0">
                <a:latin typeface="Consolas" panose="020B0609020204030204" pitchFamily="49" charset="0"/>
                <a:ea typeface="Source Sans Pro" panose="020B0503030403020204" pitchFamily="34" charset="0"/>
              </a:rPr>
              <a:t>less &lt;filename or path&gt;</a:t>
            </a:r>
          </a:p>
          <a:p>
            <a:pPr algn="ctr"/>
            <a:endParaRPr lang="en-US" b="1" dirty="0">
              <a:latin typeface="Consolas" panose="020B0609020204030204" pitchFamily="49" charset="0"/>
              <a:ea typeface="Source Sans Pro" panose="020B0503030403020204" pitchFamily="34" charset="0"/>
            </a:endParaRPr>
          </a:p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And then hitting Enter</a:t>
            </a:r>
          </a:p>
        </p:txBody>
      </p:sp>
    </p:spTree>
    <p:extLst>
      <p:ext uri="{BB962C8B-B14F-4D97-AF65-F5344CB8AC3E}">
        <p14:creationId xmlns:p14="http://schemas.microsoft.com/office/powerpoint/2010/main" val="2234839646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AEC5AC-D21D-3B92-DF4F-6183184E31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2B4ECAA0-24EE-1F95-4EEE-16A2A4962D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583" y="2880657"/>
            <a:ext cx="4684612" cy="118298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5ACDB70-CAAE-6474-68ED-74100F89CD1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2583" y="2880655"/>
            <a:ext cx="4684612" cy="114157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DC6C150-24BB-9D39-C351-D72C42A518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2583" y="122185"/>
            <a:ext cx="10515600" cy="1325563"/>
          </a:xfrm>
        </p:spPr>
        <p:txBody>
          <a:bodyPr/>
          <a:lstStyle/>
          <a:p>
            <a:r>
              <a:rPr lang="en-US" dirty="0"/>
              <a:t>In-terminal text editors and viewers: </a:t>
            </a:r>
            <a:r>
              <a:rPr lang="en-US" dirty="0">
                <a:latin typeface="Consolas" panose="020B0609020204030204" pitchFamily="49" charset="0"/>
              </a:rPr>
              <a:t>less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B2BB5B6-132E-8EDD-2532-A9AB83525627}"/>
              </a:ext>
            </a:extLst>
          </p:cNvPr>
          <p:cNvSpPr txBox="1"/>
          <p:nvPr/>
        </p:nvSpPr>
        <p:spPr>
          <a:xfrm>
            <a:off x="341748" y="4216828"/>
            <a:ext cx="4246281" cy="1754326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25400">
            <a:round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880005"/>
                      <a:gd name="csY0" fmla="*/ 0 h 369332"/>
                      <a:gd name="csX1" fmla="*/ 457603 w 880005"/>
                      <a:gd name="csY1" fmla="*/ 0 h 369332"/>
                      <a:gd name="csX2" fmla="*/ 880005 w 880005"/>
                      <a:gd name="csY2" fmla="*/ 0 h 369332"/>
                      <a:gd name="csX3" fmla="*/ 880005 w 880005"/>
                      <a:gd name="csY3" fmla="*/ 369332 h 369332"/>
                      <a:gd name="csX4" fmla="*/ 448803 w 880005"/>
                      <a:gd name="csY4" fmla="*/ 369332 h 369332"/>
                      <a:gd name="csX5" fmla="*/ 0 w 880005"/>
                      <a:gd name="csY5" fmla="*/ 369332 h 369332"/>
                      <a:gd name="csX6" fmla="*/ 0 w 880005"/>
                      <a:gd name="csY6" fmla="*/ 0 h 36933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880005" h="369332" fill="none" extrusionOk="0">
                        <a:moveTo>
                          <a:pt x="0" y="0"/>
                        </a:moveTo>
                        <a:cubicBezTo>
                          <a:pt x="201900" y="-37713"/>
                          <a:pt x="351525" y="28891"/>
                          <a:pt x="457603" y="0"/>
                        </a:cubicBezTo>
                        <a:cubicBezTo>
                          <a:pt x="563681" y="-28891"/>
                          <a:pt x="722276" y="45370"/>
                          <a:pt x="880005" y="0"/>
                        </a:cubicBezTo>
                        <a:cubicBezTo>
                          <a:pt x="881535" y="150881"/>
                          <a:pt x="877252" y="222968"/>
                          <a:pt x="880005" y="369332"/>
                        </a:cubicBezTo>
                        <a:cubicBezTo>
                          <a:pt x="708206" y="372227"/>
                          <a:pt x="628419" y="331255"/>
                          <a:pt x="448803" y="369332"/>
                        </a:cubicBezTo>
                        <a:cubicBezTo>
                          <a:pt x="269187" y="407409"/>
                          <a:pt x="91315" y="362225"/>
                          <a:pt x="0" y="369332"/>
                        </a:cubicBezTo>
                        <a:cubicBezTo>
                          <a:pt x="-23840" y="235268"/>
                          <a:pt x="5511" y="129660"/>
                          <a:pt x="0" y="0"/>
                        </a:cubicBezTo>
                        <a:close/>
                      </a:path>
                      <a:path w="880005" h="369332" stroke="0" extrusionOk="0">
                        <a:moveTo>
                          <a:pt x="0" y="0"/>
                        </a:moveTo>
                        <a:cubicBezTo>
                          <a:pt x="142253" y="-32936"/>
                          <a:pt x="247997" y="27122"/>
                          <a:pt x="431202" y="0"/>
                        </a:cubicBezTo>
                        <a:cubicBezTo>
                          <a:pt x="614407" y="-27122"/>
                          <a:pt x="677258" y="29720"/>
                          <a:pt x="880005" y="0"/>
                        </a:cubicBezTo>
                        <a:cubicBezTo>
                          <a:pt x="907968" y="78977"/>
                          <a:pt x="849581" y="271296"/>
                          <a:pt x="880005" y="369332"/>
                        </a:cubicBezTo>
                        <a:cubicBezTo>
                          <a:pt x="724165" y="412455"/>
                          <a:pt x="639134" y="357050"/>
                          <a:pt x="440003" y="369332"/>
                        </a:cubicBezTo>
                        <a:cubicBezTo>
                          <a:pt x="240872" y="381614"/>
                          <a:pt x="202949" y="346116"/>
                          <a:pt x="0" y="369332"/>
                        </a:cubicBezTo>
                        <a:cubicBezTo>
                          <a:pt x="-6017" y="217080"/>
                          <a:pt x="5246" y="88445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Consolas" panose="020B0609020204030204" pitchFamily="49" charset="0"/>
                <a:ea typeface="Source Sans Pro" panose="020B0503030403020204" pitchFamily="34" charset="0"/>
              </a:rPr>
              <a:t>less</a:t>
            </a:r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 is a command line text viewer invoked by typing:</a:t>
            </a:r>
          </a:p>
          <a:p>
            <a:pPr algn="ctr"/>
            <a:endParaRPr lang="en-US" b="1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  <a:p>
            <a:pPr algn="ctr"/>
            <a:r>
              <a:rPr lang="en-US" b="1" dirty="0">
                <a:latin typeface="Consolas" panose="020B0609020204030204" pitchFamily="49" charset="0"/>
                <a:ea typeface="Source Sans Pro" panose="020B0503030403020204" pitchFamily="34" charset="0"/>
              </a:rPr>
              <a:t>less &lt;filename or path&gt;</a:t>
            </a:r>
          </a:p>
          <a:p>
            <a:pPr algn="ctr"/>
            <a:endParaRPr lang="en-US" b="1" dirty="0">
              <a:latin typeface="Consolas" panose="020B0609020204030204" pitchFamily="49" charset="0"/>
              <a:ea typeface="Source Sans Pro" panose="020B0503030403020204" pitchFamily="34" charset="0"/>
            </a:endParaRPr>
          </a:p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And then hitting Enter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D943199-42A2-7369-FF81-629894F205DC}"/>
              </a:ext>
            </a:extLst>
          </p:cNvPr>
          <p:cNvSpPr txBox="1"/>
          <p:nvPr/>
        </p:nvSpPr>
        <p:spPr>
          <a:xfrm>
            <a:off x="341747" y="6180271"/>
            <a:ext cx="4246281" cy="36933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25400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880005"/>
                      <a:gd name="csY0" fmla="*/ 0 h 369332"/>
                      <a:gd name="csX1" fmla="*/ 457603 w 880005"/>
                      <a:gd name="csY1" fmla="*/ 0 h 369332"/>
                      <a:gd name="csX2" fmla="*/ 880005 w 880005"/>
                      <a:gd name="csY2" fmla="*/ 0 h 369332"/>
                      <a:gd name="csX3" fmla="*/ 880005 w 880005"/>
                      <a:gd name="csY3" fmla="*/ 369332 h 369332"/>
                      <a:gd name="csX4" fmla="*/ 448803 w 880005"/>
                      <a:gd name="csY4" fmla="*/ 369332 h 369332"/>
                      <a:gd name="csX5" fmla="*/ 0 w 880005"/>
                      <a:gd name="csY5" fmla="*/ 369332 h 369332"/>
                      <a:gd name="csX6" fmla="*/ 0 w 880005"/>
                      <a:gd name="csY6" fmla="*/ 0 h 36933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880005" h="369332" fill="none" extrusionOk="0">
                        <a:moveTo>
                          <a:pt x="0" y="0"/>
                        </a:moveTo>
                        <a:cubicBezTo>
                          <a:pt x="201900" y="-37713"/>
                          <a:pt x="351525" y="28891"/>
                          <a:pt x="457603" y="0"/>
                        </a:cubicBezTo>
                        <a:cubicBezTo>
                          <a:pt x="563681" y="-28891"/>
                          <a:pt x="722276" y="45370"/>
                          <a:pt x="880005" y="0"/>
                        </a:cubicBezTo>
                        <a:cubicBezTo>
                          <a:pt x="881535" y="150881"/>
                          <a:pt x="877252" y="222968"/>
                          <a:pt x="880005" y="369332"/>
                        </a:cubicBezTo>
                        <a:cubicBezTo>
                          <a:pt x="708206" y="372227"/>
                          <a:pt x="628419" y="331255"/>
                          <a:pt x="448803" y="369332"/>
                        </a:cubicBezTo>
                        <a:cubicBezTo>
                          <a:pt x="269187" y="407409"/>
                          <a:pt x="91315" y="362225"/>
                          <a:pt x="0" y="369332"/>
                        </a:cubicBezTo>
                        <a:cubicBezTo>
                          <a:pt x="-23840" y="235268"/>
                          <a:pt x="5511" y="129660"/>
                          <a:pt x="0" y="0"/>
                        </a:cubicBezTo>
                        <a:close/>
                      </a:path>
                      <a:path w="880005" h="369332" stroke="0" extrusionOk="0">
                        <a:moveTo>
                          <a:pt x="0" y="0"/>
                        </a:moveTo>
                        <a:cubicBezTo>
                          <a:pt x="142253" y="-32936"/>
                          <a:pt x="247997" y="27122"/>
                          <a:pt x="431202" y="0"/>
                        </a:cubicBezTo>
                        <a:cubicBezTo>
                          <a:pt x="614407" y="-27122"/>
                          <a:pt x="677258" y="29720"/>
                          <a:pt x="880005" y="0"/>
                        </a:cubicBezTo>
                        <a:cubicBezTo>
                          <a:pt x="907968" y="78977"/>
                          <a:pt x="849581" y="271296"/>
                          <a:pt x="880005" y="369332"/>
                        </a:cubicBezTo>
                        <a:cubicBezTo>
                          <a:pt x="724165" y="412455"/>
                          <a:pt x="639134" y="357050"/>
                          <a:pt x="440003" y="369332"/>
                        </a:cubicBezTo>
                        <a:cubicBezTo>
                          <a:pt x="240872" y="381614"/>
                          <a:pt x="202949" y="346116"/>
                          <a:pt x="0" y="369332"/>
                        </a:cubicBezTo>
                        <a:cubicBezTo>
                          <a:pt x="-6017" y="217080"/>
                          <a:pt x="5246" y="88445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Consolas" panose="020B0609020204030204" pitchFamily="49" charset="0"/>
                <a:ea typeface="Source Sans Pro" panose="020B0503030403020204" pitchFamily="34" charset="0"/>
              </a:rPr>
              <a:t>less</a:t>
            </a:r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 cannot be used to create files!</a:t>
            </a:r>
          </a:p>
        </p:txBody>
      </p:sp>
      <p:sp>
        <p:nvSpPr>
          <p:cNvPr id="9" name="&quot;No&quot; Symbol 14">
            <a:extLst>
              <a:ext uri="{FF2B5EF4-FFF2-40B4-BE49-F238E27FC236}">
                <a16:creationId xmlns:a16="http://schemas.microsoft.com/office/drawing/2014/main" id="{6730E3CE-046F-E76F-E311-FC486CFD06E6}"/>
              </a:ext>
            </a:extLst>
          </p:cNvPr>
          <p:cNvSpPr/>
          <p:nvPr/>
        </p:nvSpPr>
        <p:spPr>
          <a:xfrm>
            <a:off x="3124197" y="3303453"/>
            <a:ext cx="561988" cy="492986"/>
          </a:xfrm>
          <a:prstGeom prst="noSmoking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27146889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CC572F-5618-D7B0-E674-06FC2DB1B5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>
            <a:extLst>
              <a:ext uri="{FF2B5EF4-FFF2-40B4-BE49-F238E27FC236}">
                <a16:creationId xmlns:a16="http://schemas.microsoft.com/office/drawing/2014/main" id="{017DD07D-978E-8E68-48AF-2793DF450D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583" y="2816333"/>
            <a:ext cx="4684612" cy="1261241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A33AE6E-23EF-4ABF-835C-DC685A11D2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2583" y="122185"/>
            <a:ext cx="10515600" cy="1325563"/>
          </a:xfrm>
        </p:spPr>
        <p:txBody>
          <a:bodyPr/>
          <a:lstStyle/>
          <a:p>
            <a:r>
              <a:rPr lang="en-US" dirty="0"/>
              <a:t>In-terminal text editors and viewers: </a:t>
            </a:r>
            <a:r>
              <a:rPr lang="en-US" dirty="0">
                <a:latin typeface="Consolas" panose="020B0609020204030204" pitchFamily="49" charset="0"/>
              </a:rPr>
              <a:t>less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FD9F81F-E504-6E3B-EACE-389BE7B0F6C1}"/>
              </a:ext>
            </a:extLst>
          </p:cNvPr>
          <p:cNvSpPr txBox="1"/>
          <p:nvPr/>
        </p:nvSpPr>
        <p:spPr>
          <a:xfrm>
            <a:off x="341748" y="4216828"/>
            <a:ext cx="4246281" cy="1754326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25400">
            <a:round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880005"/>
                      <a:gd name="csY0" fmla="*/ 0 h 369332"/>
                      <a:gd name="csX1" fmla="*/ 457603 w 880005"/>
                      <a:gd name="csY1" fmla="*/ 0 h 369332"/>
                      <a:gd name="csX2" fmla="*/ 880005 w 880005"/>
                      <a:gd name="csY2" fmla="*/ 0 h 369332"/>
                      <a:gd name="csX3" fmla="*/ 880005 w 880005"/>
                      <a:gd name="csY3" fmla="*/ 369332 h 369332"/>
                      <a:gd name="csX4" fmla="*/ 448803 w 880005"/>
                      <a:gd name="csY4" fmla="*/ 369332 h 369332"/>
                      <a:gd name="csX5" fmla="*/ 0 w 880005"/>
                      <a:gd name="csY5" fmla="*/ 369332 h 369332"/>
                      <a:gd name="csX6" fmla="*/ 0 w 880005"/>
                      <a:gd name="csY6" fmla="*/ 0 h 36933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880005" h="369332" fill="none" extrusionOk="0">
                        <a:moveTo>
                          <a:pt x="0" y="0"/>
                        </a:moveTo>
                        <a:cubicBezTo>
                          <a:pt x="201900" y="-37713"/>
                          <a:pt x="351525" y="28891"/>
                          <a:pt x="457603" y="0"/>
                        </a:cubicBezTo>
                        <a:cubicBezTo>
                          <a:pt x="563681" y="-28891"/>
                          <a:pt x="722276" y="45370"/>
                          <a:pt x="880005" y="0"/>
                        </a:cubicBezTo>
                        <a:cubicBezTo>
                          <a:pt x="881535" y="150881"/>
                          <a:pt x="877252" y="222968"/>
                          <a:pt x="880005" y="369332"/>
                        </a:cubicBezTo>
                        <a:cubicBezTo>
                          <a:pt x="708206" y="372227"/>
                          <a:pt x="628419" y="331255"/>
                          <a:pt x="448803" y="369332"/>
                        </a:cubicBezTo>
                        <a:cubicBezTo>
                          <a:pt x="269187" y="407409"/>
                          <a:pt x="91315" y="362225"/>
                          <a:pt x="0" y="369332"/>
                        </a:cubicBezTo>
                        <a:cubicBezTo>
                          <a:pt x="-23840" y="235268"/>
                          <a:pt x="5511" y="129660"/>
                          <a:pt x="0" y="0"/>
                        </a:cubicBezTo>
                        <a:close/>
                      </a:path>
                      <a:path w="880005" h="369332" stroke="0" extrusionOk="0">
                        <a:moveTo>
                          <a:pt x="0" y="0"/>
                        </a:moveTo>
                        <a:cubicBezTo>
                          <a:pt x="142253" y="-32936"/>
                          <a:pt x="247997" y="27122"/>
                          <a:pt x="431202" y="0"/>
                        </a:cubicBezTo>
                        <a:cubicBezTo>
                          <a:pt x="614407" y="-27122"/>
                          <a:pt x="677258" y="29720"/>
                          <a:pt x="880005" y="0"/>
                        </a:cubicBezTo>
                        <a:cubicBezTo>
                          <a:pt x="907968" y="78977"/>
                          <a:pt x="849581" y="271296"/>
                          <a:pt x="880005" y="369332"/>
                        </a:cubicBezTo>
                        <a:cubicBezTo>
                          <a:pt x="724165" y="412455"/>
                          <a:pt x="639134" y="357050"/>
                          <a:pt x="440003" y="369332"/>
                        </a:cubicBezTo>
                        <a:cubicBezTo>
                          <a:pt x="240872" y="381614"/>
                          <a:pt x="202949" y="346116"/>
                          <a:pt x="0" y="369332"/>
                        </a:cubicBezTo>
                        <a:cubicBezTo>
                          <a:pt x="-6017" y="217080"/>
                          <a:pt x="5246" y="88445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Consolas" panose="020B0609020204030204" pitchFamily="49" charset="0"/>
                <a:ea typeface="Source Sans Pro" panose="020B0503030403020204" pitchFamily="34" charset="0"/>
              </a:rPr>
              <a:t>less</a:t>
            </a:r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 is a command line text viewer invoked by typing:</a:t>
            </a:r>
          </a:p>
          <a:p>
            <a:pPr algn="ctr"/>
            <a:endParaRPr lang="en-US" b="1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  <a:p>
            <a:pPr algn="ctr"/>
            <a:r>
              <a:rPr lang="en-US" b="1" dirty="0">
                <a:latin typeface="Consolas" panose="020B0609020204030204" pitchFamily="49" charset="0"/>
                <a:ea typeface="Source Sans Pro" panose="020B0503030403020204" pitchFamily="34" charset="0"/>
              </a:rPr>
              <a:t>less &lt;filename or path&gt;</a:t>
            </a:r>
          </a:p>
          <a:p>
            <a:pPr algn="ctr"/>
            <a:endParaRPr lang="en-US" b="1" dirty="0">
              <a:latin typeface="Consolas" panose="020B0609020204030204" pitchFamily="49" charset="0"/>
              <a:ea typeface="Source Sans Pro" panose="020B0503030403020204" pitchFamily="34" charset="0"/>
            </a:endParaRPr>
          </a:p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And then hitting Enter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D603300-B368-DC6A-588B-3ED6C5BF790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34626" y="1278944"/>
            <a:ext cx="5687152" cy="5579055"/>
          </a:xfrm>
          <a:prstGeom prst="rect">
            <a:avLst/>
          </a:prstGeom>
        </p:spPr>
      </p:pic>
      <p:sp>
        <p:nvSpPr>
          <p:cNvPr id="10" name="Arrow: Right 9">
            <a:extLst>
              <a:ext uri="{FF2B5EF4-FFF2-40B4-BE49-F238E27FC236}">
                <a16:creationId xmlns:a16="http://schemas.microsoft.com/office/drawing/2014/main" id="{711C967C-B988-B6AE-F22D-9C5EFC6D9A6D}"/>
              </a:ext>
            </a:extLst>
          </p:cNvPr>
          <p:cNvSpPr/>
          <p:nvPr/>
        </p:nvSpPr>
        <p:spPr>
          <a:xfrm>
            <a:off x="5023400" y="3233529"/>
            <a:ext cx="981487" cy="390939"/>
          </a:xfrm>
          <a:prstGeom prst="rightArrow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198891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181D55-5073-7508-5A52-CB841AE2BA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>
            <a:extLst>
              <a:ext uri="{FF2B5EF4-FFF2-40B4-BE49-F238E27FC236}">
                <a16:creationId xmlns:a16="http://schemas.microsoft.com/office/drawing/2014/main" id="{09221D76-9867-01D7-58A5-D04C06A68D4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583" y="2816333"/>
            <a:ext cx="4684612" cy="1261241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242B809-0231-49BE-4FA2-A5D6077772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2583" y="122185"/>
            <a:ext cx="10515600" cy="1325563"/>
          </a:xfrm>
        </p:spPr>
        <p:txBody>
          <a:bodyPr/>
          <a:lstStyle/>
          <a:p>
            <a:r>
              <a:rPr lang="en-US" dirty="0"/>
              <a:t>In-terminal text editors and viewers: </a:t>
            </a:r>
            <a:r>
              <a:rPr lang="en-US" dirty="0">
                <a:latin typeface="Consolas" panose="020B0609020204030204" pitchFamily="49" charset="0"/>
              </a:rPr>
              <a:t>less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F4A00A6-66BC-6840-EBF8-5B54126DB750}"/>
              </a:ext>
            </a:extLst>
          </p:cNvPr>
          <p:cNvSpPr txBox="1"/>
          <p:nvPr/>
        </p:nvSpPr>
        <p:spPr>
          <a:xfrm>
            <a:off x="341748" y="4216828"/>
            <a:ext cx="4246281" cy="923330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25400">
            <a:round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880005"/>
                      <a:gd name="csY0" fmla="*/ 0 h 369332"/>
                      <a:gd name="csX1" fmla="*/ 457603 w 880005"/>
                      <a:gd name="csY1" fmla="*/ 0 h 369332"/>
                      <a:gd name="csX2" fmla="*/ 880005 w 880005"/>
                      <a:gd name="csY2" fmla="*/ 0 h 369332"/>
                      <a:gd name="csX3" fmla="*/ 880005 w 880005"/>
                      <a:gd name="csY3" fmla="*/ 369332 h 369332"/>
                      <a:gd name="csX4" fmla="*/ 448803 w 880005"/>
                      <a:gd name="csY4" fmla="*/ 369332 h 369332"/>
                      <a:gd name="csX5" fmla="*/ 0 w 880005"/>
                      <a:gd name="csY5" fmla="*/ 369332 h 369332"/>
                      <a:gd name="csX6" fmla="*/ 0 w 880005"/>
                      <a:gd name="csY6" fmla="*/ 0 h 36933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880005" h="369332" fill="none" extrusionOk="0">
                        <a:moveTo>
                          <a:pt x="0" y="0"/>
                        </a:moveTo>
                        <a:cubicBezTo>
                          <a:pt x="201900" y="-37713"/>
                          <a:pt x="351525" y="28891"/>
                          <a:pt x="457603" y="0"/>
                        </a:cubicBezTo>
                        <a:cubicBezTo>
                          <a:pt x="563681" y="-28891"/>
                          <a:pt x="722276" y="45370"/>
                          <a:pt x="880005" y="0"/>
                        </a:cubicBezTo>
                        <a:cubicBezTo>
                          <a:pt x="881535" y="150881"/>
                          <a:pt x="877252" y="222968"/>
                          <a:pt x="880005" y="369332"/>
                        </a:cubicBezTo>
                        <a:cubicBezTo>
                          <a:pt x="708206" y="372227"/>
                          <a:pt x="628419" y="331255"/>
                          <a:pt x="448803" y="369332"/>
                        </a:cubicBezTo>
                        <a:cubicBezTo>
                          <a:pt x="269187" y="407409"/>
                          <a:pt x="91315" y="362225"/>
                          <a:pt x="0" y="369332"/>
                        </a:cubicBezTo>
                        <a:cubicBezTo>
                          <a:pt x="-23840" y="235268"/>
                          <a:pt x="5511" y="129660"/>
                          <a:pt x="0" y="0"/>
                        </a:cubicBezTo>
                        <a:close/>
                      </a:path>
                      <a:path w="880005" h="369332" stroke="0" extrusionOk="0">
                        <a:moveTo>
                          <a:pt x="0" y="0"/>
                        </a:moveTo>
                        <a:cubicBezTo>
                          <a:pt x="142253" y="-32936"/>
                          <a:pt x="247997" y="27122"/>
                          <a:pt x="431202" y="0"/>
                        </a:cubicBezTo>
                        <a:cubicBezTo>
                          <a:pt x="614407" y="-27122"/>
                          <a:pt x="677258" y="29720"/>
                          <a:pt x="880005" y="0"/>
                        </a:cubicBezTo>
                        <a:cubicBezTo>
                          <a:pt x="907968" y="78977"/>
                          <a:pt x="849581" y="271296"/>
                          <a:pt x="880005" y="369332"/>
                        </a:cubicBezTo>
                        <a:cubicBezTo>
                          <a:pt x="724165" y="412455"/>
                          <a:pt x="639134" y="357050"/>
                          <a:pt x="440003" y="369332"/>
                        </a:cubicBezTo>
                        <a:cubicBezTo>
                          <a:pt x="240872" y="381614"/>
                          <a:pt x="202949" y="346116"/>
                          <a:pt x="0" y="369332"/>
                        </a:cubicBezTo>
                        <a:cubicBezTo>
                          <a:pt x="-6017" y="217080"/>
                          <a:pt x="5246" y="88445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Consolas" panose="020B0609020204030204" pitchFamily="49" charset="0"/>
                <a:ea typeface="Source Sans Pro" panose="020B0503030403020204" pitchFamily="34" charset="0"/>
              </a:rPr>
              <a:t>less</a:t>
            </a:r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 does not load the entire file into memory, so it is good for previewing large files.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233F2BE-BDC2-193B-C666-4CA76BFCD0F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34626" y="1278944"/>
            <a:ext cx="5687152" cy="5579055"/>
          </a:xfrm>
          <a:prstGeom prst="rect">
            <a:avLst/>
          </a:prstGeom>
        </p:spPr>
      </p:pic>
      <p:sp>
        <p:nvSpPr>
          <p:cNvPr id="10" name="Arrow: Right 9">
            <a:extLst>
              <a:ext uri="{FF2B5EF4-FFF2-40B4-BE49-F238E27FC236}">
                <a16:creationId xmlns:a16="http://schemas.microsoft.com/office/drawing/2014/main" id="{82858A2D-25D5-A2B0-5360-CEF5BC2F3D66}"/>
              </a:ext>
            </a:extLst>
          </p:cNvPr>
          <p:cNvSpPr/>
          <p:nvPr/>
        </p:nvSpPr>
        <p:spPr>
          <a:xfrm>
            <a:off x="5023400" y="3233529"/>
            <a:ext cx="981487" cy="390939"/>
          </a:xfrm>
          <a:prstGeom prst="rightArrow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6620167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F775E7-8956-982B-F24B-B4DC68D055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>
            <a:extLst>
              <a:ext uri="{FF2B5EF4-FFF2-40B4-BE49-F238E27FC236}">
                <a16:creationId xmlns:a16="http://schemas.microsoft.com/office/drawing/2014/main" id="{CB6A20EA-48CA-DFC7-B3F8-0FFCE6277F7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583" y="2816333"/>
            <a:ext cx="4684612" cy="1261241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1172910-D7ED-B36F-088D-B645963546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2583" y="122185"/>
            <a:ext cx="10515600" cy="1325563"/>
          </a:xfrm>
        </p:spPr>
        <p:txBody>
          <a:bodyPr/>
          <a:lstStyle/>
          <a:p>
            <a:r>
              <a:rPr lang="en-US" dirty="0"/>
              <a:t>In-terminal text editors and viewers: </a:t>
            </a:r>
            <a:r>
              <a:rPr lang="en-US" dirty="0">
                <a:latin typeface="Consolas" panose="020B0609020204030204" pitchFamily="49" charset="0"/>
              </a:rPr>
              <a:t>less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3D01E95-653A-6906-5B86-EE730865E9B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34626" y="1278944"/>
            <a:ext cx="5687152" cy="5579055"/>
          </a:xfrm>
          <a:prstGeom prst="rect">
            <a:avLst/>
          </a:prstGeom>
        </p:spPr>
      </p:pic>
      <p:sp>
        <p:nvSpPr>
          <p:cNvPr id="10" name="Arrow: Right 9">
            <a:extLst>
              <a:ext uri="{FF2B5EF4-FFF2-40B4-BE49-F238E27FC236}">
                <a16:creationId xmlns:a16="http://schemas.microsoft.com/office/drawing/2014/main" id="{6402E788-2AE4-9DF2-DD3E-E7BFDEA0496F}"/>
              </a:ext>
            </a:extLst>
          </p:cNvPr>
          <p:cNvSpPr/>
          <p:nvPr/>
        </p:nvSpPr>
        <p:spPr>
          <a:xfrm>
            <a:off x="5023400" y="3233529"/>
            <a:ext cx="981487" cy="390939"/>
          </a:xfrm>
          <a:prstGeom prst="rightArrow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352BCE3-20F8-4067-F744-EE7BC7A97438}"/>
              </a:ext>
            </a:extLst>
          </p:cNvPr>
          <p:cNvSpPr txBox="1"/>
          <p:nvPr/>
        </p:nvSpPr>
        <p:spPr>
          <a:xfrm>
            <a:off x="341748" y="4153497"/>
            <a:ext cx="4246281" cy="2585323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25400">
            <a:round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880005"/>
                      <a:gd name="csY0" fmla="*/ 0 h 369332"/>
                      <a:gd name="csX1" fmla="*/ 457603 w 880005"/>
                      <a:gd name="csY1" fmla="*/ 0 h 369332"/>
                      <a:gd name="csX2" fmla="*/ 880005 w 880005"/>
                      <a:gd name="csY2" fmla="*/ 0 h 369332"/>
                      <a:gd name="csX3" fmla="*/ 880005 w 880005"/>
                      <a:gd name="csY3" fmla="*/ 369332 h 369332"/>
                      <a:gd name="csX4" fmla="*/ 448803 w 880005"/>
                      <a:gd name="csY4" fmla="*/ 369332 h 369332"/>
                      <a:gd name="csX5" fmla="*/ 0 w 880005"/>
                      <a:gd name="csY5" fmla="*/ 369332 h 369332"/>
                      <a:gd name="csX6" fmla="*/ 0 w 880005"/>
                      <a:gd name="csY6" fmla="*/ 0 h 36933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880005" h="369332" fill="none" extrusionOk="0">
                        <a:moveTo>
                          <a:pt x="0" y="0"/>
                        </a:moveTo>
                        <a:cubicBezTo>
                          <a:pt x="201900" y="-37713"/>
                          <a:pt x="351525" y="28891"/>
                          <a:pt x="457603" y="0"/>
                        </a:cubicBezTo>
                        <a:cubicBezTo>
                          <a:pt x="563681" y="-28891"/>
                          <a:pt x="722276" y="45370"/>
                          <a:pt x="880005" y="0"/>
                        </a:cubicBezTo>
                        <a:cubicBezTo>
                          <a:pt x="881535" y="150881"/>
                          <a:pt x="877252" y="222968"/>
                          <a:pt x="880005" y="369332"/>
                        </a:cubicBezTo>
                        <a:cubicBezTo>
                          <a:pt x="708206" y="372227"/>
                          <a:pt x="628419" y="331255"/>
                          <a:pt x="448803" y="369332"/>
                        </a:cubicBezTo>
                        <a:cubicBezTo>
                          <a:pt x="269187" y="407409"/>
                          <a:pt x="91315" y="362225"/>
                          <a:pt x="0" y="369332"/>
                        </a:cubicBezTo>
                        <a:cubicBezTo>
                          <a:pt x="-23840" y="235268"/>
                          <a:pt x="5511" y="129660"/>
                          <a:pt x="0" y="0"/>
                        </a:cubicBezTo>
                        <a:close/>
                      </a:path>
                      <a:path w="880005" h="369332" stroke="0" extrusionOk="0">
                        <a:moveTo>
                          <a:pt x="0" y="0"/>
                        </a:moveTo>
                        <a:cubicBezTo>
                          <a:pt x="142253" y="-32936"/>
                          <a:pt x="247997" y="27122"/>
                          <a:pt x="431202" y="0"/>
                        </a:cubicBezTo>
                        <a:cubicBezTo>
                          <a:pt x="614407" y="-27122"/>
                          <a:pt x="677258" y="29720"/>
                          <a:pt x="880005" y="0"/>
                        </a:cubicBezTo>
                        <a:cubicBezTo>
                          <a:pt x="907968" y="78977"/>
                          <a:pt x="849581" y="271296"/>
                          <a:pt x="880005" y="369332"/>
                        </a:cubicBezTo>
                        <a:cubicBezTo>
                          <a:pt x="724165" y="412455"/>
                          <a:pt x="639134" y="357050"/>
                          <a:pt x="440003" y="369332"/>
                        </a:cubicBezTo>
                        <a:cubicBezTo>
                          <a:pt x="240872" y="381614"/>
                          <a:pt x="202949" y="346116"/>
                          <a:pt x="0" y="369332"/>
                        </a:cubicBezTo>
                        <a:cubicBezTo>
                          <a:pt x="-6017" y="217080"/>
                          <a:pt x="5246" y="88445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u="sng" dirty="0">
                <a:latin typeface="Source Sans Pro" panose="020B0503030403020204" pitchFamily="34" charset="0"/>
                <a:ea typeface="Source Sans Pro" panose="020B0503030403020204" pitchFamily="34" charset="0"/>
              </a:rPr>
              <a:t>Navigation</a:t>
            </a:r>
            <a:endParaRPr lang="en-US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  <a:p>
            <a:pPr algn="ctr"/>
            <a:endParaRPr lang="en-US" u="sng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Up/down arrows: move up and down 1 line</a:t>
            </a:r>
          </a:p>
          <a:p>
            <a:pPr algn="ctr"/>
            <a:endParaRPr lang="en-US" dirty="0">
              <a:latin typeface="Consolas" panose="020B0609020204030204" pitchFamily="49" charset="0"/>
              <a:ea typeface="Source Sans Pro" panose="020B0503030403020204" pitchFamily="34" charset="0"/>
            </a:endParaRPr>
          </a:p>
          <a:p>
            <a:pPr algn="ctr"/>
            <a:r>
              <a:rPr lang="en-US" dirty="0">
                <a:latin typeface="Consolas" panose="020B0609020204030204" pitchFamily="49" charset="0"/>
                <a:ea typeface="Source Sans Pro" panose="020B0503030403020204" pitchFamily="34" charset="0"/>
              </a:rPr>
              <a:t>&lt;space&gt;</a:t>
            </a:r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: move down one page</a:t>
            </a:r>
          </a:p>
          <a:p>
            <a:pPr algn="ctr"/>
            <a:r>
              <a:rPr lang="en-US" dirty="0">
                <a:latin typeface="Consolas" panose="020B0609020204030204" pitchFamily="49" charset="0"/>
                <a:ea typeface="Source Sans Pro" panose="020B0503030403020204" pitchFamily="34" charset="0"/>
              </a:rPr>
              <a:t>&lt;b&gt;</a:t>
            </a:r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: move up (back) one page</a:t>
            </a:r>
          </a:p>
          <a:p>
            <a:pPr algn="ctr"/>
            <a:endParaRPr lang="en-US" dirty="0">
              <a:latin typeface="Consolas" panose="020B0609020204030204" pitchFamily="49" charset="0"/>
              <a:ea typeface="Source Sans Pro" panose="020B0503030403020204" pitchFamily="34" charset="0"/>
            </a:endParaRPr>
          </a:p>
          <a:p>
            <a:pPr algn="ctr"/>
            <a:r>
              <a:rPr lang="en-US" dirty="0">
                <a:latin typeface="Consolas" panose="020B0609020204030204" pitchFamily="49" charset="0"/>
                <a:ea typeface="Source Sans Pro" panose="020B0503030403020204" pitchFamily="34" charset="0"/>
              </a:rPr>
              <a:t>&lt;q&gt;</a:t>
            </a:r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: exit the viewer</a:t>
            </a:r>
          </a:p>
        </p:txBody>
      </p:sp>
    </p:spTree>
    <p:extLst>
      <p:ext uri="{BB962C8B-B14F-4D97-AF65-F5344CB8AC3E}">
        <p14:creationId xmlns:p14="http://schemas.microsoft.com/office/powerpoint/2010/main" val="2311012169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F0749B-D2F2-5CA3-2796-4A30EAE906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>
            <a:extLst>
              <a:ext uri="{FF2B5EF4-FFF2-40B4-BE49-F238E27FC236}">
                <a16:creationId xmlns:a16="http://schemas.microsoft.com/office/drawing/2014/main" id="{50AD7245-8B89-0389-8D2F-57F1904B96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583" y="2816333"/>
            <a:ext cx="4684612" cy="1261241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3C7FFF1-F397-95F3-4452-87954AF8B0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2583" y="122185"/>
            <a:ext cx="10515600" cy="1325563"/>
          </a:xfrm>
        </p:spPr>
        <p:txBody>
          <a:bodyPr/>
          <a:lstStyle/>
          <a:p>
            <a:r>
              <a:rPr lang="en-US" dirty="0"/>
              <a:t>In-terminal text editors and viewers: </a:t>
            </a:r>
            <a:r>
              <a:rPr lang="en-US" dirty="0">
                <a:latin typeface="Consolas" panose="020B0609020204030204" pitchFamily="49" charset="0"/>
              </a:rPr>
              <a:t>less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F39FF31-0970-9D49-C0DE-6D2BBA3846D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34626" y="1278944"/>
            <a:ext cx="5687152" cy="5579055"/>
          </a:xfrm>
          <a:prstGeom prst="rect">
            <a:avLst/>
          </a:prstGeom>
        </p:spPr>
      </p:pic>
      <p:sp>
        <p:nvSpPr>
          <p:cNvPr id="10" name="Arrow: Right 9">
            <a:extLst>
              <a:ext uri="{FF2B5EF4-FFF2-40B4-BE49-F238E27FC236}">
                <a16:creationId xmlns:a16="http://schemas.microsoft.com/office/drawing/2014/main" id="{7F09BFA2-A4CC-330F-E136-E33286EE6FDB}"/>
              </a:ext>
            </a:extLst>
          </p:cNvPr>
          <p:cNvSpPr/>
          <p:nvPr/>
        </p:nvSpPr>
        <p:spPr>
          <a:xfrm>
            <a:off x="5023400" y="3233529"/>
            <a:ext cx="981487" cy="390939"/>
          </a:xfrm>
          <a:prstGeom prst="rightArrow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76F4037-DFD0-F20D-1036-CC6A3DA0F776}"/>
              </a:ext>
            </a:extLst>
          </p:cNvPr>
          <p:cNvSpPr txBox="1"/>
          <p:nvPr/>
        </p:nvSpPr>
        <p:spPr>
          <a:xfrm>
            <a:off x="341748" y="4153497"/>
            <a:ext cx="4246281" cy="2585323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25400">
            <a:round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880005"/>
                      <a:gd name="csY0" fmla="*/ 0 h 369332"/>
                      <a:gd name="csX1" fmla="*/ 457603 w 880005"/>
                      <a:gd name="csY1" fmla="*/ 0 h 369332"/>
                      <a:gd name="csX2" fmla="*/ 880005 w 880005"/>
                      <a:gd name="csY2" fmla="*/ 0 h 369332"/>
                      <a:gd name="csX3" fmla="*/ 880005 w 880005"/>
                      <a:gd name="csY3" fmla="*/ 369332 h 369332"/>
                      <a:gd name="csX4" fmla="*/ 448803 w 880005"/>
                      <a:gd name="csY4" fmla="*/ 369332 h 369332"/>
                      <a:gd name="csX5" fmla="*/ 0 w 880005"/>
                      <a:gd name="csY5" fmla="*/ 369332 h 369332"/>
                      <a:gd name="csX6" fmla="*/ 0 w 880005"/>
                      <a:gd name="csY6" fmla="*/ 0 h 36933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880005" h="369332" fill="none" extrusionOk="0">
                        <a:moveTo>
                          <a:pt x="0" y="0"/>
                        </a:moveTo>
                        <a:cubicBezTo>
                          <a:pt x="201900" y="-37713"/>
                          <a:pt x="351525" y="28891"/>
                          <a:pt x="457603" y="0"/>
                        </a:cubicBezTo>
                        <a:cubicBezTo>
                          <a:pt x="563681" y="-28891"/>
                          <a:pt x="722276" y="45370"/>
                          <a:pt x="880005" y="0"/>
                        </a:cubicBezTo>
                        <a:cubicBezTo>
                          <a:pt x="881535" y="150881"/>
                          <a:pt x="877252" y="222968"/>
                          <a:pt x="880005" y="369332"/>
                        </a:cubicBezTo>
                        <a:cubicBezTo>
                          <a:pt x="708206" y="372227"/>
                          <a:pt x="628419" y="331255"/>
                          <a:pt x="448803" y="369332"/>
                        </a:cubicBezTo>
                        <a:cubicBezTo>
                          <a:pt x="269187" y="407409"/>
                          <a:pt x="91315" y="362225"/>
                          <a:pt x="0" y="369332"/>
                        </a:cubicBezTo>
                        <a:cubicBezTo>
                          <a:pt x="-23840" y="235268"/>
                          <a:pt x="5511" y="129660"/>
                          <a:pt x="0" y="0"/>
                        </a:cubicBezTo>
                        <a:close/>
                      </a:path>
                      <a:path w="880005" h="369332" stroke="0" extrusionOk="0">
                        <a:moveTo>
                          <a:pt x="0" y="0"/>
                        </a:moveTo>
                        <a:cubicBezTo>
                          <a:pt x="142253" y="-32936"/>
                          <a:pt x="247997" y="27122"/>
                          <a:pt x="431202" y="0"/>
                        </a:cubicBezTo>
                        <a:cubicBezTo>
                          <a:pt x="614407" y="-27122"/>
                          <a:pt x="677258" y="29720"/>
                          <a:pt x="880005" y="0"/>
                        </a:cubicBezTo>
                        <a:cubicBezTo>
                          <a:pt x="907968" y="78977"/>
                          <a:pt x="849581" y="271296"/>
                          <a:pt x="880005" y="369332"/>
                        </a:cubicBezTo>
                        <a:cubicBezTo>
                          <a:pt x="724165" y="412455"/>
                          <a:pt x="639134" y="357050"/>
                          <a:pt x="440003" y="369332"/>
                        </a:cubicBezTo>
                        <a:cubicBezTo>
                          <a:pt x="240872" y="381614"/>
                          <a:pt x="202949" y="346116"/>
                          <a:pt x="0" y="369332"/>
                        </a:cubicBezTo>
                        <a:cubicBezTo>
                          <a:pt x="-6017" y="217080"/>
                          <a:pt x="5246" y="88445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u="sng" dirty="0">
                <a:latin typeface="Source Sans Pro" panose="020B0503030403020204" pitchFamily="34" charset="0"/>
                <a:ea typeface="Source Sans Pro" panose="020B0503030403020204" pitchFamily="34" charset="0"/>
              </a:rPr>
              <a:t>Navigation</a:t>
            </a:r>
            <a:endParaRPr lang="en-US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  <a:p>
            <a:pPr algn="ctr"/>
            <a:endParaRPr lang="en-US" u="sng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Up/down arrows: move up and down 1 line</a:t>
            </a:r>
          </a:p>
          <a:p>
            <a:pPr algn="ctr"/>
            <a:endParaRPr lang="en-US" dirty="0">
              <a:latin typeface="Consolas" panose="020B0609020204030204" pitchFamily="49" charset="0"/>
              <a:ea typeface="Source Sans Pro" panose="020B0503030403020204" pitchFamily="34" charset="0"/>
            </a:endParaRPr>
          </a:p>
          <a:p>
            <a:pPr algn="ctr"/>
            <a:r>
              <a:rPr lang="en-US" dirty="0">
                <a:latin typeface="Consolas" panose="020B0609020204030204" pitchFamily="49" charset="0"/>
                <a:ea typeface="Source Sans Pro" panose="020B0503030403020204" pitchFamily="34" charset="0"/>
              </a:rPr>
              <a:t>&lt;space&gt;</a:t>
            </a:r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: move down one page</a:t>
            </a:r>
          </a:p>
          <a:p>
            <a:pPr algn="ctr"/>
            <a:r>
              <a:rPr lang="en-US" dirty="0">
                <a:latin typeface="Consolas" panose="020B0609020204030204" pitchFamily="49" charset="0"/>
                <a:ea typeface="Source Sans Pro" panose="020B0503030403020204" pitchFamily="34" charset="0"/>
              </a:rPr>
              <a:t>&lt;b&gt;</a:t>
            </a:r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: move up (back) one page</a:t>
            </a:r>
          </a:p>
          <a:p>
            <a:pPr algn="ctr"/>
            <a:endParaRPr lang="en-US" dirty="0">
              <a:latin typeface="Consolas" panose="020B0609020204030204" pitchFamily="49" charset="0"/>
              <a:ea typeface="Source Sans Pro" panose="020B0503030403020204" pitchFamily="34" charset="0"/>
            </a:endParaRPr>
          </a:p>
          <a:p>
            <a:pPr algn="ctr"/>
            <a:r>
              <a:rPr lang="en-US" dirty="0">
                <a:latin typeface="Consolas" panose="020B0609020204030204" pitchFamily="49" charset="0"/>
                <a:ea typeface="Source Sans Pro" panose="020B0503030403020204" pitchFamily="34" charset="0"/>
              </a:rPr>
              <a:t>&lt;q&gt;</a:t>
            </a:r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: exit the viewer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7AFE0C6-BD82-8A53-6816-8C845633A91D}"/>
              </a:ext>
            </a:extLst>
          </p:cNvPr>
          <p:cNvSpPr txBox="1"/>
          <p:nvPr/>
        </p:nvSpPr>
        <p:spPr>
          <a:xfrm>
            <a:off x="341748" y="1447748"/>
            <a:ext cx="4246281" cy="1200329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25400">
            <a:solidFill>
              <a:schemeClr val="accent6">
                <a:lumMod val="75000"/>
              </a:schemeClr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880005"/>
                      <a:gd name="csY0" fmla="*/ 0 h 369332"/>
                      <a:gd name="csX1" fmla="*/ 457603 w 880005"/>
                      <a:gd name="csY1" fmla="*/ 0 h 369332"/>
                      <a:gd name="csX2" fmla="*/ 880005 w 880005"/>
                      <a:gd name="csY2" fmla="*/ 0 h 369332"/>
                      <a:gd name="csX3" fmla="*/ 880005 w 880005"/>
                      <a:gd name="csY3" fmla="*/ 369332 h 369332"/>
                      <a:gd name="csX4" fmla="*/ 448803 w 880005"/>
                      <a:gd name="csY4" fmla="*/ 369332 h 369332"/>
                      <a:gd name="csX5" fmla="*/ 0 w 880005"/>
                      <a:gd name="csY5" fmla="*/ 369332 h 369332"/>
                      <a:gd name="csX6" fmla="*/ 0 w 880005"/>
                      <a:gd name="csY6" fmla="*/ 0 h 36933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880005" h="369332" fill="none" extrusionOk="0">
                        <a:moveTo>
                          <a:pt x="0" y="0"/>
                        </a:moveTo>
                        <a:cubicBezTo>
                          <a:pt x="201900" y="-37713"/>
                          <a:pt x="351525" y="28891"/>
                          <a:pt x="457603" y="0"/>
                        </a:cubicBezTo>
                        <a:cubicBezTo>
                          <a:pt x="563681" y="-28891"/>
                          <a:pt x="722276" y="45370"/>
                          <a:pt x="880005" y="0"/>
                        </a:cubicBezTo>
                        <a:cubicBezTo>
                          <a:pt x="881535" y="150881"/>
                          <a:pt x="877252" y="222968"/>
                          <a:pt x="880005" y="369332"/>
                        </a:cubicBezTo>
                        <a:cubicBezTo>
                          <a:pt x="708206" y="372227"/>
                          <a:pt x="628419" y="331255"/>
                          <a:pt x="448803" y="369332"/>
                        </a:cubicBezTo>
                        <a:cubicBezTo>
                          <a:pt x="269187" y="407409"/>
                          <a:pt x="91315" y="362225"/>
                          <a:pt x="0" y="369332"/>
                        </a:cubicBezTo>
                        <a:cubicBezTo>
                          <a:pt x="-23840" y="235268"/>
                          <a:pt x="5511" y="129660"/>
                          <a:pt x="0" y="0"/>
                        </a:cubicBezTo>
                        <a:close/>
                      </a:path>
                      <a:path w="880005" h="369332" stroke="0" extrusionOk="0">
                        <a:moveTo>
                          <a:pt x="0" y="0"/>
                        </a:moveTo>
                        <a:cubicBezTo>
                          <a:pt x="142253" y="-32936"/>
                          <a:pt x="247997" y="27122"/>
                          <a:pt x="431202" y="0"/>
                        </a:cubicBezTo>
                        <a:cubicBezTo>
                          <a:pt x="614407" y="-27122"/>
                          <a:pt x="677258" y="29720"/>
                          <a:pt x="880005" y="0"/>
                        </a:cubicBezTo>
                        <a:cubicBezTo>
                          <a:pt x="907968" y="78977"/>
                          <a:pt x="849581" y="271296"/>
                          <a:pt x="880005" y="369332"/>
                        </a:cubicBezTo>
                        <a:cubicBezTo>
                          <a:pt x="724165" y="412455"/>
                          <a:pt x="639134" y="357050"/>
                          <a:pt x="440003" y="369332"/>
                        </a:cubicBezTo>
                        <a:cubicBezTo>
                          <a:pt x="240872" y="381614"/>
                          <a:pt x="202949" y="346116"/>
                          <a:pt x="0" y="369332"/>
                        </a:cubicBezTo>
                        <a:cubicBezTo>
                          <a:pt x="-6017" y="217080"/>
                          <a:pt x="5246" y="88445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u="sng" dirty="0">
                <a:latin typeface="Source Sans Pro" panose="020B0503030403020204" pitchFamily="34" charset="0"/>
                <a:ea typeface="Source Sans Pro" panose="020B0503030403020204" pitchFamily="34" charset="0"/>
              </a:rPr>
              <a:t>Tip</a:t>
            </a:r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: use the </a:t>
            </a:r>
            <a:r>
              <a:rPr lang="en-US" dirty="0">
                <a:latin typeface="Consolas" panose="020B0609020204030204" pitchFamily="49" charset="0"/>
                <a:ea typeface="Source Sans Pro" panose="020B0503030403020204" pitchFamily="34" charset="0"/>
              </a:rPr>
              <a:t>-S </a:t>
            </a:r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option to disable line wrapping:</a:t>
            </a:r>
          </a:p>
          <a:p>
            <a:pPr algn="ctr"/>
            <a:endParaRPr lang="en-US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  <a:p>
            <a:pPr algn="ctr"/>
            <a:r>
              <a:rPr lang="en-US" dirty="0">
                <a:latin typeface="Consolas" panose="020B0609020204030204" pitchFamily="49" charset="0"/>
                <a:ea typeface="Source Sans Pro" panose="020B0503030403020204" pitchFamily="34" charset="0"/>
              </a:rPr>
              <a:t>less -S &lt;file name or path&gt; </a:t>
            </a:r>
          </a:p>
        </p:txBody>
      </p:sp>
    </p:spTree>
    <p:extLst>
      <p:ext uri="{BB962C8B-B14F-4D97-AF65-F5344CB8AC3E}">
        <p14:creationId xmlns:p14="http://schemas.microsoft.com/office/powerpoint/2010/main" val="3564287548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6ACB26-AF1F-F835-395F-EEB7939C69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50124C-3557-BC24-2CB0-351DBBCCDA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2583" y="122185"/>
            <a:ext cx="10515600" cy="1325563"/>
          </a:xfrm>
        </p:spPr>
        <p:txBody>
          <a:bodyPr/>
          <a:lstStyle/>
          <a:p>
            <a:r>
              <a:rPr lang="en-US" dirty="0"/>
              <a:t>Printing a file to the terminal: </a:t>
            </a:r>
            <a:r>
              <a:rPr lang="en-US" dirty="0">
                <a:latin typeface="Consolas" panose="020B0609020204030204" pitchFamily="49" charset="0"/>
              </a:rPr>
              <a:t>cat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17DBDD5-1200-87D0-A034-CECBF1C47A2A}"/>
              </a:ext>
            </a:extLst>
          </p:cNvPr>
          <p:cNvSpPr txBox="1"/>
          <p:nvPr/>
        </p:nvSpPr>
        <p:spPr>
          <a:xfrm>
            <a:off x="341748" y="4442255"/>
            <a:ext cx="4246281" cy="646331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25400">
            <a:round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880005"/>
                      <a:gd name="csY0" fmla="*/ 0 h 369332"/>
                      <a:gd name="csX1" fmla="*/ 457603 w 880005"/>
                      <a:gd name="csY1" fmla="*/ 0 h 369332"/>
                      <a:gd name="csX2" fmla="*/ 880005 w 880005"/>
                      <a:gd name="csY2" fmla="*/ 0 h 369332"/>
                      <a:gd name="csX3" fmla="*/ 880005 w 880005"/>
                      <a:gd name="csY3" fmla="*/ 369332 h 369332"/>
                      <a:gd name="csX4" fmla="*/ 448803 w 880005"/>
                      <a:gd name="csY4" fmla="*/ 369332 h 369332"/>
                      <a:gd name="csX5" fmla="*/ 0 w 880005"/>
                      <a:gd name="csY5" fmla="*/ 369332 h 369332"/>
                      <a:gd name="csX6" fmla="*/ 0 w 880005"/>
                      <a:gd name="csY6" fmla="*/ 0 h 36933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880005" h="369332" fill="none" extrusionOk="0">
                        <a:moveTo>
                          <a:pt x="0" y="0"/>
                        </a:moveTo>
                        <a:cubicBezTo>
                          <a:pt x="201900" y="-37713"/>
                          <a:pt x="351525" y="28891"/>
                          <a:pt x="457603" y="0"/>
                        </a:cubicBezTo>
                        <a:cubicBezTo>
                          <a:pt x="563681" y="-28891"/>
                          <a:pt x="722276" y="45370"/>
                          <a:pt x="880005" y="0"/>
                        </a:cubicBezTo>
                        <a:cubicBezTo>
                          <a:pt x="881535" y="150881"/>
                          <a:pt x="877252" y="222968"/>
                          <a:pt x="880005" y="369332"/>
                        </a:cubicBezTo>
                        <a:cubicBezTo>
                          <a:pt x="708206" y="372227"/>
                          <a:pt x="628419" y="331255"/>
                          <a:pt x="448803" y="369332"/>
                        </a:cubicBezTo>
                        <a:cubicBezTo>
                          <a:pt x="269187" y="407409"/>
                          <a:pt x="91315" y="362225"/>
                          <a:pt x="0" y="369332"/>
                        </a:cubicBezTo>
                        <a:cubicBezTo>
                          <a:pt x="-23840" y="235268"/>
                          <a:pt x="5511" y="129660"/>
                          <a:pt x="0" y="0"/>
                        </a:cubicBezTo>
                        <a:close/>
                      </a:path>
                      <a:path w="880005" h="369332" stroke="0" extrusionOk="0">
                        <a:moveTo>
                          <a:pt x="0" y="0"/>
                        </a:moveTo>
                        <a:cubicBezTo>
                          <a:pt x="142253" y="-32936"/>
                          <a:pt x="247997" y="27122"/>
                          <a:pt x="431202" y="0"/>
                        </a:cubicBezTo>
                        <a:cubicBezTo>
                          <a:pt x="614407" y="-27122"/>
                          <a:pt x="677258" y="29720"/>
                          <a:pt x="880005" y="0"/>
                        </a:cubicBezTo>
                        <a:cubicBezTo>
                          <a:pt x="907968" y="78977"/>
                          <a:pt x="849581" y="271296"/>
                          <a:pt x="880005" y="369332"/>
                        </a:cubicBezTo>
                        <a:cubicBezTo>
                          <a:pt x="724165" y="412455"/>
                          <a:pt x="639134" y="357050"/>
                          <a:pt x="440003" y="369332"/>
                        </a:cubicBezTo>
                        <a:cubicBezTo>
                          <a:pt x="240872" y="381614"/>
                          <a:pt x="202949" y="346116"/>
                          <a:pt x="0" y="369332"/>
                        </a:cubicBezTo>
                        <a:cubicBezTo>
                          <a:pt x="-6017" y="217080"/>
                          <a:pt x="5246" y="88445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Consolas" panose="020B0609020204030204" pitchFamily="49" charset="0"/>
                <a:ea typeface="Source Sans Pro" panose="020B0503030403020204" pitchFamily="34" charset="0"/>
              </a:rPr>
              <a:t>cat</a:t>
            </a:r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 (short for concatenate) displays file contents on the screen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053EB025-FEED-4BFF-12C5-D2D2FCC772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583" y="2847725"/>
            <a:ext cx="4684612" cy="12207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7160276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771420-3A07-F9C4-135E-F508273317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BB9097-B1FF-01AA-E7E3-BCE9A340C5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2583" y="122185"/>
            <a:ext cx="10515600" cy="1325563"/>
          </a:xfrm>
        </p:spPr>
        <p:txBody>
          <a:bodyPr/>
          <a:lstStyle/>
          <a:p>
            <a:r>
              <a:rPr lang="en-US" dirty="0"/>
              <a:t>Printing a file to the terminal: </a:t>
            </a:r>
            <a:r>
              <a:rPr lang="en-US" dirty="0">
                <a:latin typeface="Consolas" panose="020B0609020204030204" pitchFamily="49" charset="0"/>
              </a:rPr>
              <a:t>cat</a:t>
            </a:r>
          </a:p>
        </p:txBody>
      </p:sp>
      <p:sp>
        <p:nvSpPr>
          <p:cNvPr id="10" name="Arrow: Right 9">
            <a:extLst>
              <a:ext uri="{FF2B5EF4-FFF2-40B4-BE49-F238E27FC236}">
                <a16:creationId xmlns:a16="http://schemas.microsoft.com/office/drawing/2014/main" id="{62D2CDD5-4C65-A7CE-F645-F275C14BC93F}"/>
              </a:ext>
            </a:extLst>
          </p:cNvPr>
          <p:cNvSpPr/>
          <p:nvPr/>
        </p:nvSpPr>
        <p:spPr>
          <a:xfrm>
            <a:off x="5023400" y="3233529"/>
            <a:ext cx="1612016" cy="390939"/>
          </a:xfrm>
          <a:prstGeom prst="rightArrow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51DDE6-8FD8-1774-8604-B74622F3DBFB}"/>
              </a:ext>
            </a:extLst>
          </p:cNvPr>
          <p:cNvSpPr txBox="1"/>
          <p:nvPr/>
        </p:nvSpPr>
        <p:spPr>
          <a:xfrm>
            <a:off x="341748" y="4442255"/>
            <a:ext cx="4246281" cy="646331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25400">
            <a:round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880005"/>
                      <a:gd name="csY0" fmla="*/ 0 h 369332"/>
                      <a:gd name="csX1" fmla="*/ 457603 w 880005"/>
                      <a:gd name="csY1" fmla="*/ 0 h 369332"/>
                      <a:gd name="csX2" fmla="*/ 880005 w 880005"/>
                      <a:gd name="csY2" fmla="*/ 0 h 369332"/>
                      <a:gd name="csX3" fmla="*/ 880005 w 880005"/>
                      <a:gd name="csY3" fmla="*/ 369332 h 369332"/>
                      <a:gd name="csX4" fmla="*/ 448803 w 880005"/>
                      <a:gd name="csY4" fmla="*/ 369332 h 369332"/>
                      <a:gd name="csX5" fmla="*/ 0 w 880005"/>
                      <a:gd name="csY5" fmla="*/ 369332 h 369332"/>
                      <a:gd name="csX6" fmla="*/ 0 w 880005"/>
                      <a:gd name="csY6" fmla="*/ 0 h 36933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880005" h="369332" fill="none" extrusionOk="0">
                        <a:moveTo>
                          <a:pt x="0" y="0"/>
                        </a:moveTo>
                        <a:cubicBezTo>
                          <a:pt x="201900" y="-37713"/>
                          <a:pt x="351525" y="28891"/>
                          <a:pt x="457603" y="0"/>
                        </a:cubicBezTo>
                        <a:cubicBezTo>
                          <a:pt x="563681" y="-28891"/>
                          <a:pt x="722276" y="45370"/>
                          <a:pt x="880005" y="0"/>
                        </a:cubicBezTo>
                        <a:cubicBezTo>
                          <a:pt x="881535" y="150881"/>
                          <a:pt x="877252" y="222968"/>
                          <a:pt x="880005" y="369332"/>
                        </a:cubicBezTo>
                        <a:cubicBezTo>
                          <a:pt x="708206" y="372227"/>
                          <a:pt x="628419" y="331255"/>
                          <a:pt x="448803" y="369332"/>
                        </a:cubicBezTo>
                        <a:cubicBezTo>
                          <a:pt x="269187" y="407409"/>
                          <a:pt x="91315" y="362225"/>
                          <a:pt x="0" y="369332"/>
                        </a:cubicBezTo>
                        <a:cubicBezTo>
                          <a:pt x="-23840" y="235268"/>
                          <a:pt x="5511" y="129660"/>
                          <a:pt x="0" y="0"/>
                        </a:cubicBezTo>
                        <a:close/>
                      </a:path>
                      <a:path w="880005" h="369332" stroke="0" extrusionOk="0">
                        <a:moveTo>
                          <a:pt x="0" y="0"/>
                        </a:moveTo>
                        <a:cubicBezTo>
                          <a:pt x="142253" y="-32936"/>
                          <a:pt x="247997" y="27122"/>
                          <a:pt x="431202" y="0"/>
                        </a:cubicBezTo>
                        <a:cubicBezTo>
                          <a:pt x="614407" y="-27122"/>
                          <a:pt x="677258" y="29720"/>
                          <a:pt x="880005" y="0"/>
                        </a:cubicBezTo>
                        <a:cubicBezTo>
                          <a:pt x="907968" y="78977"/>
                          <a:pt x="849581" y="271296"/>
                          <a:pt x="880005" y="369332"/>
                        </a:cubicBezTo>
                        <a:cubicBezTo>
                          <a:pt x="724165" y="412455"/>
                          <a:pt x="639134" y="357050"/>
                          <a:pt x="440003" y="369332"/>
                        </a:cubicBezTo>
                        <a:cubicBezTo>
                          <a:pt x="240872" y="381614"/>
                          <a:pt x="202949" y="346116"/>
                          <a:pt x="0" y="369332"/>
                        </a:cubicBezTo>
                        <a:cubicBezTo>
                          <a:pt x="-6017" y="217080"/>
                          <a:pt x="5246" y="88445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Consolas" panose="020B0609020204030204" pitchFamily="49" charset="0"/>
                <a:ea typeface="Source Sans Pro" panose="020B0503030403020204" pitchFamily="34" charset="0"/>
              </a:rPr>
              <a:t>cat</a:t>
            </a:r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 (short for concatenate) displays file contents on the screen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23674A71-B671-8F39-A3A3-282C74F407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583" y="2847725"/>
            <a:ext cx="4684612" cy="1220746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A55D1F15-CA9B-455D-6632-5BB7A9E15EF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37536" y="2758286"/>
            <a:ext cx="4237532" cy="13414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65170636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D77F46-3349-8375-2D52-48D0BD65FF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F7964F-72F1-FE57-AE86-F82C25327B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2583" y="122185"/>
            <a:ext cx="10515600" cy="1325563"/>
          </a:xfrm>
        </p:spPr>
        <p:txBody>
          <a:bodyPr/>
          <a:lstStyle/>
          <a:p>
            <a:r>
              <a:rPr lang="en-US" dirty="0"/>
              <a:t>Printing a file to the terminal: </a:t>
            </a:r>
            <a:r>
              <a:rPr lang="en-US" dirty="0">
                <a:latin typeface="Consolas" panose="020B0609020204030204" pitchFamily="49" charset="0"/>
              </a:rPr>
              <a:t>cat</a:t>
            </a:r>
          </a:p>
        </p:txBody>
      </p:sp>
      <p:sp>
        <p:nvSpPr>
          <p:cNvPr id="10" name="Arrow: Right 9">
            <a:extLst>
              <a:ext uri="{FF2B5EF4-FFF2-40B4-BE49-F238E27FC236}">
                <a16:creationId xmlns:a16="http://schemas.microsoft.com/office/drawing/2014/main" id="{564C2367-7CDE-74B6-0E5D-E2D2EC3EEB9A}"/>
              </a:ext>
            </a:extLst>
          </p:cNvPr>
          <p:cNvSpPr/>
          <p:nvPr/>
        </p:nvSpPr>
        <p:spPr>
          <a:xfrm>
            <a:off x="5023400" y="3233529"/>
            <a:ext cx="1612016" cy="390939"/>
          </a:xfrm>
          <a:prstGeom prst="rightArrow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ECC9553-26C5-EFF5-A3DF-C43C1F2E3F9C}"/>
              </a:ext>
            </a:extLst>
          </p:cNvPr>
          <p:cNvSpPr txBox="1"/>
          <p:nvPr/>
        </p:nvSpPr>
        <p:spPr>
          <a:xfrm>
            <a:off x="341748" y="4442255"/>
            <a:ext cx="4246281" cy="646331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25400">
            <a:round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880005"/>
                      <a:gd name="csY0" fmla="*/ 0 h 369332"/>
                      <a:gd name="csX1" fmla="*/ 457603 w 880005"/>
                      <a:gd name="csY1" fmla="*/ 0 h 369332"/>
                      <a:gd name="csX2" fmla="*/ 880005 w 880005"/>
                      <a:gd name="csY2" fmla="*/ 0 h 369332"/>
                      <a:gd name="csX3" fmla="*/ 880005 w 880005"/>
                      <a:gd name="csY3" fmla="*/ 369332 h 369332"/>
                      <a:gd name="csX4" fmla="*/ 448803 w 880005"/>
                      <a:gd name="csY4" fmla="*/ 369332 h 369332"/>
                      <a:gd name="csX5" fmla="*/ 0 w 880005"/>
                      <a:gd name="csY5" fmla="*/ 369332 h 369332"/>
                      <a:gd name="csX6" fmla="*/ 0 w 880005"/>
                      <a:gd name="csY6" fmla="*/ 0 h 36933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880005" h="369332" fill="none" extrusionOk="0">
                        <a:moveTo>
                          <a:pt x="0" y="0"/>
                        </a:moveTo>
                        <a:cubicBezTo>
                          <a:pt x="201900" y="-37713"/>
                          <a:pt x="351525" y="28891"/>
                          <a:pt x="457603" y="0"/>
                        </a:cubicBezTo>
                        <a:cubicBezTo>
                          <a:pt x="563681" y="-28891"/>
                          <a:pt x="722276" y="45370"/>
                          <a:pt x="880005" y="0"/>
                        </a:cubicBezTo>
                        <a:cubicBezTo>
                          <a:pt x="881535" y="150881"/>
                          <a:pt x="877252" y="222968"/>
                          <a:pt x="880005" y="369332"/>
                        </a:cubicBezTo>
                        <a:cubicBezTo>
                          <a:pt x="708206" y="372227"/>
                          <a:pt x="628419" y="331255"/>
                          <a:pt x="448803" y="369332"/>
                        </a:cubicBezTo>
                        <a:cubicBezTo>
                          <a:pt x="269187" y="407409"/>
                          <a:pt x="91315" y="362225"/>
                          <a:pt x="0" y="369332"/>
                        </a:cubicBezTo>
                        <a:cubicBezTo>
                          <a:pt x="-23840" y="235268"/>
                          <a:pt x="5511" y="129660"/>
                          <a:pt x="0" y="0"/>
                        </a:cubicBezTo>
                        <a:close/>
                      </a:path>
                      <a:path w="880005" h="369332" stroke="0" extrusionOk="0">
                        <a:moveTo>
                          <a:pt x="0" y="0"/>
                        </a:moveTo>
                        <a:cubicBezTo>
                          <a:pt x="142253" y="-32936"/>
                          <a:pt x="247997" y="27122"/>
                          <a:pt x="431202" y="0"/>
                        </a:cubicBezTo>
                        <a:cubicBezTo>
                          <a:pt x="614407" y="-27122"/>
                          <a:pt x="677258" y="29720"/>
                          <a:pt x="880005" y="0"/>
                        </a:cubicBezTo>
                        <a:cubicBezTo>
                          <a:pt x="907968" y="78977"/>
                          <a:pt x="849581" y="271296"/>
                          <a:pt x="880005" y="369332"/>
                        </a:cubicBezTo>
                        <a:cubicBezTo>
                          <a:pt x="724165" y="412455"/>
                          <a:pt x="639134" y="357050"/>
                          <a:pt x="440003" y="369332"/>
                        </a:cubicBezTo>
                        <a:cubicBezTo>
                          <a:pt x="240872" y="381614"/>
                          <a:pt x="202949" y="346116"/>
                          <a:pt x="0" y="369332"/>
                        </a:cubicBezTo>
                        <a:cubicBezTo>
                          <a:pt x="-6017" y="217080"/>
                          <a:pt x="5246" y="88445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Consolas" panose="020B0609020204030204" pitchFamily="49" charset="0"/>
                <a:ea typeface="Source Sans Pro" panose="020B0503030403020204" pitchFamily="34" charset="0"/>
              </a:rPr>
              <a:t>cat</a:t>
            </a:r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 (short for concatenate) displays file contents on the screen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CE1B7D4-ED9E-45A0-0A5C-7A5423CCD6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583" y="2847725"/>
            <a:ext cx="4684612" cy="1220746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F81B7EE8-9676-876C-CCE1-7864719386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37536" y="2758286"/>
            <a:ext cx="4237532" cy="1341427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6546E5DF-1899-63E3-49B4-336A2A4B4A1D}"/>
              </a:ext>
            </a:extLst>
          </p:cNvPr>
          <p:cNvSpPr txBox="1"/>
          <p:nvPr/>
        </p:nvSpPr>
        <p:spPr>
          <a:xfrm>
            <a:off x="341747" y="5398218"/>
            <a:ext cx="4246281" cy="36933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25400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880005"/>
                      <a:gd name="csY0" fmla="*/ 0 h 369332"/>
                      <a:gd name="csX1" fmla="*/ 457603 w 880005"/>
                      <a:gd name="csY1" fmla="*/ 0 h 369332"/>
                      <a:gd name="csX2" fmla="*/ 880005 w 880005"/>
                      <a:gd name="csY2" fmla="*/ 0 h 369332"/>
                      <a:gd name="csX3" fmla="*/ 880005 w 880005"/>
                      <a:gd name="csY3" fmla="*/ 369332 h 369332"/>
                      <a:gd name="csX4" fmla="*/ 448803 w 880005"/>
                      <a:gd name="csY4" fmla="*/ 369332 h 369332"/>
                      <a:gd name="csX5" fmla="*/ 0 w 880005"/>
                      <a:gd name="csY5" fmla="*/ 369332 h 369332"/>
                      <a:gd name="csX6" fmla="*/ 0 w 880005"/>
                      <a:gd name="csY6" fmla="*/ 0 h 36933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880005" h="369332" fill="none" extrusionOk="0">
                        <a:moveTo>
                          <a:pt x="0" y="0"/>
                        </a:moveTo>
                        <a:cubicBezTo>
                          <a:pt x="201900" y="-37713"/>
                          <a:pt x="351525" y="28891"/>
                          <a:pt x="457603" y="0"/>
                        </a:cubicBezTo>
                        <a:cubicBezTo>
                          <a:pt x="563681" y="-28891"/>
                          <a:pt x="722276" y="45370"/>
                          <a:pt x="880005" y="0"/>
                        </a:cubicBezTo>
                        <a:cubicBezTo>
                          <a:pt x="881535" y="150881"/>
                          <a:pt x="877252" y="222968"/>
                          <a:pt x="880005" y="369332"/>
                        </a:cubicBezTo>
                        <a:cubicBezTo>
                          <a:pt x="708206" y="372227"/>
                          <a:pt x="628419" y="331255"/>
                          <a:pt x="448803" y="369332"/>
                        </a:cubicBezTo>
                        <a:cubicBezTo>
                          <a:pt x="269187" y="407409"/>
                          <a:pt x="91315" y="362225"/>
                          <a:pt x="0" y="369332"/>
                        </a:cubicBezTo>
                        <a:cubicBezTo>
                          <a:pt x="-23840" y="235268"/>
                          <a:pt x="5511" y="129660"/>
                          <a:pt x="0" y="0"/>
                        </a:cubicBezTo>
                        <a:close/>
                      </a:path>
                      <a:path w="880005" h="369332" stroke="0" extrusionOk="0">
                        <a:moveTo>
                          <a:pt x="0" y="0"/>
                        </a:moveTo>
                        <a:cubicBezTo>
                          <a:pt x="142253" y="-32936"/>
                          <a:pt x="247997" y="27122"/>
                          <a:pt x="431202" y="0"/>
                        </a:cubicBezTo>
                        <a:cubicBezTo>
                          <a:pt x="614407" y="-27122"/>
                          <a:pt x="677258" y="29720"/>
                          <a:pt x="880005" y="0"/>
                        </a:cubicBezTo>
                        <a:cubicBezTo>
                          <a:pt x="907968" y="78977"/>
                          <a:pt x="849581" y="271296"/>
                          <a:pt x="880005" y="369332"/>
                        </a:cubicBezTo>
                        <a:cubicBezTo>
                          <a:pt x="724165" y="412455"/>
                          <a:pt x="639134" y="357050"/>
                          <a:pt x="440003" y="369332"/>
                        </a:cubicBezTo>
                        <a:cubicBezTo>
                          <a:pt x="240872" y="381614"/>
                          <a:pt x="202949" y="346116"/>
                          <a:pt x="0" y="369332"/>
                        </a:cubicBezTo>
                        <a:cubicBezTo>
                          <a:pt x="-6017" y="217080"/>
                          <a:pt x="5246" y="88445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Best for small files!</a:t>
            </a:r>
          </a:p>
        </p:txBody>
      </p:sp>
    </p:spTree>
    <p:extLst>
      <p:ext uri="{BB962C8B-B14F-4D97-AF65-F5344CB8AC3E}">
        <p14:creationId xmlns:p14="http://schemas.microsoft.com/office/powerpoint/2010/main" val="3983985346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69EECD-E829-52F4-E0E1-3639465EEE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" name="Picture 31">
            <a:extLst>
              <a:ext uri="{FF2B5EF4-FFF2-40B4-BE49-F238E27FC236}">
                <a16:creationId xmlns:a16="http://schemas.microsoft.com/office/drawing/2014/main" id="{7370ED69-15BF-7FC7-1A54-CAE2FC2D56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584" y="2856511"/>
            <a:ext cx="4684612" cy="134465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03DDF37-B3F9-C2A5-7CC7-8A1D2F628E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2583" y="122185"/>
            <a:ext cx="10515600" cy="1325563"/>
          </a:xfrm>
        </p:spPr>
        <p:txBody>
          <a:bodyPr/>
          <a:lstStyle/>
          <a:p>
            <a:r>
              <a:rPr lang="en-US" dirty="0"/>
              <a:t>Finding text in a file: </a:t>
            </a:r>
            <a:r>
              <a:rPr lang="en-US" dirty="0">
                <a:latin typeface="Consolas" panose="020B0609020204030204" pitchFamily="49" charset="0"/>
              </a:rPr>
              <a:t>grep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930F307-5C49-ABD9-9D4A-670CEC601F77}"/>
              </a:ext>
            </a:extLst>
          </p:cNvPr>
          <p:cNvSpPr txBox="1"/>
          <p:nvPr/>
        </p:nvSpPr>
        <p:spPr>
          <a:xfrm>
            <a:off x="341748" y="4522829"/>
            <a:ext cx="4246281" cy="923330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25400">
            <a:round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880005"/>
                      <a:gd name="csY0" fmla="*/ 0 h 369332"/>
                      <a:gd name="csX1" fmla="*/ 457603 w 880005"/>
                      <a:gd name="csY1" fmla="*/ 0 h 369332"/>
                      <a:gd name="csX2" fmla="*/ 880005 w 880005"/>
                      <a:gd name="csY2" fmla="*/ 0 h 369332"/>
                      <a:gd name="csX3" fmla="*/ 880005 w 880005"/>
                      <a:gd name="csY3" fmla="*/ 369332 h 369332"/>
                      <a:gd name="csX4" fmla="*/ 448803 w 880005"/>
                      <a:gd name="csY4" fmla="*/ 369332 h 369332"/>
                      <a:gd name="csX5" fmla="*/ 0 w 880005"/>
                      <a:gd name="csY5" fmla="*/ 369332 h 369332"/>
                      <a:gd name="csX6" fmla="*/ 0 w 880005"/>
                      <a:gd name="csY6" fmla="*/ 0 h 36933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880005" h="369332" fill="none" extrusionOk="0">
                        <a:moveTo>
                          <a:pt x="0" y="0"/>
                        </a:moveTo>
                        <a:cubicBezTo>
                          <a:pt x="201900" y="-37713"/>
                          <a:pt x="351525" y="28891"/>
                          <a:pt x="457603" y="0"/>
                        </a:cubicBezTo>
                        <a:cubicBezTo>
                          <a:pt x="563681" y="-28891"/>
                          <a:pt x="722276" y="45370"/>
                          <a:pt x="880005" y="0"/>
                        </a:cubicBezTo>
                        <a:cubicBezTo>
                          <a:pt x="881535" y="150881"/>
                          <a:pt x="877252" y="222968"/>
                          <a:pt x="880005" y="369332"/>
                        </a:cubicBezTo>
                        <a:cubicBezTo>
                          <a:pt x="708206" y="372227"/>
                          <a:pt x="628419" y="331255"/>
                          <a:pt x="448803" y="369332"/>
                        </a:cubicBezTo>
                        <a:cubicBezTo>
                          <a:pt x="269187" y="407409"/>
                          <a:pt x="91315" y="362225"/>
                          <a:pt x="0" y="369332"/>
                        </a:cubicBezTo>
                        <a:cubicBezTo>
                          <a:pt x="-23840" y="235268"/>
                          <a:pt x="5511" y="129660"/>
                          <a:pt x="0" y="0"/>
                        </a:cubicBezTo>
                        <a:close/>
                      </a:path>
                      <a:path w="880005" h="369332" stroke="0" extrusionOk="0">
                        <a:moveTo>
                          <a:pt x="0" y="0"/>
                        </a:moveTo>
                        <a:cubicBezTo>
                          <a:pt x="142253" y="-32936"/>
                          <a:pt x="247997" y="27122"/>
                          <a:pt x="431202" y="0"/>
                        </a:cubicBezTo>
                        <a:cubicBezTo>
                          <a:pt x="614407" y="-27122"/>
                          <a:pt x="677258" y="29720"/>
                          <a:pt x="880005" y="0"/>
                        </a:cubicBezTo>
                        <a:cubicBezTo>
                          <a:pt x="907968" y="78977"/>
                          <a:pt x="849581" y="271296"/>
                          <a:pt x="880005" y="369332"/>
                        </a:cubicBezTo>
                        <a:cubicBezTo>
                          <a:pt x="724165" y="412455"/>
                          <a:pt x="639134" y="357050"/>
                          <a:pt x="440003" y="369332"/>
                        </a:cubicBezTo>
                        <a:cubicBezTo>
                          <a:pt x="240872" y="381614"/>
                          <a:pt x="202949" y="346116"/>
                          <a:pt x="0" y="369332"/>
                        </a:cubicBezTo>
                        <a:cubicBezTo>
                          <a:pt x="-6017" y="217080"/>
                          <a:pt x="5246" y="88445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Consolas" panose="020B0609020204030204" pitchFamily="49" charset="0"/>
                <a:ea typeface="Source Sans Pro" panose="020B0503030403020204" pitchFamily="34" charset="0"/>
              </a:rPr>
              <a:t>grep</a:t>
            </a:r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 reads a file line-by-line and searches for a provided pattern, displaying lines that contain matches to the pattern</a:t>
            </a:r>
          </a:p>
        </p:txBody>
      </p:sp>
    </p:spTree>
    <p:extLst>
      <p:ext uri="{BB962C8B-B14F-4D97-AF65-F5344CB8AC3E}">
        <p14:creationId xmlns:p14="http://schemas.microsoft.com/office/powerpoint/2010/main" val="2916111865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19283E-9DBA-94CF-426F-EA0B4A0E78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" name="Picture 31">
            <a:extLst>
              <a:ext uri="{FF2B5EF4-FFF2-40B4-BE49-F238E27FC236}">
                <a16:creationId xmlns:a16="http://schemas.microsoft.com/office/drawing/2014/main" id="{3CDE2C93-3007-0EA5-241C-B31AB91D92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584" y="2856511"/>
            <a:ext cx="4684612" cy="134465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F1CB677-5B24-8198-1528-EEC09F993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2583" y="122185"/>
            <a:ext cx="10515600" cy="1325563"/>
          </a:xfrm>
        </p:spPr>
        <p:txBody>
          <a:bodyPr/>
          <a:lstStyle/>
          <a:p>
            <a:r>
              <a:rPr lang="en-US" dirty="0"/>
              <a:t>Finding text in a file: </a:t>
            </a:r>
            <a:r>
              <a:rPr lang="en-US" dirty="0">
                <a:latin typeface="Consolas" panose="020B0609020204030204" pitchFamily="49" charset="0"/>
              </a:rPr>
              <a:t>grep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5C50031-3A75-2B5F-5C33-3CA052DB31A3}"/>
              </a:ext>
            </a:extLst>
          </p:cNvPr>
          <p:cNvSpPr txBox="1"/>
          <p:nvPr/>
        </p:nvSpPr>
        <p:spPr>
          <a:xfrm>
            <a:off x="341748" y="4522829"/>
            <a:ext cx="4246281" cy="923330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25400">
            <a:round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880005"/>
                      <a:gd name="csY0" fmla="*/ 0 h 369332"/>
                      <a:gd name="csX1" fmla="*/ 457603 w 880005"/>
                      <a:gd name="csY1" fmla="*/ 0 h 369332"/>
                      <a:gd name="csX2" fmla="*/ 880005 w 880005"/>
                      <a:gd name="csY2" fmla="*/ 0 h 369332"/>
                      <a:gd name="csX3" fmla="*/ 880005 w 880005"/>
                      <a:gd name="csY3" fmla="*/ 369332 h 369332"/>
                      <a:gd name="csX4" fmla="*/ 448803 w 880005"/>
                      <a:gd name="csY4" fmla="*/ 369332 h 369332"/>
                      <a:gd name="csX5" fmla="*/ 0 w 880005"/>
                      <a:gd name="csY5" fmla="*/ 369332 h 369332"/>
                      <a:gd name="csX6" fmla="*/ 0 w 880005"/>
                      <a:gd name="csY6" fmla="*/ 0 h 36933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880005" h="369332" fill="none" extrusionOk="0">
                        <a:moveTo>
                          <a:pt x="0" y="0"/>
                        </a:moveTo>
                        <a:cubicBezTo>
                          <a:pt x="201900" y="-37713"/>
                          <a:pt x="351525" y="28891"/>
                          <a:pt x="457603" y="0"/>
                        </a:cubicBezTo>
                        <a:cubicBezTo>
                          <a:pt x="563681" y="-28891"/>
                          <a:pt x="722276" y="45370"/>
                          <a:pt x="880005" y="0"/>
                        </a:cubicBezTo>
                        <a:cubicBezTo>
                          <a:pt x="881535" y="150881"/>
                          <a:pt x="877252" y="222968"/>
                          <a:pt x="880005" y="369332"/>
                        </a:cubicBezTo>
                        <a:cubicBezTo>
                          <a:pt x="708206" y="372227"/>
                          <a:pt x="628419" y="331255"/>
                          <a:pt x="448803" y="369332"/>
                        </a:cubicBezTo>
                        <a:cubicBezTo>
                          <a:pt x="269187" y="407409"/>
                          <a:pt x="91315" y="362225"/>
                          <a:pt x="0" y="369332"/>
                        </a:cubicBezTo>
                        <a:cubicBezTo>
                          <a:pt x="-23840" y="235268"/>
                          <a:pt x="5511" y="129660"/>
                          <a:pt x="0" y="0"/>
                        </a:cubicBezTo>
                        <a:close/>
                      </a:path>
                      <a:path w="880005" h="369332" stroke="0" extrusionOk="0">
                        <a:moveTo>
                          <a:pt x="0" y="0"/>
                        </a:moveTo>
                        <a:cubicBezTo>
                          <a:pt x="142253" y="-32936"/>
                          <a:pt x="247997" y="27122"/>
                          <a:pt x="431202" y="0"/>
                        </a:cubicBezTo>
                        <a:cubicBezTo>
                          <a:pt x="614407" y="-27122"/>
                          <a:pt x="677258" y="29720"/>
                          <a:pt x="880005" y="0"/>
                        </a:cubicBezTo>
                        <a:cubicBezTo>
                          <a:pt x="907968" y="78977"/>
                          <a:pt x="849581" y="271296"/>
                          <a:pt x="880005" y="369332"/>
                        </a:cubicBezTo>
                        <a:cubicBezTo>
                          <a:pt x="724165" y="412455"/>
                          <a:pt x="639134" y="357050"/>
                          <a:pt x="440003" y="369332"/>
                        </a:cubicBezTo>
                        <a:cubicBezTo>
                          <a:pt x="240872" y="381614"/>
                          <a:pt x="202949" y="346116"/>
                          <a:pt x="0" y="369332"/>
                        </a:cubicBezTo>
                        <a:cubicBezTo>
                          <a:pt x="-6017" y="217080"/>
                          <a:pt x="5246" y="88445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Consolas" panose="020B0609020204030204" pitchFamily="49" charset="0"/>
                <a:ea typeface="Source Sans Pro" panose="020B0503030403020204" pitchFamily="34" charset="0"/>
              </a:rPr>
              <a:t>grep</a:t>
            </a:r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 reads a file line-by-line and searches for a provided pattern, displaying lines that contain matches to the pattern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992388D0-19CE-9277-D30F-7E4B58C89030}"/>
              </a:ext>
            </a:extLst>
          </p:cNvPr>
          <p:cNvCxnSpPr>
            <a:cxnSpLocks/>
            <a:stCxn id="9" idx="2"/>
          </p:cNvCxnSpPr>
          <p:nvPr/>
        </p:nvCxnSpPr>
        <p:spPr>
          <a:xfrm>
            <a:off x="955130" y="2642947"/>
            <a:ext cx="334740" cy="590582"/>
          </a:xfrm>
          <a:prstGeom prst="straightConnector1">
            <a:avLst/>
          </a:prstGeom>
          <a:ln>
            <a:solidFill>
              <a:schemeClr val="accent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EBBB5823-0232-6503-C0E6-76178103F85C}"/>
              </a:ext>
            </a:extLst>
          </p:cNvPr>
          <p:cNvSpPr txBox="1"/>
          <p:nvPr/>
        </p:nvSpPr>
        <p:spPr>
          <a:xfrm>
            <a:off x="255916" y="2335170"/>
            <a:ext cx="1398428" cy="307777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25400">
            <a:solidFill>
              <a:schemeClr val="accent5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880005"/>
                      <a:gd name="csY0" fmla="*/ 0 h 369332"/>
                      <a:gd name="csX1" fmla="*/ 457603 w 880005"/>
                      <a:gd name="csY1" fmla="*/ 0 h 369332"/>
                      <a:gd name="csX2" fmla="*/ 880005 w 880005"/>
                      <a:gd name="csY2" fmla="*/ 0 h 369332"/>
                      <a:gd name="csX3" fmla="*/ 880005 w 880005"/>
                      <a:gd name="csY3" fmla="*/ 369332 h 369332"/>
                      <a:gd name="csX4" fmla="*/ 448803 w 880005"/>
                      <a:gd name="csY4" fmla="*/ 369332 h 369332"/>
                      <a:gd name="csX5" fmla="*/ 0 w 880005"/>
                      <a:gd name="csY5" fmla="*/ 369332 h 369332"/>
                      <a:gd name="csX6" fmla="*/ 0 w 880005"/>
                      <a:gd name="csY6" fmla="*/ 0 h 36933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880005" h="369332" fill="none" extrusionOk="0">
                        <a:moveTo>
                          <a:pt x="0" y="0"/>
                        </a:moveTo>
                        <a:cubicBezTo>
                          <a:pt x="201900" y="-37713"/>
                          <a:pt x="351525" y="28891"/>
                          <a:pt x="457603" y="0"/>
                        </a:cubicBezTo>
                        <a:cubicBezTo>
                          <a:pt x="563681" y="-28891"/>
                          <a:pt x="722276" y="45370"/>
                          <a:pt x="880005" y="0"/>
                        </a:cubicBezTo>
                        <a:cubicBezTo>
                          <a:pt x="881535" y="150881"/>
                          <a:pt x="877252" y="222968"/>
                          <a:pt x="880005" y="369332"/>
                        </a:cubicBezTo>
                        <a:cubicBezTo>
                          <a:pt x="708206" y="372227"/>
                          <a:pt x="628419" y="331255"/>
                          <a:pt x="448803" y="369332"/>
                        </a:cubicBezTo>
                        <a:cubicBezTo>
                          <a:pt x="269187" y="407409"/>
                          <a:pt x="91315" y="362225"/>
                          <a:pt x="0" y="369332"/>
                        </a:cubicBezTo>
                        <a:cubicBezTo>
                          <a:pt x="-23840" y="235268"/>
                          <a:pt x="5511" y="129660"/>
                          <a:pt x="0" y="0"/>
                        </a:cubicBezTo>
                        <a:close/>
                      </a:path>
                      <a:path w="880005" h="369332" stroke="0" extrusionOk="0">
                        <a:moveTo>
                          <a:pt x="0" y="0"/>
                        </a:moveTo>
                        <a:cubicBezTo>
                          <a:pt x="142253" y="-32936"/>
                          <a:pt x="247997" y="27122"/>
                          <a:pt x="431202" y="0"/>
                        </a:cubicBezTo>
                        <a:cubicBezTo>
                          <a:pt x="614407" y="-27122"/>
                          <a:pt x="677258" y="29720"/>
                          <a:pt x="880005" y="0"/>
                        </a:cubicBezTo>
                        <a:cubicBezTo>
                          <a:pt x="907968" y="78977"/>
                          <a:pt x="849581" y="271296"/>
                          <a:pt x="880005" y="369332"/>
                        </a:cubicBezTo>
                        <a:cubicBezTo>
                          <a:pt x="724165" y="412455"/>
                          <a:pt x="639134" y="357050"/>
                          <a:pt x="440003" y="369332"/>
                        </a:cubicBezTo>
                        <a:cubicBezTo>
                          <a:pt x="240872" y="381614"/>
                          <a:pt x="202949" y="346116"/>
                          <a:pt x="0" y="369332"/>
                        </a:cubicBezTo>
                        <a:cubicBezTo>
                          <a:pt x="-6017" y="217080"/>
                          <a:pt x="5246" y="88445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The call to </a:t>
            </a:r>
            <a:r>
              <a:rPr lang="en-US" sz="1400" dirty="0">
                <a:latin typeface="Consolas" panose="020B0609020204030204" pitchFamily="49" charset="0"/>
                <a:ea typeface="Source Sans Pro" panose="020B0503030403020204" pitchFamily="34" charset="0"/>
              </a:rPr>
              <a:t>grep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8EA4AB95-30AC-1B42-C597-932264A44E28}"/>
              </a:ext>
            </a:extLst>
          </p:cNvPr>
          <p:cNvCxnSpPr>
            <a:cxnSpLocks/>
            <a:stCxn id="17" idx="2"/>
          </p:cNvCxnSpPr>
          <p:nvPr/>
        </p:nvCxnSpPr>
        <p:spPr>
          <a:xfrm flipH="1">
            <a:off x="1720201" y="2236445"/>
            <a:ext cx="224281" cy="997084"/>
          </a:xfrm>
          <a:prstGeom prst="straightConnector1">
            <a:avLst/>
          </a:prstGeom>
          <a:ln>
            <a:solidFill>
              <a:schemeClr val="accent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8AC84C93-0F5B-394C-E2FD-EF9CE50B6614}"/>
              </a:ext>
            </a:extLst>
          </p:cNvPr>
          <p:cNvSpPr txBox="1"/>
          <p:nvPr/>
        </p:nvSpPr>
        <p:spPr>
          <a:xfrm>
            <a:off x="1245268" y="1497781"/>
            <a:ext cx="1398428" cy="738664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25400">
            <a:solidFill>
              <a:schemeClr val="accent5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880005"/>
                      <a:gd name="csY0" fmla="*/ 0 h 369332"/>
                      <a:gd name="csX1" fmla="*/ 457603 w 880005"/>
                      <a:gd name="csY1" fmla="*/ 0 h 369332"/>
                      <a:gd name="csX2" fmla="*/ 880005 w 880005"/>
                      <a:gd name="csY2" fmla="*/ 0 h 369332"/>
                      <a:gd name="csX3" fmla="*/ 880005 w 880005"/>
                      <a:gd name="csY3" fmla="*/ 369332 h 369332"/>
                      <a:gd name="csX4" fmla="*/ 448803 w 880005"/>
                      <a:gd name="csY4" fmla="*/ 369332 h 369332"/>
                      <a:gd name="csX5" fmla="*/ 0 w 880005"/>
                      <a:gd name="csY5" fmla="*/ 369332 h 369332"/>
                      <a:gd name="csX6" fmla="*/ 0 w 880005"/>
                      <a:gd name="csY6" fmla="*/ 0 h 36933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880005" h="369332" fill="none" extrusionOk="0">
                        <a:moveTo>
                          <a:pt x="0" y="0"/>
                        </a:moveTo>
                        <a:cubicBezTo>
                          <a:pt x="201900" y="-37713"/>
                          <a:pt x="351525" y="28891"/>
                          <a:pt x="457603" y="0"/>
                        </a:cubicBezTo>
                        <a:cubicBezTo>
                          <a:pt x="563681" y="-28891"/>
                          <a:pt x="722276" y="45370"/>
                          <a:pt x="880005" y="0"/>
                        </a:cubicBezTo>
                        <a:cubicBezTo>
                          <a:pt x="881535" y="150881"/>
                          <a:pt x="877252" y="222968"/>
                          <a:pt x="880005" y="369332"/>
                        </a:cubicBezTo>
                        <a:cubicBezTo>
                          <a:pt x="708206" y="372227"/>
                          <a:pt x="628419" y="331255"/>
                          <a:pt x="448803" y="369332"/>
                        </a:cubicBezTo>
                        <a:cubicBezTo>
                          <a:pt x="269187" y="407409"/>
                          <a:pt x="91315" y="362225"/>
                          <a:pt x="0" y="369332"/>
                        </a:cubicBezTo>
                        <a:cubicBezTo>
                          <a:pt x="-23840" y="235268"/>
                          <a:pt x="5511" y="129660"/>
                          <a:pt x="0" y="0"/>
                        </a:cubicBezTo>
                        <a:close/>
                      </a:path>
                      <a:path w="880005" h="369332" stroke="0" extrusionOk="0">
                        <a:moveTo>
                          <a:pt x="0" y="0"/>
                        </a:moveTo>
                        <a:cubicBezTo>
                          <a:pt x="142253" y="-32936"/>
                          <a:pt x="247997" y="27122"/>
                          <a:pt x="431202" y="0"/>
                        </a:cubicBezTo>
                        <a:cubicBezTo>
                          <a:pt x="614407" y="-27122"/>
                          <a:pt x="677258" y="29720"/>
                          <a:pt x="880005" y="0"/>
                        </a:cubicBezTo>
                        <a:cubicBezTo>
                          <a:pt x="907968" y="78977"/>
                          <a:pt x="849581" y="271296"/>
                          <a:pt x="880005" y="369332"/>
                        </a:cubicBezTo>
                        <a:cubicBezTo>
                          <a:pt x="724165" y="412455"/>
                          <a:pt x="639134" y="357050"/>
                          <a:pt x="440003" y="369332"/>
                        </a:cubicBezTo>
                        <a:cubicBezTo>
                          <a:pt x="240872" y="381614"/>
                          <a:pt x="202949" y="346116"/>
                          <a:pt x="0" y="369332"/>
                        </a:cubicBezTo>
                        <a:cubicBezTo>
                          <a:pt x="-6017" y="217080"/>
                          <a:pt x="5246" y="88445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The string or pattern to search for</a:t>
            </a:r>
            <a:endParaRPr lang="en-US" sz="1400" dirty="0">
              <a:latin typeface="Consolas" panose="020B0609020204030204" pitchFamily="49" charset="0"/>
              <a:ea typeface="Source Sans Pro" panose="020B0503030403020204" pitchFamily="34" charset="0"/>
            </a:endParaRP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C6C05EF8-05A9-F895-3C6A-2DB79CDE855F}"/>
              </a:ext>
            </a:extLst>
          </p:cNvPr>
          <p:cNvCxnSpPr>
            <a:cxnSpLocks/>
            <a:stCxn id="21" idx="2"/>
          </p:cNvCxnSpPr>
          <p:nvPr/>
        </p:nvCxnSpPr>
        <p:spPr>
          <a:xfrm flipH="1">
            <a:off x="2523428" y="2712608"/>
            <a:ext cx="885339" cy="520921"/>
          </a:xfrm>
          <a:prstGeom prst="straightConnector1">
            <a:avLst/>
          </a:prstGeom>
          <a:ln>
            <a:solidFill>
              <a:schemeClr val="accent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D1F912B6-4AC9-3B3D-66EC-02687A2315B1}"/>
              </a:ext>
            </a:extLst>
          </p:cNvPr>
          <p:cNvSpPr txBox="1"/>
          <p:nvPr/>
        </p:nvSpPr>
        <p:spPr>
          <a:xfrm>
            <a:off x="2709553" y="2189388"/>
            <a:ext cx="1398428" cy="52322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25400">
            <a:solidFill>
              <a:schemeClr val="accent5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880005"/>
                      <a:gd name="csY0" fmla="*/ 0 h 369332"/>
                      <a:gd name="csX1" fmla="*/ 457603 w 880005"/>
                      <a:gd name="csY1" fmla="*/ 0 h 369332"/>
                      <a:gd name="csX2" fmla="*/ 880005 w 880005"/>
                      <a:gd name="csY2" fmla="*/ 0 h 369332"/>
                      <a:gd name="csX3" fmla="*/ 880005 w 880005"/>
                      <a:gd name="csY3" fmla="*/ 369332 h 369332"/>
                      <a:gd name="csX4" fmla="*/ 448803 w 880005"/>
                      <a:gd name="csY4" fmla="*/ 369332 h 369332"/>
                      <a:gd name="csX5" fmla="*/ 0 w 880005"/>
                      <a:gd name="csY5" fmla="*/ 369332 h 369332"/>
                      <a:gd name="csX6" fmla="*/ 0 w 880005"/>
                      <a:gd name="csY6" fmla="*/ 0 h 36933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880005" h="369332" fill="none" extrusionOk="0">
                        <a:moveTo>
                          <a:pt x="0" y="0"/>
                        </a:moveTo>
                        <a:cubicBezTo>
                          <a:pt x="201900" y="-37713"/>
                          <a:pt x="351525" y="28891"/>
                          <a:pt x="457603" y="0"/>
                        </a:cubicBezTo>
                        <a:cubicBezTo>
                          <a:pt x="563681" y="-28891"/>
                          <a:pt x="722276" y="45370"/>
                          <a:pt x="880005" y="0"/>
                        </a:cubicBezTo>
                        <a:cubicBezTo>
                          <a:pt x="881535" y="150881"/>
                          <a:pt x="877252" y="222968"/>
                          <a:pt x="880005" y="369332"/>
                        </a:cubicBezTo>
                        <a:cubicBezTo>
                          <a:pt x="708206" y="372227"/>
                          <a:pt x="628419" y="331255"/>
                          <a:pt x="448803" y="369332"/>
                        </a:cubicBezTo>
                        <a:cubicBezTo>
                          <a:pt x="269187" y="407409"/>
                          <a:pt x="91315" y="362225"/>
                          <a:pt x="0" y="369332"/>
                        </a:cubicBezTo>
                        <a:cubicBezTo>
                          <a:pt x="-23840" y="235268"/>
                          <a:pt x="5511" y="129660"/>
                          <a:pt x="0" y="0"/>
                        </a:cubicBezTo>
                        <a:close/>
                      </a:path>
                      <a:path w="880005" h="369332" stroke="0" extrusionOk="0">
                        <a:moveTo>
                          <a:pt x="0" y="0"/>
                        </a:moveTo>
                        <a:cubicBezTo>
                          <a:pt x="142253" y="-32936"/>
                          <a:pt x="247997" y="27122"/>
                          <a:pt x="431202" y="0"/>
                        </a:cubicBezTo>
                        <a:cubicBezTo>
                          <a:pt x="614407" y="-27122"/>
                          <a:pt x="677258" y="29720"/>
                          <a:pt x="880005" y="0"/>
                        </a:cubicBezTo>
                        <a:cubicBezTo>
                          <a:pt x="907968" y="78977"/>
                          <a:pt x="849581" y="271296"/>
                          <a:pt x="880005" y="369332"/>
                        </a:cubicBezTo>
                        <a:cubicBezTo>
                          <a:pt x="724165" y="412455"/>
                          <a:pt x="639134" y="357050"/>
                          <a:pt x="440003" y="369332"/>
                        </a:cubicBezTo>
                        <a:cubicBezTo>
                          <a:pt x="240872" y="381614"/>
                          <a:pt x="202949" y="346116"/>
                          <a:pt x="0" y="369332"/>
                        </a:cubicBezTo>
                        <a:cubicBezTo>
                          <a:pt x="-6017" y="217080"/>
                          <a:pt x="5246" y="88445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The file to search</a:t>
            </a:r>
            <a:endParaRPr lang="en-US" sz="1400" dirty="0">
              <a:latin typeface="Consolas" panose="020B0609020204030204" pitchFamily="49" charset="0"/>
              <a:ea typeface="Source Sans Pro" panose="020B05030304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58032110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808E80-819F-1B05-9295-5533FB6D61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" name="Picture 31">
            <a:extLst>
              <a:ext uri="{FF2B5EF4-FFF2-40B4-BE49-F238E27FC236}">
                <a16:creationId xmlns:a16="http://schemas.microsoft.com/office/drawing/2014/main" id="{9293350C-8595-FA70-82A4-4BA65A8B55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584" y="2856511"/>
            <a:ext cx="4684612" cy="134465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79BBC69-99F7-9DC3-F308-74D7DE8567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2583" y="122185"/>
            <a:ext cx="10515600" cy="1325563"/>
          </a:xfrm>
        </p:spPr>
        <p:txBody>
          <a:bodyPr/>
          <a:lstStyle/>
          <a:p>
            <a:r>
              <a:rPr lang="en-US" dirty="0"/>
              <a:t>Finding text in a file: </a:t>
            </a:r>
            <a:r>
              <a:rPr lang="en-US" dirty="0">
                <a:latin typeface="Consolas" panose="020B0609020204030204" pitchFamily="49" charset="0"/>
              </a:rPr>
              <a:t>grep</a:t>
            </a:r>
          </a:p>
        </p:txBody>
      </p:sp>
      <p:sp>
        <p:nvSpPr>
          <p:cNvPr id="10" name="Arrow: Right 9">
            <a:extLst>
              <a:ext uri="{FF2B5EF4-FFF2-40B4-BE49-F238E27FC236}">
                <a16:creationId xmlns:a16="http://schemas.microsoft.com/office/drawing/2014/main" id="{034948C9-1D8C-4268-C47E-AF0664319438}"/>
              </a:ext>
            </a:extLst>
          </p:cNvPr>
          <p:cNvSpPr/>
          <p:nvPr/>
        </p:nvSpPr>
        <p:spPr>
          <a:xfrm>
            <a:off x="4993321" y="3360402"/>
            <a:ext cx="1437558" cy="390939"/>
          </a:xfrm>
          <a:prstGeom prst="rightArrow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E834B04-DCD1-1429-C129-6709ED96B5CF}"/>
              </a:ext>
            </a:extLst>
          </p:cNvPr>
          <p:cNvSpPr txBox="1"/>
          <p:nvPr/>
        </p:nvSpPr>
        <p:spPr>
          <a:xfrm>
            <a:off x="341748" y="4522829"/>
            <a:ext cx="4246281" cy="923330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25400">
            <a:round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880005"/>
                      <a:gd name="csY0" fmla="*/ 0 h 369332"/>
                      <a:gd name="csX1" fmla="*/ 457603 w 880005"/>
                      <a:gd name="csY1" fmla="*/ 0 h 369332"/>
                      <a:gd name="csX2" fmla="*/ 880005 w 880005"/>
                      <a:gd name="csY2" fmla="*/ 0 h 369332"/>
                      <a:gd name="csX3" fmla="*/ 880005 w 880005"/>
                      <a:gd name="csY3" fmla="*/ 369332 h 369332"/>
                      <a:gd name="csX4" fmla="*/ 448803 w 880005"/>
                      <a:gd name="csY4" fmla="*/ 369332 h 369332"/>
                      <a:gd name="csX5" fmla="*/ 0 w 880005"/>
                      <a:gd name="csY5" fmla="*/ 369332 h 369332"/>
                      <a:gd name="csX6" fmla="*/ 0 w 880005"/>
                      <a:gd name="csY6" fmla="*/ 0 h 36933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880005" h="369332" fill="none" extrusionOk="0">
                        <a:moveTo>
                          <a:pt x="0" y="0"/>
                        </a:moveTo>
                        <a:cubicBezTo>
                          <a:pt x="201900" y="-37713"/>
                          <a:pt x="351525" y="28891"/>
                          <a:pt x="457603" y="0"/>
                        </a:cubicBezTo>
                        <a:cubicBezTo>
                          <a:pt x="563681" y="-28891"/>
                          <a:pt x="722276" y="45370"/>
                          <a:pt x="880005" y="0"/>
                        </a:cubicBezTo>
                        <a:cubicBezTo>
                          <a:pt x="881535" y="150881"/>
                          <a:pt x="877252" y="222968"/>
                          <a:pt x="880005" y="369332"/>
                        </a:cubicBezTo>
                        <a:cubicBezTo>
                          <a:pt x="708206" y="372227"/>
                          <a:pt x="628419" y="331255"/>
                          <a:pt x="448803" y="369332"/>
                        </a:cubicBezTo>
                        <a:cubicBezTo>
                          <a:pt x="269187" y="407409"/>
                          <a:pt x="91315" y="362225"/>
                          <a:pt x="0" y="369332"/>
                        </a:cubicBezTo>
                        <a:cubicBezTo>
                          <a:pt x="-23840" y="235268"/>
                          <a:pt x="5511" y="129660"/>
                          <a:pt x="0" y="0"/>
                        </a:cubicBezTo>
                        <a:close/>
                      </a:path>
                      <a:path w="880005" h="369332" stroke="0" extrusionOk="0">
                        <a:moveTo>
                          <a:pt x="0" y="0"/>
                        </a:moveTo>
                        <a:cubicBezTo>
                          <a:pt x="142253" y="-32936"/>
                          <a:pt x="247997" y="27122"/>
                          <a:pt x="431202" y="0"/>
                        </a:cubicBezTo>
                        <a:cubicBezTo>
                          <a:pt x="614407" y="-27122"/>
                          <a:pt x="677258" y="29720"/>
                          <a:pt x="880005" y="0"/>
                        </a:cubicBezTo>
                        <a:cubicBezTo>
                          <a:pt x="907968" y="78977"/>
                          <a:pt x="849581" y="271296"/>
                          <a:pt x="880005" y="369332"/>
                        </a:cubicBezTo>
                        <a:cubicBezTo>
                          <a:pt x="724165" y="412455"/>
                          <a:pt x="639134" y="357050"/>
                          <a:pt x="440003" y="369332"/>
                        </a:cubicBezTo>
                        <a:cubicBezTo>
                          <a:pt x="240872" y="381614"/>
                          <a:pt x="202949" y="346116"/>
                          <a:pt x="0" y="369332"/>
                        </a:cubicBezTo>
                        <a:cubicBezTo>
                          <a:pt x="-6017" y="217080"/>
                          <a:pt x="5246" y="88445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Consolas" panose="020B0609020204030204" pitchFamily="49" charset="0"/>
                <a:ea typeface="Source Sans Pro" panose="020B0503030403020204" pitchFamily="34" charset="0"/>
              </a:rPr>
              <a:t>grep</a:t>
            </a:r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 reads a file line-by-line and searches for a provided pattern, displaying lines that contain matches to the pattern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9231AE47-2E2C-4483-5C2E-8A48CF04ABBF}"/>
              </a:ext>
            </a:extLst>
          </p:cNvPr>
          <p:cNvCxnSpPr>
            <a:cxnSpLocks/>
            <a:stCxn id="9" idx="2"/>
          </p:cNvCxnSpPr>
          <p:nvPr/>
        </p:nvCxnSpPr>
        <p:spPr>
          <a:xfrm>
            <a:off x="955130" y="2642947"/>
            <a:ext cx="334740" cy="590582"/>
          </a:xfrm>
          <a:prstGeom prst="straightConnector1">
            <a:avLst/>
          </a:prstGeom>
          <a:ln>
            <a:solidFill>
              <a:schemeClr val="accent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FD065316-85D6-1DCF-BC79-E2D5675F6AF7}"/>
              </a:ext>
            </a:extLst>
          </p:cNvPr>
          <p:cNvSpPr txBox="1"/>
          <p:nvPr/>
        </p:nvSpPr>
        <p:spPr>
          <a:xfrm>
            <a:off x="255916" y="2335170"/>
            <a:ext cx="1398428" cy="307777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25400">
            <a:solidFill>
              <a:schemeClr val="accent5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880005"/>
                      <a:gd name="csY0" fmla="*/ 0 h 369332"/>
                      <a:gd name="csX1" fmla="*/ 457603 w 880005"/>
                      <a:gd name="csY1" fmla="*/ 0 h 369332"/>
                      <a:gd name="csX2" fmla="*/ 880005 w 880005"/>
                      <a:gd name="csY2" fmla="*/ 0 h 369332"/>
                      <a:gd name="csX3" fmla="*/ 880005 w 880005"/>
                      <a:gd name="csY3" fmla="*/ 369332 h 369332"/>
                      <a:gd name="csX4" fmla="*/ 448803 w 880005"/>
                      <a:gd name="csY4" fmla="*/ 369332 h 369332"/>
                      <a:gd name="csX5" fmla="*/ 0 w 880005"/>
                      <a:gd name="csY5" fmla="*/ 369332 h 369332"/>
                      <a:gd name="csX6" fmla="*/ 0 w 880005"/>
                      <a:gd name="csY6" fmla="*/ 0 h 36933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880005" h="369332" fill="none" extrusionOk="0">
                        <a:moveTo>
                          <a:pt x="0" y="0"/>
                        </a:moveTo>
                        <a:cubicBezTo>
                          <a:pt x="201900" y="-37713"/>
                          <a:pt x="351525" y="28891"/>
                          <a:pt x="457603" y="0"/>
                        </a:cubicBezTo>
                        <a:cubicBezTo>
                          <a:pt x="563681" y="-28891"/>
                          <a:pt x="722276" y="45370"/>
                          <a:pt x="880005" y="0"/>
                        </a:cubicBezTo>
                        <a:cubicBezTo>
                          <a:pt x="881535" y="150881"/>
                          <a:pt x="877252" y="222968"/>
                          <a:pt x="880005" y="369332"/>
                        </a:cubicBezTo>
                        <a:cubicBezTo>
                          <a:pt x="708206" y="372227"/>
                          <a:pt x="628419" y="331255"/>
                          <a:pt x="448803" y="369332"/>
                        </a:cubicBezTo>
                        <a:cubicBezTo>
                          <a:pt x="269187" y="407409"/>
                          <a:pt x="91315" y="362225"/>
                          <a:pt x="0" y="369332"/>
                        </a:cubicBezTo>
                        <a:cubicBezTo>
                          <a:pt x="-23840" y="235268"/>
                          <a:pt x="5511" y="129660"/>
                          <a:pt x="0" y="0"/>
                        </a:cubicBezTo>
                        <a:close/>
                      </a:path>
                      <a:path w="880005" h="369332" stroke="0" extrusionOk="0">
                        <a:moveTo>
                          <a:pt x="0" y="0"/>
                        </a:moveTo>
                        <a:cubicBezTo>
                          <a:pt x="142253" y="-32936"/>
                          <a:pt x="247997" y="27122"/>
                          <a:pt x="431202" y="0"/>
                        </a:cubicBezTo>
                        <a:cubicBezTo>
                          <a:pt x="614407" y="-27122"/>
                          <a:pt x="677258" y="29720"/>
                          <a:pt x="880005" y="0"/>
                        </a:cubicBezTo>
                        <a:cubicBezTo>
                          <a:pt x="907968" y="78977"/>
                          <a:pt x="849581" y="271296"/>
                          <a:pt x="880005" y="369332"/>
                        </a:cubicBezTo>
                        <a:cubicBezTo>
                          <a:pt x="724165" y="412455"/>
                          <a:pt x="639134" y="357050"/>
                          <a:pt x="440003" y="369332"/>
                        </a:cubicBezTo>
                        <a:cubicBezTo>
                          <a:pt x="240872" y="381614"/>
                          <a:pt x="202949" y="346116"/>
                          <a:pt x="0" y="369332"/>
                        </a:cubicBezTo>
                        <a:cubicBezTo>
                          <a:pt x="-6017" y="217080"/>
                          <a:pt x="5246" y="88445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The call to </a:t>
            </a:r>
            <a:r>
              <a:rPr lang="en-US" sz="1400" dirty="0">
                <a:latin typeface="Consolas" panose="020B0609020204030204" pitchFamily="49" charset="0"/>
                <a:ea typeface="Source Sans Pro" panose="020B0503030403020204" pitchFamily="34" charset="0"/>
              </a:rPr>
              <a:t>grep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1A025FFA-696F-D0E2-B771-CAC1F5006183}"/>
              </a:ext>
            </a:extLst>
          </p:cNvPr>
          <p:cNvCxnSpPr>
            <a:cxnSpLocks/>
            <a:stCxn id="17" idx="2"/>
          </p:cNvCxnSpPr>
          <p:nvPr/>
        </p:nvCxnSpPr>
        <p:spPr>
          <a:xfrm flipH="1">
            <a:off x="1720201" y="2236445"/>
            <a:ext cx="224281" cy="997084"/>
          </a:xfrm>
          <a:prstGeom prst="straightConnector1">
            <a:avLst/>
          </a:prstGeom>
          <a:ln>
            <a:solidFill>
              <a:schemeClr val="accent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80054432-601A-676A-0A93-37EA0F0E2205}"/>
              </a:ext>
            </a:extLst>
          </p:cNvPr>
          <p:cNvSpPr txBox="1"/>
          <p:nvPr/>
        </p:nvSpPr>
        <p:spPr>
          <a:xfrm>
            <a:off x="1245268" y="1497781"/>
            <a:ext cx="1398428" cy="738664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25400">
            <a:solidFill>
              <a:schemeClr val="accent5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880005"/>
                      <a:gd name="csY0" fmla="*/ 0 h 369332"/>
                      <a:gd name="csX1" fmla="*/ 457603 w 880005"/>
                      <a:gd name="csY1" fmla="*/ 0 h 369332"/>
                      <a:gd name="csX2" fmla="*/ 880005 w 880005"/>
                      <a:gd name="csY2" fmla="*/ 0 h 369332"/>
                      <a:gd name="csX3" fmla="*/ 880005 w 880005"/>
                      <a:gd name="csY3" fmla="*/ 369332 h 369332"/>
                      <a:gd name="csX4" fmla="*/ 448803 w 880005"/>
                      <a:gd name="csY4" fmla="*/ 369332 h 369332"/>
                      <a:gd name="csX5" fmla="*/ 0 w 880005"/>
                      <a:gd name="csY5" fmla="*/ 369332 h 369332"/>
                      <a:gd name="csX6" fmla="*/ 0 w 880005"/>
                      <a:gd name="csY6" fmla="*/ 0 h 36933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880005" h="369332" fill="none" extrusionOk="0">
                        <a:moveTo>
                          <a:pt x="0" y="0"/>
                        </a:moveTo>
                        <a:cubicBezTo>
                          <a:pt x="201900" y="-37713"/>
                          <a:pt x="351525" y="28891"/>
                          <a:pt x="457603" y="0"/>
                        </a:cubicBezTo>
                        <a:cubicBezTo>
                          <a:pt x="563681" y="-28891"/>
                          <a:pt x="722276" y="45370"/>
                          <a:pt x="880005" y="0"/>
                        </a:cubicBezTo>
                        <a:cubicBezTo>
                          <a:pt x="881535" y="150881"/>
                          <a:pt x="877252" y="222968"/>
                          <a:pt x="880005" y="369332"/>
                        </a:cubicBezTo>
                        <a:cubicBezTo>
                          <a:pt x="708206" y="372227"/>
                          <a:pt x="628419" y="331255"/>
                          <a:pt x="448803" y="369332"/>
                        </a:cubicBezTo>
                        <a:cubicBezTo>
                          <a:pt x="269187" y="407409"/>
                          <a:pt x="91315" y="362225"/>
                          <a:pt x="0" y="369332"/>
                        </a:cubicBezTo>
                        <a:cubicBezTo>
                          <a:pt x="-23840" y="235268"/>
                          <a:pt x="5511" y="129660"/>
                          <a:pt x="0" y="0"/>
                        </a:cubicBezTo>
                        <a:close/>
                      </a:path>
                      <a:path w="880005" h="369332" stroke="0" extrusionOk="0">
                        <a:moveTo>
                          <a:pt x="0" y="0"/>
                        </a:moveTo>
                        <a:cubicBezTo>
                          <a:pt x="142253" y="-32936"/>
                          <a:pt x="247997" y="27122"/>
                          <a:pt x="431202" y="0"/>
                        </a:cubicBezTo>
                        <a:cubicBezTo>
                          <a:pt x="614407" y="-27122"/>
                          <a:pt x="677258" y="29720"/>
                          <a:pt x="880005" y="0"/>
                        </a:cubicBezTo>
                        <a:cubicBezTo>
                          <a:pt x="907968" y="78977"/>
                          <a:pt x="849581" y="271296"/>
                          <a:pt x="880005" y="369332"/>
                        </a:cubicBezTo>
                        <a:cubicBezTo>
                          <a:pt x="724165" y="412455"/>
                          <a:pt x="639134" y="357050"/>
                          <a:pt x="440003" y="369332"/>
                        </a:cubicBezTo>
                        <a:cubicBezTo>
                          <a:pt x="240872" y="381614"/>
                          <a:pt x="202949" y="346116"/>
                          <a:pt x="0" y="369332"/>
                        </a:cubicBezTo>
                        <a:cubicBezTo>
                          <a:pt x="-6017" y="217080"/>
                          <a:pt x="5246" y="88445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The string or pattern to search for</a:t>
            </a:r>
            <a:endParaRPr lang="en-US" sz="1400" dirty="0">
              <a:latin typeface="Consolas" panose="020B0609020204030204" pitchFamily="49" charset="0"/>
              <a:ea typeface="Source Sans Pro" panose="020B0503030403020204" pitchFamily="34" charset="0"/>
            </a:endParaRP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B92DDF3D-DA1B-5DCE-82AD-1491D14D8A27}"/>
              </a:ext>
            </a:extLst>
          </p:cNvPr>
          <p:cNvCxnSpPr>
            <a:cxnSpLocks/>
            <a:stCxn id="21" idx="2"/>
          </p:cNvCxnSpPr>
          <p:nvPr/>
        </p:nvCxnSpPr>
        <p:spPr>
          <a:xfrm flipH="1">
            <a:off x="2523428" y="2712608"/>
            <a:ext cx="885339" cy="520921"/>
          </a:xfrm>
          <a:prstGeom prst="straightConnector1">
            <a:avLst/>
          </a:prstGeom>
          <a:ln>
            <a:solidFill>
              <a:schemeClr val="accent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A47FAAE8-FE7B-2551-2CA4-854612686020}"/>
              </a:ext>
            </a:extLst>
          </p:cNvPr>
          <p:cNvSpPr txBox="1"/>
          <p:nvPr/>
        </p:nvSpPr>
        <p:spPr>
          <a:xfrm>
            <a:off x="2709553" y="2189388"/>
            <a:ext cx="1398428" cy="52322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25400">
            <a:solidFill>
              <a:schemeClr val="accent5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880005"/>
                      <a:gd name="csY0" fmla="*/ 0 h 369332"/>
                      <a:gd name="csX1" fmla="*/ 457603 w 880005"/>
                      <a:gd name="csY1" fmla="*/ 0 h 369332"/>
                      <a:gd name="csX2" fmla="*/ 880005 w 880005"/>
                      <a:gd name="csY2" fmla="*/ 0 h 369332"/>
                      <a:gd name="csX3" fmla="*/ 880005 w 880005"/>
                      <a:gd name="csY3" fmla="*/ 369332 h 369332"/>
                      <a:gd name="csX4" fmla="*/ 448803 w 880005"/>
                      <a:gd name="csY4" fmla="*/ 369332 h 369332"/>
                      <a:gd name="csX5" fmla="*/ 0 w 880005"/>
                      <a:gd name="csY5" fmla="*/ 369332 h 369332"/>
                      <a:gd name="csX6" fmla="*/ 0 w 880005"/>
                      <a:gd name="csY6" fmla="*/ 0 h 36933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880005" h="369332" fill="none" extrusionOk="0">
                        <a:moveTo>
                          <a:pt x="0" y="0"/>
                        </a:moveTo>
                        <a:cubicBezTo>
                          <a:pt x="201900" y="-37713"/>
                          <a:pt x="351525" y="28891"/>
                          <a:pt x="457603" y="0"/>
                        </a:cubicBezTo>
                        <a:cubicBezTo>
                          <a:pt x="563681" y="-28891"/>
                          <a:pt x="722276" y="45370"/>
                          <a:pt x="880005" y="0"/>
                        </a:cubicBezTo>
                        <a:cubicBezTo>
                          <a:pt x="881535" y="150881"/>
                          <a:pt x="877252" y="222968"/>
                          <a:pt x="880005" y="369332"/>
                        </a:cubicBezTo>
                        <a:cubicBezTo>
                          <a:pt x="708206" y="372227"/>
                          <a:pt x="628419" y="331255"/>
                          <a:pt x="448803" y="369332"/>
                        </a:cubicBezTo>
                        <a:cubicBezTo>
                          <a:pt x="269187" y="407409"/>
                          <a:pt x="91315" y="362225"/>
                          <a:pt x="0" y="369332"/>
                        </a:cubicBezTo>
                        <a:cubicBezTo>
                          <a:pt x="-23840" y="235268"/>
                          <a:pt x="5511" y="129660"/>
                          <a:pt x="0" y="0"/>
                        </a:cubicBezTo>
                        <a:close/>
                      </a:path>
                      <a:path w="880005" h="369332" stroke="0" extrusionOk="0">
                        <a:moveTo>
                          <a:pt x="0" y="0"/>
                        </a:moveTo>
                        <a:cubicBezTo>
                          <a:pt x="142253" y="-32936"/>
                          <a:pt x="247997" y="27122"/>
                          <a:pt x="431202" y="0"/>
                        </a:cubicBezTo>
                        <a:cubicBezTo>
                          <a:pt x="614407" y="-27122"/>
                          <a:pt x="677258" y="29720"/>
                          <a:pt x="880005" y="0"/>
                        </a:cubicBezTo>
                        <a:cubicBezTo>
                          <a:pt x="907968" y="78977"/>
                          <a:pt x="849581" y="271296"/>
                          <a:pt x="880005" y="369332"/>
                        </a:cubicBezTo>
                        <a:cubicBezTo>
                          <a:pt x="724165" y="412455"/>
                          <a:pt x="639134" y="357050"/>
                          <a:pt x="440003" y="369332"/>
                        </a:cubicBezTo>
                        <a:cubicBezTo>
                          <a:pt x="240872" y="381614"/>
                          <a:pt x="202949" y="346116"/>
                          <a:pt x="0" y="369332"/>
                        </a:cubicBezTo>
                        <a:cubicBezTo>
                          <a:pt x="-6017" y="217080"/>
                          <a:pt x="5246" y="88445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The file to search</a:t>
            </a:r>
            <a:endParaRPr lang="en-US" sz="1400" dirty="0">
              <a:latin typeface="Consolas" panose="020B0609020204030204" pitchFamily="49" charset="0"/>
              <a:ea typeface="Source Sans Pro" panose="020B0503030403020204" pitchFamily="34" charset="0"/>
            </a:endParaRPr>
          </a:p>
        </p:txBody>
      </p:sp>
      <p:pic>
        <p:nvPicPr>
          <p:cNvPr id="37" name="Picture 36">
            <a:extLst>
              <a:ext uri="{FF2B5EF4-FFF2-40B4-BE49-F238E27FC236}">
                <a16:creationId xmlns:a16="http://schemas.microsoft.com/office/drawing/2014/main" id="{D2C37012-92FC-994E-D6EF-76F2C6CD9D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9715" y="2760668"/>
            <a:ext cx="4684612" cy="15904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4904905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91D25B-5B15-D283-D30F-A1CD670F51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102399-3D19-8A53-0363-73AD94A05F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0515600" cy="1325563"/>
          </a:xfrm>
        </p:spPr>
        <p:txBody>
          <a:bodyPr/>
          <a:lstStyle/>
          <a:p>
            <a:r>
              <a:rPr lang="en-US" dirty="0"/>
              <a:t>Viewing and editing text from the terminal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E66787B5-4F12-38B7-3116-08792149CEA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40996008"/>
              </p:ext>
            </p:extLst>
          </p:nvPr>
        </p:nvGraphicFramePr>
        <p:xfrm>
          <a:off x="1" y="1884825"/>
          <a:ext cx="12191999" cy="4206240"/>
        </p:xfrm>
        <a:graphic>
          <a:graphicData uri="http://schemas.openxmlformats.org/drawingml/2006/table">
            <a:tbl>
              <a:tblPr firstRow="1" bandRow="1">
                <a:tableStyleId>{616DA210-FB5B-4158-B5E0-FEB733F419BA}</a:tableStyleId>
              </a:tblPr>
              <a:tblGrid>
                <a:gridCol w="4544839">
                  <a:extLst>
                    <a:ext uri="{9D8B030D-6E8A-4147-A177-3AD203B41FA5}">
                      <a16:colId xmlns:a16="http://schemas.microsoft.com/office/drawing/2014/main" val="3298165829"/>
                    </a:ext>
                  </a:extLst>
                </a:gridCol>
                <a:gridCol w="7647160">
                  <a:extLst>
                    <a:ext uri="{9D8B030D-6E8A-4147-A177-3AD203B41FA5}">
                      <a16:colId xmlns:a16="http://schemas.microsoft.com/office/drawing/2014/main" val="6779989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2000" b="0" dirty="0">
                          <a:latin typeface="Consolas" panose="020B0609020204030204" pitchFamily="49" charset="0"/>
                        </a:rPr>
                        <a:t>touch &lt;filename/path&gt;</a:t>
                      </a: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000" b="0" dirty="0"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Command to create empty file at </a:t>
                      </a:r>
                      <a:r>
                        <a:rPr lang="en-US" sz="2000" b="0" dirty="0">
                          <a:latin typeface="Consolas" panose="020B0609020204030204" pitchFamily="49" charset="0"/>
                          <a:ea typeface="Source Sans Pro" panose="020B0503030403020204" pitchFamily="34" charset="0"/>
                        </a:rPr>
                        <a:t>&lt;filename/path&gt;</a:t>
                      </a:r>
                      <a:r>
                        <a:rPr lang="en-US" sz="2000" b="0" dirty="0"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. Will simply change modified timestamp on existing files.</a:t>
                      </a: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31847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000" b="0" dirty="0">
                          <a:latin typeface="Consolas" panose="020B0609020204030204" pitchFamily="49" charset="0"/>
                        </a:rPr>
                        <a:t>nano &lt;filename/path&gt;</a:t>
                      </a: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000" b="0" dirty="0"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Very basic text </a:t>
                      </a:r>
                      <a:r>
                        <a:rPr lang="en-US" sz="2000" b="1" dirty="0"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editor</a:t>
                      </a:r>
                      <a:r>
                        <a:rPr lang="en-US" sz="2000" b="0" dirty="0"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. Opens </a:t>
                      </a:r>
                      <a:r>
                        <a:rPr lang="en-US" sz="2000" b="0" dirty="0">
                          <a:latin typeface="Consolas" panose="020B0609020204030204" pitchFamily="49" charset="0"/>
                          <a:ea typeface="Source Sans Pro" panose="020B0503030403020204" pitchFamily="34" charset="0"/>
                        </a:rPr>
                        <a:t>&lt;filename/path&gt;</a:t>
                      </a:r>
                      <a:r>
                        <a:rPr lang="en-US" sz="2000" b="0" dirty="0"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 for </a:t>
                      </a:r>
                      <a:r>
                        <a:rPr lang="en-US" sz="2000" b="1" dirty="0"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editing</a:t>
                      </a:r>
                      <a:r>
                        <a:rPr lang="en-US" sz="2000" b="0" dirty="0"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. Can be used to create and manipulate files.</a:t>
                      </a: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7767468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000" b="0" dirty="0">
                          <a:latin typeface="Consolas" panose="020B0609020204030204" pitchFamily="49" charset="0"/>
                        </a:rPr>
                        <a:t>less &lt;filename/path&gt;</a:t>
                      </a: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US" sz="2000" b="0" dirty="0"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Very basic text </a:t>
                      </a:r>
                      <a:r>
                        <a:rPr lang="en-US" sz="2000" b="1" dirty="0"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viewer</a:t>
                      </a:r>
                      <a:r>
                        <a:rPr lang="en-US" sz="2000" b="0" dirty="0"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. Opens </a:t>
                      </a:r>
                      <a:r>
                        <a:rPr lang="en-US" sz="2000" b="0" dirty="0">
                          <a:latin typeface="Consolas" panose="020B0609020204030204" pitchFamily="49" charset="0"/>
                          <a:ea typeface="Source Sans Pro" panose="020B0503030403020204" pitchFamily="34" charset="0"/>
                        </a:rPr>
                        <a:t>&lt;filename/path&gt;</a:t>
                      </a:r>
                      <a:r>
                        <a:rPr lang="en-US" sz="2000" b="0" dirty="0"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 for </a:t>
                      </a:r>
                      <a:r>
                        <a:rPr lang="en-US" sz="2000" b="1" dirty="0"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viewing</a:t>
                      </a:r>
                      <a:r>
                        <a:rPr lang="en-US" sz="2000" b="0" dirty="0"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. Cannot create files. Good to preview large files because it doesn’t load the whole file into memory.</a:t>
                      </a: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45670425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000" b="0" dirty="0">
                          <a:latin typeface="Consolas" panose="020B0609020204030204" pitchFamily="49" charset="0"/>
                        </a:rPr>
                        <a:t>cat &lt;filename/path&gt;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b="0" dirty="0"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Print the contents of </a:t>
                      </a:r>
                      <a:r>
                        <a:rPr lang="en-US" sz="2000" b="0" dirty="0">
                          <a:latin typeface="Consolas" panose="020B0609020204030204" pitchFamily="49" charset="0"/>
                          <a:ea typeface="Source Sans Pro" panose="020B0503030403020204" pitchFamily="34" charset="0"/>
                        </a:rPr>
                        <a:t>&lt;filename/path&gt;</a:t>
                      </a:r>
                      <a:r>
                        <a:rPr lang="en-US" sz="2000" b="0" dirty="0"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 to the screen. Good for short files since you are limited by screen size and scrolling.</a:t>
                      </a:r>
                      <a:endParaRPr lang="en-US" sz="2000" b="1" dirty="0">
                        <a:latin typeface="Source Sans Pro" panose="020B0503030403020204" pitchFamily="34" charset="0"/>
                        <a:ea typeface="Source Sans Pro" panose="020B0503030403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621221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000" b="0" dirty="0">
                          <a:latin typeface="Consolas" panose="020B0609020204030204" pitchFamily="49" charset="0"/>
                        </a:rPr>
                        <a:t>grep &lt;pattern&gt; &lt;filename/path&gt;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b="0" dirty="0"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Search for </a:t>
                      </a:r>
                      <a:r>
                        <a:rPr lang="en-US" sz="2000" b="0" dirty="0">
                          <a:latin typeface="Consolas" panose="020B0609020204030204" pitchFamily="49" charset="0"/>
                          <a:ea typeface="Source Sans Pro" panose="020B0503030403020204" pitchFamily="34" charset="0"/>
                        </a:rPr>
                        <a:t>&lt;pattern&gt;</a:t>
                      </a:r>
                      <a:r>
                        <a:rPr lang="en-US" sz="2000" b="0" dirty="0"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 within </a:t>
                      </a:r>
                      <a:r>
                        <a:rPr lang="en-US" sz="2000" b="0" dirty="0">
                          <a:latin typeface="Consolas" panose="020B0609020204030204" pitchFamily="49" charset="0"/>
                          <a:ea typeface="Source Sans Pro" panose="020B0503030403020204" pitchFamily="34" charset="0"/>
                        </a:rPr>
                        <a:t>&lt;filename/path&gt;</a:t>
                      </a:r>
                      <a:r>
                        <a:rPr lang="en-US" sz="2000" b="0" dirty="0"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. Display any lines in the file that contain </a:t>
                      </a:r>
                      <a:r>
                        <a:rPr lang="en-US" sz="2000" b="0" dirty="0">
                          <a:latin typeface="Consolas" panose="020B0609020204030204" pitchFamily="49" charset="0"/>
                          <a:ea typeface="Source Sans Pro" panose="020B0503030403020204" pitchFamily="34" charset="0"/>
                        </a:rPr>
                        <a:t>&lt;pattern&gt;</a:t>
                      </a:r>
                      <a:r>
                        <a:rPr lang="en-US" sz="2000" b="0" dirty="0"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.</a:t>
                      </a:r>
                      <a:endParaRPr lang="en-US" sz="2000" b="1" dirty="0">
                        <a:latin typeface="Source Sans Pro" panose="020B0503030403020204" pitchFamily="34" charset="0"/>
                        <a:ea typeface="Source Sans Pro" panose="020B0503030403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5271557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000" b="0" dirty="0">
                          <a:latin typeface="Consolas" panose="020B0609020204030204" pitchFamily="49" charset="0"/>
                        </a:rPr>
                        <a:t>vim and emacs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b="0" dirty="0"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More advanced in-terminal text </a:t>
                      </a:r>
                      <a:r>
                        <a:rPr lang="en-US" sz="2000" b="1" dirty="0"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editors</a:t>
                      </a:r>
                      <a:r>
                        <a:rPr lang="en-US" sz="2000" b="0" dirty="0"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.</a:t>
                      </a:r>
                      <a:endParaRPr lang="en-US" sz="2000" b="0" dirty="0">
                        <a:highlight>
                          <a:srgbClr val="FFFF00"/>
                        </a:highlight>
                        <a:latin typeface="Source Sans Pro" panose="020B0503030403020204" pitchFamily="34" charset="0"/>
                        <a:ea typeface="Source Sans Pro" panose="020B0503030403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530216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42124262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2FE395-AA8D-6083-45C4-C2876DC91E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3DCDA0-73F6-AB04-371D-6D8603E34C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2583" y="122185"/>
            <a:ext cx="10515600" cy="1325563"/>
          </a:xfrm>
        </p:spPr>
        <p:txBody>
          <a:bodyPr/>
          <a:lstStyle/>
          <a:p>
            <a:r>
              <a:rPr lang="en-US" dirty="0"/>
              <a:t>Graphical text editors</a:t>
            </a:r>
            <a:endParaRPr lang="en-US" dirty="0">
              <a:latin typeface="Consolas" panose="020B0609020204030204" pitchFamily="49" charset="0"/>
            </a:endParaRPr>
          </a:p>
        </p:txBody>
      </p:sp>
      <p:pic>
        <p:nvPicPr>
          <p:cNvPr id="2052" name="Picture 4">
            <a:extLst>
              <a:ext uri="{FF2B5EF4-FFF2-40B4-BE49-F238E27FC236}">
                <a16:creationId xmlns:a16="http://schemas.microsoft.com/office/drawing/2014/main" id="{F3C02BCD-644C-5729-D066-24B92CD911F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8863" y="1528174"/>
            <a:ext cx="5223711" cy="39177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AutoShape 6">
            <a:extLst>
              <a:ext uri="{FF2B5EF4-FFF2-40B4-BE49-F238E27FC236}">
                <a16:creationId xmlns:a16="http://schemas.microsoft.com/office/drawing/2014/main" id="{49F234A1-3131-9275-2EBD-E01071A9E0B8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164D8851-E7C8-2D86-95F7-36DB42B92B5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28704" y="1704300"/>
            <a:ext cx="6228004" cy="35655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6799397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DDDB33-02CD-BAB2-19AC-17E520F6FB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70B009-CAD0-A0F9-C5D2-8BD3DF671A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2583" y="122185"/>
            <a:ext cx="10515600" cy="1325563"/>
          </a:xfrm>
        </p:spPr>
        <p:txBody>
          <a:bodyPr/>
          <a:lstStyle/>
          <a:p>
            <a:r>
              <a:rPr lang="en-US" dirty="0"/>
              <a:t>Graphical text editors: </a:t>
            </a:r>
            <a:r>
              <a:rPr lang="en-US" dirty="0" err="1"/>
              <a:t>VSCode</a:t>
            </a:r>
            <a:endParaRPr lang="en-US" dirty="0">
              <a:latin typeface="Consolas" panose="020B0609020204030204" pitchFamily="49" charset="0"/>
            </a:endParaRPr>
          </a:p>
        </p:txBody>
      </p:sp>
      <p:sp>
        <p:nvSpPr>
          <p:cNvPr id="3" name="AutoShape 6">
            <a:extLst>
              <a:ext uri="{FF2B5EF4-FFF2-40B4-BE49-F238E27FC236}">
                <a16:creationId xmlns:a16="http://schemas.microsoft.com/office/drawing/2014/main" id="{0C818B77-A735-0A69-0F9E-0574EFFFF18C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9493B85-32A1-6317-D7DF-9B50A4953BA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3500" y="1378632"/>
            <a:ext cx="9220200" cy="500360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5089CC9-C8FA-E817-9DDA-DBDD36CDACF5}"/>
              </a:ext>
            </a:extLst>
          </p:cNvPr>
          <p:cNvSpPr txBox="1"/>
          <p:nvPr/>
        </p:nvSpPr>
        <p:spPr>
          <a:xfrm>
            <a:off x="3015559" y="6466789"/>
            <a:ext cx="616088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>
                <a:hlinkClick r:id="rId3"/>
              </a:rPr>
              <a:t>https://code.visualstudio.com/download</a:t>
            </a:r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830140317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E23D10-5A94-A5FF-2FB4-8777DC895F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A5F5E7-249E-8553-9B94-DACB1F595B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2583" y="122185"/>
            <a:ext cx="10515600" cy="1325563"/>
          </a:xfrm>
        </p:spPr>
        <p:txBody>
          <a:bodyPr/>
          <a:lstStyle/>
          <a:p>
            <a:r>
              <a:rPr lang="en-US" dirty="0"/>
              <a:t>Graphical text editors: </a:t>
            </a:r>
            <a:r>
              <a:rPr lang="en-US" dirty="0" err="1"/>
              <a:t>VSCode</a:t>
            </a:r>
            <a:endParaRPr lang="en-US" dirty="0">
              <a:latin typeface="Consolas" panose="020B0609020204030204" pitchFamily="49" charset="0"/>
            </a:endParaRPr>
          </a:p>
        </p:txBody>
      </p:sp>
      <p:sp>
        <p:nvSpPr>
          <p:cNvPr id="3" name="AutoShape 6">
            <a:extLst>
              <a:ext uri="{FF2B5EF4-FFF2-40B4-BE49-F238E27FC236}">
                <a16:creationId xmlns:a16="http://schemas.microsoft.com/office/drawing/2014/main" id="{941DC6DE-4576-324E-96F0-367E93FE8D30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FA8DA03-A34A-DB48-63B7-D2B86008A8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3500" y="1378632"/>
            <a:ext cx="9220200" cy="5003601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FA5A7575-1736-F1BF-4D1B-74B32E8467B1}"/>
              </a:ext>
            </a:extLst>
          </p:cNvPr>
          <p:cNvSpPr txBox="1"/>
          <p:nvPr/>
        </p:nvSpPr>
        <p:spPr>
          <a:xfrm>
            <a:off x="0" y="3880432"/>
            <a:ext cx="12192000" cy="461665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How can this be integrated with files on the cluster?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6BEC2BC-46A8-C6C4-A9A1-D878A154B16F}"/>
              </a:ext>
            </a:extLst>
          </p:cNvPr>
          <p:cNvSpPr txBox="1"/>
          <p:nvPr/>
        </p:nvSpPr>
        <p:spPr>
          <a:xfrm>
            <a:off x="3015559" y="6466789"/>
            <a:ext cx="616088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>
                <a:hlinkClick r:id="rId3"/>
              </a:rPr>
              <a:t>https://code.visualstudio.com/download</a:t>
            </a:r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719214284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8D57B4-EF74-52FD-4141-AE947BCE76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FF159F-8E51-605E-9FE5-96CD8C9FA0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2583" y="122185"/>
            <a:ext cx="10515600" cy="1325563"/>
          </a:xfrm>
        </p:spPr>
        <p:txBody>
          <a:bodyPr/>
          <a:lstStyle/>
          <a:p>
            <a:r>
              <a:rPr lang="en-US" dirty="0" err="1"/>
              <a:t>VSCode</a:t>
            </a:r>
            <a:r>
              <a:rPr lang="en-US" dirty="0"/>
              <a:t> has many </a:t>
            </a:r>
            <a:r>
              <a:rPr lang="en-US" b="1" dirty="0"/>
              <a:t>extensions</a:t>
            </a:r>
            <a:endParaRPr lang="en-US" b="1" dirty="0">
              <a:latin typeface="Consolas" panose="020B0609020204030204" pitchFamily="49" charset="0"/>
            </a:endParaRPr>
          </a:p>
        </p:txBody>
      </p:sp>
      <p:sp>
        <p:nvSpPr>
          <p:cNvPr id="3" name="AutoShape 6">
            <a:extLst>
              <a:ext uri="{FF2B5EF4-FFF2-40B4-BE49-F238E27FC236}">
                <a16:creationId xmlns:a16="http://schemas.microsoft.com/office/drawing/2014/main" id="{99A24C80-5056-D5FA-D14B-B23C06B3568F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7CDC693-27F3-3443-F0D2-7B9B64E6B4F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682" y="1250283"/>
            <a:ext cx="5223955" cy="5397164"/>
          </a:xfrm>
          <a:prstGeom prst="rect">
            <a:avLst/>
          </a:prstGeom>
        </p:spPr>
      </p:pic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ED5D4AFF-8313-73EF-4589-517AC700EEB0}"/>
              </a:ext>
            </a:extLst>
          </p:cNvPr>
          <p:cNvSpPr/>
          <p:nvPr/>
        </p:nvSpPr>
        <p:spPr>
          <a:xfrm>
            <a:off x="230643" y="3041698"/>
            <a:ext cx="497268" cy="539702"/>
          </a:xfrm>
          <a:prstGeom prst="roundRect">
            <a:avLst>
              <a:gd name="adj" fmla="val 2378"/>
            </a:avLst>
          </a:prstGeom>
          <a:noFill/>
          <a:ln w="38100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450EC37-2244-E502-46C6-D4BA8DB4B350}"/>
              </a:ext>
            </a:extLst>
          </p:cNvPr>
          <p:cNvSpPr txBox="1"/>
          <p:nvPr/>
        </p:nvSpPr>
        <p:spPr>
          <a:xfrm>
            <a:off x="6248400" y="1774429"/>
            <a:ext cx="506692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VSCode</a:t>
            </a:r>
            <a:r>
              <a:rPr lang="en-US" sz="2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can be a simple, light-weight text editor</a:t>
            </a:r>
          </a:p>
          <a:p>
            <a:pPr algn="ctr"/>
            <a:endParaRPr lang="en-US" sz="2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54067853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63D004-2863-CFA8-3CF4-688615C794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2246FA-6A33-6316-6E2A-D7D002D0AD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2583" y="122185"/>
            <a:ext cx="10515600" cy="1325563"/>
          </a:xfrm>
        </p:spPr>
        <p:txBody>
          <a:bodyPr/>
          <a:lstStyle/>
          <a:p>
            <a:r>
              <a:rPr lang="en-US" dirty="0" err="1"/>
              <a:t>VSCode</a:t>
            </a:r>
            <a:r>
              <a:rPr lang="en-US" dirty="0"/>
              <a:t> has many </a:t>
            </a:r>
            <a:r>
              <a:rPr lang="en-US" b="1" dirty="0"/>
              <a:t>extensions</a:t>
            </a:r>
            <a:endParaRPr lang="en-US" b="1" dirty="0">
              <a:latin typeface="Consolas" panose="020B0609020204030204" pitchFamily="49" charset="0"/>
            </a:endParaRPr>
          </a:p>
        </p:txBody>
      </p:sp>
      <p:sp>
        <p:nvSpPr>
          <p:cNvPr id="3" name="AutoShape 6">
            <a:extLst>
              <a:ext uri="{FF2B5EF4-FFF2-40B4-BE49-F238E27FC236}">
                <a16:creationId xmlns:a16="http://schemas.microsoft.com/office/drawing/2014/main" id="{79497FFB-468C-6BE9-2B56-C614270F1BE5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ADC9E50-E9A2-A21B-6783-1761830562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682" y="1250283"/>
            <a:ext cx="5223955" cy="5397164"/>
          </a:xfrm>
          <a:prstGeom prst="rect">
            <a:avLst/>
          </a:prstGeom>
        </p:spPr>
      </p:pic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C9281D8-E63D-DD9F-55FF-54B8DD814E0C}"/>
              </a:ext>
            </a:extLst>
          </p:cNvPr>
          <p:cNvSpPr/>
          <p:nvPr/>
        </p:nvSpPr>
        <p:spPr>
          <a:xfrm>
            <a:off x="230643" y="3041698"/>
            <a:ext cx="497268" cy="539702"/>
          </a:xfrm>
          <a:prstGeom prst="roundRect">
            <a:avLst>
              <a:gd name="adj" fmla="val 2378"/>
            </a:avLst>
          </a:prstGeom>
          <a:noFill/>
          <a:ln w="38100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ECC0F3B-CAA4-5FD5-2269-7F5BE8965973}"/>
              </a:ext>
            </a:extLst>
          </p:cNvPr>
          <p:cNvSpPr txBox="1"/>
          <p:nvPr/>
        </p:nvSpPr>
        <p:spPr>
          <a:xfrm>
            <a:off x="6248400" y="1774429"/>
            <a:ext cx="5066923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VSCode</a:t>
            </a:r>
            <a:r>
              <a:rPr lang="en-US" sz="2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can be a simple, light-weight text editor</a:t>
            </a:r>
          </a:p>
          <a:p>
            <a:pPr algn="ctr"/>
            <a:endParaRPr lang="en-US" sz="2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  <a:p>
            <a:pPr algn="ctr"/>
            <a:r>
              <a:rPr lang="en-US" sz="2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But it is also highly customizable, with extensions that allow it to act like a full fledged </a:t>
            </a:r>
            <a:r>
              <a:rPr lang="en-US" sz="2400" b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IDE</a:t>
            </a:r>
            <a:r>
              <a:rPr lang="en-US" sz="2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across many languages</a:t>
            </a:r>
          </a:p>
        </p:txBody>
      </p:sp>
    </p:spTree>
    <p:extLst>
      <p:ext uri="{BB962C8B-B14F-4D97-AF65-F5344CB8AC3E}">
        <p14:creationId xmlns:p14="http://schemas.microsoft.com/office/powerpoint/2010/main" val="3707914033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02E3C8-A32D-5DF8-8F1B-32770D861D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D2AB9F-DC49-1116-4B6C-2824CAD35F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2583" y="122185"/>
            <a:ext cx="10515600" cy="1325563"/>
          </a:xfrm>
        </p:spPr>
        <p:txBody>
          <a:bodyPr/>
          <a:lstStyle/>
          <a:p>
            <a:r>
              <a:rPr lang="en-US" dirty="0" err="1"/>
              <a:t>VSCode</a:t>
            </a:r>
            <a:r>
              <a:rPr lang="en-US" dirty="0"/>
              <a:t> has many </a:t>
            </a:r>
            <a:r>
              <a:rPr lang="en-US" b="1" dirty="0"/>
              <a:t>extensions</a:t>
            </a:r>
            <a:endParaRPr lang="en-US" b="1" dirty="0">
              <a:latin typeface="Consolas" panose="020B0609020204030204" pitchFamily="49" charset="0"/>
            </a:endParaRPr>
          </a:p>
        </p:txBody>
      </p:sp>
      <p:sp>
        <p:nvSpPr>
          <p:cNvPr id="3" name="AutoShape 6">
            <a:extLst>
              <a:ext uri="{FF2B5EF4-FFF2-40B4-BE49-F238E27FC236}">
                <a16:creationId xmlns:a16="http://schemas.microsoft.com/office/drawing/2014/main" id="{539C2E07-8FA1-9430-26D2-8C22E89FD3BB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451B0B0-7B26-E2D5-E78B-3E22682E86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682" y="1250283"/>
            <a:ext cx="5223955" cy="5397164"/>
          </a:xfrm>
          <a:prstGeom prst="rect">
            <a:avLst/>
          </a:prstGeom>
        </p:spPr>
      </p:pic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802A5C4F-F926-37E3-F431-369B879301E2}"/>
              </a:ext>
            </a:extLst>
          </p:cNvPr>
          <p:cNvSpPr/>
          <p:nvPr/>
        </p:nvSpPr>
        <p:spPr>
          <a:xfrm>
            <a:off x="230643" y="3041698"/>
            <a:ext cx="497268" cy="539702"/>
          </a:xfrm>
          <a:prstGeom prst="roundRect">
            <a:avLst>
              <a:gd name="adj" fmla="val 2378"/>
            </a:avLst>
          </a:prstGeom>
          <a:noFill/>
          <a:ln w="38100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6646385-2BA6-13F8-DF59-9F661829B1E5}"/>
              </a:ext>
            </a:extLst>
          </p:cNvPr>
          <p:cNvSpPr txBox="1"/>
          <p:nvPr/>
        </p:nvSpPr>
        <p:spPr>
          <a:xfrm>
            <a:off x="6248400" y="1774429"/>
            <a:ext cx="5066923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VSCode</a:t>
            </a:r>
            <a:r>
              <a:rPr lang="en-US" sz="2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can be a simple, light-weight text editor</a:t>
            </a:r>
          </a:p>
          <a:p>
            <a:pPr algn="ctr"/>
            <a:endParaRPr lang="en-US" sz="2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  <a:p>
            <a:pPr algn="ctr"/>
            <a:r>
              <a:rPr lang="en-US" sz="2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But it is also highly customizable, with extensions that allow it to act like a full fledged </a:t>
            </a:r>
            <a:r>
              <a:rPr lang="en-US" sz="2400" b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IDE</a:t>
            </a:r>
            <a:r>
              <a:rPr lang="en-US" sz="2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across many languages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FF2A0FD-203A-C476-199E-6BF6209B0456}"/>
              </a:ext>
            </a:extLst>
          </p:cNvPr>
          <p:cNvSpPr txBox="1"/>
          <p:nvPr/>
        </p:nvSpPr>
        <p:spPr>
          <a:xfrm>
            <a:off x="6658720" y="4954600"/>
            <a:ext cx="4246281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25400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880005"/>
                      <a:gd name="csY0" fmla="*/ 0 h 369332"/>
                      <a:gd name="csX1" fmla="*/ 457603 w 880005"/>
                      <a:gd name="csY1" fmla="*/ 0 h 369332"/>
                      <a:gd name="csX2" fmla="*/ 880005 w 880005"/>
                      <a:gd name="csY2" fmla="*/ 0 h 369332"/>
                      <a:gd name="csX3" fmla="*/ 880005 w 880005"/>
                      <a:gd name="csY3" fmla="*/ 369332 h 369332"/>
                      <a:gd name="csX4" fmla="*/ 448803 w 880005"/>
                      <a:gd name="csY4" fmla="*/ 369332 h 369332"/>
                      <a:gd name="csX5" fmla="*/ 0 w 880005"/>
                      <a:gd name="csY5" fmla="*/ 369332 h 369332"/>
                      <a:gd name="csX6" fmla="*/ 0 w 880005"/>
                      <a:gd name="csY6" fmla="*/ 0 h 36933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880005" h="369332" fill="none" extrusionOk="0">
                        <a:moveTo>
                          <a:pt x="0" y="0"/>
                        </a:moveTo>
                        <a:cubicBezTo>
                          <a:pt x="201900" y="-37713"/>
                          <a:pt x="351525" y="28891"/>
                          <a:pt x="457603" y="0"/>
                        </a:cubicBezTo>
                        <a:cubicBezTo>
                          <a:pt x="563681" y="-28891"/>
                          <a:pt x="722276" y="45370"/>
                          <a:pt x="880005" y="0"/>
                        </a:cubicBezTo>
                        <a:cubicBezTo>
                          <a:pt x="881535" y="150881"/>
                          <a:pt x="877252" y="222968"/>
                          <a:pt x="880005" y="369332"/>
                        </a:cubicBezTo>
                        <a:cubicBezTo>
                          <a:pt x="708206" y="372227"/>
                          <a:pt x="628419" y="331255"/>
                          <a:pt x="448803" y="369332"/>
                        </a:cubicBezTo>
                        <a:cubicBezTo>
                          <a:pt x="269187" y="407409"/>
                          <a:pt x="91315" y="362225"/>
                          <a:pt x="0" y="369332"/>
                        </a:cubicBezTo>
                        <a:cubicBezTo>
                          <a:pt x="-23840" y="235268"/>
                          <a:pt x="5511" y="129660"/>
                          <a:pt x="0" y="0"/>
                        </a:cubicBezTo>
                        <a:close/>
                      </a:path>
                      <a:path w="880005" h="369332" stroke="0" extrusionOk="0">
                        <a:moveTo>
                          <a:pt x="0" y="0"/>
                        </a:moveTo>
                        <a:cubicBezTo>
                          <a:pt x="142253" y="-32936"/>
                          <a:pt x="247997" y="27122"/>
                          <a:pt x="431202" y="0"/>
                        </a:cubicBezTo>
                        <a:cubicBezTo>
                          <a:pt x="614407" y="-27122"/>
                          <a:pt x="677258" y="29720"/>
                          <a:pt x="880005" y="0"/>
                        </a:cubicBezTo>
                        <a:cubicBezTo>
                          <a:pt x="907968" y="78977"/>
                          <a:pt x="849581" y="271296"/>
                          <a:pt x="880005" y="369332"/>
                        </a:cubicBezTo>
                        <a:cubicBezTo>
                          <a:pt x="724165" y="412455"/>
                          <a:pt x="639134" y="357050"/>
                          <a:pt x="440003" y="369332"/>
                        </a:cubicBezTo>
                        <a:cubicBezTo>
                          <a:pt x="240872" y="381614"/>
                          <a:pt x="202949" y="346116"/>
                          <a:pt x="0" y="369332"/>
                        </a:cubicBezTo>
                        <a:cubicBezTo>
                          <a:pt x="-6017" y="217080"/>
                          <a:pt x="5246" y="88445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Anyone can write an extension!</a:t>
            </a:r>
          </a:p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Make sure you trust the publisher before installing.</a:t>
            </a:r>
          </a:p>
        </p:txBody>
      </p:sp>
    </p:spTree>
    <p:extLst>
      <p:ext uri="{BB962C8B-B14F-4D97-AF65-F5344CB8AC3E}">
        <p14:creationId xmlns:p14="http://schemas.microsoft.com/office/powerpoint/2010/main" val="807789449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292127-B830-4D3B-7919-CDA9502D58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456AB44F-631A-9D20-7B37-80364102C2A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611465"/>
            <a:ext cx="12192000" cy="397909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C508008-246F-C556-AF29-3C40698C72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2583" y="122185"/>
            <a:ext cx="10515600" cy="1325563"/>
          </a:xfrm>
        </p:spPr>
        <p:txBody>
          <a:bodyPr/>
          <a:lstStyle/>
          <a:p>
            <a:r>
              <a:rPr lang="en-US" dirty="0"/>
              <a:t>The Remote – SSH extension allows you to connect to a server</a:t>
            </a:r>
            <a:endParaRPr lang="en-US" b="1" dirty="0">
              <a:latin typeface="Consolas" panose="020B0609020204030204" pitchFamily="49" charset="0"/>
            </a:endParaRPr>
          </a:p>
        </p:txBody>
      </p:sp>
      <p:sp>
        <p:nvSpPr>
          <p:cNvPr id="3" name="AutoShape 6">
            <a:extLst>
              <a:ext uri="{FF2B5EF4-FFF2-40B4-BE49-F238E27FC236}">
                <a16:creationId xmlns:a16="http://schemas.microsoft.com/office/drawing/2014/main" id="{318F0546-655A-2E11-A688-B04B3E0ADC4E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839BE3B-4376-8184-CCB0-FBBB6561B460}"/>
              </a:ext>
            </a:extLst>
          </p:cNvPr>
          <p:cNvSpPr/>
          <p:nvPr/>
        </p:nvSpPr>
        <p:spPr>
          <a:xfrm>
            <a:off x="381038" y="1890236"/>
            <a:ext cx="2656936" cy="539702"/>
          </a:xfrm>
          <a:prstGeom prst="roundRect">
            <a:avLst>
              <a:gd name="adj" fmla="val 2378"/>
            </a:avLst>
          </a:prstGeom>
          <a:noFill/>
          <a:ln w="38100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1702DBE-51C6-4A95-F2A3-00265AF7803E}"/>
              </a:ext>
            </a:extLst>
          </p:cNvPr>
          <p:cNvSpPr txBox="1"/>
          <p:nvPr/>
        </p:nvSpPr>
        <p:spPr>
          <a:xfrm>
            <a:off x="2437647" y="5869330"/>
            <a:ext cx="731670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>
                <a:hlinkClick r:id="rId3"/>
              </a:rPr>
              <a:t>https://code.visualstudio.com/docs/remote/remote-overview</a:t>
            </a:r>
            <a:r>
              <a:rPr lang="en-US" dirty="0"/>
              <a:t> 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CB6FF03-0B5F-A857-B465-74E3F4EE29D3}"/>
              </a:ext>
            </a:extLst>
          </p:cNvPr>
          <p:cNvSpPr txBox="1"/>
          <p:nvPr/>
        </p:nvSpPr>
        <p:spPr>
          <a:xfrm>
            <a:off x="1684671" y="6238662"/>
            <a:ext cx="912745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>
                <a:hlinkClick r:id="rId4"/>
              </a:rPr>
              <a:t>https://docs.rc.fas.harvard.edu/kb/vscode-remote-development-via-ssh-or-tunnel/</a:t>
            </a:r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183146328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CA0D7E-354C-AEED-06BD-97D8168AB4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15CC19F5-C37D-229F-CDA1-CA9E6FEFA9C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509" y="1447748"/>
            <a:ext cx="6057593" cy="5139776"/>
          </a:xfrm>
          <a:prstGeom prst="rect">
            <a:avLst/>
          </a:prstGeom>
        </p:spPr>
      </p:pic>
      <p:sp>
        <p:nvSpPr>
          <p:cNvPr id="3" name="AutoShape 6">
            <a:extLst>
              <a:ext uri="{FF2B5EF4-FFF2-40B4-BE49-F238E27FC236}">
                <a16:creationId xmlns:a16="http://schemas.microsoft.com/office/drawing/2014/main" id="{D84F58F6-04AA-03F6-EAF3-94FC59988BB1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2707780F-38C0-67CF-0F80-BECBB9530644}"/>
              </a:ext>
            </a:extLst>
          </p:cNvPr>
          <p:cNvSpPr/>
          <p:nvPr/>
        </p:nvSpPr>
        <p:spPr>
          <a:xfrm>
            <a:off x="271392" y="2947972"/>
            <a:ext cx="630976" cy="539702"/>
          </a:xfrm>
          <a:prstGeom prst="roundRect">
            <a:avLst>
              <a:gd name="adj" fmla="val 2378"/>
            </a:avLst>
          </a:prstGeom>
          <a:noFill/>
          <a:ln w="38100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4C79F7E8-98BF-6D1C-079C-CB0B55E95C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2583" y="122185"/>
            <a:ext cx="10515600" cy="1325563"/>
          </a:xfrm>
        </p:spPr>
        <p:txBody>
          <a:bodyPr/>
          <a:lstStyle/>
          <a:p>
            <a:r>
              <a:rPr lang="en-US" dirty="0"/>
              <a:t>The Remote – SSH extension allows you to connect to a server</a:t>
            </a:r>
            <a:endParaRPr lang="en-US" b="1" dirty="0"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445B98C-1933-B3B7-A802-C3BE5E431536}"/>
              </a:ext>
            </a:extLst>
          </p:cNvPr>
          <p:cNvSpPr txBox="1"/>
          <p:nvPr/>
        </p:nvSpPr>
        <p:spPr>
          <a:xfrm>
            <a:off x="7258596" y="1874694"/>
            <a:ext cx="4246281" cy="1200329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25400">
            <a:round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880005"/>
                      <a:gd name="csY0" fmla="*/ 0 h 369332"/>
                      <a:gd name="csX1" fmla="*/ 457603 w 880005"/>
                      <a:gd name="csY1" fmla="*/ 0 h 369332"/>
                      <a:gd name="csX2" fmla="*/ 880005 w 880005"/>
                      <a:gd name="csY2" fmla="*/ 0 h 369332"/>
                      <a:gd name="csX3" fmla="*/ 880005 w 880005"/>
                      <a:gd name="csY3" fmla="*/ 369332 h 369332"/>
                      <a:gd name="csX4" fmla="*/ 448803 w 880005"/>
                      <a:gd name="csY4" fmla="*/ 369332 h 369332"/>
                      <a:gd name="csX5" fmla="*/ 0 w 880005"/>
                      <a:gd name="csY5" fmla="*/ 369332 h 369332"/>
                      <a:gd name="csX6" fmla="*/ 0 w 880005"/>
                      <a:gd name="csY6" fmla="*/ 0 h 36933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880005" h="369332" fill="none" extrusionOk="0">
                        <a:moveTo>
                          <a:pt x="0" y="0"/>
                        </a:moveTo>
                        <a:cubicBezTo>
                          <a:pt x="201900" y="-37713"/>
                          <a:pt x="351525" y="28891"/>
                          <a:pt x="457603" y="0"/>
                        </a:cubicBezTo>
                        <a:cubicBezTo>
                          <a:pt x="563681" y="-28891"/>
                          <a:pt x="722276" y="45370"/>
                          <a:pt x="880005" y="0"/>
                        </a:cubicBezTo>
                        <a:cubicBezTo>
                          <a:pt x="881535" y="150881"/>
                          <a:pt x="877252" y="222968"/>
                          <a:pt x="880005" y="369332"/>
                        </a:cubicBezTo>
                        <a:cubicBezTo>
                          <a:pt x="708206" y="372227"/>
                          <a:pt x="628419" y="331255"/>
                          <a:pt x="448803" y="369332"/>
                        </a:cubicBezTo>
                        <a:cubicBezTo>
                          <a:pt x="269187" y="407409"/>
                          <a:pt x="91315" y="362225"/>
                          <a:pt x="0" y="369332"/>
                        </a:cubicBezTo>
                        <a:cubicBezTo>
                          <a:pt x="-23840" y="235268"/>
                          <a:pt x="5511" y="129660"/>
                          <a:pt x="0" y="0"/>
                        </a:cubicBezTo>
                        <a:close/>
                      </a:path>
                      <a:path w="880005" h="369332" stroke="0" extrusionOk="0">
                        <a:moveTo>
                          <a:pt x="0" y="0"/>
                        </a:moveTo>
                        <a:cubicBezTo>
                          <a:pt x="142253" y="-32936"/>
                          <a:pt x="247997" y="27122"/>
                          <a:pt x="431202" y="0"/>
                        </a:cubicBezTo>
                        <a:cubicBezTo>
                          <a:pt x="614407" y="-27122"/>
                          <a:pt x="677258" y="29720"/>
                          <a:pt x="880005" y="0"/>
                        </a:cubicBezTo>
                        <a:cubicBezTo>
                          <a:pt x="907968" y="78977"/>
                          <a:pt x="849581" y="271296"/>
                          <a:pt x="880005" y="369332"/>
                        </a:cubicBezTo>
                        <a:cubicBezTo>
                          <a:pt x="724165" y="412455"/>
                          <a:pt x="639134" y="357050"/>
                          <a:pt x="440003" y="369332"/>
                        </a:cubicBezTo>
                        <a:cubicBezTo>
                          <a:pt x="240872" y="381614"/>
                          <a:pt x="202949" y="346116"/>
                          <a:pt x="0" y="369332"/>
                        </a:cubicBezTo>
                        <a:cubicBezTo>
                          <a:pt x="-6017" y="217080"/>
                          <a:pt x="5246" y="88445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Once the extension is installed, an icon will appear on the left-side toolbar</a:t>
            </a:r>
          </a:p>
        </p:txBody>
      </p:sp>
    </p:spTree>
    <p:extLst>
      <p:ext uri="{BB962C8B-B14F-4D97-AF65-F5344CB8AC3E}">
        <p14:creationId xmlns:p14="http://schemas.microsoft.com/office/powerpoint/2010/main" val="114449318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7D9795-3E48-7C48-C31E-DF9E44B6F5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4F1B7F60-7C4D-7D4D-5112-605627C774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509" y="1447748"/>
            <a:ext cx="6057593" cy="5139776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A3128A4-062D-D6F4-CC34-27ABD54FB4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2583" y="122185"/>
            <a:ext cx="10515600" cy="1325563"/>
          </a:xfrm>
        </p:spPr>
        <p:txBody>
          <a:bodyPr/>
          <a:lstStyle/>
          <a:p>
            <a:r>
              <a:rPr lang="en-US" dirty="0" err="1"/>
              <a:t>VSCode</a:t>
            </a:r>
            <a:r>
              <a:rPr lang="en-US" dirty="0"/>
              <a:t> has many </a:t>
            </a:r>
            <a:r>
              <a:rPr lang="en-US" b="1" dirty="0"/>
              <a:t>extensions</a:t>
            </a:r>
            <a:endParaRPr lang="en-US" b="1" dirty="0">
              <a:latin typeface="Consolas" panose="020B0609020204030204" pitchFamily="49" charset="0"/>
            </a:endParaRPr>
          </a:p>
        </p:txBody>
      </p:sp>
      <p:sp>
        <p:nvSpPr>
          <p:cNvPr id="3" name="AutoShape 6">
            <a:extLst>
              <a:ext uri="{FF2B5EF4-FFF2-40B4-BE49-F238E27FC236}">
                <a16:creationId xmlns:a16="http://schemas.microsoft.com/office/drawing/2014/main" id="{937410DB-5E53-70D0-C44A-A645911D573E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CD08A479-13E8-1AF2-E37E-CE92A3A910BB}"/>
              </a:ext>
            </a:extLst>
          </p:cNvPr>
          <p:cNvSpPr/>
          <p:nvPr/>
        </p:nvSpPr>
        <p:spPr>
          <a:xfrm>
            <a:off x="3146939" y="2021540"/>
            <a:ext cx="264013" cy="288523"/>
          </a:xfrm>
          <a:prstGeom prst="roundRect">
            <a:avLst>
              <a:gd name="adj" fmla="val 2378"/>
            </a:avLst>
          </a:prstGeom>
          <a:noFill/>
          <a:ln w="38100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E9AD7E8-A2A2-55E6-8F9D-A11E81564E2C}"/>
              </a:ext>
            </a:extLst>
          </p:cNvPr>
          <p:cNvSpPr txBox="1"/>
          <p:nvPr/>
        </p:nvSpPr>
        <p:spPr>
          <a:xfrm>
            <a:off x="7258596" y="1874694"/>
            <a:ext cx="4246281" cy="1200329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25400">
            <a:round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880005"/>
                      <a:gd name="csY0" fmla="*/ 0 h 369332"/>
                      <a:gd name="csX1" fmla="*/ 457603 w 880005"/>
                      <a:gd name="csY1" fmla="*/ 0 h 369332"/>
                      <a:gd name="csX2" fmla="*/ 880005 w 880005"/>
                      <a:gd name="csY2" fmla="*/ 0 h 369332"/>
                      <a:gd name="csX3" fmla="*/ 880005 w 880005"/>
                      <a:gd name="csY3" fmla="*/ 369332 h 369332"/>
                      <a:gd name="csX4" fmla="*/ 448803 w 880005"/>
                      <a:gd name="csY4" fmla="*/ 369332 h 369332"/>
                      <a:gd name="csX5" fmla="*/ 0 w 880005"/>
                      <a:gd name="csY5" fmla="*/ 369332 h 369332"/>
                      <a:gd name="csX6" fmla="*/ 0 w 880005"/>
                      <a:gd name="csY6" fmla="*/ 0 h 36933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880005" h="369332" fill="none" extrusionOk="0">
                        <a:moveTo>
                          <a:pt x="0" y="0"/>
                        </a:moveTo>
                        <a:cubicBezTo>
                          <a:pt x="201900" y="-37713"/>
                          <a:pt x="351525" y="28891"/>
                          <a:pt x="457603" y="0"/>
                        </a:cubicBezTo>
                        <a:cubicBezTo>
                          <a:pt x="563681" y="-28891"/>
                          <a:pt x="722276" y="45370"/>
                          <a:pt x="880005" y="0"/>
                        </a:cubicBezTo>
                        <a:cubicBezTo>
                          <a:pt x="881535" y="150881"/>
                          <a:pt x="877252" y="222968"/>
                          <a:pt x="880005" y="369332"/>
                        </a:cubicBezTo>
                        <a:cubicBezTo>
                          <a:pt x="708206" y="372227"/>
                          <a:pt x="628419" y="331255"/>
                          <a:pt x="448803" y="369332"/>
                        </a:cubicBezTo>
                        <a:cubicBezTo>
                          <a:pt x="269187" y="407409"/>
                          <a:pt x="91315" y="362225"/>
                          <a:pt x="0" y="369332"/>
                        </a:cubicBezTo>
                        <a:cubicBezTo>
                          <a:pt x="-23840" y="235268"/>
                          <a:pt x="5511" y="129660"/>
                          <a:pt x="0" y="0"/>
                        </a:cubicBezTo>
                        <a:close/>
                      </a:path>
                      <a:path w="880005" h="369332" stroke="0" extrusionOk="0">
                        <a:moveTo>
                          <a:pt x="0" y="0"/>
                        </a:moveTo>
                        <a:cubicBezTo>
                          <a:pt x="142253" y="-32936"/>
                          <a:pt x="247997" y="27122"/>
                          <a:pt x="431202" y="0"/>
                        </a:cubicBezTo>
                        <a:cubicBezTo>
                          <a:pt x="614407" y="-27122"/>
                          <a:pt x="677258" y="29720"/>
                          <a:pt x="880005" y="0"/>
                        </a:cubicBezTo>
                        <a:cubicBezTo>
                          <a:pt x="907968" y="78977"/>
                          <a:pt x="849581" y="271296"/>
                          <a:pt x="880005" y="369332"/>
                        </a:cubicBezTo>
                        <a:cubicBezTo>
                          <a:pt x="724165" y="412455"/>
                          <a:pt x="639134" y="357050"/>
                          <a:pt x="440003" y="369332"/>
                        </a:cubicBezTo>
                        <a:cubicBezTo>
                          <a:pt x="240872" y="381614"/>
                          <a:pt x="202949" y="346116"/>
                          <a:pt x="0" y="369332"/>
                        </a:cubicBezTo>
                        <a:cubicBezTo>
                          <a:pt x="-6017" y="217080"/>
                          <a:pt x="5246" y="88445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Once the extension is installed, an icon will appear on the left-side toolbar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1612107-2F3F-D675-818A-03EEBBFFC2F0}"/>
              </a:ext>
            </a:extLst>
          </p:cNvPr>
          <p:cNvSpPr txBox="1"/>
          <p:nvPr/>
        </p:nvSpPr>
        <p:spPr>
          <a:xfrm>
            <a:off x="7258596" y="3674953"/>
            <a:ext cx="4246281" cy="1200329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25400">
            <a:round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880005"/>
                      <a:gd name="csY0" fmla="*/ 0 h 369332"/>
                      <a:gd name="csX1" fmla="*/ 457603 w 880005"/>
                      <a:gd name="csY1" fmla="*/ 0 h 369332"/>
                      <a:gd name="csX2" fmla="*/ 880005 w 880005"/>
                      <a:gd name="csY2" fmla="*/ 0 h 369332"/>
                      <a:gd name="csX3" fmla="*/ 880005 w 880005"/>
                      <a:gd name="csY3" fmla="*/ 369332 h 369332"/>
                      <a:gd name="csX4" fmla="*/ 448803 w 880005"/>
                      <a:gd name="csY4" fmla="*/ 369332 h 369332"/>
                      <a:gd name="csX5" fmla="*/ 0 w 880005"/>
                      <a:gd name="csY5" fmla="*/ 369332 h 369332"/>
                      <a:gd name="csX6" fmla="*/ 0 w 880005"/>
                      <a:gd name="csY6" fmla="*/ 0 h 36933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880005" h="369332" fill="none" extrusionOk="0">
                        <a:moveTo>
                          <a:pt x="0" y="0"/>
                        </a:moveTo>
                        <a:cubicBezTo>
                          <a:pt x="201900" y="-37713"/>
                          <a:pt x="351525" y="28891"/>
                          <a:pt x="457603" y="0"/>
                        </a:cubicBezTo>
                        <a:cubicBezTo>
                          <a:pt x="563681" y="-28891"/>
                          <a:pt x="722276" y="45370"/>
                          <a:pt x="880005" y="0"/>
                        </a:cubicBezTo>
                        <a:cubicBezTo>
                          <a:pt x="881535" y="150881"/>
                          <a:pt x="877252" y="222968"/>
                          <a:pt x="880005" y="369332"/>
                        </a:cubicBezTo>
                        <a:cubicBezTo>
                          <a:pt x="708206" y="372227"/>
                          <a:pt x="628419" y="331255"/>
                          <a:pt x="448803" y="369332"/>
                        </a:cubicBezTo>
                        <a:cubicBezTo>
                          <a:pt x="269187" y="407409"/>
                          <a:pt x="91315" y="362225"/>
                          <a:pt x="0" y="369332"/>
                        </a:cubicBezTo>
                        <a:cubicBezTo>
                          <a:pt x="-23840" y="235268"/>
                          <a:pt x="5511" y="129660"/>
                          <a:pt x="0" y="0"/>
                        </a:cubicBezTo>
                        <a:close/>
                      </a:path>
                      <a:path w="880005" h="369332" stroke="0" extrusionOk="0">
                        <a:moveTo>
                          <a:pt x="0" y="0"/>
                        </a:moveTo>
                        <a:cubicBezTo>
                          <a:pt x="142253" y="-32936"/>
                          <a:pt x="247997" y="27122"/>
                          <a:pt x="431202" y="0"/>
                        </a:cubicBezTo>
                        <a:cubicBezTo>
                          <a:pt x="614407" y="-27122"/>
                          <a:pt x="677258" y="29720"/>
                          <a:pt x="880005" y="0"/>
                        </a:cubicBezTo>
                        <a:cubicBezTo>
                          <a:pt x="907968" y="78977"/>
                          <a:pt x="849581" y="271296"/>
                          <a:pt x="880005" y="369332"/>
                        </a:cubicBezTo>
                        <a:cubicBezTo>
                          <a:pt x="724165" y="412455"/>
                          <a:pt x="639134" y="357050"/>
                          <a:pt x="440003" y="369332"/>
                        </a:cubicBezTo>
                        <a:cubicBezTo>
                          <a:pt x="240872" y="381614"/>
                          <a:pt x="202949" y="346116"/>
                          <a:pt x="0" y="369332"/>
                        </a:cubicBezTo>
                        <a:cubicBezTo>
                          <a:pt x="-6017" y="217080"/>
                          <a:pt x="5246" y="88445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Connect to a server by clicking the </a:t>
            </a:r>
            <a:r>
              <a:rPr lang="en-US" sz="2400" dirty="0">
                <a:latin typeface="Consolas" panose="020B0609020204030204" pitchFamily="49" charset="0"/>
                <a:ea typeface="Source Sans Pro" panose="020B0503030403020204" pitchFamily="34" charset="0"/>
              </a:rPr>
              <a:t>+</a:t>
            </a:r>
            <a:r>
              <a:rPr lang="en-US" sz="2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icon in the Remote Explorer</a:t>
            </a:r>
          </a:p>
        </p:txBody>
      </p:sp>
    </p:spTree>
    <p:extLst>
      <p:ext uri="{BB962C8B-B14F-4D97-AF65-F5344CB8AC3E}">
        <p14:creationId xmlns:p14="http://schemas.microsoft.com/office/powerpoint/2010/main" val="3022693341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E2CCC9-0A31-7537-0683-E3BD447467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3396A9A4-EBD7-7697-8BE4-F90F680CA4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4795" y="1998970"/>
            <a:ext cx="10238874" cy="409433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8B44C27-F5BE-8108-5112-30408CCDED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368607"/>
            <a:ext cx="10515600" cy="1325563"/>
          </a:xfrm>
        </p:spPr>
        <p:txBody>
          <a:bodyPr>
            <a:normAutofit fontScale="90000"/>
          </a:bodyPr>
          <a:lstStyle/>
          <a:p>
            <a:r>
              <a:rPr lang="en-US" dirty="0"/>
              <a:t>In the login dialog, use the same command you would use to ssh to the cluster from the terminal, followed by your two-factor code</a:t>
            </a:r>
            <a:endParaRPr lang="en-US" b="1" dirty="0">
              <a:latin typeface="Consolas" panose="020B0609020204030204" pitchFamily="49" charset="0"/>
            </a:endParaRPr>
          </a:p>
        </p:txBody>
      </p:sp>
      <p:sp>
        <p:nvSpPr>
          <p:cNvPr id="3" name="AutoShape 6">
            <a:extLst>
              <a:ext uri="{FF2B5EF4-FFF2-40B4-BE49-F238E27FC236}">
                <a16:creationId xmlns:a16="http://schemas.microsoft.com/office/drawing/2014/main" id="{898DA6DD-68C6-A2BC-CACD-7EB423148F40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DF774404-A2B8-2423-725C-C31EA0F6C244}"/>
              </a:ext>
            </a:extLst>
          </p:cNvPr>
          <p:cNvSpPr/>
          <p:nvPr/>
        </p:nvSpPr>
        <p:spPr>
          <a:xfrm>
            <a:off x="6896782" y="2009330"/>
            <a:ext cx="3865466" cy="559234"/>
          </a:xfrm>
          <a:prstGeom prst="roundRect">
            <a:avLst>
              <a:gd name="adj" fmla="val 2378"/>
            </a:avLst>
          </a:prstGeom>
          <a:noFill/>
          <a:ln w="38100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3BB901C-A9D2-FC00-8FE7-93F7BD551A18}"/>
              </a:ext>
            </a:extLst>
          </p:cNvPr>
          <p:cNvSpPr txBox="1"/>
          <p:nvPr/>
        </p:nvSpPr>
        <p:spPr>
          <a:xfrm>
            <a:off x="3284120" y="6398104"/>
            <a:ext cx="6157160" cy="3422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95000"/>
                  </a:prstClr>
                </a:solidFill>
                <a:effectLst/>
                <a:highlight>
                  <a:srgbClr val="000000"/>
                </a:highlight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ssh &lt;username&gt;@login.rc.fas.harvard.edu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95000"/>
                </a:prstClr>
              </a:solidFill>
              <a:effectLst/>
              <a:highlight>
                <a:srgbClr val="000000"/>
              </a:highlight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109377790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D671E6-2C7B-BDF4-090A-F7BA5BADCB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D4C6A0C8-505B-DDC1-E636-A065810D52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4795" y="1998970"/>
            <a:ext cx="10238874" cy="409433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20B52E6-4738-E6D8-1FDB-5E5FB34B02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368607"/>
            <a:ext cx="10515600" cy="1325563"/>
          </a:xfrm>
        </p:spPr>
        <p:txBody>
          <a:bodyPr>
            <a:normAutofit fontScale="90000"/>
          </a:bodyPr>
          <a:lstStyle/>
          <a:p>
            <a:r>
              <a:rPr lang="en-US" dirty="0"/>
              <a:t>In the login dialog, use the same command you would use to ssh to the cluster from the terminal, followed by your two-factor code</a:t>
            </a:r>
            <a:endParaRPr lang="en-US" b="1" dirty="0">
              <a:latin typeface="Consolas" panose="020B0609020204030204" pitchFamily="49" charset="0"/>
            </a:endParaRPr>
          </a:p>
        </p:txBody>
      </p:sp>
      <p:sp>
        <p:nvSpPr>
          <p:cNvPr id="3" name="AutoShape 6">
            <a:extLst>
              <a:ext uri="{FF2B5EF4-FFF2-40B4-BE49-F238E27FC236}">
                <a16:creationId xmlns:a16="http://schemas.microsoft.com/office/drawing/2014/main" id="{042829B1-A1DF-307D-3AC9-DB8132890E5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25D738FE-1281-E65A-A6CE-151120930036}"/>
              </a:ext>
            </a:extLst>
          </p:cNvPr>
          <p:cNvSpPr/>
          <p:nvPr/>
        </p:nvSpPr>
        <p:spPr>
          <a:xfrm>
            <a:off x="6896782" y="2009330"/>
            <a:ext cx="3865466" cy="559234"/>
          </a:xfrm>
          <a:prstGeom prst="roundRect">
            <a:avLst>
              <a:gd name="adj" fmla="val 2378"/>
            </a:avLst>
          </a:prstGeom>
          <a:noFill/>
          <a:ln w="38100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8CA0986-D2A9-90F8-6F7F-933540EF5699}"/>
              </a:ext>
            </a:extLst>
          </p:cNvPr>
          <p:cNvSpPr txBox="1"/>
          <p:nvPr/>
        </p:nvSpPr>
        <p:spPr>
          <a:xfrm>
            <a:off x="3284120" y="6398104"/>
            <a:ext cx="6157160" cy="3422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95000"/>
                  </a:prstClr>
                </a:solidFill>
                <a:effectLst/>
                <a:highlight>
                  <a:srgbClr val="000000"/>
                </a:highlight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ssh &lt;username&gt;@login.rc.fas.harvard.edu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95000"/>
                </a:prstClr>
              </a:solidFill>
              <a:effectLst/>
              <a:highlight>
                <a:srgbClr val="000000"/>
              </a:highlight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3C7324B-E2E8-7C1C-DD03-F91BE30B5CC5}"/>
              </a:ext>
            </a:extLst>
          </p:cNvPr>
          <p:cNvSpPr txBox="1"/>
          <p:nvPr/>
        </p:nvSpPr>
        <p:spPr>
          <a:xfrm>
            <a:off x="0" y="4046137"/>
            <a:ext cx="12192000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If you have trouble with this login pop-up menu, enable the following setting:</a:t>
            </a:r>
          </a:p>
          <a:p>
            <a:pPr algn="ctr"/>
            <a:endParaRPr lang="en-US" sz="2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  <a:p>
            <a:pPr algn="ctr"/>
            <a:r>
              <a:rPr lang="en-US" sz="2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Always Show Login Terminal: </a:t>
            </a:r>
            <a:r>
              <a:rPr lang="en-US" sz="2400" dirty="0" err="1">
                <a:latin typeface="Consolas" panose="020B0609020204030204" pitchFamily="49" charset="0"/>
                <a:ea typeface="Source Sans Pro" panose="020B0503030403020204" pitchFamily="34" charset="0"/>
              </a:rPr>
              <a:t>remote.SSH.showLoginTerminal</a:t>
            </a:r>
            <a:endParaRPr lang="en-US" sz="2400" dirty="0">
              <a:latin typeface="Consolas" panose="020B0609020204030204" pitchFamily="49" charset="0"/>
              <a:ea typeface="Source Sans Pro" panose="020B05030304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30606689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611D1D-BC99-F6C2-230B-89EEB98339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C3396B1D-A255-77EC-7D9E-2935040E871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280" y="1581527"/>
            <a:ext cx="11819021" cy="506105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2A926B8-18F0-226B-FCC8-7E91BC57BE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2583" y="122185"/>
            <a:ext cx="10515600" cy="1325563"/>
          </a:xfrm>
        </p:spPr>
        <p:txBody>
          <a:bodyPr/>
          <a:lstStyle/>
          <a:p>
            <a:r>
              <a:rPr lang="en-US" dirty="0"/>
              <a:t>Once logged in, click on the file browser icon in the left-side toolbar</a:t>
            </a:r>
            <a:endParaRPr lang="en-US" b="1" dirty="0">
              <a:latin typeface="Consolas" panose="020B0609020204030204" pitchFamily="49" charset="0"/>
            </a:endParaRPr>
          </a:p>
        </p:txBody>
      </p:sp>
      <p:sp>
        <p:nvSpPr>
          <p:cNvPr id="3" name="AutoShape 6">
            <a:extLst>
              <a:ext uri="{FF2B5EF4-FFF2-40B4-BE49-F238E27FC236}">
                <a16:creationId xmlns:a16="http://schemas.microsoft.com/office/drawing/2014/main" id="{8E402F18-BAE3-650E-2EBC-756EA854BD20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87DF5FDB-CAC1-24AF-5C15-B919AD16AFF5}"/>
              </a:ext>
            </a:extLst>
          </p:cNvPr>
          <p:cNvSpPr/>
          <p:nvPr/>
        </p:nvSpPr>
        <p:spPr>
          <a:xfrm>
            <a:off x="30359" y="1699307"/>
            <a:ext cx="385756" cy="434390"/>
          </a:xfrm>
          <a:prstGeom prst="roundRect">
            <a:avLst>
              <a:gd name="adj" fmla="val 2378"/>
            </a:avLst>
          </a:prstGeom>
          <a:noFill/>
          <a:ln w="38100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6661697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D0F6FC-14E2-BE9D-2126-45B5B96517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8E5F27A-1093-364B-F950-727DB8A164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7121" y="1567482"/>
            <a:ext cx="11337758" cy="524500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1961905-C269-2932-BBDC-663C3CE9F2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2583" y="122185"/>
            <a:ext cx="10515600" cy="1325563"/>
          </a:xfrm>
        </p:spPr>
        <p:txBody>
          <a:bodyPr/>
          <a:lstStyle/>
          <a:p>
            <a:r>
              <a:rPr lang="en-US" dirty="0"/>
              <a:t>Select or type the path to a folder to open</a:t>
            </a:r>
            <a:endParaRPr lang="en-US" b="1" dirty="0">
              <a:latin typeface="Consolas" panose="020B0609020204030204" pitchFamily="49" charset="0"/>
            </a:endParaRPr>
          </a:p>
        </p:txBody>
      </p:sp>
      <p:sp>
        <p:nvSpPr>
          <p:cNvPr id="3" name="AutoShape 6">
            <a:extLst>
              <a:ext uri="{FF2B5EF4-FFF2-40B4-BE49-F238E27FC236}">
                <a16:creationId xmlns:a16="http://schemas.microsoft.com/office/drawing/2014/main" id="{F3D32146-FE1A-5F8D-58E8-4AD0E3CFD45C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126E29B8-FACE-22D7-EC72-7B42D7C7CA93}"/>
              </a:ext>
            </a:extLst>
          </p:cNvPr>
          <p:cNvSpPr/>
          <p:nvPr/>
        </p:nvSpPr>
        <p:spPr>
          <a:xfrm>
            <a:off x="767380" y="2517274"/>
            <a:ext cx="1747219" cy="434390"/>
          </a:xfrm>
          <a:prstGeom prst="roundRect">
            <a:avLst>
              <a:gd name="adj" fmla="val 2378"/>
            </a:avLst>
          </a:prstGeom>
          <a:noFill/>
          <a:ln w="38100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3AF38E04-AAF2-657F-2B4F-21CB2CCAC61D}"/>
              </a:ext>
            </a:extLst>
          </p:cNvPr>
          <p:cNvSpPr/>
          <p:nvPr/>
        </p:nvSpPr>
        <p:spPr>
          <a:xfrm>
            <a:off x="2758978" y="2538999"/>
            <a:ext cx="3429263" cy="390939"/>
          </a:xfrm>
          <a:prstGeom prst="rightArrow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1166691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57B068-0B56-DFF7-7F3E-241BB76989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5B843C74-7165-945B-072D-9DB95C3EFF2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7121" y="1567482"/>
            <a:ext cx="11337758" cy="524500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9E6B014-7B71-D7B8-6846-1FE96D84F9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2583" y="122185"/>
            <a:ext cx="10515600" cy="1325563"/>
          </a:xfrm>
        </p:spPr>
        <p:txBody>
          <a:bodyPr/>
          <a:lstStyle/>
          <a:p>
            <a:r>
              <a:rPr lang="en-US" dirty="0"/>
              <a:t>Select or type the path to a folder to open</a:t>
            </a:r>
            <a:endParaRPr lang="en-US" b="1" dirty="0">
              <a:latin typeface="Consolas" panose="020B0609020204030204" pitchFamily="49" charset="0"/>
            </a:endParaRPr>
          </a:p>
        </p:txBody>
      </p:sp>
      <p:sp>
        <p:nvSpPr>
          <p:cNvPr id="3" name="AutoShape 6">
            <a:extLst>
              <a:ext uri="{FF2B5EF4-FFF2-40B4-BE49-F238E27FC236}">
                <a16:creationId xmlns:a16="http://schemas.microsoft.com/office/drawing/2014/main" id="{9D72E337-D9FB-E026-B19A-A7442CFE6AD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E31BDAB8-ED95-3F53-2180-6D616BB892E2}"/>
              </a:ext>
            </a:extLst>
          </p:cNvPr>
          <p:cNvSpPr/>
          <p:nvPr/>
        </p:nvSpPr>
        <p:spPr>
          <a:xfrm>
            <a:off x="767380" y="2517274"/>
            <a:ext cx="1747219" cy="434390"/>
          </a:xfrm>
          <a:prstGeom prst="roundRect">
            <a:avLst>
              <a:gd name="adj" fmla="val 2378"/>
            </a:avLst>
          </a:prstGeom>
          <a:noFill/>
          <a:ln w="38100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E0C5E4CE-638F-857A-FD54-7ED4E0484F8C}"/>
              </a:ext>
            </a:extLst>
          </p:cNvPr>
          <p:cNvSpPr/>
          <p:nvPr/>
        </p:nvSpPr>
        <p:spPr>
          <a:xfrm>
            <a:off x="2758978" y="2538999"/>
            <a:ext cx="3429263" cy="390939"/>
          </a:xfrm>
          <a:prstGeom prst="rightArrow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457415B-8107-6872-0928-EC571A27B20A}"/>
              </a:ext>
            </a:extLst>
          </p:cNvPr>
          <p:cNvSpPr txBox="1"/>
          <p:nvPr/>
        </p:nvSpPr>
        <p:spPr>
          <a:xfrm>
            <a:off x="0" y="5401414"/>
            <a:ext cx="12192000" cy="46166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You may be asked to enter your credentials again after selecting a folder</a:t>
            </a:r>
          </a:p>
        </p:txBody>
      </p:sp>
    </p:spTree>
    <p:extLst>
      <p:ext uri="{BB962C8B-B14F-4D97-AF65-F5344CB8AC3E}">
        <p14:creationId xmlns:p14="http://schemas.microsoft.com/office/powerpoint/2010/main" val="2087221950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6955E8-C9AA-4672-03B5-D27B39D641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A62DC3-E7E9-1430-E048-DF3D0C2AF6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0515600" cy="1325563"/>
          </a:xfrm>
        </p:spPr>
        <p:txBody>
          <a:bodyPr/>
          <a:lstStyle/>
          <a:p>
            <a:r>
              <a:rPr lang="en-US" dirty="0"/>
              <a:t>Your file browser should now show the contents of your selected folder</a:t>
            </a:r>
            <a:endParaRPr lang="en-US" b="1" dirty="0">
              <a:latin typeface="Consolas" panose="020B0609020204030204" pitchFamily="49" charset="0"/>
            </a:endParaRPr>
          </a:p>
        </p:txBody>
      </p:sp>
      <p:sp>
        <p:nvSpPr>
          <p:cNvPr id="3" name="AutoShape 6">
            <a:extLst>
              <a:ext uri="{FF2B5EF4-FFF2-40B4-BE49-F238E27FC236}">
                <a16:creationId xmlns:a16="http://schemas.microsoft.com/office/drawing/2014/main" id="{5375B983-A546-1C02-B071-DFA1577837A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D85BA26-4F92-AD4C-7EDA-A03F0C89258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583" y="1447748"/>
            <a:ext cx="7823666" cy="4873557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E2D2E965-0C04-9B59-092A-20A3E0E6CA6E}"/>
              </a:ext>
            </a:extLst>
          </p:cNvPr>
          <p:cNvSpPr txBox="1"/>
          <p:nvPr/>
        </p:nvSpPr>
        <p:spPr>
          <a:xfrm>
            <a:off x="8161339" y="2327367"/>
            <a:ext cx="3835651" cy="830997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25400">
            <a:round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880005"/>
                      <a:gd name="csY0" fmla="*/ 0 h 369332"/>
                      <a:gd name="csX1" fmla="*/ 457603 w 880005"/>
                      <a:gd name="csY1" fmla="*/ 0 h 369332"/>
                      <a:gd name="csX2" fmla="*/ 880005 w 880005"/>
                      <a:gd name="csY2" fmla="*/ 0 h 369332"/>
                      <a:gd name="csX3" fmla="*/ 880005 w 880005"/>
                      <a:gd name="csY3" fmla="*/ 369332 h 369332"/>
                      <a:gd name="csX4" fmla="*/ 448803 w 880005"/>
                      <a:gd name="csY4" fmla="*/ 369332 h 369332"/>
                      <a:gd name="csX5" fmla="*/ 0 w 880005"/>
                      <a:gd name="csY5" fmla="*/ 369332 h 369332"/>
                      <a:gd name="csX6" fmla="*/ 0 w 880005"/>
                      <a:gd name="csY6" fmla="*/ 0 h 36933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880005" h="369332" fill="none" extrusionOk="0">
                        <a:moveTo>
                          <a:pt x="0" y="0"/>
                        </a:moveTo>
                        <a:cubicBezTo>
                          <a:pt x="201900" y="-37713"/>
                          <a:pt x="351525" y="28891"/>
                          <a:pt x="457603" y="0"/>
                        </a:cubicBezTo>
                        <a:cubicBezTo>
                          <a:pt x="563681" y="-28891"/>
                          <a:pt x="722276" y="45370"/>
                          <a:pt x="880005" y="0"/>
                        </a:cubicBezTo>
                        <a:cubicBezTo>
                          <a:pt x="881535" y="150881"/>
                          <a:pt x="877252" y="222968"/>
                          <a:pt x="880005" y="369332"/>
                        </a:cubicBezTo>
                        <a:cubicBezTo>
                          <a:pt x="708206" y="372227"/>
                          <a:pt x="628419" y="331255"/>
                          <a:pt x="448803" y="369332"/>
                        </a:cubicBezTo>
                        <a:cubicBezTo>
                          <a:pt x="269187" y="407409"/>
                          <a:pt x="91315" y="362225"/>
                          <a:pt x="0" y="369332"/>
                        </a:cubicBezTo>
                        <a:cubicBezTo>
                          <a:pt x="-23840" y="235268"/>
                          <a:pt x="5511" y="129660"/>
                          <a:pt x="0" y="0"/>
                        </a:cubicBezTo>
                        <a:close/>
                      </a:path>
                      <a:path w="880005" h="369332" stroke="0" extrusionOk="0">
                        <a:moveTo>
                          <a:pt x="0" y="0"/>
                        </a:moveTo>
                        <a:cubicBezTo>
                          <a:pt x="142253" y="-32936"/>
                          <a:pt x="247997" y="27122"/>
                          <a:pt x="431202" y="0"/>
                        </a:cubicBezTo>
                        <a:cubicBezTo>
                          <a:pt x="614407" y="-27122"/>
                          <a:pt x="677258" y="29720"/>
                          <a:pt x="880005" y="0"/>
                        </a:cubicBezTo>
                        <a:cubicBezTo>
                          <a:pt x="907968" y="78977"/>
                          <a:pt x="849581" y="271296"/>
                          <a:pt x="880005" y="369332"/>
                        </a:cubicBezTo>
                        <a:cubicBezTo>
                          <a:pt x="724165" y="412455"/>
                          <a:pt x="639134" y="357050"/>
                          <a:pt x="440003" y="369332"/>
                        </a:cubicBezTo>
                        <a:cubicBezTo>
                          <a:pt x="240872" y="381614"/>
                          <a:pt x="202949" y="346116"/>
                          <a:pt x="0" y="369332"/>
                        </a:cubicBezTo>
                        <a:cubicBezTo>
                          <a:pt x="-6017" y="217080"/>
                          <a:pt x="5246" y="88445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Open and edit files directly in </a:t>
            </a:r>
            <a:r>
              <a:rPr lang="en-US" sz="24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VSCode</a:t>
            </a:r>
            <a:endParaRPr lang="en-US" sz="2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18433593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FE371D-F936-625C-D46D-12F395098F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D30A50-D4FA-35F9-B4AB-8648A0B740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0515600" cy="1325563"/>
          </a:xfrm>
        </p:spPr>
        <p:txBody>
          <a:bodyPr/>
          <a:lstStyle/>
          <a:p>
            <a:r>
              <a:rPr lang="en-US" dirty="0"/>
              <a:t>Your file browser should now show the contents of your selected folder</a:t>
            </a:r>
            <a:endParaRPr lang="en-US" b="1" dirty="0">
              <a:latin typeface="Consolas" panose="020B0609020204030204" pitchFamily="49" charset="0"/>
            </a:endParaRPr>
          </a:p>
        </p:txBody>
      </p:sp>
      <p:sp>
        <p:nvSpPr>
          <p:cNvPr id="3" name="AutoShape 6">
            <a:extLst>
              <a:ext uri="{FF2B5EF4-FFF2-40B4-BE49-F238E27FC236}">
                <a16:creationId xmlns:a16="http://schemas.microsoft.com/office/drawing/2014/main" id="{8DBB1D3B-3AE7-90B0-BF32-B6457D1B5625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CC6CC623-8A3A-3A09-C555-B186F54D4E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583" y="1447748"/>
            <a:ext cx="7823666" cy="4873557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88670A67-DC10-22C8-C993-A91148D69203}"/>
              </a:ext>
            </a:extLst>
          </p:cNvPr>
          <p:cNvSpPr txBox="1"/>
          <p:nvPr/>
        </p:nvSpPr>
        <p:spPr>
          <a:xfrm>
            <a:off x="8161339" y="2327367"/>
            <a:ext cx="3835651" cy="830997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25400">
            <a:round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880005"/>
                      <a:gd name="csY0" fmla="*/ 0 h 369332"/>
                      <a:gd name="csX1" fmla="*/ 457603 w 880005"/>
                      <a:gd name="csY1" fmla="*/ 0 h 369332"/>
                      <a:gd name="csX2" fmla="*/ 880005 w 880005"/>
                      <a:gd name="csY2" fmla="*/ 0 h 369332"/>
                      <a:gd name="csX3" fmla="*/ 880005 w 880005"/>
                      <a:gd name="csY3" fmla="*/ 369332 h 369332"/>
                      <a:gd name="csX4" fmla="*/ 448803 w 880005"/>
                      <a:gd name="csY4" fmla="*/ 369332 h 369332"/>
                      <a:gd name="csX5" fmla="*/ 0 w 880005"/>
                      <a:gd name="csY5" fmla="*/ 369332 h 369332"/>
                      <a:gd name="csX6" fmla="*/ 0 w 880005"/>
                      <a:gd name="csY6" fmla="*/ 0 h 36933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880005" h="369332" fill="none" extrusionOk="0">
                        <a:moveTo>
                          <a:pt x="0" y="0"/>
                        </a:moveTo>
                        <a:cubicBezTo>
                          <a:pt x="201900" y="-37713"/>
                          <a:pt x="351525" y="28891"/>
                          <a:pt x="457603" y="0"/>
                        </a:cubicBezTo>
                        <a:cubicBezTo>
                          <a:pt x="563681" y="-28891"/>
                          <a:pt x="722276" y="45370"/>
                          <a:pt x="880005" y="0"/>
                        </a:cubicBezTo>
                        <a:cubicBezTo>
                          <a:pt x="881535" y="150881"/>
                          <a:pt x="877252" y="222968"/>
                          <a:pt x="880005" y="369332"/>
                        </a:cubicBezTo>
                        <a:cubicBezTo>
                          <a:pt x="708206" y="372227"/>
                          <a:pt x="628419" y="331255"/>
                          <a:pt x="448803" y="369332"/>
                        </a:cubicBezTo>
                        <a:cubicBezTo>
                          <a:pt x="269187" y="407409"/>
                          <a:pt x="91315" y="362225"/>
                          <a:pt x="0" y="369332"/>
                        </a:cubicBezTo>
                        <a:cubicBezTo>
                          <a:pt x="-23840" y="235268"/>
                          <a:pt x="5511" y="129660"/>
                          <a:pt x="0" y="0"/>
                        </a:cubicBezTo>
                        <a:close/>
                      </a:path>
                      <a:path w="880005" h="369332" stroke="0" extrusionOk="0">
                        <a:moveTo>
                          <a:pt x="0" y="0"/>
                        </a:moveTo>
                        <a:cubicBezTo>
                          <a:pt x="142253" y="-32936"/>
                          <a:pt x="247997" y="27122"/>
                          <a:pt x="431202" y="0"/>
                        </a:cubicBezTo>
                        <a:cubicBezTo>
                          <a:pt x="614407" y="-27122"/>
                          <a:pt x="677258" y="29720"/>
                          <a:pt x="880005" y="0"/>
                        </a:cubicBezTo>
                        <a:cubicBezTo>
                          <a:pt x="907968" y="78977"/>
                          <a:pt x="849581" y="271296"/>
                          <a:pt x="880005" y="369332"/>
                        </a:cubicBezTo>
                        <a:cubicBezTo>
                          <a:pt x="724165" y="412455"/>
                          <a:pt x="639134" y="357050"/>
                          <a:pt x="440003" y="369332"/>
                        </a:cubicBezTo>
                        <a:cubicBezTo>
                          <a:pt x="240872" y="381614"/>
                          <a:pt x="202949" y="346116"/>
                          <a:pt x="0" y="369332"/>
                        </a:cubicBezTo>
                        <a:cubicBezTo>
                          <a:pt x="-6017" y="217080"/>
                          <a:pt x="5246" y="88445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Open and edit files directly in </a:t>
            </a:r>
            <a:r>
              <a:rPr lang="en-US" sz="24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VSCode</a:t>
            </a:r>
            <a:endParaRPr lang="en-US" sz="2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AB53EEB-F9E1-5B3C-D76B-925171748165}"/>
              </a:ext>
            </a:extLst>
          </p:cNvPr>
          <p:cNvSpPr txBox="1"/>
          <p:nvPr/>
        </p:nvSpPr>
        <p:spPr>
          <a:xfrm>
            <a:off x="8161339" y="3381032"/>
            <a:ext cx="3835651" cy="1200329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25400">
            <a:round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880005"/>
                      <a:gd name="csY0" fmla="*/ 0 h 369332"/>
                      <a:gd name="csX1" fmla="*/ 457603 w 880005"/>
                      <a:gd name="csY1" fmla="*/ 0 h 369332"/>
                      <a:gd name="csX2" fmla="*/ 880005 w 880005"/>
                      <a:gd name="csY2" fmla="*/ 0 h 369332"/>
                      <a:gd name="csX3" fmla="*/ 880005 w 880005"/>
                      <a:gd name="csY3" fmla="*/ 369332 h 369332"/>
                      <a:gd name="csX4" fmla="*/ 448803 w 880005"/>
                      <a:gd name="csY4" fmla="*/ 369332 h 369332"/>
                      <a:gd name="csX5" fmla="*/ 0 w 880005"/>
                      <a:gd name="csY5" fmla="*/ 369332 h 369332"/>
                      <a:gd name="csX6" fmla="*/ 0 w 880005"/>
                      <a:gd name="csY6" fmla="*/ 0 h 36933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880005" h="369332" fill="none" extrusionOk="0">
                        <a:moveTo>
                          <a:pt x="0" y="0"/>
                        </a:moveTo>
                        <a:cubicBezTo>
                          <a:pt x="201900" y="-37713"/>
                          <a:pt x="351525" y="28891"/>
                          <a:pt x="457603" y="0"/>
                        </a:cubicBezTo>
                        <a:cubicBezTo>
                          <a:pt x="563681" y="-28891"/>
                          <a:pt x="722276" y="45370"/>
                          <a:pt x="880005" y="0"/>
                        </a:cubicBezTo>
                        <a:cubicBezTo>
                          <a:pt x="881535" y="150881"/>
                          <a:pt x="877252" y="222968"/>
                          <a:pt x="880005" y="369332"/>
                        </a:cubicBezTo>
                        <a:cubicBezTo>
                          <a:pt x="708206" y="372227"/>
                          <a:pt x="628419" y="331255"/>
                          <a:pt x="448803" y="369332"/>
                        </a:cubicBezTo>
                        <a:cubicBezTo>
                          <a:pt x="269187" y="407409"/>
                          <a:pt x="91315" y="362225"/>
                          <a:pt x="0" y="369332"/>
                        </a:cubicBezTo>
                        <a:cubicBezTo>
                          <a:pt x="-23840" y="235268"/>
                          <a:pt x="5511" y="129660"/>
                          <a:pt x="0" y="0"/>
                        </a:cubicBezTo>
                        <a:close/>
                      </a:path>
                      <a:path w="880005" h="369332" stroke="0" extrusionOk="0">
                        <a:moveTo>
                          <a:pt x="0" y="0"/>
                        </a:moveTo>
                        <a:cubicBezTo>
                          <a:pt x="142253" y="-32936"/>
                          <a:pt x="247997" y="27122"/>
                          <a:pt x="431202" y="0"/>
                        </a:cubicBezTo>
                        <a:cubicBezTo>
                          <a:pt x="614407" y="-27122"/>
                          <a:pt x="677258" y="29720"/>
                          <a:pt x="880005" y="0"/>
                        </a:cubicBezTo>
                        <a:cubicBezTo>
                          <a:pt x="907968" y="78977"/>
                          <a:pt x="849581" y="271296"/>
                          <a:pt x="880005" y="369332"/>
                        </a:cubicBezTo>
                        <a:cubicBezTo>
                          <a:pt x="724165" y="412455"/>
                          <a:pt x="639134" y="357050"/>
                          <a:pt x="440003" y="369332"/>
                        </a:cubicBezTo>
                        <a:cubicBezTo>
                          <a:pt x="240872" y="381614"/>
                          <a:pt x="202949" y="346116"/>
                          <a:pt x="0" y="369332"/>
                        </a:cubicBezTo>
                        <a:cubicBezTo>
                          <a:pt x="-6017" y="217080"/>
                          <a:pt x="5246" y="88445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Edits are synced to the cluster instantly upon saving</a:t>
            </a:r>
          </a:p>
        </p:txBody>
      </p:sp>
    </p:spTree>
    <p:extLst>
      <p:ext uri="{BB962C8B-B14F-4D97-AF65-F5344CB8AC3E}">
        <p14:creationId xmlns:p14="http://schemas.microsoft.com/office/powerpoint/2010/main" val="257154128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AB4680-6077-4C0C-F2B0-65A9D46228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4AFA98-66BA-AED6-B447-5C9CED105B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0515600" cy="1325563"/>
          </a:xfrm>
        </p:spPr>
        <p:txBody>
          <a:bodyPr/>
          <a:lstStyle/>
          <a:p>
            <a:r>
              <a:rPr lang="en-US" dirty="0"/>
              <a:t>Your file browser should now show the contents of your selected folder</a:t>
            </a:r>
            <a:endParaRPr lang="en-US" b="1" dirty="0">
              <a:latin typeface="Consolas" panose="020B0609020204030204" pitchFamily="49" charset="0"/>
            </a:endParaRPr>
          </a:p>
        </p:txBody>
      </p:sp>
      <p:sp>
        <p:nvSpPr>
          <p:cNvPr id="3" name="AutoShape 6">
            <a:extLst>
              <a:ext uri="{FF2B5EF4-FFF2-40B4-BE49-F238E27FC236}">
                <a16:creationId xmlns:a16="http://schemas.microsoft.com/office/drawing/2014/main" id="{C3DE3C92-A23F-3BBB-E9ED-BC1CDA68C2AB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EB718DE-D315-C431-CC74-0E398FD24B06}"/>
              </a:ext>
            </a:extLst>
          </p:cNvPr>
          <p:cNvSpPr txBox="1"/>
          <p:nvPr/>
        </p:nvSpPr>
        <p:spPr>
          <a:xfrm>
            <a:off x="8161339" y="2327367"/>
            <a:ext cx="3835651" cy="830997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25400">
            <a:round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880005"/>
                      <a:gd name="csY0" fmla="*/ 0 h 369332"/>
                      <a:gd name="csX1" fmla="*/ 457603 w 880005"/>
                      <a:gd name="csY1" fmla="*/ 0 h 369332"/>
                      <a:gd name="csX2" fmla="*/ 880005 w 880005"/>
                      <a:gd name="csY2" fmla="*/ 0 h 369332"/>
                      <a:gd name="csX3" fmla="*/ 880005 w 880005"/>
                      <a:gd name="csY3" fmla="*/ 369332 h 369332"/>
                      <a:gd name="csX4" fmla="*/ 448803 w 880005"/>
                      <a:gd name="csY4" fmla="*/ 369332 h 369332"/>
                      <a:gd name="csX5" fmla="*/ 0 w 880005"/>
                      <a:gd name="csY5" fmla="*/ 369332 h 369332"/>
                      <a:gd name="csX6" fmla="*/ 0 w 880005"/>
                      <a:gd name="csY6" fmla="*/ 0 h 36933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880005" h="369332" fill="none" extrusionOk="0">
                        <a:moveTo>
                          <a:pt x="0" y="0"/>
                        </a:moveTo>
                        <a:cubicBezTo>
                          <a:pt x="201900" y="-37713"/>
                          <a:pt x="351525" y="28891"/>
                          <a:pt x="457603" y="0"/>
                        </a:cubicBezTo>
                        <a:cubicBezTo>
                          <a:pt x="563681" y="-28891"/>
                          <a:pt x="722276" y="45370"/>
                          <a:pt x="880005" y="0"/>
                        </a:cubicBezTo>
                        <a:cubicBezTo>
                          <a:pt x="881535" y="150881"/>
                          <a:pt x="877252" y="222968"/>
                          <a:pt x="880005" y="369332"/>
                        </a:cubicBezTo>
                        <a:cubicBezTo>
                          <a:pt x="708206" y="372227"/>
                          <a:pt x="628419" y="331255"/>
                          <a:pt x="448803" y="369332"/>
                        </a:cubicBezTo>
                        <a:cubicBezTo>
                          <a:pt x="269187" y="407409"/>
                          <a:pt x="91315" y="362225"/>
                          <a:pt x="0" y="369332"/>
                        </a:cubicBezTo>
                        <a:cubicBezTo>
                          <a:pt x="-23840" y="235268"/>
                          <a:pt x="5511" y="129660"/>
                          <a:pt x="0" y="0"/>
                        </a:cubicBezTo>
                        <a:close/>
                      </a:path>
                      <a:path w="880005" h="369332" stroke="0" extrusionOk="0">
                        <a:moveTo>
                          <a:pt x="0" y="0"/>
                        </a:moveTo>
                        <a:cubicBezTo>
                          <a:pt x="142253" y="-32936"/>
                          <a:pt x="247997" y="27122"/>
                          <a:pt x="431202" y="0"/>
                        </a:cubicBezTo>
                        <a:cubicBezTo>
                          <a:pt x="614407" y="-27122"/>
                          <a:pt x="677258" y="29720"/>
                          <a:pt x="880005" y="0"/>
                        </a:cubicBezTo>
                        <a:cubicBezTo>
                          <a:pt x="907968" y="78977"/>
                          <a:pt x="849581" y="271296"/>
                          <a:pt x="880005" y="369332"/>
                        </a:cubicBezTo>
                        <a:cubicBezTo>
                          <a:pt x="724165" y="412455"/>
                          <a:pt x="639134" y="357050"/>
                          <a:pt x="440003" y="369332"/>
                        </a:cubicBezTo>
                        <a:cubicBezTo>
                          <a:pt x="240872" y="381614"/>
                          <a:pt x="202949" y="346116"/>
                          <a:pt x="0" y="369332"/>
                        </a:cubicBezTo>
                        <a:cubicBezTo>
                          <a:pt x="-6017" y="217080"/>
                          <a:pt x="5246" y="88445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Open and edit files directly in </a:t>
            </a:r>
            <a:r>
              <a:rPr lang="en-US" sz="24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VSCode</a:t>
            </a:r>
            <a:endParaRPr lang="en-US" sz="2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0E97B5D-BF88-B69A-17B8-BFBD28A507EA}"/>
              </a:ext>
            </a:extLst>
          </p:cNvPr>
          <p:cNvSpPr txBox="1"/>
          <p:nvPr/>
        </p:nvSpPr>
        <p:spPr>
          <a:xfrm>
            <a:off x="8161339" y="3381032"/>
            <a:ext cx="3835651" cy="1200329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25400">
            <a:round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880005"/>
                      <a:gd name="csY0" fmla="*/ 0 h 369332"/>
                      <a:gd name="csX1" fmla="*/ 457603 w 880005"/>
                      <a:gd name="csY1" fmla="*/ 0 h 369332"/>
                      <a:gd name="csX2" fmla="*/ 880005 w 880005"/>
                      <a:gd name="csY2" fmla="*/ 0 h 369332"/>
                      <a:gd name="csX3" fmla="*/ 880005 w 880005"/>
                      <a:gd name="csY3" fmla="*/ 369332 h 369332"/>
                      <a:gd name="csX4" fmla="*/ 448803 w 880005"/>
                      <a:gd name="csY4" fmla="*/ 369332 h 369332"/>
                      <a:gd name="csX5" fmla="*/ 0 w 880005"/>
                      <a:gd name="csY5" fmla="*/ 369332 h 369332"/>
                      <a:gd name="csX6" fmla="*/ 0 w 880005"/>
                      <a:gd name="csY6" fmla="*/ 0 h 36933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880005" h="369332" fill="none" extrusionOk="0">
                        <a:moveTo>
                          <a:pt x="0" y="0"/>
                        </a:moveTo>
                        <a:cubicBezTo>
                          <a:pt x="201900" y="-37713"/>
                          <a:pt x="351525" y="28891"/>
                          <a:pt x="457603" y="0"/>
                        </a:cubicBezTo>
                        <a:cubicBezTo>
                          <a:pt x="563681" y="-28891"/>
                          <a:pt x="722276" y="45370"/>
                          <a:pt x="880005" y="0"/>
                        </a:cubicBezTo>
                        <a:cubicBezTo>
                          <a:pt x="881535" y="150881"/>
                          <a:pt x="877252" y="222968"/>
                          <a:pt x="880005" y="369332"/>
                        </a:cubicBezTo>
                        <a:cubicBezTo>
                          <a:pt x="708206" y="372227"/>
                          <a:pt x="628419" y="331255"/>
                          <a:pt x="448803" y="369332"/>
                        </a:cubicBezTo>
                        <a:cubicBezTo>
                          <a:pt x="269187" y="407409"/>
                          <a:pt x="91315" y="362225"/>
                          <a:pt x="0" y="369332"/>
                        </a:cubicBezTo>
                        <a:cubicBezTo>
                          <a:pt x="-23840" y="235268"/>
                          <a:pt x="5511" y="129660"/>
                          <a:pt x="0" y="0"/>
                        </a:cubicBezTo>
                        <a:close/>
                      </a:path>
                      <a:path w="880005" h="369332" stroke="0" extrusionOk="0">
                        <a:moveTo>
                          <a:pt x="0" y="0"/>
                        </a:moveTo>
                        <a:cubicBezTo>
                          <a:pt x="142253" y="-32936"/>
                          <a:pt x="247997" y="27122"/>
                          <a:pt x="431202" y="0"/>
                        </a:cubicBezTo>
                        <a:cubicBezTo>
                          <a:pt x="614407" y="-27122"/>
                          <a:pt x="677258" y="29720"/>
                          <a:pt x="880005" y="0"/>
                        </a:cubicBezTo>
                        <a:cubicBezTo>
                          <a:pt x="907968" y="78977"/>
                          <a:pt x="849581" y="271296"/>
                          <a:pt x="880005" y="369332"/>
                        </a:cubicBezTo>
                        <a:cubicBezTo>
                          <a:pt x="724165" y="412455"/>
                          <a:pt x="639134" y="357050"/>
                          <a:pt x="440003" y="369332"/>
                        </a:cubicBezTo>
                        <a:cubicBezTo>
                          <a:pt x="240872" y="381614"/>
                          <a:pt x="202949" y="346116"/>
                          <a:pt x="0" y="369332"/>
                        </a:cubicBezTo>
                        <a:cubicBezTo>
                          <a:pt x="-6017" y="217080"/>
                          <a:pt x="5246" y="88445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Edits are synced to the cluster instantly upon saving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F636203-BCB1-13F6-A81E-69D380AEBA2E}"/>
              </a:ext>
            </a:extLst>
          </p:cNvPr>
          <p:cNvSpPr txBox="1"/>
          <p:nvPr/>
        </p:nvSpPr>
        <p:spPr>
          <a:xfrm>
            <a:off x="8161338" y="4804030"/>
            <a:ext cx="3835651" cy="830997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25400">
            <a:round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880005"/>
                      <a:gd name="csY0" fmla="*/ 0 h 369332"/>
                      <a:gd name="csX1" fmla="*/ 457603 w 880005"/>
                      <a:gd name="csY1" fmla="*/ 0 h 369332"/>
                      <a:gd name="csX2" fmla="*/ 880005 w 880005"/>
                      <a:gd name="csY2" fmla="*/ 0 h 369332"/>
                      <a:gd name="csX3" fmla="*/ 880005 w 880005"/>
                      <a:gd name="csY3" fmla="*/ 369332 h 369332"/>
                      <a:gd name="csX4" fmla="*/ 448803 w 880005"/>
                      <a:gd name="csY4" fmla="*/ 369332 h 369332"/>
                      <a:gd name="csX5" fmla="*/ 0 w 880005"/>
                      <a:gd name="csY5" fmla="*/ 369332 h 369332"/>
                      <a:gd name="csX6" fmla="*/ 0 w 880005"/>
                      <a:gd name="csY6" fmla="*/ 0 h 36933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880005" h="369332" fill="none" extrusionOk="0">
                        <a:moveTo>
                          <a:pt x="0" y="0"/>
                        </a:moveTo>
                        <a:cubicBezTo>
                          <a:pt x="201900" y="-37713"/>
                          <a:pt x="351525" y="28891"/>
                          <a:pt x="457603" y="0"/>
                        </a:cubicBezTo>
                        <a:cubicBezTo>
                          <a:pt x="563681" y="-28891"/>
                          <a:pt x="722276" y="45370"/>
                          <a:pt x="880005" y="0"/>
                        </a:cubicBezTo>
                        <a:cubicBezTo>
                          <a:pt x="881535" y="150881"/>
                          <a:pt x="877252" y="222968"/>
                          <a:pt x="880005" y="369332"/>
                        </a:cubicBezTo>
                        <a:cubicBezTo>
                          <a:pt x="708206" y="372227"/>
                          <a:pt x="628419" y="331255"/>
                          <a:pt x="448803" y="369332"/>
                        </a:cubicBezTo>
                        <a:cubicBezTo>
                          <a:pt x="269187" y="407409"/>
                          <a:pt x="91315" y="362225"/>
                          <a:pt x="0" y="369332"/>
                        </a:cubicBezTo>
                        <a:cubicBezTo>
                          <a:pt x="-23840" y="235268"/>
                          <a:pt x="5511" y="129660"/>
                          <a:pt x="0" y="0"/>
                        </a:cubicBezTo>
                        <a:close/>
                      </a:path>
                      <a:path w="880005" h="369332" stroke="0" extrusionOk="0">
                        <a:moveTo>
                          <a:pt x="0" y="0"/>
                        </a:moveTo>
                        <a:cubicBezTo>
                          <a:pt x="142253" y="-32936"/>
                          <a:pt x="247997" y="27122"/>
                          <a:pt x="431202" y="0"/>
                        </a:cubicBezTo>
                        <a:cubicBezTo>
                          <a:pt x="614407" y="-27122"/>
                          <a:pt x="677258" y="29720"/>
                          <a:pt x="880005" y="0"/>
                        </a:cubicBezTo>
                        <a:cubicBezTo>
                          <a:pt x="907968" y="78977"/>
                          <a:pt x="849581" y="271296"/>
                          <a:pt x="880005" y="369332"/>
                        </a:cubicBezTo>
                        <a:cubicBezTo>
                          <a:pt x="724165" y="412455"/>
                          <a:pt x="639134" y="357050"/>
                          <a:pt x="440003" y="369332"/>
                        </a:cubicBezTo>
                        <a:cubicBezTo>
                          <a:pt x="240872" y="381614"/>
                          <a:pt x="202949" y="346116"/>
                          <a:pt x="0" y="369332"/>
                        </a:cubicBezTo>
                        <a:cubicBezTo>
                          <a:pt x="-6017" y="217080"/>
                          <a:pt x="5246" y="88445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Basic file manipulation with right-click context menu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62AEB9F-9066-3F57-7EB9-92F496E0B4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7144" y="1325563"/>
            <a:ext cx="5667743" cy="53932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1992156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4F1499-6A40-3DDD-01C3-1C1F0E85E8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35DBFC-9D03-6CEB-E07D-2128C734A1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0515600" cy="1325563"/>
          </a:xfrm>
        </p:spPr>
        <p:txBody>
          <a:bodyPr/>
          <a:lstStyle/>
          <a:p>
            <a:r>
              <a:rPr lang="en-US" dirty="0"/>
              <a:t>The </a:t>
            </a:r>
            <a:r>
              <a:rPr lang="en-US" dirty="0">
                <a:latin typeface="Consolas" panose="020B0609020204030204" pitchFamily="49" charset="0"/>
              </a:rPr>
              <a:t>ctrl-`</a:t>
            </a:r>
            <a:r>
              <a:rPr lang="en-US" dirty="0"/>
              <a:t> shortcut also opens a terminal directly in </a:t>
            </a:r>
            <a:r>
              <a:rPr lang="en-US" dirty="0" err="1"/>
              <a:t>VSCode’s</a:t>
            </a:r>
            <a:r>
              <a:rPr lang="en-US" dirty="0"/>
              <a:t> interface!</a:t>
            </a:r>
            <a:endParaRPr lang="en-US" b="1" dirty="0">
              <a:latin typeface="Consolas" panose="020B0609020204030204" pitchFamily="49" charset="0"/>
            </a:endParaRPr>
          </a:p>
        </p:txBody>
      </p:sp>
      <p:sp>
        <p:nvSpPr>
          <p:cNvPr id="3" name="AutoShape 6">
            <a:extLst>
              <a:ext uri="{FF2B5EF4-FFF2-40B4-BE49-F238E27FC236}">
                <a16:creationId xmlns:a16="http://schemas.microsoft.com/office/drawing/2014/main" id="{2E84D1CB-F256-9246-596D-C643394F9419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EAD62E1-7F53-4FFB-980B-FD364D9198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5421" y="1325563"/>
            <a:ext cx="6785957" cy="54003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1108763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96B0B3-FA2A-5634-8EB1-CBD871346D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260B5E-BEC9-28AD-FDC8-443F56494A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0515600" cy="1325563"/>
          </a:xfrm>
        </p:spPr>
        <p:txBody>
          <a:bodyPr/>
          <a:lstStyle/>
          <a:p>
            <a:r>
              <a:rPr lang="en-US" dirty="0"/>
              <a:t>Drag-and-drop upload of local files is supported</a:t>
            </a:r>
            <a:endParaRPr lang="en-US" b="1" dirty="0">
              <a:latin typeface="Consolas" panose="020B0609020204030204" pitchFamily="49" charset="0"/>
            </a:endParaRPr>
          </a:p>
        </p:txBody>
      </p:sp>
      <p:sp>
        <p:nvSpPr>
          <p:cNvPr id="3" name="AutoShape 6">
            <a:extLst>
              <a:ext uri="{FF2B5EF4-FFF2-40B4-BE49-F238E27FC236}">
                <a16:creationId xmlns:a16="http://schemas.microsoft.com/office/drawing/2014/main" id="{EE494C96-4C5A-6CD2-5DBF-D90BD75B81F5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50C9894-912F-B08A-581D-AB96843205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6993" y="1548142"/>
            <a:ext cx="4740814" cy="4983933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7E4CB4D2-CC1F-09CA-53E5-E0E8D83CAB7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26435" y="1548142"/>
            <a:ext cx="4288105" cy="4987690"/>
          </a:xfrm>
          <a:prstGeom prst="rect">
            <a:avLst/>
          </a:prstGeom>
        </p:spPr>
      </p:pic>
      <p:sp>
        <p:nvSpPr>
          <p:cNvPr id="9" name="Arrow: Right 8">
            <a:extLst>
              <a:ext uri="{FF2B5EF4-FFF2-40B4-BE49-F238E27FC236}">
                <a16:creationId xmlns:a16="http://schemas.microsoft.com/office/drawing/2014/main" id="{CCB482B1-5B92-E864-9F0A-6DD64432A913}"/>
              </a:ext>
            </a:extLst>
          </p:cNvPr>
          <p:cNvSpPr/>
          <p:nvPr/>
        </p:nvSpPr>
        <p:spPr>
          <a:xfrm>
            <a:off x="5257800" y="3734057"/>
            <a:ext cx="1640941" cy="390939"/>
          </a:xfrm>
          <a:prstGeom prst="rightArrow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3163134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8D41A2-0C40-BF51-095B-C8EF859C97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5053C9-7DFC-F68B-441C-C627F9A286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0515600" cy="1325563"/>
          </a:xfrm>
        </p:spPr>
        <p:txBody>
          <a:bodyPr/>
          <a:lstStyle/>
          <a:p>
            <a:r>
              <a:rPr lang="en-US" dirty="0"/>
              <a:t>View generated figures directly in the editor</a:t>
            </a:r>
            <a:endParaRPr lang="en-US" b="1" dirty="0">
              <a:latin typeface="Consolas" panose="020B0609020204030204" pitchFamily="49" charset="0"/>
            </a:endParaRPr>
          </a:p>
        </p:txBody>
      </p:sp>
      <p:sp>
        <p:nvSpPr>
          <p:cNvPr id="3" name="AutoShape 6">
            <a:extLst>
              <a:ext uri="{FF2B5EF4-FFF2-40B4-BE49-F238E27FC236}">
                <a16:creationId xmlns:a16="http://schemas.microsoft.com/office/drawing/2014/main" id="{75C9E8ED-859A-F36A-75F9-E99D6D62DFB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8B1EC6F-F55A-E7A1-DA80-5252362E0A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8103" y="1964150"/>
            <a:ext cx="9955794" cy="44789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194141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773650-D61E-4BD4-93FA-D3F47FDF41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2AF898-0E89-ACC3-FC3E-2A7D07CAF9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0515600" cy="1325563"/>
          </a:xfrm>
        </p:spPr>
        <p:txBody>
          <a:bodyPr/>
          <a:lstStyle/>
          <a:p>
            <a:r>
              <a:rPr lang="en-US" dirty="0"/>
              <a:t>Recent folders appear in the Remote Explorer tab</a:t>
            </a:r>
          </a:p>
        </p:txBody>
      </p:sp>
      <p:sp>
        <p:nvSpPr>
          <p:cNvPr id="3" name="AutoShape 6">
            <a:extLst>
              <a:ext uri="{FF2B5EF4-FFF2-40B4-BE49-F238E27FC236}">
                <a16:creationId xmlns:a16="http://schemas.microsoft.com/office/drawing/2014/main" id="{C829FEA4-A6CF-5E0D-C7F3-F9CB267149F8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50798A4-08D8-B08A-9B7E-D97DE0014C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1741" y="1453021"/>
            <a:ext cx="7458543" cy="528787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3BF21CC9-C54C-7FCB-9AE0-DC17C2E7E03F}"/>
              </a:ext>
            </a:extLst>
          </p:cNvPr>
          <p:cNvSpPr txBox="1"/>
          <p:nvPr/>
        </p:nvSpPr>
        <p:spPr>
          <a:xfrm>
            <a:off x="8197553" y="3312130"/>
            <a:ext cx="3835651" cy="1569660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25400">
            <a:round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880005"/>
                      <a:gd name="csY0" fmla="*/ 0 h 369332"/>
                      <a:gd name="csX1" fmla="*/ 457603 w 880005"/>
                      <a:gd name="csY1" fmla="*/ 0 h 369332"/>
                      <a:gd name="csX2" fmla="*/ 880005 w 880005"/>
                      <a:gd name="csY2" fmla="*/ 0 h 369332"/>
                      <a:gd name="csX3" fmla="*/ 880005 w 880005"/>
                      <a:gd name="csY3" fmla="*/ 369332 h 369332"/>
                      <a:gd name="csX4" fmla="*/ 448803 w 880005"/>
                      <a:gd name="csY4" fmla="*/ 369332 h 369332"/>
                      <a:gd name="csX5" fmla="*/ 0 w 880005"/>
                      <a:gd name="csY5" fmla="*/ 369332 h 369332"/>
                      <a:gd name="csX6" fmla="*/ 0 w 880005"/>
                      <a:gd name="csY6" fmla="*/ 0 h 36933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880005" h="369332" fill="none" extrusionOk="0">
                        <a:moveTo>
                          <a:pt x="0" y="0"/>
                        </a:moveTo>
                        <a:cubicBezTo>
                          <a:pt x="201900" y="-37713"/>
                          <a:pt x="351525" y="28891"/>
                          <a:pt x="457603" y="0"/>
                        </a:cubicBezTo>
                        <a:cubicBezTo>
                          <a:pt x="563681" y="-28891"/>
                          <a:pt x="722276" y="45370"/>
                          <a:pt x="880005" y="0"/>
                        </a:cubicBezTo>
                        <a:cubicBezTo>
                          <a:pt x="881535" y="150881"/>
                          <a:pt x="877252" y="222968"/>
                          <a:pt x="880005" y="369332"/>
                        </a:cubicBezTo>
                        <a:cubicBezTo>
                          <a:pt x="708206" y="372227"/>
                          <a:pt x="628419" y="331255"/>
                          <a:pt x="448803" y="369332"/>
                        </a:cubicBezTo>
                        <a:cubicBezTo>
                          <a:pt x="269187" y="407409"/>
                          <a:pt x="91315" y="362225"/>
                          <a:pt x="0" y="369332"/>
                        </a:cubicBezTo>
                        <a:cubicBezTo>
                          <a:pt x="-23840" y="235268"/>
                          <a:pt x="5511" y="129660"/>
                          <a:pt x="0" y="0"/>
                        </a:cubicBezTo>
                        <a:close/>
                      </a:path>
                      <a:path w="880005" h="369332" stroke="0" extrusionOk="0">
                        <a:moveTo>
                          <a:pt x="0" y="0"/>
                        </a:moveTo>
                        <a:cubicBezTo>
                          <a:pt x="142253" y="-32936"/>
                          <a:pt x="247997" y="27122"/>
                          <a:pt x="431202" y="0"/>
                        </a:cubicBezTo>
                        <a:cubicBezTo>
                          <a:pt x="614407" y="-27122"/>
                          <a:pt x="677258" y="29720"/>
                          <a:pt x="880005" y="0"/>
                        </a:cubicBezTo>
                        <a:cubicBezTo>
                          <a:pt x="907968" y="78977"/>
                          <a:pt x="849581" y="271296"/>
                          <a:pt x="880005" y="369332"/>
                        </a:cubicBezTo>
                        <a:cubicBezTo>
                          <a:pt x="724165" y="412455"/>
                          <a:pt x="639134" y="357050"/>
                          <a:pt x="440003" y="369332"/>
                        </a:cubicBezTo>
                        <a:cubicBezTo>
                          <a:pt x="240872" y="381614"/>
                          <a:pt x="202949" y="346116"/>
                          <a:pt x="0" y="369332"/>
                        </a:cubicBezTo>
                        <a:cubicBezTo>
                          <a:pt x="-6017" y="217080"/>
                          <a:pt x="5246" y="88445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After logging off (closing the window), easily reconnect to recent folders in the Remote Explorer tab</a:t>
            </a:r>
          </a:p>
        </p:txBody>
      </p:sp>
    </p:spTree>
    <p:extLst>
      <p:ext uri="{BB962C8B-B14F-4D97-AF65-F5344CB8AC3E}">
        <p14:creationId xmlns:p14="http://schemas.microsoft.com/office/powerpoint/2010/main" val="1056421610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D6C8FB-0FFC-C7F8-379E-9AF137F805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DD0B4D-E1D0-8616-BB7B-55F8BCB74D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2426" y="60158"/>
            <a:ext cx="10966783" cy="1325563"/>
          </a:xfrm>
        </p:spPr>
        <p:txBody>
          <a:bodyPr/>
          <a:lstStyle/>
          <a:p>
            <a:r>
              <a:rPr lang="en-US" dirty="0"/>
              <a:t>Virtual desktop with Open On Demand (OOD)</a:t>
            </a:r>
          </a:p>
        </p:txBody>
      </p:sp>
      <p:sp>
        <p:nvSpPr>
          <p:cNvPr id="3" name="AutoShape 6">
            <a:extLst>
              <a:ext uri="{FF2B5EF4-FFF2-40B4-BE49-F238E27FC236}">
                <a16:creationId xmlns:a16="http://schemas.microsoft.com/office/drawing/2014/main" id="{B79C33D2-8D2D-B07A-D0F3-ED3F44B943F3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D19C301-0C0A-6C02-C96B-625DFDE81AFE}"/>
              </a:ext>
            </a:extLst>
          </p:cNvPr>
          <p:cNvSpPr txBox="1"/>
          <p:nvPr/>
        </p:nvSpPr>
        <p:spPr>
          <a:xfrm>
            <a:off x="2986135" y="6314214"/>
            <a:ext cx="62197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  <a:hlinkClick r:id="rId2"/>
              </a:rPr>
              <a:t>https://docs.rc.fas.harvard.edu/kb/virtual-desktop/</a:t>
            </a:r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4F95374-A624-A0E7-ABF1-5768E458CA0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5923" y="1185111"/>
            <a:ext cx="8175154" cy="499912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6E61B3E-1C0F-AE84-DC58-58D771877BE5}"/>
              </a:ext>
            </a:extLst>
          </p:cNvPr>
          <p:cNvSpPr txBox="1"/>
          <p:nvPr/>
        </p:nvSpPr>
        <p:spPr>
          <a:xfrm>
            <a:off x="8122373" y="2427238"/>
            <a:ext cx="3753704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Virtual desktop, RStudio, </a:t>
            </a:r>
            <a:r>
              <a:rPr lang="en-US" sz="2400" dirty="0" err="1"/>
              <a:t>Jupyter</a:t>
            </a:r>
            <a:r>
              <a:rPr lang="en-US" sz="2400" dirty="0"/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Runs on compute nodes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Must be on Harvard VPN</a:t>
            </a:r>
          </a:p>
        </p:txBody>
      </p:sp>
    </p:spTree>
    <p:extLst>
      <p:ext uri="{BB962C8B-B14F-4D97-AF65-F5344CB8AC3E}">
        <p14:creationId xmlns:p14="http://schemas.microsoft.com/office/powerpoint/2010/main" val="865081021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169978-3258-656F-1D0C-B9D8F3B124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4A625B-FEFE-176B-6876-600DA85FFE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0515600" cy="1325563"/>
          </a:xfrm>
        </p:spPr>
        <p:txBody>
          <a:bodyPr/>
          <a:lstStyle/>
          <a:p>
            <a:r>
              <a:rPr lang="en-US" dirty="0"/>
              <a:t>Useful shell shortcuts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3BFFB547-9267-9D72-17E8-EF861C1AF848}"/>
              </a:ext>
            </a:extLst>
          </p:cNvPr>
          <p:cNvGraphicFramePr>
            <a:graphicFrameLocks noGrp="1"/>
          </p:cNvGraphicFramePr>
          <p:nvPr/>
        </p:nvGraphicFramePr>
        <p:xfrm>
          <a:off x="0" y="1106227"/>
          <a:ext cx="12191999" cy="5415280"/>
        </p:xfrm>
        <a:graphic>
          <a:graphicData uri="http://schemas.openxmlformats.org/drawingml/2006/table">
            <a:tbl>
              <a:tblPr firstRow="1" bandRow="1">
                <a:tableStyleId>{616DA210-FB5B-4158-B5E0-FEB733F419BA}</a:tableStyleId>
              </a:tblPr>
              <a:tblGrid>
                <a:gridCol w="3855492">
                  <a:extLst>
                    <a:ext uri="{9D8B030D-6E8A-4147-A177-3AD203B41FA5}">
                      <a16:colId xmlns:a16="http://schemas.microsoft.com/office/drawing/2014/main" val="3298165829"/>
                    </a:ext>
                  </a:extLst>
                </a:gridCol>
                <a:gridCol w="8336507">
                  <a:extLst>
                    <a:ext uri="{9D8B030D-6E8A-4147-A177-3AD203B41FA5}">
                      <a16:colId xmlns:a16="http://schemas.microsoft.com/office/drawing/2014/main" val="6779989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600" b="0" dirty="0">
                          <a:latin typeface="Consolas" panose="020B0609020204030204" pitchFamily="49" charset="0"/>
                        </a:rPr>
                        <a:t>..</a:t>
                      </a: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b="0" dirty="0"/>
                        <a:t>Shortcut to use in paths meaning, “one directory above”. </a:t>
                      </a:r>
                    </a:p>
                    <a:p>
                      <a:endParaRPr lang="en-US" sz="1600" b="0" dirty="0">
                        <a:latin typeface="Consolas" panose="020B0609020204030204" pitchFamily="49" charset="0"/>
                      </a:endParaRPr>
                    </a:p>
                    <a:p>
                      <a:r>
                        <a:rPr lang="en-US" sz="1600" b="1" dirty="0">
                          <a:latin typeface="Consolas" panose="020B0609020204030204" pitchFamily="49" charset="0"/>
                        </a:rPr>
                        <a:t>../</a:t>
                      </a:r>
                      <a:r>
                        <a:rPr lang="en-US" sz="1600" b="0" dirty="0"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 means one directory above the current working directory</a:t>
                      </a:r>
                    </a:p>
                    <a:p>
                      <a:r>
                        <a:rPr lang="en-US" sz="1600" b="1" dirty="0">
                          <a:latin typeface="Consolas" panose="020B0609020204030204" pitchFamily="49" charset="0"/>
                        </a:rPr>
                        <a:t>../../</a:t>
                      </a:r>
                      <a:r>
                        <a:rPr lang="en-US" sz="1600" b="0" dirty="0"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 means two directories above the current working directory</a:t>
                      </a:r>
                      <a:r>
                        <a:rPr lang="en-US" sz="1600" b="0" dirty="0">
                          <a:latin typeface="Consolas" panose="020B0609020204030204" pitchFamily="49" charset="0"/>
                        </a:rPr>
                        <a:t> </a:t>
                      </a:r>
                      <a:endParaRPr lang="en-US" sz="1600" b="0" dirty="0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7767468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600" b="0" dirty="0">
                          <a:latin typeface="Consolas" panose="020B0609020204030204" pitchFamily="49" charset="0"/>
                        </a:rPr>
                        <a:t>~</a:t>
                      </a: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b="0" dirty="0"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Many systems use this to mean, “the path to the current user’s home directory”.</a:t>
                      </a:r>
                    </a:p>
                    <a:p>
                      <a:endParaRPr lang="en-US" sz="1600" b="0" dirty="0"/>
                    </a:p>
                    <a:p>
                      <a:r>
                        <a:rPr lang="en-US" sz="1600" b="1" dirty="0"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cd ~</a:t>
                      </a:r>
                      <a:r>
                        <a:rPr lang="en-US" sz="1600" b="0" dirty="0"/>
                        <a:t> </a:t>
                      </a:r>
                      <a:r>
                        <a:rPr lang="en-US" sz="1600" b="0" dirty="0"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will change directory to your home directory no matter where you are in the filesystem.</a:t>
                      </a: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45670425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600" b="0" dirty="0">
                          <a:latin typeface="Consolas" panose="020B0609020204030204" pitchFamily="49" charset="0"/>
                        </a:rPr>
                        <a:t>cd 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b="0" dirty="0"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Change to the previous directory no matter where </a:t>
                      </a:r>
                      <a:r>
                        <a:rPr lang="en-US" sz="1600" b="0"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it is.</a:t>
                      </a:r>
                      <a:endParaRPr lang="en-US" sz="1600" b="1" dirty="0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621221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600" b="0" dirty="0">
                          <a:latin typeface="Consolas" panose="020B0609020204030204" pitchFamily="49" charset="0"/>
                        </a:rPr>
                        <a:t>[tab]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b="0" dirty="0"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When typing paths for a command, hitting tab will autocomplete file names.</a:t>
                      </a:r>
                    </a:p>
                    <a:p>
                      <a:endParaRPr lang="en-US" sz="1600" b="0" dirty="0">
                        <a:latin typeface="Source Sans Pro" panose="020B0503030403020204" pitchFamily="34" charset="0"/>
                        <a:ea typeface="Source Sans Pro" panose="020B0503030403020204" pitchFamily="34" charset="0"/>
                      </a:endParaRPr>
                    </a:p>
                    <a:p>
                      <a:r>
                        <a:rPr lang="en-US" sz="1600" b="1" dirty="0">
                          <a:latin typeface="Consolas" panose="020B0609020204030204" pitchFamily="49" charset="0"/>
                          <a:ea typeface="Source Sans Pro" panose="020B0503030403020204" pitchFamily="34" charset="0"/>
                        </a:rPr>
                        <a:t>cd </a:t>
                      </a:r>
                      <a:r>
                        <a:rPr lang="en-US" sz="1600" b="1" dirty="0" err="1">
                          <a:latin typeface="Consolas" panose="020B0609020204030204" pitchFamily="49" charset="0"/>
                          <a:ea typeface="Source Sans Pro" panose="020B0503030403020204" pitchFamily="34" charset="0"/>
                        </a:rPr>
                        <a:t>dir</a:t>
                      </a:r>
                      <a:r>
                        <a:rPr lang="en-US" sz="1600" b="1" dirty="0">
                          <a:latin typeface="Consolas" panose="020B0609020204030204" pitchFamily="49" charset="0"/>
                          <a:ea typeface="Source Sans Pro" panose="020B0503030403020204" pitchFamily="34" charset="0"/>
                        </a:rPr>
                        <a:t>[tab] </a:t>
                      </a:r>
                      <a:r>
                        <a:rPr lang="en-US" sz="1600" b="0" dirty="0"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-&gt; </a:t>
                      </a:r>
                      <a:r>
                        <a:rPr lang="en-US" sz="1600" b="1" dirty="0">
                          <a:latin typeface="Consolas" panose="020B0609020204030204" pitchFamily="49" charset="0"/>
                          <a:ea typeface="Source Sans Pro" panose="020B0503030403020204" pitchFamily="34" charset="0"/>
                        </a:rPr>
                        <a:t>cd directory1</a:t>
                      </a:r>
                    </a:p>
                    <a:p>
                      <a:endParaRPr lang="en-US" sz="1600" b="0" dirty="0">
                        <a:latin typeface="Source Sans Pro" panose="020B0503030403020204" pitchFamily="34" charset="0"/>
                        <a:ea typeface="Source Sans Pro" panose="020B0503030403020204" pitchFamily="34" charset="0"/>
                      </a:endParaRPr>
                    </a:p>
                    <a:p>
                      <a:r>
                        <a:rPr lang="en-US" sz="1600" b="0" dirty="0"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If more than one file matches the substring typed, they will all be displayed for you to keep typing:</a:t>
                      </a:r>
                    </a:p>
                    <a:p>
                      <a:endParaRPr lang="en-US" sz="1600" b="0" dirty="0">
                        <a:latin typeface="Source Sans Pro" panose="020B0503030403020204" pitchFamily="34" charset="0"/>
                        <a:ea typeface="Source Sans Pro" panose="020B0503030403020204" pitchFamily="34" charset="0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1" dirty="0">
                          <a:latin typeface="Consolas" panose="020B0609020204030204" pitchFamily="49" charset="0"/>
                          <a:ea typeface="Source Sans Pro" panose="020B0503030403020204" pitchFamily="34" charset="0"/>
                        </a:rPr>
                        <a:t>cd </a:t>
                      </a:r>
                      <a:r>
                        <a:rPr lang="en-US" sz="1600" b="1" dirty="0" err="1">
                          <a:latin typeface="Consolas" panose="020B0609020204030204" pitchFamily="49" charset="0"/>
                          <a:ea typeface="Source Sans Pro" panose="020B0503030403020204" pitchFamily="34" charset="0"/>
                        </a:rPr>
                        <a:t>dir</a:t>
                      </a:r>
                      <a:r>
                        <a:rPr lang="en-US" sz="1600" b="1" dirty="0">
                          <a:latin typeface="Consolas" panose="020B0609020204030204" pitchFamily="49" charset="0"/>
                          <a:ea typeface="Source Sans Pro" panose="020B0503030403020204" pitchFamily="34" charset="0"/>
                        </a:rPr>
                        <a:t>[tab] </a:t>
                      </a:r>
                      <a:r>
                        <a:rPr lang="en-US" sz="1600" b="0" dirty="0"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-&gt; directory1 directory2 directory3 -&gt; </a:t>
                      </a:r>
                      <a:r>
                        <a:rPr lang="en-US" sz="1600" b="1" dirty="0">
                          <a:latin typeface="Consolas" panose="020B0609020204030204" pitchFamily="49" charset="0"/>
                          <a:ea typeface="Source Sans Pro" panose="020B0503030403020204" pitchFamily="34" charset="0"/>
                        </a:rPr>
                        <a:t>cd directory3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5271557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600" b="0" dirty="0">
                          <a:latin typeface="Consolas" panose="020B0609020204030204" pitchFamily="49" charset="0"/>
                        </a:rPr>
                        <a:t>[up arrow]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b="0" dirty="0"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Scroll through previous commands.</a:t>
                      </a:r>
                      <a:endParaRPr lang="en-US" sz="1600" b="0" dirty="0">
                        <a:highlight>
                          <a:srgbClr val="FFFF00"/>
                        </a:highlight>
                        <a:latin typeface="Source Sans Pro" panose="020B0503030403020204" pitchFamily="34" charset="0"/>
                        <a:ea typeface="Source Sans Pro" panose="020B0503030403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530216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0" dirty="0" err="1">
                          <a:latin typeface="Consolas" panose="020B0609020204030204" pitchFamily="49" charset="0"/>
                        </a:rPr>
                        <a:t>Ctrl+C</a:t>
                      </a:r>
                      <a:endParaRPr lang="en-US" sz="1600" b="0" dirty="0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b="0" dirty="0"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Cancel currently running process.</a:t>
                      </a:r>
                      <a:r>
                        <a:rPr lang="en-US" sz="1600" b="0" dirty="0"/>
                        <a:t>	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0549171"/>
                  </a:ext>
                </a:extLst>
              </a:tr>
              <a:tr h="370840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0" dirty="0">
                          <a:latin typeface="Consolas" panose="020B0609020204030204" pitchFamily="49" charset="0"/>
                        </a:rPr>
                        <a:t>Select text to copy, right click to paste.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600" b="0" dirty="0">
                        <a:solidFill>
                          <a:schemeClr val="bg1">
                            <a:lumMod val="95000"/>
                          </a:schemeClr>
                        </a:solidFill>
                        <a:highlight>
                          <a:srgbClr val="FF0000"/>
                        </a:highlight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293244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7010561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4183</TotalTime>
  <Words>3923</Words>
  <Application>Microsoft Office PowerPoint</Application>
  <PresentationFormat>Widescreen</PresentationFormat>
  <Paragraphs>649</Paragraphs>
  <Slides>86</Slides>
  <Notes>18</Notes>
  <HiddenSlides>0</HiddenSlides>
  <MMClips>1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86</vt:i4>
      </vt:variant>
    </vt:vector>
  </HeadingPairs>
  <TitlesOfParts>
    <vt:vector size="93" baseType="lpstr">
      <vt:lpstr>Aptos</vt:lpstr>
      <vt:lpstr>Aptos Display</vt:lpstr>
      <vt:lpstr>Arial</vt:lpstr>
      <vt:lpstr>Consolas</vt:lpstr>
      <vt:lpstr>Menlo</vt:lpstr>
      <vt:lpstr>Source Sans Pro</vt:lpstr>
      <vt:lpstr>Office Theme</vt:lpstr>
      <vt:lpstr>$ Command line 101: $ Integrating local and cluster environments</vt:lpstr>
      <vt:lpstr>PowerPoint Presentation</vt:lpstr>
      <vt:lpstr>PowerPoint Presentation</vt:lpstr>
      <vt:lpstr>Connecting to a remote computer</vt:lpstr>
      <vt:lpstr>Connecting to a remote computer</vt:lpstr>
      <vt:lpstr>Connecting to a remote computer</vt:lpstr>
      <vt:lpstr>Connecting to a remote computer</vt:lpstr>
      <vt:lpstr>Connecting to a remote computer</vt:lpstr>
      <vt:lpstr>Connecting to a remote computer</vt:lpstr>
      <vt:lpstr>How to connect to a particular login node</vt:lpstr>
      <vt:lpstr>PowerPoint Presentation</vt:lpstr>
      <vt:lpstr>Cluster file system review</vt:lpstr>
      <vt:lpstr>Cluster file system review</vt:lpstr>
      <vt:lpstr>Cluster file system review - Permissions</vt:lpstr>
      <vt:lpstr>PowerPoint Presentation</vt:lpstr>
      <vt:lpstr>PowerPoint Presentation</vt:lpstr>
      <vt:lpstr>PowerPoint Presentation</vt:lpstr>
      <vt:lpstr>Command line file transfers:  screen + rsync</vt:lpstr>
      <vt:lpstr>Command line file transfers:  screen + rsync</vt:lpstr>
      <vt:lpstr>Command line file transfers:  screen + rsync</vt:lpstr>
      <vt:lpstr>Command line file transfers:  screen + rsync</vt:lpstr>
      <vt:lpstr>Command line file transfers:  screen + rsync</vt:lpstr>
      <vt:lpstr>Transfer between the cluster and Google Drive: rclone</vt:lpstr>
      <vt:lpstr>Transfer between the cluster and Google Drive: rclone</vt:lpstr>
      <vt:lpstr>Command line file transfer commands summary</vt:lpstr>
      <vt:lpstr>PowerPoint Presentation</vt:lpstr>
      <vt:lpstr>PowerPoint Presentation</vt:lpstr>
      <vt:lpstr>Filezilla</vt:lpstr>
      <vt:lpstr>Filezilla</vt:lpstr>
      <vt:lpstr>Mounting folders to local computer</vt:lpstr>
      <vt:lpstr>Globus file transfer</vt:lpstr>
      <vt:lpstr>Globus file transfer</vt:lpstr>
      <vt:lpstr>Globus file transfer</vt:lpstr>
      <vt:lpstr>Globus file transfer</vt:lpstr>
      <vt:lpstr>PowerPoint Presentation</vt:lpstr>
      <vt:lpstr>Create globus collections to share data</vt:lpstr>
      <vt:lpstr>Use globus connect personal to transfer locally</vt:lpstr>
      <vt:lpstr>Globus tips</vt:lpstr>
      <vt:lpstr>Graphical file transfer program summary</vt:lpstr>
      <vt:lpstr>PowerPoint Presentation</vt:lpstr>
      <vt:lpstr>PowerPoint Presentation</vt:lpstr>
      <vt:lpstr>PowerPoint Presentation</vt:lpstr>
      <vt:lpstr>In-terminal text editors and viewers: nano</vt:lpstr>
      <vt:lpstr>In-terminal text editors and viewers: nano</vt:lpstr>
      <vt:lpstr>In-terminal text editors and viewers: nano</vt:lpstr>
      <vt:lpstr>In-terminal text editors and viewers: nano</vt:lpstr>
      <vt:lpstr>In-terminal text editors and viewers: nano</vt:lpstr>
      <vt:lpstr>In-terminal text editors and viewers: nano</vt:lpstr>
      <vt:lpstr>In-terminal text editors and viewers: nano</vt:lpstr>
      <vt:lpstr>In-terminal text editors and viewers: nano</vt:lpstr>
      <vt:lpstr>In-terminal text editors and viewers: less</vt:lpstr>
      <vt:lpstr>In-terminal text editors and viewers: less</vt:lpstr>
      <vt:lpstr>In-terminal text editors and viewers: less</vt:lpstr>
      <vt:lpstr>In-terminal text editors and viewers: less</vt:lpstr>
      <vt:lpstr>In-terminal text editors and viewers: less</vt:lpstr>
      <vt:lpstr>In-terminal text editors and viewers: less</vt:lpstr>
      <vt:lpstr>Printing a file to the terminal: cat</vt:lpstr>
      <vt:lpstr>Printing a file to the terminal: cat</vt:lpstr>
      <vt:lpstr>Printing a file to the terminal: cat</vt:lpstr>
      <vt:lpstr>Finding text in a file: grep</vt:lpstr>
      <vt:lpstr>Finding text in a file: grep</vt:lpstr>
      <vt:lpstr>Finding text in a file: grep</vt:lpstr>
      <vt:lpstr>Viewing and editing text from the terminal</vt:lpstr>
      <vt:lpstr>Graphical text editors</vt:lpstr>
      <vt:lpstr>Graphical text editors: VSCode</vt:lpstr>
      <vt:lpstr>Graphical text editors: VSCode</vt:lpstr>
      <vt:lpstr>VSCode has many extensions</vt:lpstr>
      <vt:lpstr>VSCode has many extensions</vt:lpstr>
      <vt:lpstr>VSCode has many extensions</vt:lpstr>
      <vt:lpstr>The Remote – SSH extension allows you to connect to a server</vt:lpstr>
      <vt:lpstr>The Remote – SSH extension allows you to connect to a server</vt:lpstr>
      <vt:lpstr>VSCode has many extensions</vt:lpstr>
      <vt:lpstr>In the login dialog, use the same command you would use to ssh to the cluster from the terminal, followed by your two-factor code</vt:lpstr>
      <vt:lpstr>In the login dialog, use the same command you would use to ssh to the cluster from the terminal, followed by your two-factor code</vt:lpstr>
      <vt:lpstr>Once logged in, click on the file browser icon in the left-side toolbar</vt:lpstr>
      <vt:lpstr>Select or type the path to a folder to open</vt:lpstr>
      <vt:lpstr>Select or type the path to a folder to open</vt:lpstr>
      <vt:lpstr>Your file browser should now show the contents of your selected folder</vt:lpstr>
      <vt:lpstr>Your file browser should now show the contents of your selected folder</vt:lpstr>
      <vt:lpstr>Your file browser should now show the contents of your selected folder</vt:lpstr>
      <vt:lpstr>The ctrl-` shortcut also opens a terminal directly in VSCode’s interface!</vt:lpstr>
      <vt:lpstr>Drag-and-drop upload of local files is supported</vt:lpstr>
      <vt:lpstr>View generated figures directly in the editor</vt:lpstr>
      <vt:lpstr>Recent folders appear in the Remote Explorer tab</vt:lpstr>
      <vt:lpstr>Virtual desktop with Open On Demand (OOD)</vt:lpstr>
      <vt:lpstr>Useful shell shortcuts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Thomas, Gregg</dc:creator>
  <cp:lastModifiedBy>Thomas, Gregg</cp:lastModifiedBy>
  <cp:revision>97</cp:revision>
  <dcterms:created xsi:type="dcterms:W3CDTF">2026-01-12T15:34:42Z</dcterms:created>
  <dcterms:modified xsi:type="dcterms:W3CDTF">2026-02-18T21:18:31Z</dcterms:modified>
</cp:coreProperties>
</file>