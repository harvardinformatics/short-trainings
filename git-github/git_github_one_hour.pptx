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310" r:id="rId3"/>
    <p:sldId id="311" r:id="rId4"/>
    <p:sldId id="257" r:id="rId5"/>
    <p:sldId id="258" r:id="rId6"/>
    <p:sldId id="272" r:id="rId7"/>
    <p:sldId id="273" r:id="rId8"/>
    <p:sldId id="283" r:id="rId9"/>
    <p:sldId id="280" r:id="rId10"/>
    <p:sldId id="282" r:id="rId11"/>
    <p:sldId id="284" r:id="rId12"/>
    <p:sldId id="262" r:id="rId13"/>
    <p:sldId id="263" r:id="rId14"/>
    <p:sldId id="264" r:id="rId15"/>
    <p:sldId id="265" r:id="rId16"/>
    <p:sldId id="274" r:id="rId17"/>
    <p:sldId id="266" r:id="rId18"/>
    <p:sldId id="275" r:id="rId19"/>
    <p:sldId id="267" r:id="rId20"/>
    <p:sldId id="276" r:id="rId21"/>
    <p:sldId id="270" r:id="rId22"/>
    <p:sldId id="290" r:id="rId23"/>
    <p:sldId id="291" r:id="rId24"/>
    <p:sldId id="292" r:id="rId25"/>
    <p:sldId id="293" r:id="rId26"/>
    <p:sldId id="296" r:id="rId27"/>
    <p:sldId id="301" r:id="rId28"/>
    <p:sldId id="271" r:id="rId29"/>
    <p:sldId id="279" r:id="rId30"/>
    <p:sldId id="306" r:id="rId31"/>
    <p:sldId id="305" r:id="rId32"/>
    <p:sldId id="295" r:id="rId33"/>
    <p:sldId id="302" r:id="rId34"/>
    <p:sldId id="298" r:id="rId35"/>
    <p:sldId id="303" r:id="rId36"/>
    <p:sldId id="304" r:id="rId37"/>
    <p:sldId id="309" r:id="rId38"/>
    <p:sldId id="307" r:id="rId39"/>
    <p:sldId id="308" r:id="rId40"/>
    <p:sldId id="287" r:id="rId41"/>
    <p:sldId id="268" r:id="rId42"/>
    <p:sldId id="278" r:id="rId43"/>
    <p:sldId id="25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68"/>
    <p:restoredTop sz="96301"/>
  </p:normalViewPr>
  <p:slideViewPr>
    <p:cSldViewPr snapToGrid="0">
      <p:cViewPr varScale="1">
        <p:scale>
          <a:sx n="156" d="100"/>
          <a:sy n="156" d="100"/>
        </p:scale>
        <p:origin x="3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D48C1FBC-BA12-4989-AF31-F85DD2F6B6FB}"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8EA8D057-3F1D-4E3E-B738-FF2B89D4E86A}">
      <dgm:prSet/>
      <dgm:spPr/>
      <dgm:t>
        <a:bodyPr/>
        <a:lstStyle/>
        <a:p>
          <a:pPr>
            <a:defRPr cap="all"/>
          </a:pPr>
          <a:r>
            <a:rPr lang="en-US"/>
            <a:t>One-on-one consults</a:t>
          </a:r>
        </a:p>
      </dgm:t>
    </dgm:pt>
    <dgm:pt modelId="{647CB577-5DE2-4817-A0AF-27E4D2707173}" type="parTrans" cxnId="{A6DD5821-2E12-4F43-A644-B9130817964F}">
      <dgm:prSet/>
      <dgm:spPr/>
      <dgm:t>
        <a:bodyPr/>
        <a:lstStyle/>
        <a:p>
          <a:endParaRPr lang="en-US"/>
        </a:p>
      </dgm:t>
    </dgm:pt>
    <dgm:pt modelId="{CEC71D7A-F756-466D-ADAE-AA12B938F2E1}" type="sibTrans" cxnId="{A6DD5821-2E12-4F43-A644-B9130817964F}">
      <dgm:prSet/>
      <dgm:spPr/>
      <dgm:t>
        <a:bodyPr/>
        <a:lstStyle/>
        <a:p>
          <a:endParaRPr lang="en-US"/>
        </a:p>
      </dgm:t>
    </dgm:pt>
    <dgm:pt modelId="{BDCA220C-3B35-4848-B0C1-BD80DF3F9F77}">
      <dgm:prSet/>
      <dgm:spPr/>
      <dgm:t>
        <a:bodyPr/>
        <a:lstStyle/>
        <a:p>
          <a:pPr>
            <a:defRPr cap="all"/>
          </a:pPr>
          <a:r>
            <a:rPr lang="en-US"/>
            <a:t>Ongoing collaborations</a:t>
          </a:r>
        </a:p>
      </dgm:t>
    </dgm:pt>
    <dgm:pt modelId="{CD8B1916-D701-4281-84AD-210361EDD5F7}" type="parTrans" cxnId="{E831E0CC-2A2A-4472-99D7-DB966C708F03}">
      <dgm:prSet/>
      <dgm:spPr/>
      <dgm:t>
        <a:bodyPr/>
        <a:lstStyle/>
        <a:p>
          <a:endParaRPr lang="en-US"/>
        </a:p>
      </dgm:t>
    </dgm:pt>
    <dgm:pt modelId="{F5521107-A1D6-421A-9427-A79697A92879}" type="sibTrans" cxnId="{E831E0CC-2A2A-4472-99D7-DB966C708F03}">
      <dgm:prSet/>
      <dgm:spPr/>
      <dgm:t>
        <a:bodyPr/>
        <a:lstStyle/>
        <a:p>
          <a:endParaRPr lang="en-US"/>
        </a:p>
      </dgm:t>
    </dgm:pt>
    <dgm:pt modelId="{BD0895BB-A947-4B5E-80B3-F77C6EB5174D}">
      <dgm:prSet/>
      <dgm:spPr/>
      <dgm:t>
        <a:bodyPr/>
        <a:lstStyle/>
        <a:p>
          <a:pPr>
            <a:defRPr cap="all"/>
          </a:pPr>
          <a:r>
            <a:rPr lang="en-US"/>
            <a:t>bioinformatics workshops</a:t>
          </a:r>
        </a:p>
      </dgm:t>
    </dgm:pt>
    <dgm:pt modelId="{CD5D8200-BF42-48DC-BC01-6091B4934960}" type="parTrans" cxnId="{0FB780AB-4802-4558-9E8E-11583636E3B7}">
      <dgm:prSet/>
      <dgm:spPr/>
      <dgm:t>
        <a:bodyPr/>
        <a:lstStyle/>
        <a:p>
          <a:endParaRPr lang="en-US"/>
        </a:p>
      </dgm:t>
    </dgm:pt>
    <dgm:pt modelId="{020AD8BB-DA25-4BFD-B46E-872E6E5F667C}" type="sibTrans" cxnId="{0FB780AB-4802-4558-9E8E-11583636E3B7}">
      <dgm:prSet/>
      <dgm:spPr/>
      <dgm:t>
        <a:bodyPr/>
        <a:lstStyle/>
        <a:p>
          <a:endParaRPr lang="en-US"/>
        </a:p>
      </dgm:t>
    </dgm:pt>
    <dgm:pt modelId="{D2F70D36-BC00-4142-B665-ACA21E391EF5}" type="pres">
      <dgm:prSet presAssocID="{D48C1FBC-BA12-4989-AF31-F85DD2F6B6FB}" presName="root" presStyleCnt="0">
        <dgm:presLayoutVars>
          <dgm:dir/>
          <dgm:resizeHandles val="exact"/>
        </dgm:presLayoutVars>
      </dgm:prSet>
      <dgm:spPr/>
    </dgm:pt>
    <dgm:pt modelId="{DDC2161F-5BCE-4F4B-864E-437F5BF9040D}" type="pres">
      <dgm:prSet presAssocID="{8EA8D057-3F1D-4E3E-B738-FF2B89D4E86A}" presName="compNode" presStyleCnt="0"/>
      <dgm:spPr/>
    </dgm:pt>
    <dgm:pt modelId="{ECCD9044-D58E-4569-BD64-9F345C22F62D}" type="pres">
      <dgm:prSet presAssocID="{8EA8D057-3F1D-4E3E-B738-FF2B89D4E86A}" presName="iconBgRect" presStyleLbl="bgShp" presStyleIdx="0" presStyleCnt="3"/>
      <dgm:spPr/>
    </dgm:pt>
    <dgm:pt modelId="{A4E6B15D-F6B4-4FAC-9E9F-82F9A9E15527}" type="pres">
      <dgm:prSet presAssocID="{8EA8D057-3F1D-4E3E-B738-FF2B89D4E86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of People"/>
        </a:ext>
      </dgm:extLst>
    </dgm:pt>
    <dgm:pt modelId="{9A35F5FD-13AC-4EB9-9890-A4B3DC8C88FD}" type="pres">
      <dgm:prSet presAssocID="{8EA8D057-3F1D-4E3E-B738-FF2B89D4E86A}" presName="spaceRect" presStyleCnt="0"/>
      <dgm:spPr/>
    </dgm:pt>
    <dgm:pt modelId="{612D9FB7-2A54-45D1-BF94-9D2203DE6A46}" type="pres">
      <dgm:prSet presAssocID="{8EA8D057-3F1D-4E3E-B738-FF2B89D4E86A}" presName="textRect" presStyleLbl="revTx" presStyleIdx="0" presStyleCnt="3">
        <dgm:presLayoutVars>
          <dgm:chMax val="1"/>
          <dgm:chPref val="1"/>
        </dgm:presLayoutVars>
      </dgm:prSet>
      <dgm:spPr/>
    </dgm:pt>
    <dgm:pt modelId="{EEAF1ACB-8A0C-4105-BCDC-5F7CD005CFF3}" type="pres">
      <dgm:prSet presAssocID="{CEC71D7A-F756-466D-ADAE-AA12B938F2E1}" presName="sibTrans" presStyleCnt="0"/>
      <dgm:spPr/>
    </dgm:pt>
    <dgm:pt modelId="{A9193508-A479-40A3-9B44-3877DF741F6F}" type="pres">
      <dgm:prSet presAssocID="{BDCA220C-3B35-4848-B0C1-BD80DF3F9F77}" presName="compNode" presStyleCnt="0"/>
      <dgm:spPr/>
    </dgm:pt>
    <dgm:pt modelId="{F946FE54-47B9-4217-B579-5EA0A6B843C8}" type="pres">
      <dgm:prSet presAssocID="{BDCA220C-3B35-4848-B0C1-BD80DF3F9F77}" presName="iconBgRect" presStyleLbl="bgShp" presStyleIdx="1" presStyleCnt="3"/>
      <dgm:spPr/>
    </dgm:pt>
    <dgm:pt modelId="{9ABBC15B-D039-42C7-87D0-8542B10512E5}" type="pres">
      <dgm:prSet presAssocID="{BDCA220C-3B35-4848-B0C1-BD80DF3F9F7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ndshake"/>
        </a:ext>
      </dgm:extLst>
    </dgm:pt>
    <dgm:pt modelId="{D911D9E2-9D89-472B-8FB2-F17902611750}" type="pres">
      <dgm:prSet presAssocID="{BDCA220C-3B35-4848-B0C1-BD80DF3F9F77}" presName="spaceRect" presStyleCnt="0"/>
      <dgm:spPr/>
    </dgm:pt>
    <dgm:pt modelId="{F89AE129-D75A-4027-B6BA-EC71BF76A3E3}" type="pres">
      <dgm:prSet presAssocID="{BDCA220C-3B35-4848-B0C1-BD80DF3F9F77}" presName="textRect" presStyleLbl="revTx" presStyleIdx="1" presStyleCnt="3">
        <dgm:presLayoutVars>
          <dgm:chMax val="1"/>
          <dgm:chPref val="1"/>
        </dgm:presLayoutVars>
      </dgm:prSet>
      <dgm:spPr/>
    </dgm:pt>
    <dgm:pt modelId="{8B00E9DC-3B09-4F01-9BEE-33E10BB8E72A}" type="pres">
      <dgm:prSet presAssocID="{F5521107-A1D6-421A-9427-A79697A92879}" presName="sibTrans" presStyleCnt="0"/>
      <dgm:spPr/>
    </dgm:pt>
    <dgm:pt modelId="{F2D03500-AA28-4D85-9597-5C1849733439}" type="pres">
      <dgm:prSet presAssocID="{BD0895BB-A947-4B5E-80B3-F77C6EB5174D}" presName="compNode" presStyleCnt="0"/>
      <dgm:spPr/>
    </dgm:pt>
    <dgm:pt modelId="{0A37C742-5E55-4552-9A67-2727611B7CF6}" type="pres">
      <dgm:prSet presAssocID="{BD0895BB-A947-4B5E-80B3-F77C6EB5174D}" presName="iconBgRect" presStyleLbl="bgShp" presStyleIdx="2" presStyleCnt="3"/>
      <dgm:spPr/>
    </dgm:pt>
    <dgm:pt modelId="{AC7BDC84-EDE6-42B1-8AD7-4E93E219758A}" type="pres">
      <dgm:prSet presAssocID="{BD0895BB-A947-4B5E-80B3-F77C6EB5174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acher"/>
        </a:ext>
      </dgm:extLst>
    </dgm:pt>
    <dgm:pt modelId="{2A8C9716-CCFF-4442-B320-B82DEE535D56}" type="pres">
      <dgm:prSet presAssocID="{BD0895BB-A947-4B5E-80B3-F77C6EB5174D}" presName="spaceRect" presStyleCnt="0"/>
      <dgm:spPr/>
    </dgm:pt>
    <dgm:pt modelId="{58D4A72C-705F-4553-AAF7-D749375F61ED}" type="pres">
      <dgm:prSet presAssocID="{BD0895BB-A947-4B5E-80B3-F77C6EB5174D}" presName="textRect" presStyleLbl="revTx" presStyleIdx="2" presStyleCnt="3">
        <dgm:presLayoutVars>
          <dgm:chMax val="1"/>
          <dgm:chPref val="1"/>
        </dgm:presLayoutVars>
      </dgm:prSet>
      <dgm:spPr/>
    </dgm:pt>
  </dgm:ptLst>
  <dgm:cxnLst>
    <dgm:cxn modelId="{762C8D00-BA44-4283-B73D-4BCFF8A17577}" type="presOf" srcId="{BDCA220C-3B35-4848-B0C1-BD80DF3F9F77}" destId="{F89AE129-D75A-4027-B6BA-EC71BF76A3E3}" srcOrd="0" destOrd="0" presId="urn:microsoft.com/office/officeart/2018/5/layout/IconCircleLabelList"/>
    <dgm:cxn modelId="{A6DD5821-2E12-4F43-A644-B9130817964F}" srcId="{D48C1FBC-BA12-4989-AF31-F85DD2F6B6FB}" destId="{8EA8D057-3F1D-4E3E-B738-FF2B89D4E86A}" srcOrd="0" destOrd="0" parTransId="{647CB577-5DE2-4817-A0AF-27E4D2707173}" sibTransId="{CEC71D7A-F756-466D-ADAE-AA12B938F2E1}"/>
    <dgm:cxn modelId="{FD091D87-79B5-41AA-82B5-27838E360F81}" type="presOf" srcId="{BD0895BB-A947-4B5E-80B3-F77C6EB5174D}" destId="{58D4A72C-705F-4553-AAF7-D749375F61ED}" srcOrd="0" destOrd="0" presId="urn:microsoft.com/office/officeart/2018/5/layout/IconCircleLabelList"/>
    <dgm:cxn modelId="{7B2A8A8A-3D25-4D45-ACA9-0C84FEA72D04}" type="presOf" srcId="{8EA8D057-3F1D-4E3E-B738-FF2B89D4E86A}" destId="{612D9FB7-2A54-45D1-BF94-9D2203DE6A46}" srcOrd="0" destOrd="0" presId="urn:microsoft.com/office/officeart/2018/5/layout/IconCircleLabelList"/>
    <dgm:cxn modelId="{0FB780AB-4802-4558-9E8E-11583636E3B7}" srcId="{D48C1FBC-BA12-4989-AF31-F85DD2F6B6FB}" destId="{BD0895BB-A947-4B5E-80B3-F77C6EB5174D}" srcOrd="2" destOrd="0" parTransId="{CD5D8200-BF42-48DC-BC01-6091B4934960}" sibTransId="{020AD8BB-DA25-4BFD-B46E-872E6E5F667C}"/>
    <dgm:cxn modelId="{E831E0CC-2A2A-4472-99D7-DB966C708F03}" srcId="{D48C1FBC-BA12-4989-AF31-F85DD2F6B6FB}" destId="{BDCA220C-3B35-4848-B0C1-BD80DF3F9F77}" srcOrd="1" destOrd="0" parTransId="{CD8B1916-D701-4281-84AD-210361EDD5F7}" sibTransId="{F5521107-A1D6-421A-9427-A79697A92879}"/>
    <dgm:cxn modelId="{9F217ECD-5591-4F02-923F-53035F407E52}" type="presOf" srcId="{D48C1FBC-BA12-4989-AF31-F85DD2F6B6FB}" destId="{D2F70D36-BC00-4142-B665-ACA21E391EF5}" srcOrd="0" destOrd="0" presId="urn:microsoft.com/office/officeart/2018/5/layout/IconCircleLabelList"/>
    <dgm:cxn modelId="{800AEB1F-CC1E-4538-8B8B-676FFE06828C}" type="presParOf" srcId="{D2F70D36-BC00-4142-B665-ACA21E391EF5}" destId="{DDC2161F-5BCE-4F4B-864E-437F5BF9040D}" srcOrd="0" destOrd="0" presId="urn:microsoft.com/office/officeart/2018/5/layout/IconCircleLabelList"/>
    <dgm:cxn modelId="{FC7F94A8-4D6A-4532-B48F-2042835FD04F}" type="presParOf" srcId="{DDC2161F-5BCE-4F4B-864E-437F5BF9040D}" destId="{ECCD9044-D58E-4569-BD64-9F345C22F62D}" srcOrd="0" destOrd="0" presId="urn:microsoft.com/office/officeart/2018/5/layout/IconCircleLabelList"/>
    <dgm:cxn modelId="{94363B90-D3DF-4FC2-8D08-F517D8A48437}" type="presParOf" srcId="{DDC2161F-5BCE-4F4B-864E-437F5BF9040D}" destId="{A4E6B15D-F6B4-4FAC-9E9F-82F9A9E15527}" srcOrd="1" destOrd="0" presId="urn:microsoft.com/office/officeart/2018/5/layout/IconCircleLabelList"/>
    <dgm:cxn modelId="{F20BA994-3CC7-4AFE-B159-42DAEDCED400}" type="presParOf" srcId="{DDC2161F-5BCE-4F4B-864E-437F5BF9040D}" destId="{9A35F5FD-13AC-4EB9-9890-A4B3DC8C88FD}" srcOrd="2" destOrd="0" presId="urn:microsoft.com/office/officeart/2018/5/layout/IconCircleLabelList"/>
    <dgm:cxn modelId="{C92E28F6-9CBA-44A1-B081-41AE643495E3}" type="presParOf" srcId="{DDC2161F-5BCE-4F4B-864E-437F5BF9040D}" destId="{612D9FB7-2A54-45D1-BF94-9D2203DE6A46}" srcOrd="3" destOrd="0" presId="urn:microsoft.com/office/officeart/2018/5/layout/IconCircleLabelList"/>
    <dgm:cxn modelId="{E8B6F03F-1CE2-4F81-A3E1-FD46DE6F6E9B}" type="presParOf" srcId="{D2F70D36-BC00-4142-B665-ACA21E391EF5}" destId="{EEAF1ACB-8A0C-4105-BCDC-5F7CD005CFF3}" srcOrd="1" destOrd="0" presId="urn:microsoft.com/office/officeart/2018/5/layout/IconCircleLabelList"/>
    <dgm:cxn modelId="{7E768D09-D8A7-4D27-A19C-0D01E9B8F494}" type="presParOf" srcId="{D2F70D36-BC00-4142-B665-ACA21E391EF5}" destId="{A9193508-A479-40A3-9B44-3877DF741F6F}" srcOrd="2" destOrd="0" presId="urn:microsoft.com/office/officeart/2018/5/layout/IconCircleLabelList"/>
    <dgm:cxn modelId="{4B5BAA3D-93C9-44D9-B65D-DD8364C1ED10}" type="presParOf" srcId="{A9193508-A479-40A3-9B44-3877DF741F6F}" destId="{F946FE54-47B9-4217-B579-5EA0A6B843C8}" srcOrd="0" destOrd="0" presId="urn:microsoft.com/office/officeart/2018/5/layout/IconCircleLabelList"/>
    <dgm:cxn modelId="{F6551E06-67B5-4B9F-AE49-2487EDCCE090}" type="presParOf" srcId="{A9193508-A479-40A3-9B44-3877DF741F6F}" destId="{9ABBC15B-D039-42C7-87D0-8542B10512E5}" srcOrd="1" destOrd="0" presId="urn:microsoft.com/office/officeart/2018/5/layout/IconCircleLabelList"/>
    <dgm:cxn modelId="{011B6524-41E6-4E33-AC3D-212182AAEBE6}" type="presParOf" srcId="{A9193508-A479-40A3-9B44-3877DF741F6F}" destId="{D911D9E2-9D89-472B-8FB2-F17902611750}" srcOrd="2" destOrd="0" presId="urn:microsoft.com/office/officeart/2018/5/layout/IconCircleLabelList"/>
    <dgm:cxn modelId="{4536AA2E-7AC8-402B-BE7B-3D95F26EA7E4}" type="presParOf" srcId="{A9193508-A479-40A3-9B44-3877DF741F6F}" destId="{F89AE129-D75A-4027-B6BA-EC71BF76A3E3}" srcOrd="3" destOrd="0" presId="urn:microsoft.com/office/officeart/2018/5/layout/IconCircleLabelList"/>
    <dgm:cxn modelId="{03679B34-BA39-43C5-A58E-FFFD6EFE6D78}" type="presParOf" srcId="{D2F70D36-BC00-4142-B665-ACA21E391EF5}" destId="{8B00E9DC-3B09-4F01-9BEE-33E10BB8E72A}" srcOrd="3" destOrd="0" presId="urn:microsoft.com/office/officeart/2018/5/layout/IconCircleLabelList"/>
    <dgm:cxn modelId="{DA70D2F6-2E08-4A27-AE69-898E53C19EEC}" type="presParOf" srcId="{D2F70D36-BC00-4142-B665-ACA21E391EF5}" destId="{F2D03500-AA28-4D85-9597-5C1849733439}" srcOrd="4" destOrd="0" presId="urn:microsoft.com/office/officeart/2018/5/layout/IconCircleLabelList"/>
    <dgm:cxn modelId="{AE7DEF0D-FC59-4743-AB2B-91AC203BEC19}" type="presParOf" srcId="{F2D03500-AA28-4D85-9597-5C1849733439}" destId="{0A37C742-5E55-4552-9A67-2727611B7CF6}" srcOrd="0" destOrd="0" presId="urn:microsoft.com/office/officeart/2018/5/layout/IconCircleLabelList"/>
    <dgm:cxn modelId="{3DE8C83B-E895-4332-A154-95CBD22D21BC}" type="presParOf" srcId="{F2D03500-AA28-4D85-9597-5C1849733439}" destId="{AC7BDC84-EDE6-42B1-8AD7-4E93E219758A}" srcOrd="1" destOrd="0" presId="urn:microsoft.com/office/officeart/2018/5/layout/IconCircleLabelList"/>
    <dgm:cxn modelId="{17CDF9D1-6DBE-4BF9-B71B-ED7CAA87DB83}" type="presParOf" srcId="{F2D03500-AA28-4D85-9597-5C1849733439}" destId="{2A8C9716-CCFF-4442-B320-B82DEE535D56}" srcOrd="2" destOrd="0" presId="urn:microsoft.com/office/officeart/2018/5/layout/IconCircleLabelList"/>
    <dgm:cxn modelId="{F7C4FA43-C7F3-4A27-AE89-011A595A5EF1}" type="presParOf" srcId="{F2D03500-AA28-4D85-9597-5C1849733439}" destId="{58D4A72C-705F-4553-AAF7-D749375F61ED}"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8C1FBC-BA12-4989-AF31-F85DD2F6B6FB}"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8EA8D057-3F1D-4E3E-B738-FF2B89D4E86A}">
      <dgm:prSet/>
      <dgm:spPr/>
      <dgm:t>
        <a:bodyPr/>
        <a:lstStyle/>
        <a:p>
          <a:pPr>
            <a:defRPr cap="all"/>
          </a:pPr>
          <a:r>
            <a:rPr lang="en-US"/>
            <a:t>Data Concierge</a:t>
          </a:r>
        </a:p>
      </dgm:t>
    </dgm:pt>
    <dgm:pt modelId="{647CB577-5DE2-4817-A0AF-27E4D2707173}" type="parTrans" cxnId="{A6DD5821-2E12-4F43-A644-B9130817964F}">
      <dgm:prSet/>
      <dgm:spPr/>
      <dgm:t>
        <a:bodyPr/>
        <a:lstStyle/>
        <a:p>
          <a:endParaRPr lang="en-US"/>
        </a:p>
      </dgm:t>
    </dgm:pt>
    <dgm:pt modelId="{CEC71D7A-F756-466D-ADAE-AA12B938F2E1}" type="sibTrans" cxnId="{A6DD5821-2E12-4F43-A644-B9130817964F}">
      <dgm:prSet/>
      <dgm:spPr/>
      <dgm:t>
        <a:bodyPr/>
        <a:lstStyle/>
        <a:p>
          <a:endParaRPr lang="en-US"/>
        </a:p>
      </dgm:t>
    </dgm:pt>
    <dgm:pt modelId="{BDCA220C-3B35-4848-B0C1-BD80DF3F9F77}">
      <dgm:prSet/>
      <dgm:spPr/>
      <dgm:t>
        <a:bodyPr/>
        <a:lstStyle/>
        <a:p>
          <a:pPr>
            <a:defRPr cap="all"/>
          </a:pPr>
          <a:r>
            <a:rPr lang="en-US"/>
            <a:t>Office Hours</a:t>
          </a:r>
        </a:p>
      </dgm:t>
    </dgm:pt>
    <dgm:pt modelId="{CD8B1916-D701-4281-84AD-210361EDD5F7}" type="parTrans" cxnId="{E831E0CC-2A2A-4472-99D7-DB966C708F03}">
      <dgm:prSet/>
      <dgm:spPr/>
      <dgm:t>
        <a:bodyPr/>
        <a:lstStyle/>
        <a:p>
          <a:endParaRPr lang="en-US"/>
        </a:p>
      </dgm:t>
    </dgm:pt>
    <dgm:pt modelId="{F5521107-A1D6-421A-9427-A79697A92879}" type="sibTrans" cxnId="{E831E0CC-2A2A-4472-99D7-DB966C708F03}">
      <dgm:prSet/>
      <dgm:spPr/>
      <dgm:t>
        <a:bodyPr/>
        <a:lstStyle/>
        <a:p>
          <a:endParaRPr lang="en-US"/>
        </a:p>
      </dgm:t>
    </dgm:pt>
    <dgm:pt modelId="{BD0895BB-A947-4B5E-80B3-F77C6EB5174D}">
      <dgm:prSet/>
      <dgm:spPr/>
      <dgm:t>
        <a:bodyPr/>
        <a:lstStyle/>
        <a:p>
          <a:pPr>
            <a:defRPr cap="all"/>
          </a:pPr>
          <a:r>
            <a:rPr lang="en-US"/>
            <a:t>Newsletter</a:t>
          </a:r>
        </a:p>
      </dgm:t>
    </dgm:pt>
    <dgm:pt modelId="{CD5D8200-BF42-48DC-BC01-6091B4934960}" type="parTrans" cxnId="{0FB780AB-4802-4558-9E8E-11583636E3B7}">
      <dgm:prSet/>
      <dgm:spPr/>
      <dgm:t>
        <a:bodyPr/>
        <a:lstStyle/>
        <a:p>
          <a:endParaRPr lang="en-US"/>
        </a:p>
      </dgm:t>
    </dgm:pt>
    <dgm:pt modelId="{020AD8BB-DA25-4BFD-B46E-872E6E5F667C}" type="sibTrans" cxnId="{0FB780AB-4802-4558-9E8E-11583636E3B7}">
      <dgm:prSet/>
      <dgm:spPr/>
      <dgm:t>
        <a:bodyPr/>
        <a:lstStyle/>
        <a:p>
          <a:endParaRPr lang="en-US"/>
        </a:p>
      </dgm:t>
    </dgm:pt>
    <dgm:pt modelId="{D2F70D36-BC00-4142-B665-ACA21E391EF5}" type="pres">
      <dgm:prSet presAssocID="{D48C1FBC-BA12-4989-AF31-F85DD2F6B6FB}" presName="root" presStyleCnt="0">
        <dgm:presLayoutVars>
          <dgm:dir/>
          <dgm:resizeHandles val="exact"/>
        </dgm:presLayoutVars>
      </dgm:prSet>
      <dgm:spPr/>
    </dgm:pt>
    <dgm:pt modelId="{DDC2161F-5BCE-4F4B-864E-437F5BF9040D}" type="pres">
      <dgm:prSet presAssocID="{8EA8D057-3F1D-4E3E-B738-FF2B89D4E86A}" presName="compNode" presStyleCnt="0"/>
      <dgm:spPr/>
    </dgm:pt>
    <dgm:pt modelId="{ECCD9044-D58E-4569-BD64-9F345C22F62D}" type="pres">
      <dgm:prSet presAssocID="{8EA8D057-3F1D-4E3E-B738-FF2B89D4E86A}" presName="iconBgRect" presStyleLbl="bgShp" presStyleIdx="0" presStyleCnt="3"/>
      <dgm:spPr/>
    </dgm:pt>
    <dgm:pt modelId="{A4E6B15D-F6B4-4FAC-9E9F-82F9A9E15527}" type="pres">
      <dgm:prSet presAssocID="{8EA8D057-3F1D-4E3E-B738-FF2B89D4E86A}"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a:noFill/>
        </a:ln>
      </dgm:spPr>
    </dgm:pt>
    <dgm:pt modelId="{9A35F5FD-13AC-4EB9-9890-A4B3DC8C88FD}" type="pres">
      <dgm:prSet presAssocID="{8EA8D057-3F1D-4E3E-B738-FF2B89D4E86A}" presName="spaceRect" presStyleCnt="0"/>
      <dgm:spPr/>
    </dgm:pt>
    <dgm:pt modelId="{612D9FB7-2A54-45D1-BF94-9D2203DE6A46}" type="pres">
      <dgm:prSet presAssocID="{8EA8D057-3F1D-4E3E-B738-FF2B89D4E86A}" presName="textRect" presStyleLbl="revTx" presStyleIdx="0" presStyleCnt="3">
        <dgm:presLayoutVars>
          <dgm:chMax val="1"/>
          <dgm:chPref val="1"/>
        </dgm:presLayoutVars>
      </dgm:prSet>
      <dgm:spPr/>
    </dgm:pt>
    <dgm:pt modelId="{EEAF1ACB-8A0C-4105-BCDC-5F7CD005CFF3}" type="pres">
      <dgm:prSet presAssocID="{CEC71D7A-F756-466D-ADAE-AA12B938F2E1}" presName="sibTrans" presStyleCnt="0"/>
      <dgm:spPr/>
    </dgm:pt>
    <dgm:pt modelId="{A9193508-A479-40A3-9B44-3877DF741F6F}" type="pres">
      <dgm:prSet presAssocID="{BDCA220C-3B35-4848-B0C1-BD80DF3F9F77}" presName="compNode" presStyleCnt="0"/>
      <dgm:spPr/>
    </dgm:pt>
    <dgm:pt modelId="{F946FE54-47B9-4217-B579-5EA0A6B843C8}" type="pres">
      <dgm:prSet presAssocID="{BDCA220C-3B35-4848-B0C1-BD80DF3F9F77}" presName="iconBgRect" presStyleLbl="bgShp" presStyleIdx="1" presStyleCnt="3"/>
      <dgm:spPr/>
    </dgm:pt>
    <dgm:pt modelId="{9ABBC15B-D039-42C7-87D0-8542B10512E5}" type="pres">
      <dgm:prSet presAssocID="{BDCA220C-3B35-4848-B0C1-BD80DF3F9F77}" presName="iconRect" presStyleLbl="node1" presStyleIdx="1" presStyleCnt="3"/>
      <dgm:spPr>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Handshake"/>
        </a:ext>
      </dgm:extLst>
    </dgm:pt>
    <dgm:pt modelId="{D911D9E2-9D89-472B-8FB2-F17902611750}" type="pres">
      <dgm:prSet presAssocID="{BDCA220C-3B35-4848-B0C1-BD80DF3F9F77}" presName="spaceRect" presStyleCnt="0"/>
      <dgm:spPr/>
    </dgm:pt>
    <dgm:pt modelId="{F89AE129-D75A-4027-B6BA-EC71BF76A3E3}" type="pres">
      <dgm:prSet presAssocID="{BDCA220C-3B35-4848-B0C1-BD80DF3F9F77}" presName="textRect" presStyleLbl="revTx" presStyleIdx="1" presStyleCnt="3">
        <dgm:presLayoutVars>
          <dgm:chMax val="1"/>
          <dgm:chPref val="1"/>
        </dgm:presLayoutVars>
      </dgm:prSet>
      <dgm:spPr/>
    </dgm:pt>
    <dgm:pt modelId="{8B00E9DC-3B09-4F01-9BEE-33E10BB8E72A}" type="pres">
      <dgm:prSet presAssocID="{F5521107-A1D6-421A-9427-A79697A92879}" presName="sibTrans" presStyleCnt="0"/>
      <dgm:spPr/>
    </dgm:pt>
    <dgm:pt modelId="{F2D03500-AA28-4D85-9597-5C1849733439}" type="pres">
      <dgm:prSet presAssocID="{BD0895BB-A947-4B5E-80B3-F77C6EB5174D}" presName="compNode" presStyleCnt="0"/>
      <dgm:spPr/>
    </dgm:pt>
    <dgm:pt modelId="{0A37C742-5E55-4552-9A67-2727611B7CF6}" type="pres">
      <dgm:prSet presAssocID="{BD0895BB-A947-4B5E-80B3-F77C6EB5174D}" presName="iconBgRect" presStyleLbl="bgShp" presStyleIdx="2" presStyleCnt="3"/>
      <dgm:spPr/>
    </dgm:pt>
    <dgm:pt modelId="{AC7BDC84-EDE6-42B1-8AD7-4E93E219758A}" type="pres">
      <dgm:prSet presAssocID="{BD0895BB-A947-4B5E-80B3-F77C6EB5174D}" presName="iconRect" presStyleLbl="node1" presStyleIdx="2" presStyleCnt="3"/>
      <dgm:spPr>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Teacher"/>
        </a:ext>
      </dgm:extLst>
    </dgm:pt>
    <dgm:pt modelId="{2A8C9716-CCFF-4442-B320-B82DEE535D56}" type="pres">
      <dgm:prSet presAssocID="{BD0895BB-A947-4B5E-80B3-F77C6EB5174D}" presName="spaceRect" presStyleCnt="0"/>
      <dgm:spPr/>
    </dgm:pt>
    <dgm:pt modelId="{58D4A72C-705F-4553-AAF7-D749375F61ED}" type="pres">
      <dgm:prSet presAssocID="{BD0895BB-A947-4B5E-80B3-F77C6EB5174D}" presName="textRect" presStyleLbl="revTx" presStyleIdx="2" presStyleCnt="3">
        <dgm:presLayoutVars>
          <dgm:chMax val="1"/>
          <dgm:chPref val="1"/>
        </dgm:presLayoutVars>
      </dgm:prSet>
      <dgm:spPr/>
    </dgm:pt>
  </dgm:ptLst>
  <dgm:cxnLst>
    <dgm:cxn modelId="{762C8D00-BA44-4283-B73D-4BCFF8A17577}" type="presOf" srcId="{BDCA220C-3B35-4848-B0C1-BD80DF3F9F77}" destId="{F89AE129-D75A-4027-B6BA-EC71BF76A3E3}" srcOrd="0" destOrd="0" presId="urn:microsoft.com/office/officeart/2018/5/layout/IconCircleLabelList"/>
    <dgm:cxn modelId="{A6DD5821-2E12-4F43-A644-B9130817964F}" srcId="{D48C1FBC-BA12-4989-AF31-F85DD2F6B6FB}" destId="{8EA8D057-3F1D-4E3E-B738-FF2B89D4E86A}" srcOrd="0" destOrd="0" parTransId="{647CB577-5DE2-4817-A0AF-27E4D2707173}" sibTransId="{CEC71D7A-F756-466D-ADAE-AA12B938F2E1}"/>
    <dgm:cxn modelId="{FD091D87-79B5-41AA-82B5-27838E360F81}" type="presOf" srcId="{BD0895BB-A947-4B5E-80B3-F77C6EB5174D}" destId="{58D4A72C-705F-4553-AAF7-D749375F61ED}" srcOrd="0" destOrd="0" presId="urn:microsoft.com/office/officeart/2018/5/layout/IconCircleLabelList"/>
    <dgm:cxn modelId="{7B2A8A8A-3D25-4D45-ACA9-0C84FEA72D04}" type="presOf" srcId="{8EA8D057-3F1D-4E3E-B738-FF2B89D4E86A}" destId="{612D9FB7-2A54-45D1-BF94-9D2203DE6A46}" srcOrd="0" destOrd="0" presId="urn:microsoft.com/office/officeart/2018/5/layout/IconCircleLabelList"/>
    <dgm:cxn modelId="{0FB780AB-4802-4558-9E8E-11583636E3B7}" srcId="{D48C1FBC-BA12-4989-AF31-F85DD2F6B6FB}" destId="{BD0895BB-A947-4B5E-80B3-F77C6EB5174D}" srcOrd="2" destOrd="0" parTransId="{CD5D8200-BF42-48DC-BC01-6091B4934960}" sibTransId="{020AD8BB-DA25-4BFD-B46E-872E6E5F667C}"/>
    <dgm:cxn modelId="{E831E0CC-2A2A-4472-99D7-DB966C708F03}" srcId="{D48C1FBC-BA12-4989-AF31-F85DD2F6B6FB}" destId="{BDCA220C-3B35-4848-B0C1-BD80DF3F9F77}" srcOrd="1" destOrd="0" parTransId="{CD8B1916-D701-4281-84AD-210361EDD5F7}" sibTransId="{F5521107-A1D6-421A-9427-A79697A92879}"/>
    <dgm:cxn modelId="{9F217ECD-5591-4F02-923F-53035F407E52}" type="presOf" srcId="{D48C1FBC-BA12-4989-AF31-F85DD2F6B6FB}" destId="{D2F70D36-BC00-4142-B665-ACA21E391EF5}" srcOrd="0" destOrd="0" presId="urn:microsoft.com/office/officeart/2018/5/layout/IconCircleLabelList"/>
    <dgm:cxn modelId="{800AEB1F-CC1E-4538-8B8B-676FFE06828C}" type="presParOf" srcId="{D2F70D36-BC00-4142-B665-ACA21E391EF5}" destId="{DDC2161F-5BCE-4F4B-864E-437F5BF9040D}" srcOrd="0" destOrd="0" presId="urn:microsoft.com/office/officeart/2018/5/layout/IconCircleLabelList"/>
    <dgm:cxn modelId="{FC7F94A8-4D6A-4532-B48F-2042835FD04F}" type="presParOf" srcId="{DDC2161F-5BCE-4F4B-864E-437F5BF9040D}" destId="{ECCD9044-D58E-4569-BD64-9F345C22F62D}" srcOrd="0" destOrd="0" presId="urn:microsoft.com/office/officeart/2018/5/layout/IconCircleLabelList"/>
    <dgm:cxn modelId="{94363B90-D3DF-4FC2-8D08-F517D8A48437}" type="presParOf" srcId="{DDC2161F-5BCE-4F4B-864E-437F5BF9040D}" destId="{A4E6B15D-F6B4-4FAC-9E9F-82F9A9E15527}" srcOrd="1" destOrd="0" presId="urn:microsoft.com/office/officeart/2018/5/layout/IconCircleLabelList"/>
    <dgm:cxn modelId="{F20BA994-3CC7-4AFE-B159-42DAEDCED400}" type="presParOf" srcId="{DDC2161F-5BCE-4F4B-864E-437F5BF9040D}" destId="{9A35F5FD-13AC-4EB9-9890-A4B3DC8C88FD}" srcOrd="2" destOrd="0" presId="urn:microsoft.com/office/officeart/2018/5/layout/IconCircleLabelList"/>
    <dgm:cxn modelId="{C92E28F6-9CBA-44A1-B081-41AE643495E3}" type="presParOf" srcId="{DDC2161F-5BCE-4F4B-864E-437F5BF9040D}" destId="{612D9FB7-2A54-45D1-BF94-9D2203DE6A46}" srcOrd="3" destOrd="0" presId="urn:microsoft.com/office/officeart/2018/5/layout/IconCircleLabelList"/>
    <dgm:cxn modelId="{E8B6F03F-1CE2-4F81-A3E1-FD46DE6F6E9B}" type="presParOf" srcId="{D2F70D36-BC00-4142-B665-ACA21E391EF5}" destId="{EEAF1ACB-8A0C-4105-BCDC-5F7CD005CFF3}" srcOrd="1" destOrd="0" presId="urn:microsoft.com/office/officeart/2018/5/layout/IconCircleLabelList"/>
    <dgm:cxn modelId="{7E768D09-D8A7-4D27-A19C-0D01E9B8F494}" type="presParOf" srcId="{D2F70D36-BC00-4142-B665-ACA21E391EF5}" destId="{A9193508-A479-40A3-9B44-3877DF741F6F}" srcOrd="2" destOrd="0" presId="urn:microsoft.com/office/officeart/2018/5/layout/IconCircleLabelList"/>
    <dgm:cxn modelId="{4B5BAA3D-93C9-44D9-B65D-DD8364C1ED10}" type="presParOf" srcId="{A9193508-A479-40A3-9B44-3877DF741F6F}" destId="{F946FE54-47B9-4217-B579-5EA0A6B843C8}" srcOrd="0" destOrd="0" presId="urn:microsoft.com/office/officeart/2018/5/layout/IconCircleLabelList"/>
    <dgm:cxn modelId="{F6551E06-67B5-4B9F-AE49-2487EDCCE090}" type="presParOf" srcId="{A9193508-A479-40A3-9B44-3877DF741F6F}" destId="{9ABBC15B-D039-42C7-87D0-8542B10512E5}" srcOrd="1" destOrd="0" presId="urn:microsoft.com/office/officeart/2018/5/layout/IconCircleLabelList"/>
    <dgm:cxn modelId="{011B6524-41E6-4E33-AC3D-212182AAEBE6}" type="presParOf" srcId="{A9193508-A479-40A3-9B44-3877DF741F6F}" destId="{D911D9E2-9D89-472B-8FB2-F17902611750}" srcOrd="2" destOrd="0" presId="urn:microsoft.com/office/officeart/2018/5/layout/IconCircleLabelList"/>
    <dgm:cxn modelId="{4536AA2E-7AC8-402B-BE7B-3D95F26EA7E4}" type="presParOf" srcId="{A9193508-A479-40A3-9B44-3877DF741F6F}" destId="{F89AE129-D75A-4027-B6BA-EC71BF76A3E3}" srcOrd="3" destOrd="0" presId="urn:microsoft.com/office/officeart/2018/5/layout/IconCircleLabelList"/>
    <dgm:cxn modelId="{03679B34-BA39-43C5-A58E-FFFD6EFE6D78}" type="presParOf" srcId="{D2F70D36-BC00-4142-B665-ACA21E391EF5}" destId="{8B00E9DC-3B09-4F01-9BEE-33E10BB8E72A}" srcOrd="3" destOrd="0" presId="urn:microsoft.com/office/officeart/2018/5/layout/IconCircleLabelList"/>
    <dgm:cxn modelId="{DA70D2F6-2E08-4A27-AE69-898E53C19EEC}" type="presParOf" srcId="{D2F70D36-BC00-4142-B665-ACA21E391EF5}" destId="{F2D03500-AA28-4D85-9597-5C1849733439}" srcOrd="4" destOrd="0" presId="urn:microsoft.com/office/officeart/2018/5/layout/IconCircleLabelList"/>
    <dgm:cxn modelId="{AE7DEF0D-FC59-4743-AB2B-91AC203BEC19}" type="presParOf" srcId="{F2D03500-AA28-4D85-9597-5C1849733439}" destId="{0A37C742-5E55-4552-9A67-2727611B7CF6}" srcOrd="0" destOrd="0" presId="urn:microsoft.com/office/officeart/2018/5/layout/IconCircleLabelList"/>
    <dgm:cxn modelId="{3DE8C83B-E895-4332-A154-95CBD22D21BC}" type="presParOf" srcId="{F2D03500-AA28-4D85-9597-5C1849733439}" destId="{AC7BDC84-EDE6-42B1-8AD7-4E93E219758A}" srcOrd="1" destOrd="0" presId="urn:microsoft.com/office/officeart/2018/5/layout/IconCircleLabelList"/>
    <dgm:cxn modelId="{17CDF9D1-6DBE-4BF9-B71B-ED7CAA87DB83}" type="presParOf" srcId="{F2D03500-AA28-4D85-9597-5C1849733439}" destId="{2A8C9716-CCFF-4442-B320-B82DEE535D56}" srcOrd="2" destOrd="0" presId="urn:microsoft.com/office/officeart/2018/5/layout/IconCircleLabelList"/>
    <dgm:cxn modelId="{F7C4FA43-C7F3-4A27-AE89-011A595A5EF1}" type="presParOf" srcId="{F2D03500-AA28-4D85-9597-5C1849733439}" destId="{58D4A72C-705F-4553-AAF7-D749375F61ED}"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D9044-D58E-4569-BD64-9F345C22F62D}">
      <dsp:nvSpPr>
        <dsp:cNvPr id="0" name=""/>
        <dsp:cNvSpPr/>
      </dsp:nvSpPr>
      <dsp:spPr>
        <a:xfrm>
          <a:off x="626279" y="467733"/>
          <a:ext cx="1921500" cy="19215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E6B15D-F6B4-4FAC-9E9F-82F9A9E15527}">
      <dsp:nvSpPr>
        <dsp:cNvPr id="0" name=""/>
        <dsp:cNvSpPr/>
      </dsp:nvSpPr>
      <dsp:spPr>
        <a:xfrm>
          <a:off x="1035779" y="877234"/>
          <a:ext cx="1102499" cy="11024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2D9FB7-2A54-45D1-BF94-9D2203DE6A46}">
      <dsp:nvSpPr>
        <dsp:cNvPr id="0" name=""/>
        <dsp:cNvSpPr/>
      </dsp:nvSpPr>
      <dsp:spPr>
        <a:xfrm>
          <a:off x="12029" y="2987733"/>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One-on-one consults</a:t>
          </a:r>
        </a:p>
      </dsp:txBody>
      <dsp:txXfrm>
        <a:off x="12029" y="2987733"/>
        <a:ext cx="3150000" cy="720000"/>
      </dsp:txXfrm>
    </dsp:sp>
    <dsp:sp modelId="{F946FE54-47B9-4217-B579-5EA0A6B843C8}">
      <dsp:nvSpPr>
        <dsp:cNvPr id="0" name=""/>
        <dsp:cNvSpPr/>
      </dsp:nvSpPr>
      <dsp:spPr>
        <a:xfrm>
          <a:off x="4327529" y="467733"/>
          <a:ext cx="1921500" cy="19215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BBC15B-D039-42C7-87D0-8542B10512E5}">
      <dsp:nvSpPr>
        <dsp:cNvPr id="0" name=""/>
        <dsp:cNvSpPr/>
      </dsp:nvSpPr>
      <dsp:spPr>
        <a:xfrm>
          <a:off x="4737029" y="877234"/>
          <a:ext cx="1102499" cy="11024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9AE129-D75A-4027-B6BA-EC71BF76A3E3}">
      <dsp:nvSpPr>
        <dsp:cNvPr id="0" name=""/>
        <dsp:cNvSpPr/>
      </dsp:nvSpPr>
      <dsp:spPr>
        <a:xfrm>
          <a:off x="3713279" y="2987733"/>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Ongoing collaborations</a:t>
          </a:r>
        </a:p>
      </dsp:txBody>
      <dsp:txXfrm>
        <a:off x="3713279" y="2987733"/>
        <a:ext cx="3150000" cy="720000"/>
      </dsp:txXfrm>
    </dsp:sp>
    <dsp:sp modelId="{0A37C742-5E55-4552-9A67-2727611B7CF6}">
      <dsp:nvSpPr>
        <dsp:cNvPr id="0" name=""/>
        <dsp:cNvSpPr/>
      </dsp:nvSpPr>
      <dsp:spPr>
        <a:xfrm>
          <a:off x="8028779" y="467733"/>
          <a:ext cx="1921500" cy="19215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7BDC84-EDE6-42B1-8AD7-4E93E219758A}">
      <dsp:nvSpPr>
        <dsp:cNvPr id="0" name=""/>
        <dsp:cNvSpPr/>
      </dsp:nvSpPr>
      <dsp:spPr>
        <a:xfrm>
          <a:off x="8438279" y="877234"/>
          <a:ext cx="1102499" cy="11024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D4A72C-705F-4553-AAF7-D749375F61ED}">
      <dsp:nvSpPr>
        <dsp:cNvPr id="0" name=""/>
        <dsp:cNvSpPr/>
      </dsp:nvSpPr>
      <dsp:spPr>
        <a:xfrm>
          <a:off x="7414529" y="2987733"/>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bioinformatics workshops</a:t>
          </a:r>
        </a:p>
      </dsp:txBody>
      <dsp:txXfrm>
        <a:off x="7414529" y="2987733"/>
        <a:ext cx="315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D9044-D58E-4569-BD64-9F345C22F62D}">
      <dsp:nvSpPr>
        <dsp:cNvPr id="0" name=""/>
        <dsp:cNvSpPr/>
      </dsp:nvSpPr>
      <dsp:spPr>
        <a:xfrm>
          <a:off x="626279" y="467733"/>
          <a:ext cx="1921500" cy="19215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E6B15D-F6B4-4FAC-9E9F-82F9A9E15527}">
      <dsp:nvSpPr>
        <dsp:cNvPr id="0" name=""/>
        <dsp:cNvSpPr/>
      </dsp:nvSpPr>
      <dsp:spPr>
        <a:xfrm>
          <a:off x="1035779" y="877234"/>
          <a:ext cx="1102499" cy="110249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2D9FB7-2A54-45D1-BF94-9D2203DE6A46}">
      <dsp:nvSpPr>
        <dsp:cNvPr id="0" name=""/>
        <dsp:cNvSpPr/>
      </dsp:nvSpPr>
      <dsp:spPr>
        <a:xfrm>
          <a:off x="12029" y="2987733"/>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defRPr cap="all"/>
          </a:pPr>
          <a:r>
            <a:rPr lang="en-US" sz="3100" kern="1200"/>
            <a:t>Data Concierge</a:t>
          </a:r>
        </a:p>
      </dsp:txBody>
      <dsp:txXfrm>
        <a:off x="12029" y="2987733"/>
        <a:ext cx="3150000" cy="720000"/>
      </dsp:txXfrm>
    </dsp:sp>
    <dsp:sp modelId="{F946FE54-47B9-4217-B579-5EA0A6B843C8}">
      <dsp:nvSpPr>
        <dsp:cNvPr id="0" name=""/>
        <dsp:cNvSpPr/>
      </dsp:nvSpPr>
      <dsp:spPr>
        <a:xfrm>
          <a:off x="4327529" y="467733"/>
          <a:ext cx="1921500" cy="19215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BBC15B-D039-42C7-87D0-8542B10512E5}">
      <dsp:nvSpPr>
        <dsp:cNvPr id="0" name=""/>
        <dsp:cNvSpPr/>
      </dsp:nvSpPr>
      <dsp:spPr>
        <a:xfrm>
          <a:off x="4737029" y="877234"/>
          <a:ext cx="1102499" cy="1102499"/>
        </a:xfrm>
        <a:prstGeom prst="rect">
          <a:avLst/>
        </a:prstGeom>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9AE129-D75A-4027-B6BA-EC71BF76A3E3}">
      <dsp:nvSpPr>
        <dsp:cNvPr id="0" name=""/>
        <dsp:cNvSpPr/>
      </dsp:nvSpPr>
      <dsp:spPr>
        <a:xfrm>
          <a:off x="3713279" y="2987733"/>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defRPr cap="all"/>
          </a:pPr>
          <a:r>
            <a:rPr lang="en-US" sz="3100" kern="1200"/>
            <a:t>Office Hours</a:t>
          </a:r>
        </a:p>
      </dsp:txBody>
      <dsp:txXfrm>
        <a:off x="3713279" y="2987733"/>
        <a:ext cx="3150000" cy="720000"/>
      </dsp:txXfrm>
    </dsp:sp>
    <dsp:sp modelId="{0A37C742-5E55-4552-9A67-2727611B7CF6}">
      <dsp:nvSpPr>
        <dsp:cNvPr id="0" name=""/>
        <dsp:cNvSpPr/>
      </dsp:nvSpPr>
      <dsp:spPr>
        <a:xfrm>
          <a:off x="8028779" y="467733"/>
          <a:ext cx="1921500" cy="19215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7BDC84-EDE6-42B1-8AD7-4E93E219758A}">
      <dsp:nvSpPr>
        <dsp:cNvPr id="0" name=""/>
        <dsp:cNvSpPr/>
      </dsp:nvSpPr>
      <dsp:spPr>
        <a:xfrm>
          <a:off x="8438279" y="877234"/>
          <a:ext cx="1102499" cy="1102499"/>
        </a:xfrm>
        <a:prstGeom prst="rect">
          <a:avLst/>
        </a:prstGeom>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D4A72C-705F-4553-AAF7-D749375F61ED}">
      <dsp:nvSpPr>
        <dsp:cNvPr id="0" name=""/>
        <dsp:cNvSpPr/>
      </dsp:nvSpPr>
      <dsp:spPr>
        <a:xfrm>
          <a:off x="7414529" y="2987733"/>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defRPr cap="all"/>
          </a:pPr>
          <a:r>
            <a:rPr lang="en-US" sz="3100" kern="1200"/>
            <a:t>Newsletter</a:t>
          </a:r>
        </a:p>
      </dsp:txBody>
      <dsp:txXfrm>
        <a:off x="7414529" y="2987733"/>
        <a:ext cx="315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614E11-BF71-8A40-BAC0-2B61B0CAEAF0}" type="datetimeFigureOut">
              <a:t>9/17/25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073C3-34AA-E540-B78C-5CAF7DE85827}" type="slidenum">
              <a:t>‹#›</a:t>
            </a:fld>
            <a:endParaRPr lang="en-US"/>
          </a:p>
        </p:txBody>
      </p:sp>
    </p:spTree>
    <p:extLst>
      <p:ext uri="{BB962C8B-B14F-4D97-AF65-F5344CB8AC3E}">
        <p14:creationId xmlns:p14="http://schemas.microsoft.com/office/powerpoint/2010/main" val="2824113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Welcome to our seminar on publishing your data analysis on GitHub. </a:t>
            </a:r>
          </a:p>
          <a:p>
            <a:pPr>
              <a:lnSpc>
                <a:spcPts val="1350"/>
              </a:lnSpc>
            </a:pPr>
            <a:r>
              <a:rPr lang="en-US" b="0">
                <a:solidFill>
                  <a:srgbClr val="D4D4D4"/>
                </a:solidFill>
                <a:effectLst/>
                <a:latin typeface="Menlo" panose="020B0609030804020204" pitchFamily="49" charset="0"/>
              </a:rPr>
              <a:t>We've giving this seminar because as part of the Bioinformatics group, we consult with researchers at Harvard and have found that many researchers are interested in sharing their code as part of their publication, but don't necesssarily know the best way to go about it. Plus, if you are primarily an experimentalist, navigating products such as git or GitHub, which are geared towards computer scientists, can be daunting as there are a lot of concepts and it can be difficult to sort out what is relevant to your use-case of sharing code vs the software developers for which these products were created.</a:t>
            </a:r>
          </a:p>
        </p:txBody>
      </p:sp>
      <p:sp>
        <p:nvSpPr>
          <p:cNvPr id="4" name="Slide Number Placeholder 3"/>
          <p:cNvSpPr>
            <a:spLocks noGrp="1"/>
          </p:cNvSpPr>
          <p:nvPr>
            <p:ph type="sldNum" sz="quarter" idx="5"/>
          </p:nvPr>
        </p:nvSpPr>
        <p:spPr/>
        <p:txBody>
          <a:bodyPr/>
          <a:lstStyle/>
          <a:p>
            <a:fld id="{09B073C3-34AA-E540-B78C-5CAF7DE85827}" type="slidenum">
              <a:rPr lang="en-US"/>
              <a:t>1</a:t>
            </a:fld>
            <a:endParaRPr lang="en-US"/>
          </a:p>
        </p:txBody>
      </p:sp>
    </p:spTree>
    <p:extLst>
      <p:ext uri="{BB962C8B-B14F-4D97-AF65-F5344CB8AC3E}">
        <p14:creationId xmlns:p14="http://schemas.microsoft.com/office/powerpoint/2010/main" val="1803106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A6D7C2-D224-8F49-AB2E-E58311551E22}" type="slidenum">
              <a:rPr lang="en-US" smtClean="0"/>
              <a:t>2</a:t>
            </a:fld>
            <a:endParaRPr lang="en-US"/>
          </a:p>
        </p:txBody>
      </p:sp>
    </p:spTree>
    <p:extLst>
      <p:ext uri="{BB962C8B-B14F-4D97-AF65-F5344CB8AC3E}">
        <p14:creationId xmlns:p14="http://schemas.microsoft.com/office/powerpoint/2010/main" val="45611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6AFF5-D6A4-F2BC-4CF3-AF77F68B8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3325B-890F-E03B-0983-E6231497F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662EB-D9E6-9972-BC4F-2835E76977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1DAD43-9AC6-5590-0D76-9CDBE920C88B}"/>
              </a:ext>
            </a:extLst>
          </p:cNvPr>
          <p:cNvSpPr>
            <a:spLocks noGrp="1"/>
          </p:cNvSpPr>
          <p:nvPr>
            <p:ph type="sldNum" sz="quarter" idx="5"/>
          </p:nvPr>
        </p:nvSpPr>
        <p:spPr/>
        <p:txBody>
          <a:bodyPr/>
          <a:lstStyle/>
          <a:p>
            <a:fld id="{E7A6D7C2-D224-8F49-AB2E-E58311551E22}" type="slidenum">
              <a:rPr lang="en-US" smtClean="0"/>
              <a:t>3</a:t>
            </a:fld>
            <a:endParaRPr lang="en-US"/>
          </a:p>
        </p:txBody>
      </p:sp>
    </p:spTree>
    <p:extLst>
      <p:ext uri="{BB962C8B-B14F-4D97-AF65-F5344CB8AC3E}">
        <p14:creationId xmlns:p14="http://schemas.microsoft.com/office/powerpoint/2010/main" val="162021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I know we're all here because we have presumably bought into the motivation for sharing data, but I want to start off with why sharing the code you use for your analysis is important. Not so long ago, it was common to read papers which had the following phrase "Data available upon request" to the authors. Since then, federal funding agencies, journals, and professional societies have collectively decided that's not good enough for reproducibility and now data is regularly being uploaded to public repositories and many journals have a mandatory "Data availablility" section where authors will link to their raw data. However, raw data isn't the only thing that is needed to reproduce an analysis. Just as it is important to write your methods in enough detail, it should be possible to describe the steps you took to analyze your data such that another reader can perform those same steps. In other words, it is not good practice to say that your analysis code "is available upon request", or worse, not even mention that it's available at all. When I read a paper that says that, I'm always left wondering, if it exsits, why not share it? What are they trying to hide? </a:t>
            </a:r>
          </a:p>
        </p:txBody>
      </p:sp>
      <p:sp>
        <p:nvSpPr>
          <p:cNvPr id="4" name="Slide Number Placeholder 3"/>
          <p:cNvSpPr>
            <a:spLocks noGrp="1"/>
          </p:cNvSpPr>
          <p:nvPr>
            <p:ph type="sldNum" sz="quarter" idx="5"/>
          </p:nvPr>
        </p:nvSpPr>
        <p:spPr/>
        <p:txBody>
          <a:bodyPr/>
          <a:lstStyle/>
          <a:p>
            <a:fld id="{09B073C3-34AA-E540-B78C-5CAF7DE85827}" type="slidenum">
              <a:rPr lang="en-US"/>
              <a:t>4</a:t>
            </a:fld>
            <a:endParaRPr lang="en-US"/>
          </a:p>
        </p:txBody>
      </p:sp>
    </p:spTree>
    <p:extLst>
      <p:ext uri="{BB962C8B-B14F-4D97-AF65-F5344CB8AC3E}">
        <p14:creationId xmlns:p14="http://schemas.microsoft.com/office/powerpoint/2010/main" val="1525182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Here are two examples of potential ways we can write out analysis steps in our methods section. In this first example, the name of a statistical analysis is mentioned as well as the programming language used to perform the analysis. However, if you were a reader who wanted to reproduce this analysis, you would have to know whether the authors used a specific implementation of the Wilcoxon rank sum test, such as that found in the "stats" package in R, or if they coded their own, or if they used a different package altogether. In any case, you would be guessing at the exact code that was used.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The second example is much more informative. The authors have provided the name of the R package and the version, and cited the package. Key software packages used in your analysis should be cited just like you would cite a paper. The rest of the sentence describes details about how that software was used, including the parameters that were used and how the data was preprocessed. This level of detail is likely enough for a reader who is familiar with the software to reproduce the analysis, though perhaps not with 100% accuracy. Before we share our real code, let's try to have this level of detail in our methods section.</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5</a:t>
            </a:fld>
            <a:endParaRPr lang="en-US"/>
          </a:p>
        </p:txBody>
      </p:sp>
    </p:spTree>
    <p:extLst>
      <p:ext uri="{BB962C8B-B14F-4D97-AF65-F5344CB8AC3E}">
        <p14:creationId xmlns:p14="http://schemas.microsoft.com/office/powerpoint/2010/main" val="3350674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When you do decide to share your code, think about whether you intend to share it in order for others to reproduce the analysis of the paper or whether you intend for others to use something you created on other data. Here are two different data/code availability statements from papers with these intentions. The first is a research paper with a lot of data analysis and both the raw data and the code used to analyze it are shared. The second paper is a computational tool or software, and so the code being shared isn't the analysis that was the proof of concept of how the tool works, but the cleaned up and ready to use software itself. You will notice that both of these papers have shared their code on GitHub. So what exactly is GitHub?</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6</a:t>
            </a:fld>
            <a:endParaRPr lang="en-US"/>
          </a:p>
        </p:txBody>
      </p:sp>
    </p:spTree>
    <p:extLst>
      <p:ext uri="{BB962C8B-B14F-4D97-AF65-F5344CB8AC3E}">
        <p14:creationId xmlns:p14="http://schemas.microsoft.com/office/powerpoint/2010/main" val="4102094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3ADC8-6BA0-0BF7-72B1-A47E9EF23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DD679-6C19-893F-9383-3C3D1C2BA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34694-ACDD-7E51-81FB-E2B0C288EA7F}"/>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Because it's often a point of confusion for folks, here is a summary page outlining the differences between git and GitHub (and other remotes or code hosting services). Git is a free and open source version control software that works offline on your local machine. You use it to take snapshots of your folder and track the changes to files in your folder. GitHub is a cloud-based hosting service that allows you to back up your code to computers owned by GitHub/Microsoft and share them with the world. It offers collaboration features and additional ways to interact with your code. Most of the features relevant to us are free, but there are paid features as well.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We will also be using GitHub Desktop, which is an application that helps users perform git actions and connect their git repository to GitHub. Originally, git was purely a command line tool. However, if we are not hard core coders, we can use an app called GitHub Desktop to perform all the actions described previously using a graphical interface. </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a:extLst>
              <a:ext uri="{FF2B5EF4-FFF2-40B4-BE49-F238E27FC236}">
                <a16:creationId xmlns:a16="http://schemas.microsoft.com/office/drawing/2014/main" id="{A6C88894-79EF-A472-38A2-1EDC7D4284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9092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B2E0F-6AC6-DFE5-8CC2-9205BADEA3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F7677-E901-A9F9-F4E0-40F828D96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C7F94-E006-EF5B-ADFC-048298ED10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6E8620-E2D8-B141-2F69-4619925DE0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5515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D17B9-F5CB-6349-C4EC-DF2C120ED3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1ED87-CD57-44EE-0C8B-80E8A2001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85862A-9228-E7DC-7D1E-D0A127017C17}"/>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Regardless of where your code comes from, usually throughout a project there is an iterative process of writing, testing, and changing your code until you get to the final version that you use in your publication. This may consist of testing out multiple versions of the same code at a time, or maybe one set of scripts for analysis A and another set for analysis B and there's some overlap between the two... Anyway, it can get messy! Version control is a way to manage this process so that you never lose important work and can clearly distinguish between different version of your code.</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0C980E96-135C-E717-3C78-D1E481500C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4097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59392-4248-668C-A9FC-31E2AAF18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EBD5D-BA40-C19D-F5A3-64B0DD99C4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22005-AB8C-9255-A5E5-766F3345EB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DAAB4B-F59A-8108-7E52-20C49A0859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2816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C6DA6-98CD-60B2-A09E-262D889A8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D25DB-0C93-D32B-D419-4E11C3DB3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B109CE-3D7F-8297-C6FB-8B5421EC71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A665B9-71EF-9A07-5AE8-BB23B9E097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0253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For our purposes, since we likely just have one final version of our code, we can ignore some of the more complex features of git. Here's how git works in a nutshell: Think of it like taking a group photo. There are three virtual areas in your directory. One is your working directory, where you are doing your editing and saving as usual. Then there's the virtual staging area, which is like right in front of the camera. You decide which files you want in the photo by telling git to add them to the staging area. This tells git which files to keep track of for this snapshot. Then you commit the files in the staging area, which is like taking the photo. And this snapshot will be saved in the .git directory. You can then retrieve older versions from the .git directory if you want to. But we will primarily focus on the forward direction, where you are adding new files.</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12</a:t>
            </a:fld>
            <a:endParaRPr lang="en-US"/>
          </a:p>
        </p:txBody>
      </p:sp>
    </p:spTree>
    <p:extLst>
      <p:ext uri="{BB962C8B-B14F-4D97-AF65-F5344CB8AC3E}">
        <p14:creationId xmlns:p14="http://schemas.microsoft.com/office/powerpoint/2010/main" val="777172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So what is GitHub? GitHub is a website owned and run by Microsoft where you can upload your git repositories. It essentially hosts you code for free (with additional paid features) on Microsoft servers, aka the cloud. The copy of your code on your personal computer is called the "local" copy while the copy on the website is called the "remote" copy. Remote repositories are useful for sharing your code with others and having a cloud backup of your code. Other remote repositories include GitLab, Bitbucket, and others. GitHub is by far the most popular, and has a lot of features that make it easy for non-coders to use, like a web interface and a desktop app. When you want to upload your local git repository changes to the GitHub website, it's called "pushing to the remote" and when you want to retrieve changes it's called "pulling". Again, we'll focus on the forward direction for now.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Look at this overview picture. You can see that, if you follow the forward arrows, there's essentially three steps to using git and GitHub. First on your local computer you stage your files, then you commit them, then you push them to the remote. </a:t>
            </a: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13</a:t>
            </a:fld>
            <a:endParaRPr lang="en-US"/>
          </a:p>
        </p:txBody>
      </p:sp>
    </p:spTree>
    <p:extLst>
      <p:ext uri="{BB962C8B-B14F-4D97-AF65-F5344CB8AC3E}">
        <p14:creationId xmlns:p14="http://schemas.microsoft.com/office/powerpoint/2010/main" val="173477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rgbClr val="D4D4D4"/>
                </a:solidFill>
                <a:effectLst/>
                <a:latin typeface="Menlo" panose="020B0609030804020204" pitchFamily="49" charset="0"/>
              </a:rPr>
              <a:t>In order to use GitHub Desktop, first you will need to create a GitHub account. Then, you can go to [</a:t>
            </a:r>
            <a:r>
              <a:rPr lang="en-US" b="0">
                <a:solidFill>
                  <a:srgbClr val="CE9178"/>
                </a:solidFill>
                <a:effectLst/>
                <a:latin typeface="Menlo" panose="020B0609030804020204" pitchFamily="49" charset="0"/>
              </a:rPr>
              <a:t>https://github.com/apps/desktop</a:t>
            </a:r>
            <a:r>
              <a:rPr lang="en-US" b="0">
                <a:solidFill>
                  <a:srgbClr val="D4D4D4"/>
                </a:solidFill>
                <a:effectLst/>
                <a:latin typeface="Menlo" panose="020B0609030804020204" pitchFamily="49" charset="0"/>
              </a:rPr>
              <a:t>](</a:t>
            </a:r>
            <a:r>
              <a:rPr lang="en-US" b="0" u="sng">
                <a:solidFill>
                  <a:srgbClr val="D4D4D4"/>
                </a:solidFill>
                <a:effectLst/>
                <a:latin typeface="Menlo" panose="020B0609030804020204" pitchFamily="49" charset="0"/>
              </a:rPr>
              <a:t>https://github.com/apps/desktop</a:t>
            </a:r>
            <a:r>
              <a:rPr lang="en-US" b="0">
                <a:solidFill>
                  <a:srgbClr val="D4D4D4"/>
                </a:solidFill>
                <a:effectLst/>
                <a:latin typeface="Menlo" panose="020B0609030804020204" pitchFamily="49" charset="0"/>
              </a:rPr>
              <a:t>) to download the application for your operation system and connect it to your account by going to "GitHub Desktop -&gt; Settings -&gt; Accounts -&gt; Sign Into GitHub.com". If you've never put something on GitHub before, this landing page for the app will look a little like this, with 4 options, including "+ Create a New Repository on your Hard Drive". This is the option we want. </a:t>
            </a: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14</a:t>
            </a:fld>
            <a:endParaRPr lang="en-US"/>
          </a:p>
        </p:txBody>
      </p:sp>
    </p:spTree>
    <p:extLst>
      <p:ext uri="{BB962C8B-B14F-4D97-AF65-F5344CB8AC3E}">
        <p14:creationId xmlns:p14="http://schemas.microsoft.com/office/powerpoint/2010/main" val="2104795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We'll make a new repository called "git-workshop" and we'll add a short description. I like to put all my GitHub repositories in one folder on my computer, so that will be the local path. We will initialize it with an empty README file, no gitignore, and a license of MIT. For academic papers, the MIT license is a good choice because it allows others to use your code as long as they give credit. Another good option for licensing is the GNU GPLv3 license, which allows anyone to use and adapt the work, but they have to give credit and list changes. This restricts someone from taking your code and making it proprietary. </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p:txBody>
      </p:sp>
      <p:sp>
        <p:nvSpPr>
          <p:cNvPr id="4" name="Slide Number Placeholder 3"/>
          <p:cNvSpPr>
            <a:spLocks noGrp="1"/>
          </p:cNvSpPr>
          <p:nvPr>
            <p:ph type="sldNum" sz="quarter" idx="5"/>
          </p:nvPr>
        </p:nvSpPr>
        <p:spPr/>
        <p:txBody>
          <a:bodyPr/>
          <a:lstStyle/>
          <a:p>
            <a:fld id="{09B073C3-34AA-E540-B78C-5CAF7DE85827}" type="slidenum">
              <a:rPr lang="en-US"/>
              <a:t>15</a:t>
            </a:fld>
            <a:endParaRPr lang="en-US"/>
          </a:p>
        </p:txBody>
      </p:sp>
    </p:spTree>
    <p:extLst>
      <p:ext uri="{BB962C8B-B14F-4D97-AF65-F5344CB8AC3E}">
        <p14:creationId xmlns:p14="http://schemas.microsoft.com/office/powerpoint/2010/main" val="39234154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br>
              <a:rPr lang="en-US" b="0">
                <a:solidFill>
                  <a:srgbClr val="D4D4D4"/>
                </a:solidFill>
                <a:effectLst/>
                <a:latin typeface="Menlo" panose="020B0609030804020204" pitchFamily="49" charset="0"/>
              </a:rPr>
            </a:b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If you want maximum adoption and simplicity: Choose MIT</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If you need patent protection: Choose Apache 2.0</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If you want to prevent others from creating closed-source versions: Choose GPL</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If you want basic protection with minimal restrictions: Choose BSD-2 or BSD-3</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The most important distinction is between permissive licenses (MIT, BSD, Apache) which allow commercial and private use with few restrictions, and copyleft licenses (GPL) which require sharing modifications under the same terms</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This repository should now contain two files, "LICENSE" and "README.md". The README files is a markdown file, which is a way to format text. You can edit this file using any text editor. So let's start by doing that. I'll add some simple description to the README and save it. Now let's move some files to it. Let's naively move all the files from a project into the repository.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9236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Let's look at the layout of the application. On the top you have three buttons. The first has your repository name on it and if you click it, will allow you to switch between other repositories you own on this computer. The middle button is the "Current Branch" button, which we won't worry about. The third button is the "Publish Repository" button, which will push this local repository to your online GitHub account. We're not going to do that yet.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Underneath the top bar are two panels. The left panel is the "Changes" panel, which shows all the changes to your directory since the last commit. The last commit is the last snapshot you took and every new repository has an "initial commit". If a file has been added, it'll appear on this panel with a green "+" symbol, indicating that it's a new file. If a file has been modified, like our README file, it'll appear with a yellow dot symbol. And on the right you can see which lines have been added (in green) or removed (in red). To the left of each new or modified file is a checkbox. This is how you add files to the "staging area".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Below the "Changes" panel is where we make our commits. Each commit needs a short summary of what was changed. But before we make a commit, we need to talk about which files should be added to your git repository and which files should not.</a:t>
            </a: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17</a:t>
            </a:fld>
            <a:endParaRPr lang="en-US"/>
          </a:p>
        </p:txBody>
      </p:sp>
    </p:spTree>
    <p:extLst>
      <p:ext uri="{BB962C8B-B14F-4D97-AF65-F5344CB8AC3E}">
        <p14:creationId xmlns:p14="http://schemas.microsoft.com/office/powerpoint/2010/main" val="4094006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05835-74C6-BC26-888A-1E9DA92F3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C04884-8136-768E-5A33-69485A22F3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E27EB-A588-7265-4333-4760FA9293FE}"/>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We can create a file called </a:t>
            </a:r>
            <a:r>
              <a:rPr lang="en-US" b="0">
                <a:solidFill>
                  <a:srgbClr val="CE9178"/>
                </a:solidFill>
                <a:effectLst/>
                <a:latin typeface="Menlo" panose="020B0609030804020204" pitchFamily="49" charset="0"/>
              </a:rPr>
              <a:t>`.gitignore`</a:t>
            </a:r>
            <a:r>
              <a:rPr lang="en-US" b="0">
                <a:solidFill>
                  <a:srgbClr val="D4D4D4"/>
                </a:solidFill>
                <a:effectLst/>
                <a:latin typeface="Menlo" panose="020B0609030804020204" pitchFamily="49" charset="0"/>
              </a:rPr>
              <a:t> in which we can list all the files and folders we don't want to include in our repository. You can exclude all files in a folder by putting the folder name followed by a slash, like </a:t>
            </a:r>
            <a:r>
              <a:rPr lang="en-US" b="0">
                <a:solidFill>
                  <a:srgbClr val="CE9178"/>
                </a:solidFill>
                <a:effectLst/>
                <a:latin typeface="Menlo" panose="020B0609030804020204" pitchFamily="49" charset="0"/>
              </a:rPr>
              <a:t>`raw/`</a:t>
            </a:r>
            <a:r>
              <a:rPr lang="en-US" b="0">
                <a:solidFill>
                  <a:srgbClr val="D4D4D4"/>
                </a:solidFill>
                <a:effectLst/>
                <a:latin typeface="Menlo" panose="020B0609030804020204" pitchFamily="49" charset="0"/>
              </a:rPr>
              <a:t>. You can exclude all files of a certain type by putting </a:t>
            </a:r>
            <a:r>
              <a:rPr lang="en-US" b="0">
                <a:solidFill>
                  <a:srgbClr val="CE9178"/>
                </a:solidFill>
                <a:effectLst/>
                <a:latin typeface="Menlo" panose="020B0609030804020204" pitchFamily="49" charset="0"/>
              </a:rPr>
              <a:t>`*.extension`</a:t>
            </a:r>
            <a:r>
              <a:rPr lang="en-US" b="0">
                <a:solidFill>
                  <a:srgbClr val="D4D4D4"/>
                </a:solidFill>
                <a:effectLst/>
                <a:latin typeface="Menlo" panose="020B0609030804020204" pitchFamily="49" charset="0"/>
              </a:rPr>
              <a:t>, like </a:t>
            </a:r>
            <a:r>
              <a:rPr lang="en-US" b="0">
                <a:solidFill>
                  <a:srgbClr val="CE9178"/>
                </a:solidFill>
                <a:effectLst/>
                <a:latin typeface="Menlo" panose="020B0609030804020204" pitchFamily="49" charset="0"/>
              </a:rPr>
              <a:t>`*.Rproj`</a:t>
            </a:r>
            <a:r>
              <a:rPr lang="en-US" b="0">
                <a:solidFill>
                  <a:srgbClr val="D4D4D4"/>
                </a:solidFill>
                <a:effectLst/>
                <a:latin typeface="Menlo" panose="020B0609030804020204" pitchFamily="49" charset="0"/>
              </a:rPr>
              <a:t>. You can also exclude specific files by putting the file name, like </a:t>
            </a:r>
            <a:r>
              <a:rPr lang="en-US" b="0">
                <a:solidFill>
                  <a:srgbClr val="CE9178"/>
                </a:solidFill>
                <a:effectLst/>
                <a:latin typeface="Menlo" panose="020B0609030804020204" pitchFamily="49" charset="0"/>
              </a:rPr>
              <a:t>`.DS_Store`</a:t>
            </a:r>
            <a:r>
              <a:rPr lang="en-US" b="0">
                <a:solidFill>
                  <a:srgbClr val="D4D4D4"/>
                </a:solidFill>
                <a:effectLst/>
                <a:latin typeface="Menlo" panose="020B0609030804020204" pitchFamily="49" charset="0"/>
              </a:rPr>
              <a:t> or </a:t>
            </a:r>
            <a:r>
              <a:rPr lang="en-US" b="0">
                <a:solidFill>
                  <a:srgbClr val="CE9178"/>
                </a:solidFill>
                <a:effectLst/>
                <a:latin typeface="Menlo" panose="020B0609030804020204" pitchFamily="49" charset="0"/>
              </a:rPr>
              <a:t>`penguins_notebook.md`</a:t>
            </a:r>
            <a:r>
              <a:rPr lang="en-US" b="0">
                <a:solidFill>
                  <a:srgbClr val="D4D4D4"/>
                </a:solidFill>
                <a:effectLst/>
                <a:latin typeface="Menlo" panose="020B0609030804020204" pitchFamily="49" charset="0"/>
              </a:rPr>
              <a:t>.</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Now we are ready to make the commit that adds the files to the repository. If you've made a mistake in adding a file, you can click the "undo" button on the bottom left of window as long as you haven't yet pushed the commit to the website (aka the remote). Now let's click "Publish Repository" to upload our repository to the GitHub website (aka push to the remote). If you are not ready to make your code public, you can click "Keep this code private" and it will be hidden. For example, you might want to keep this private until your paper has been acceppted. </a:t>
            </a:r>
          </a:p>
          <a:p>
            <a:endParaRPr lang="en-US"/>
          </a:p>
        </p:txBody>
      </p:sp>
      <p:sp>
        <p:nvSpPr>
          <p:cNvPr id="4" name="Slide Number Placeholder 3">
            <a:extLst>
              <a:ext uri="{FF2B5EF4-FFF2-40B4-BE49-F238E27FC236}">
                <a16:creationId xmlns:a16="http://schemas.microsoft.com/office/drawing/2014/main" id="{BE68C3E5-230E-8A2B-DCB4-73171C6E692C}"/>
              </a:ext>
            </a:extLst>
          </p:cNvPr>
          <p:cNvSpPr>
            <a:spLocks noGrp="1"/>
          </p:cNvSpPr>
          <p:nvPr>
            <p:ph type="sldNum" sz="quarter" idx="5"/>
          </p:nvPr>
        </p:nvSpPr>
        <p:spPr/>
        <p:txBody>
          <a:bodyPr/>
          <a:lstStyle/>
          <a:p>
            <a:fld id="{09B073C3-34AA-E540-B78C-5CAF7DE85827}" type="slidenum">
              <a:rPr lang="en-US"/>
              <a:t>18</a:t>
            </a:fld>
            <a:endParaRPr lang="en-US"/>
          </a:p>
        </p:txBody>
      </p:sp>
    </p:spTree>
    <p:extLst>
      <p:ext uri="{BB962C8B-B14F-4D97-AF65-F5344CB8AC3E}">
        <p14:creationId xmlns:p14="http://schemas.microsoft.com/office/powerpoint/2010/main" val="2695090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Let's take a look at our repository. Currently, we have two folders of data, raw and processed. We don't want to include anything in there because typically data files are too large to be stored on GitHub. In our case it isn't but let's pretend. We also have some R junk like </a:t>
            </a:r>
            <a:r>
              <a:rPr lang="en-US" b="0">
                <a:solidFill>
                  <a:srgbClr val="CE9178"/>
                </a:solidFill>
                <a:effectLst/>
                <a:latin typeface="Menlo" panose="020B0609030804020204" pitchFamily="49" charset="0"/>
              </a:rPr>
              <a:t>`.Rhistory`</a:t>
            </a:r>
            <a:r>
              <a:rPr lang="en-US" b="0">
                <a:solidFill>
                  <a:srgbClr val="D4D4D4"/>
                </a:solidFill>
                <a:effectLst/>
                <a:latin typeface="Menlo" panose="020B0609030804020204" pitchFamily="49" charset="0"/>
              </a:rPr>
              <a:t> and </a:t>
            </a:r>
            <a:r>
              <a:rPr lang="en-US" b="0">
                <a:solidFill>
                  <a:srgbClr val="CE9178"/>
                </a:solidFill>
                <a:effectLst/>
                <a:latin typeface="Menlo" panose="020B0609030804020204" pitchFamily="49" charset="0"/>
              </a:rPr>
              <a:t>`.Rproj`</a:t>
            </a:r>
            <a:r>
              <a:rPr lang="en-US" b="0">
                <a:solidFill>
                  <a:srgbClr val="D4D4D4"/>
                </a:solidFill>
                <a:effectLst/>
                <a:latin typeface="Menlo" panose="020B0609030804020204" pitchFamily="49" charset="0"/>
              </a:rPr>
              <a:t> files, as well as OS junk like </a:t>
            </a:r>
            <a:r>
              <a:rPr lang="en-US" b="0">
                <a:solidFill>
                  <a:srgbClr val="CE9178"/>
                </a:solidFill>
                <a:effectLst/>
                <a:latin typeface="Menlo" panose="020B0609030804020204" pitchFamily="49" charset="0"/>
              </a:rPr>
              <a:t>`.DS_Store`</a:t>
            </a:r>
            <a:r>
              <a:rPr lang="en-US" b="0">
                <a:solidFill>
                  <a:srgbClr val="D4D4D4"/>
                </a:solidFill>
                <a:effectLst/>
                <a:latin typeface="Menlo" panose="020B0609030804020204" pitchFamily="49" charset="0"/>
              </a:rPr>
              <a:t>. These are all of no use to the person who wants to reproduce our analysis. There's also a </a:t>
            </a:r>
            <a:r>
              <a:rPr lang="en-US" b="0">
                <a:solidFill>
                  <a:srgbClr val="CE9178"/>
                </a:solidFill>
                <a:effectLst/>
                <a:latin typeface="Menlo" panose="020B0609030804020204" pitchFamily="49" charset="0"/>
              </a:rPr>
              <a:t>`penguins_notebook.md`</a:t>
            </a:r>
            <a:r>
              <a:rPr lang="en-US" b="0">
                <a:solidFill>
                  <a:srgbClr val="D4D4D4"/>
                </a:solidFill>
                <a:effectLst/>
                <a:latin typeface="Menlo" panose="020B0609030804020204" pitchFamily="49" charset="0"/>
              </a:rPr>
              <a:t> file in which I had put down my exploratory analysis. This is also not necessary. Another thing you should absolutely never include in your git repository are files containing sensitive information. For example, if you have passwords, API keys, or non-de-identified metadata of your research subjects, do NOT include those files! Once it's tracked in git it is a whole separate process to scrub your git history.</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19</a:t>
            </a:fld>
            <a:endParaRPr lang="en-US"/>
          </a:p>
        </p:txBody>
      </p:sp>
    </p:spTree>
    <p:extLst>
      <p:ext uri="{BB962C8B-B14F-4D97-AF65-F5344CB8AC3E}">
        <p14:creationId xmlns:p14="http://schemas.microsoft.com/office/powerpoint/2010/main" val="1033077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Here's a review of terminology that we've covered. There's a fair bit more that you may hear about, but it is not immediately relevant for simply sharing your code online. </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20</a:t>
            </a:fld>
            <a:endParaRPr lang="en-US"/>
          </a:p>
        </p:txBody>
      </p:sp>
    </p:spTree>
    <p:extLst>
      <p:ext uri="{BB962C8B-B14F-4D97-AF65-F5344CB8AC3E}">
        <p14:creationId xmlns:p14="http://schemas.microsoft.com/office/powerpoint/2010/main" val="5983051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So you've got the mechanics of how to share your code, but it's also important to consider what to share so that a reader has an easier time using it.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Sharing for reproduction</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Examples:</a:t>
            </a:r>
          </a:p>
          <a:p>
            <a:pPr>
              <a:lnSpc>
                <a:spcPts val="1350"/>
              </a:lnSpc>
            </a:pPr>
            <a:r>
              <a:rPr lang="en-US" b="0">
                <a:solidFill>
                  <a:srgbClr val="D4D4D4"/>
                </a:solidFill>
                <a:effectLst/>
                <a:latin typeface="Menlo" panose="020B0609030804020204" pitchFamily="49" charset="0"/>
              </a:rPr>
              <a:t>https://zenodo.org/records/10236681</a:t>
            </a:r>
          </a:p>
          <a:p>
            <a:pPr>
              <a:lnSpc>
                <a:spcPts val="1350"/>
              </a:lnSpc>
            </a:pPr>
            <a:r>
              <a:rPr lang="en-US" b="0">
                <a:solidFill>
                  <a:srgbClr val="D4D4D4"/>
                </a:solidFill>
                <a:effectLst/>
                <a:latin typeface="Menlo" panose="020B0609030804020204" pitchFamily="49" charset="0"/>
              </a:rPr>
              <a:t>https://zenodo.org/records/10155524</a:t>
            </a:r>
          </a:p>
          <a:p>
            <a:pPr>
              <a:lnSpc>
                <a:spcPts val="1350"/>
              </a:lnSpc>
            </a:pPr>
            <a:br>
              <a:rPr lang="en-US" b="0">
                <a:solidFill>
                  <a:srgbClr val="D4D4D4"/>
                </a:solidFill>
                <a:effectLst/>
                <a:latin typeface="Menlo" panose="020B0609030804020204" pitchFamily="49" charset="0"/>
              </a:rPr>
            </a:b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Provide installation instructions for the software dependencies</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GitHub README should provide links or instructions for downloading raw or intermediate data, link to paper, describe folder structure</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Folder organization based on Data, Metadata, Analysis, etc. </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Organize your code in the order that it was run for your paper</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Label each script with a number or put them into folders marking different aspects of your analysis</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Add readme files or notebooks to each level</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Sharing for reuse/adaptation</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Example: https://github.com/dalmolingroup/euryale</a:t>
            </a:r>
          </a:p>
          <a:p>
            <a:pPr>
              <a:lnSpc>
                <a:spcPts val="1350"/>
              </a:lnSpc>
            </a:pPr>
            <a:br>
              <a:rPr lang="en-US" b="0">
                <a:solidFill>
                  <a:srgbClr val="D4D4D4"/>
                </a:solidFill>
                <a:effectLst/>
                <a:latin typeface="Menlo" panose="020B0609030804020204" pitchFamily="49" charset="0"/>
              </a:rPr>
            </a:b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Provide installation instructions for the software dependencies</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GitHub README should be comprehensive and tell you what the inputs and outputs are, and what each parameter means</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Folder structure is different and split based on configuration, dependencies, modules, scripts, etc. </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Provide a small test dataset to demonstrate program andd check that it is running properly</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Write a documentation page if it's a larger project</a:t>
            </a:r>
          </a:p>
          <a:p>
            <a:pPr>
              <a:lnSpc>
                <a:spcPts val="1350"/>
              </a:lnSpc>
            </a:pPr>
            <a:r>
              <a:rPr lang="en-US" b="0">
                <a:solidFill>
                  <a:srgbClr val="6796E6"/>
                </a:solidFill>
                <a:effectLst/>
                <a:latin typeface="Menlo" panose="020B0609030804020204" pitchFamily="49" charset="0"/>
              </a:rPr>
              <a:t>*</a:t>
            </a:r>
            <a:r>
              <a:rPr lang="en-US" b="0">
                <a:solidFill>
                  <a:srgbClr val="D4D4D4"/>
                </a:solidFill>
                <a:effectLst/>
                <a:latin typeface="Menlo" panose="020B0609030804020204" pitchFamily="49" charset="0"/>
              </a:rPr>
              <a:t> Remove hard-coded or personalized parameters as much as possible</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We'll now talk about two features of GitHub that are helpful for sharing your code. These are optional, but they are nice to do. </a:t>
            </a:r>
          </a:p>
        </p:txBody>
      </p:sp>
      <p:sp>
        <p:nvSpPr>
          <p:cNvPr id="4" name="Slide Number Placeholder 3"/>
          <p:cNvSpPr>
            <a:spLocks noGrp="1"/>
          </p:cNvSpPr>
          <p:nvPr>
            <p:ph type="sldNum" sz="quarter" idx="5"/>
          </p:nvPr>
        </p:nvSpPr>
        <p:spPr/>
        <p:txBody>
          <a:bodyPr/>
          <a:lstStyle/>
          <a:p>
            <a:fld id="{09B073C3-34AA-E540-B78C-5CAF7DE85827}" type="slidenum">
              <a:rPr lang="en-US"/>
              <a:t>21</a:t>
            </a:fld>
            <a:endParaRPr lang="en-US"/>
          </a:p>
        </p:txBody>
      </p:sp>
    </p:spTree>
    <p:extLst>
      <p:ext uri="{BB962C8B-B14F-4D97-AF65-F5344CB8AC3E}">
        <p14:creationId xmlns:p14="http://schemas.microsoft.com/office/powerpoint/2010/main" val="4247075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p:cNvSpPr>
            <a:spLocks noGrp="1"/>
          </p:cNvSpPr>
          <p:nvPr>
            <p:ph type="sldNum" sz="quarter" idx="5"/>
          </p:nvPr>
        </p:nvSpPr>
        <p:spPr/>
        <p:txBody>
          <a:bodyPr/>
          <a:lstStyle/>
          <a:p>
            <a:fld id="{09B073C3-34AA-E540-B78C-5CAF7DE85827}" type="slidenum">
              <a:rPr lang="en-US"/>
              <a:t>22</a:t>
            </a:fld>
            <a:endParaRPr lang="en-US"/>
          </a:p>
        </p:txBody>
      </p:sp>
    </p:spTree>
    <p:extLst>
      <p:ext uri="{BB962C8B-B14F-4D97-AF65-F5344CB8AC3E}">
        <p14:creationId xmlns:p14="http://schemas.microsoft.com/office/powerpoint/2010/main" val="19623216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C2A5C-6115-20D3-7555-9167598EB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D324A-3E71-C0F0-1F6B-BE6FD1425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CB1ECB-33F8-9F32-0EAD-7F1BABDD1370}"/>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167D49D8-DCDA-C6D3-F463-B7364129AE8C}"/>
              </a:ext>
            </a:extLst>
          </p:cNvPr>
          <p:cNvSpPr>
            <a:spLocks noGrp="1"/>
          </p:cNvSpPr>
          <p:nvPr>
            <p:ph type="sldNum" sz="quarter" idx="5"/>
          </p:nvPr>
        </p:nvSpPr>
        <p:spPr/>
        <p:txBody>
          <a:bodyPr/>
          <a:lstStyle/>
          <a:p>
            <a:fld id="{09B073C3-34AA-E540-B78C-5CAF7DE85827}" type="slidenum">
              <a:rPr lang="en-US"/>
              <a:t>23</a:t>
            </a:fld>
            <a:endParaRPr lang="en-US"/>
          </a:p>
        </p:txBody>
      </p:sp>
    </p:spTree>
    <p:extLst>
      <p:ext uri="{BB962C8B-B14F-4D97-AF65-F5344CB8AC3E}">
        <p14:creationId xmlns:p14="http://schemas.microsoft.com/office/powerpoint/2010/main" val="20041978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9E0C7-4FE8-9278-B45E-1BEF8A3FD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79CA0-5EDE-15ED-D802-D72BFBBE9C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E1E9A-9AD1-FC1C-A23D-0150719AF36E}"/>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B226D9E8-FF53-496F-5420-C272F242E976}"/>
              </a:ext>
            </a:extLst>
          </p:cNvPr>
          <p:cNvSpPr>
            <a:spLocks noGrp="1"/>
          </p:cNvSpPr>
          <p:nvPr>
            <p:ph type="sldNum" sz="quarter" idx="5"/>
          </p:nvPr>
        </p:nvSpPr>
        <p:spPr/>
        <p:txBody>
          <a:bodyPr/>
          <a:lstStyle/>
          <a:p>
            <a:fld id="{09B073C3-34AA-E540-B78C-5CAF7DE85827}" type="slidenum">
              <a:rPr lang="en-US"/>
              <a:t>24</a:t>
            </a:fld>
            <a:endParaRPr lang="en-US"/>
          </a:p>
        </p:txBody>
      </p:sp>
    </p:spTree>
    <p:extLst>
      <p:ext uri="{BB962C8B-B14F-4D97-AF65-F5344CB8AC3E}">
        <p14:creationId xmlns:p14="http://schemas.microsoft.com/office/powerpoint/2010/main" val="289451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E63F7-8DD5-2320-992C-A1E076A64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FD8ED-B36D-542E-559E-15FDE8A228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F73A73-41C1-C042-4933-06C001D23579}"/>
              </a:ext>
            </a:extLst>
          </p:cNvPr>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a:extLst>
              <a:ext uri="{FF2B5EF4-FFF2-40B4-BE49-F238E27FC236}">
                <a16:creationId xmlns:a16="http://schemas.microsoft.com/office/drawing/2014/main" id="{362D9C98-19A9-B495-3AB2-F8F12BAA8AAE}"/>
              </a:ext>
            </a:extLst>
          </p:cNvPr>
          <p:cNvSpPr>
            <a:spLocks noGrp="1"/>
          </p:cNvSpPr>
          <p:nvPr>
            <p:ph type="sldNum" sz="quarter" idx="5"/>
          </p:nvPr>
        </p:nvSpPr>
        <p:spPr/>
        <p:txBody>
          <a:bodyPr/>
          <a:lstStyle/>
          <a:p>
            <a:fld id="{09B073C3-34AA-E540-B78C-5CAF7DE85827}" type="slidenum">
              <a:rPr lang="en-US"/>
              <a:t>25</a:t>
            </a:fld>
            <a:endParaRPr lang="en-US"/>
          </a:p>
        </p:txBody>
      </p:sp>
    </p:spTree>
    <p:extLst>
      <p:ext uri="{BB962C8B-B14F-4D97-AF65-F5344CB8AC3E}">
        <p14:creationId xmlns:p14="http://schemas.microsoft.com/office/powerpoint/2010/main" val="13419435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There's one last thing that is good to do after your GitHub repository has been finalized, and that is to archive it and make it citable with a DOI (Digital Object Identifier). One of the ways to do this is to connect your GitHub account to Zenodo, which is a general purpose repository that can be linked to your GitHub account. Once you have created an account with your email or ORCID, click your username in the upper right to pull up a dropdown menu and select "GitHub". Then, follow the steps to link your accounts. Once that's done, you can archive any of your repositories by a click of the button. </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p:txBody>
      </p:sp>
      <p:sp>
        <p:nvSpPr>
          <p:cNvPr id="4" name="Slide Number Placeholder 3"/>
          <p:cNvSpPr>
            <a:spLocks noGrp="1"/>
          </p:cNvSpPr>
          <p:nvPr>
            <p:ph type="sldNum" sz="quarter" idx="5"/>
          </p:nvPr>
        </p:nvSpPr>
        <p:spPr/>
        <p:txBody>
          <a:bodyPr/>
          <a:lstStyle/>
          <a:p>
            <a:fld id="{09B073C3-34AA-E540-B78C-5CAF7DE85827}" type="slidenum">
              <a:rPr lang="en-US"/>
              <a:t>28</a:t>
            </a:fld>
            <a:endParaRPr lang="en-US"/>
          </a:p>
        </p:txBody>
      </p:sp>
    </p:spTree>
    <p:extLst>
      <p:ext uri="{BB962C8B-B14F-4D97-AF65-F5344CB8AC3E}">
        <p14:creationId xmlns:p14="http://schemas.microsoft.com/office/powerpoint/2010/main" val="37374028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So to sum up, here are the big ideas to remember if you want to share your code on GitHub:</a:t>
            </a:r>
          </a:p>
          <a:p>
            <a:pPr>
              <a:lnSpc>
                <a:spcPts val="1350"/>
              </a:lnSpc>
            </a:pPr>
            <a:br>
              <a:rPr lang="en-US" b="0">
                <a:solidFill>
                  <a:srgbClr val="D4D4D4"/>
                </a:solidFill>
                <a:effectLst/>
                <a:latin typeface="Menlo" panose="020B0609030804020204" pitchFamily="49" charset="0"/>
              </a:rPr>
            </a:br>
            <a:r>
              <a:rPr lang="en-US" b="0">
                <a:solidFill>
                  <a:srgbClr val="6796E6"/>
                </a:solidFill>
                <a:effectLst/>
                <a:latin typeface="Menlo" panose="020B0609030804020204" pitchFamily="49" charset="0"/>
              </a:rPr>
              <a:t>1.</a:t>
            </a:r>
            <a:r>
              <a:rPr lang="en-US" b="0">
                <a:solidFill>
                  <a:srgbClr val="D4D4D4"/>
                </a:solidFill>
                <a:effectLst/>
                <a:latin typeface="Menlo" panose="020B0609030804020204" pitchFamily="49" charset="0"/>
              </a:rPr>
              <a:t> Decide if you are sharing for reuse or reproduction</a:t>
            </a:r>
          </a:p>
          <a:p>
            <a:pPr>
              <a:lnSpc>
                <a:spcPts val="1350"/>
              </a:lnSpc>
            </a:pPr>
            <a:r>
              <a:rPr lang="en-US" b="0">
                <a:solidFill>
                  <a:srgbClr val="6796E6"/>
                </a:solidFill>
                <a:effectLst/>
                <a:latin typeface="Menlo" panose="020B0609030804020204" pitchFamily="49" charset="0"/>
              </a:rPr>
              <a:t>2.</a:t>
            </a:r>
            <a:r>
              <a:rPr lang="en-US" b="0">
                <a:solidFill>
                  <a:srgbClr val="D4D4D4"/>
                </a:solidFill>
                <a:effectLst/>
                <a:latin typeface="Menlo" panose="020B0609030804020204" pitchFamily="49" charset="0"/>
              </a:rPr>
              <a:t> Write your READMEs and organize your folders</a:t>
            </a:r>
          </a:p>
          <a:p>
            <a:pPr>
              <a:lnSpc>
                <a:spcPts val="1350"/>
              </a:lnSpc>
            </a:pPr>
            <a:r>
              <a:rPr lang="en-US" b="0">
                <a:solidFill>
                  <a:srgbClr val="6796E6"/>
                </a:solidFill>
                <a:effectLst/>
                <a:latin typeface="Menlo" panose="020B0609030804020204" pitchFamily="49" charset="0"/>
              </a:rPr>
              <a:t>3.</a:t>
            </a:r>
            <a:r>
              <a:rPr lang="en-US" b="0">
                <a:solidFill>
                  <a:srgbClr val="D4D4D4"/>
                </a:solidFill>
                <a:effectLst/>
                <a:latin typeface="Menlo" panose="020B0609030804020204" pitchFamily="49" charset="0"/>
              </a:rPr>
              <a:t> Upload to GitHub</a:t>
            </a:r>
          </a:p>
          <a:p>
            <a:pPr>
              <a:lnSpc>
                <a:spcPts val="1350"/>
              </a:lnSpc>
            </a:pPr>
            <a:r>
              <a:rPr lang="en-US" b="0">
                <a:solidFill>
                  <a:srgbClr val="6796E6"/>
                </a:solidFill>
                <a:effectLst/>
                <a:latin typeface="Menlo" panose="020B0609030804020204" pitchFamily="49" charset="0"/>
              </a:rPr>
              <a:t>4.</a:t>
            </a:r>
            <a:r>
              <a:rPr lang="en-US" b="0">
                <a:solidFill>
                  <a:srgbClr val="D4D4D4"/>
                </a:solidFill>
                <a:effectLst/>
                <a:latin typeface="Menlo" panose="020B0609030804020204" pitchFamily="49" charset="0"/>
              </a:rPr>
              <a:t> Link to Zenodo</a:t>
            </a:r>
          </a:p>
        </p:txBody>
      </p:sp>
      <p:sp>
        <p:nvSpPr>
          <p:cNvPr id="4" name="Slide Number Placeholder 3"/>
          <p:cNvSpPr>
            <a:spLocks noGrp="1"/>
          </p:cNvSpPr>
          <p:nvPr>
            <p:ph type="sldNum" sz="quarter" idx="5"/>
          </p:nvPr>
        </p:nvSpPr>
        <p:spPr/>
        <p:txBody>
          <a:bodyPr/>
          <a:lstStyle/>
          <a:p>
            <a:fld id="{09B073C3-34AA-E540-B78C-5CAF7DE85827}" type="slidenum">
              <a:rPr lang="en-US"/>
              <a:t>29</a:t>
            </a:fld>
            <a:endParaRPr lang="en-US"/>
          </a:p>
        </p:txBody>
      </p:sp>
    </p:spTree>
    <p:extLst>
      <p:ext uri="{BB962C8B-B14F-4D97-AF65-F5344CB8AC3E}">
        <p14:creationId xmlns:p14="http://schemas.microsoft.com/office/powerpoint/2010/main" val="19485932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8E0FE-D954-1420-A05F-96723E226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31394-AF4E-022F-8A57-8F457C072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F0D17-9374-3C8E-7C43-F39E9BE41C62}"/>
              </a:ext>
            </a:extLst>
          </p:cNvPr>
          <p:cNvSpPr>
            <a:spLocks noGrp="1"/>
          </p:cNvSpPr>
          <p:nvPr>
            <p:ph type="body" idx="1"/>
          </p:nvPr>
        </p:nvSpPr>
        <p:spPr/>
        <p:txBody>
          <a:bodyPr/>
          <a:lstStyle/>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So to sum up, here are the big ideas to remember if you want to share your code on GitHub:</a:t>
            </a:r>
          </a:p>
          <a:p>
            <a:pPr>
              <a:lnSpc>
                <a:spcPts val="1350"/>
              </a:lnSpc>
            </a:pPr>
            <a:br>
              <a:rPr lang="en-US" b="0">
                <a:solidFill>
                  <a:srgbClr val="D4D4D4"/>
                </a:solidFill>
                <a:effectLst/>
                <a:latin typeface="Menlo" panose="020B0609030804020204" pitchFamily="49" charset="0"/>
              </a:rPr>
            </a:br>
            <a:r>
              <a:rPr lang="en-US" b="0">
                <a:solidFill>
                  <a:srgbClr val="6796E6"/>
                </a:solidFill>
                <a:effectLst/>
                <a:latin typeface="Menlo" panose="020B0609030804020204" pitchFamily="49" charset="0"/>
              </a:rPr>
              <a:t>1.</a:t>
            </a:r>
            <a:r>
              <a:rPr lang="en-US" b="0">
                <a:solidFill>
                  <a:srgbClr val="D4D4D4"/>
                </a:solidFill>
                <a:effectLst/>
                <a:latin typeface="Menlo" panose="020B0609030804020204" pitchFamily="49" charset="0"/>
              </a:rPr>
              <a:t> Decide if you are sharing for reuse or reproduction</a:t>
            </a:r>
          </a:p>
          <a:p>
            <a:pPr>
              <a:lnSpc>
                <a:spcPts val="1350"/>
              </a:lnSpc>
            </a:pPr>
            <a:r>
              <a:rPr lang="en-US" b="0">
                <a:solidFill>
                  <a:srgbClr val="6796E6"/>
                </a:solidFill>
                <a:effectLst/>
                <a:latin typeface="Menlo" panose="020B0609030804020204" pitchFamily="49" charset="0"/>
              </a:rPr>
              <a:t>2.</a:t>
            </a:r>
            <a:r>
              <a:rPr lang="en-US" b="0">
                <a:solidFill>
                  <a:srgbClr val="D4D4D4"/>
                </a:solidFill>
                <a:effectLst/>
                <a:latin typeface="Menlo" panose="020B0609030804020204" pitchFamily="49" charset="0"/>
              </a:rPr>
              <a:t> Write your READMEs and organize your folders</a:t>
            </a:r>
          </a:p>
          <a:p>
            <a:pPr>
              <a:lnSpc>
                <a:spcPts val="1350"/>
              </a:lnSpc>
            </a:pPr>
            <a:r>
              <a:rPr lang="en-US" b="0">
                <a:solidFill>
                  <a:srgbClr val="6796E6"/>
                </a:solidFill>
                <a:effectLst/>
                <a:latin typeface="Menlo" panose="020B0609030804020204" pitchFamily="49" charset="0"/>
              </a:rPr>
              <a:t>3.</a:t>
            </a:r>
            <a:r>
              <a:rPr lang="en-US" b="0">
                <a:solidFill>
                  <a:srgbClr val="D4D4D4"/>
                </a:solidFill>
                <a:effectLst/>
                <a:latin typeface="Menlo" panose="020B0609030804020204" pitchFamily="49" charset="0"/>
              </a:rPr>
              <a:t> Upload to GitHub</a:t>
            </a:r>
          </a:p>
          <a:p>
            <a:pPr>
              <a:lnSpc>
                <a:spcPts val="1350"/>
              </a:lnSpc>
            </a:pPr>
            <a:r>
              <a:rPr lang="en-US" b="0">
                <a:solidFill>
                  <a:srgbClr val="6796E6"/>
                </a:solidFill>
                <a:effectLst/>
                <a:latin typeface="Menlo" panose="020B0609030804020204" pitchFamily="49" charset="0"/>
              </a:rPr>
              <a:t>4.</a:t>
            </a:r>
            <a:r>
              <a:rPr lang="en-US" b="0">
                <a:solidFill>
                  <a:srgbClr val="D4D4D4"/>
                </a:solidFill>
                <a:effectLst/>
                <a:latin typeface="Menlo" panose="020B0609030804020204" pitchFamily="49" charset="0"/>
              </a:rPr>
              <a:t> Link to Zenodo</a:t>
            </a:r>
          </a:p>
        </p:txBody>
      </p:sp>
      <p:sp>
        <p:nvSpPr>
          <p:cNvPr id="4" name="Slide Number Placeholder 3">
            <a:extLst>
              <a:ext uri="{FF2B5EF4-FFF2-40B4-BE49-F238E27FC236}">
                <a16:creationId xmlns:a16="http://schemas.microsoft.com/office/drawing/2014/main" id="{D00208C1-7658-63C1-29F2-B8596E49B9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555258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864585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rgbClr val="D4D4D4"/>
                </a:solidFill>
                <a:effectLst/>
                <a:latin typeface="Menlo" panose="020B0609030804020204" pitchFamily="49" charset="0"/>
              </a:rPr>
              <a:t>Git history can be viewed as a "gitflow" diagram (image above), with commits as nodes and branches as lines. You can see the history of your project with using command line options such as: </a:t>
            </a:r>
            <a:r>
              <a:rPr lang="en-US" b="0">
                <a:solidFill>
                  <a:srgbClr val="CE9178"/>
                </a:solidFill>
                <a:effectLst/>
                <a:latin typeface="Menlo" panose="020B0609030804020204" pitchFamily="49" charset="0"/>
              </a:rPr>
              <a:t>`git log`</a:t>
            </a:r>
            <a:r>
              <a:rPr lang="en-US" b="0">
                <a:solidFill>
                  <a:srgbClr val="D4D4D4"/>
                </a:solidFill>
                <a:effectLst/>
                <a:latin typeface="Menlo" panose="020B0609030804020204" pitchFamily="49" charset="0"/>
              </a:rPr>
              <a:t>, </a:t>
            </a:r>
            <a:r>
              <a:rPr lang="en-US" b="0">
                <a:solidFill>
                  <a:srgbClr val="CE9178"/>
                </a:solidFill>
                <a:effectLst/>
                <a:latin typeface="Menlo" panose="020B0609030804020204" pitchFamily="49" charset="0"/>
              </a:rPr>
              <a:t>`git log --graph --oneline --all`</a:t>
            </a:r>
            <a:r>
              <a:rPr lang="en-US" b="0">
                <a:solidFill>
                  <a:srgbClr val="D4D4D4"/>
                </a:solidFill>
                <a:effectLst/>
                <a:latin typeface="Menlo" panose="020B0609030804020204" pitchFamily="49" charset="0"/>
              </a:rPr>
              <a:t>, or by clicking on the "commits" link on GitHub. In VSCode, you can use the extension "Git Graph" to visualize your git history. Commits are identified by a unique </a:t>
            </a:r>
            <a:r>
              <a:rPr lang="en-US" b="1">
                <a:solidFill>
                  <a:srgbClr val="569CD6"/>
                </a:solidFill>
                <a:effectLst/>
                <a:latin typeface="Menlo" panose="020B0609030804020204" pitchFamily="49" charset="0"/>
              </a:rPr>
              <a:t>**hash**</a:t>
            </a:r>
            <a:r>
              <a:rPr lang="en-US" b="0">
                <a:solidFill>
                  <a:srgbClr val="D4D4D4"/>
                </a:solidFill>
                <a:effectLst/>
                <a:latin typeface="Menlo" panose="020B0609030804020204" pitchFamily="49" charset="0"/>
              </a:rPr>
              <a:t>, which is a long string of letters and numbers. Commits also always have a message, which the user writes at the moment they commit. There is a pointer called "HEAD" which points to the current commit you're one. Usually, this is the most recent commit, but HEAD can change if you switch to a different branch or checkout a different commit.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68581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rgbClr val="D4D4D4"/>
                </a:solidFill>
                <a:effectLst/>
                <a:latin typeface="Menlo" panose="020B0609030804020204" pitchFamily="49" charset="0"/>
              </a:rPr>
              <a:t>Git history can be viewed as a "gitflow" diagram (image above), with commits as nodes and branches as lines. You can see the history of your project with using command line options such as: </a:t>
            </a:r>
            <a:r>
              <a:rPr lang="en-US" b="0">
                <a:solidFill>
                  <a:srgbClr val="CE9178"/>
                </a:solidFill>
                <a:effectLst/>
                <a:latin typeface="Menlo" panose="020B0609030804020204" pitchFamily="49" charset="0"/>
              </a:rPr>
              <a:t>`git log`</a:t>
            </a:r>
            <a:r>
              <a:rPr lang="en-US" b="0">
                <a:solidFill>
                  <a:srgbClr val="D4D4D4"/>
                </a:solidFill>
                <a:effectLst/>
                <a:latin typeface="Menlo" panose="020B0609030804020204" pitchFamily="49" charset="0"/>
              </a:rPr>
              <a:t>, </a:t>
            </a:r>
            <a:r>
              <a:rPr lang="en-US" b="0">
                <a:solidFill>
                  <a:srgbClr val="CE9178"/>
                </a:solidFill>
                <a:effectLst/>
                <a:latin typeface="Menlo" panose="020B0609030804020204" pitchFamily="49" charset="0"/>
              </a:rPr>
              <a:t>`git log --graph --oneline --all`</a:t>
            </a:r>
            <a:r>
              <a:rPr lang="en-US" b="0">
                <a:solidFill>
                  <a:srgbClr val="D4D4D4"/>
                </a:solidFill>
                <a:effectLst/>
                <a:latin typeface="Menlo" panose="020B0609030804020204" pitchFamily="49" charset="0"/>
              </a:rPr>
              <a:t>, or by clicking on the "commits" link on GitHub. In VSCode, you can use the extension "Git Graph" to visualize your git history. Commits are identified by a unique </a:t>
            </a:r>
            <a:r>
              <a:rPr lang="en-US" b="1">
                <a:solidFill>
                  <a:srgbClr val="569CD6"/>
                </a:solidFill>
                <a:effectLst/>
                <a:latin typeface="Menlo" panose="020B0609030804020204" pitchFamily="49" charset="0"/>
              </a:rPr>
              <a:t>**hash**</a:t>
            </a:r>
            <a:r>
              <a:rPr lang="en-US" b="0">
                <a:solidFill>
                  <a:srgbClr val="D4D4D4"/>
                </a:solidFill>
                <a:effectLst/>
                <a:latin typeface="Menlo" panose="020B0609030804020204" pitchFamily="49" charset="0"/>
              </a:rPr>
              <a:t>, which is a long string of letters and numbers. Commits also always have a message, which the user writes at the moment they commit. There is a pointer called "HEAD" which points to the current commit you're one. Usually, this is the most recent commit, but HEAD can change if you switch to a different branch or checkout a different commit.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558587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rgbClr val="D4D4D4"/>
                </a:solidFill>
                <a:effectLst/>
                <a:latin typeface="Menlo" panose="020B0609030804020204" pitchFamily="49" charset="0"/>
              </a:rPr>
              <a:t>Git history can be viewed as a "gitflow" diagram (image above), with commits as nodes and branches as lines. You can see the history of your project with using command line options such as: </a:t>
            </a:r>
            <a:r>
              <a:rPr lang="en-US" b="0">
                <a:solidFill>
                  <a:srgbClr val="CE9178"/>
                </a:solidFill>
                <a:effectLst/>
                <a:latin typeface="Menlo" panose="020B0609030804020204" pitchFamily="49" charset="0"/>
              </a:rPr>
              <a:t>`git log`</a:t>
            </a:r>
            <a:r>
              <a:rPr lang="en-US" b="0">
                <a:solidFill>
                  <a:srgbClr val="D4D4D4"/>
                </a:solidFill>
                <a:effectLst/>
                <a:latin typeface="Menlo" panose="020B0609030804020204" pitchFamily="49" charset="0"/>
              </a:rPr>
              <a:t>, </a:t>
            </a:r>
            <a:r>
              <a:rPr lang="en-US" b="0">
                <a:solidFill>
                  <a:srgbClr val="CE9178"/>
                </a:solidFill>
                <a:effectLst/>
                <a:latin typeface="Menlo" panose="020B0609030804020204" pitchFamily="49" charset="0"/>
              </a:rPr>
              <a:t>`git log --graph --oneline --all`</a:t>
            </a:r>
            <a:r>
              <a:rPr lang="en-US" b="0">
                <a:solidFill>
                  <a:srgbClr val="D4D4D4"/>
                </a:solidFill>
                <a:effectLst/>
                <a:latin typeface="Menlo" panose="020B0609030804020204" pitchFamily="49" charset="0"/>
              </a:rPr>
              <a:t>, or by clicking on the "commits" link on GitHub. In VSCode, you can use the extension "Git Graph" to visualize your git history. Commits are identified by a unique </a:t>
            </a:r>
            <a:r>
              <a:rPr lang="en-US" b="1">
                <a:solidFill>
                  <a:srgbClr val="569CD6"/>
                </a:solidFill>
                <a:effectLst/>
                <a:latin typeface="Menlo" panose="020B0609030804020204" pitchFamily="49" charset="0"/>
              </a:rPr>
              <a:t>**hash**</a:t>
            </a:r>
            <a:r>
              <a:rPr lang="en-US" b="0">
                <a:solidFill>
                  <a:srgbClr val="D4D4D4"/>
                </a:solidFill>
                <a:effectLst/>
                <a:latin typeface="Menlo" panose="020B0609030804020204" pitchFamily="49" charset="0"/>
              </a:rPr>
              <a:t>, which is a long string of letters and numbers. Commits also always have a message, which the user writes at the moment they commit. There is a pointer called "HEAD" which points to the current commit you're one. Usually, this is the most recent commit, but HEAD can change if you switch to a different branch or checkout a different commit.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881184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rgbClr val="D4D4D4"/>
                </a:solidFill>
                <a:effectLst/>
                <a:latin typeface="Menlo" panose="020B0609030804020204" pitchFamily="49" charset="0"/>
              </a:rPr>
              <a:t>Git history can be viewed as a "gitflow" diagram (image above), with commits as nodes and branches as lines. You can see the history of your project with using command line options such as: </a:t>
            </a:r>
            <a:r>
              <a:rPr lang="en-US" b="0">
                <a:solidFill>
                  <a:srgbClr val="CE9178"/>
                </a:solidFill>
                <a:effectLst/>
                <a:latin typeface="Menlo" panose="020B0609030804020204" pitchFamily="49" charset="0"/>
              </a:rPr>
              <a:t>`git log`</a:t>
            </a:r>
            <a:r>
              <a:rPr lang="en-US" b="0">
                <a:solidFill>
                  <a:srgbClr val="D4D4D4"/>
                </a:solidFill>
                <a:effectLst/>
                <a:latin typeface="Menlo" panose="020B0609030804020204" pitchFamily="49" charset="0"/>
              </a:rPr>
              <a:t>, </a:t>
            </a:r>
            <a:r>
              <a:rPr lang="en-US" b="0">
                <a:solidFill>
                  <a:srgbClr val="CE9178"/>
                </a:solidFill>
                <a:effectLst/>
                <a:latin typeface="Menlo" panose="020B0609030804020204" pitchFamily="49" charset="0"/>
              </a:rPr>
              <a:t>`git log --graph --oneline --all`</a:t>
            </a:r>
            <a:r>
              <a:rPr lang="en-US" b="0">
                <a:solidFill>
                  <a:srgbClr val="D4D4D4"/>
                </a:solidFill>
                <a:effectLst/>
                <a:latin typeface="Menlo" panose="020B0609030804020204" pitchFamily="49" charset="0"/>
              </a:rPr>
              <a:t>, or by clicking on the "commits" link on GitHub. In VSCode, you can use the extension "Git Graph" to visualize your git history. Commits are identified by a unique </a:t>
            </a:r>
            <a:r>
              <a:rPr lang="en-US" b="1">
                <a:solidFill>
                  <a:srgbClr val="569CD6"/>
                </a:solidFill>
                <a:effectLst/>
                <a:latin typeface="Menlo" panose="020B0609030804020204" pitchFamily="49" charset="0"/>
              </a:rPr>
              <a:t>**hash**</a:t>
            </a:r>
            <a:r>
              <a:rPr lang="en-US" b="0">
                <a:solidFill>
                  <a:srgbClr val="D4D4D4"/>
                </a:solidFill>
                <a:effectLst/>
                <a:latin typeface="Menlo" panose="020B0609030804020204" pitchFamily="49" charset="0"/>
              </a:rPr>
              <a:t>, which is a long string of letters and numbers. Commits also always have a message, which the user writes at the moment they commit. There is a pointer called "HEAD" which points to the current commit you're one. Usually, this is the most recent commit, but HEAD can change if you switch to a different branch or checkout a different commit.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47390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FAD6E-A452-DCA0-1FAA-7DFFCEDEA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E1564-1CFD-410D-4DC0-A5D17B22B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D98DAC-5B23-21F3-8ADF-2213F4D19C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DEB0A5-B9F8-0CCC-CBEA-4B8A9056B2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546320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When you want to collaborate with others, you can "fork" their repository, which makes a copy of their repo on your own GitHub account. You can then "clone" this repo to your local machine, make changes, push those changes to the remote, and then make a "pull request" to merge your changes to the original repository. </a:t>
            </a:r>
          </a:p>
          <a:p>
            <a:pPr>
              <a:lnSpc>
                <a:spcPts val="1350"/>
              </a:lnSpc>
            </a:pP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49118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Use case for forks: One of the best things about GitHub is that it allows you to share code with others. Raise your hand if you've ever been handed code from a previous student or lab member, but it didn't work for whatever reason. Or perhaps there are just loose scripts floating around, each version slightly different from the last but nobody knows which one is current or which one is the best. One way to avoid this is to have a lab GitHub account where known working versions of scripts are posted and users can fork the repo of helpful scripts to adjust to their own needs. Then, if a user fixes a bug or adds a feature, they can make a pull request and update the lab's version. This way, everyone in the lab can benefit from the work of others and the lab's scripts are always up to date.</a:t>
            </a:r>
          </a:p>
          <a:p>
            <a:pPr>
              <a:lnSpc>
                <a:spcPts val="1350"/>
              </a:lnSpc>
            </a:pPr>
            <a:endParaRPr lang="en-US" b="0">
              <a:solidFill>
                <a:srgbClr val="D4D4D4"/>
              </a:solidFill>
              <a:effectLst/>
              <a:latin typeface="Menlo" panose="020B0609030804020204" pitchFamily="49" charset="0"/>
            </a:endParaRPr>
          </a:p>
          <a:p>
            <a:pPr>
              <a:lnSpc>
                <a:spcPts val="1350"/>
              </a:lnSpc>
            </a:pPr>
            <a:r>
              <a:rPr lang="en-US" b="0">
                <a:solidFill>
                  <a:srgbClr val="D4D4D4"/>
                </a:solidFill>
                <a:effectLst/>
                <a:latin typeface="Menlo" panose="020B0609030804020204" pitchFamily="49" charset="0"/>
              </a:rPr>
              <a:t>The above image illustrates the relationship between a forked repo, the original repo, and local clones of the forked repo. If the repo you forked gets updated, you can sync your fork with the original repo but changes you make on your fork does not affect the original repo. Then, when you're working on a local clone of your repo (on the computer and on the cluster), the way to get them to sync is to push and pull between the two. When you have multiple local clones like this, do not work on the same file in two different places before syncing them by pushing and pulling.</a:t>
            </a:r>
            <a:br>
              <a:rPr lang="en-US" b="0">
                <a:solidFill>
                  <a:srgbClr val="D4D4D4"/>
                </a:solidFill>
                <a:effectLst/>
                <a:latin typeface="Menlo" panose="020B0609030804020204" pitchFamily="49" charset="0"/>
              </a:rPr>
            </a:br>
            <a:endParaRPr lang="en-US" b="0">
              <a:solidFill>
                <a:srgbClr val="D4D4D4"/>
              </a:solidFill>
              <a:effectLst/>
              <a:latin typeface="Menlo" panose="020B0609030804020204" pitchFamily="49" charset="0"/>
            </a:endParaRPr>
          </a:p>
          <a:p>
            <a:pPr>
              <a:lnSpc>
                <a:spcPts val="1350"/>
              </a:lnSpc>
            </a:pPr>
            <a:endParaRPr lang="en-US" b="0">
              <a:solidFill>
                <a:srgbClr val="D4D4D4"/>
              </a:solidFill>
              <a:effectLst/>
              <a:latin typeface="Menlo" panose="020B060903080402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23216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We’re going to do part 1 of the github intro on link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B073C3-34AA-E540-B78C-5CAF7DE85827}"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15336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A bonus perk of using GitHub is that you can easily turn your analysis notebook into a website to share. Rather than write a long README markdown explaining everything, or expecting readers to dig through your folders of analysis code, you can present your paper using a jupyter or RMarkdown generated html file. In our example repository I have created a </a:t>
            </a:r>
            <a:r>
              <a:rPr lang="en-US" b="0">
                <a:solidFill>
                  <a:srgbClr val="CE9178"/>
                </a:solidFill>
                <a:effectLst/>
                <a:latin typeface="Menlo" panose="020B0609030804020204" pitchFamily="49" charset="0"/>
              </a:rPr>
              <a:t>`public_notebook.Rmd`</a:t>
            </a:r>
            <a:r>
              <a:rPr lang="en-US" b="0">
                <a:solidFill>
                  <a:srgbClr val="D4D4D4"/>
                </a:solidFill>
                <a:effectLst/>
                <a:latin typeface="Menlo" panose="020B0609030804020204" pitchFamily="49" charset="0"/>
              </a:rPr>
              <a:t> file and "knitted" it into an html file with the same name. I can then go to "Setting" -&gt; "Pages" on the left navbar and enable this repository to be built into a webpage. It'll take a couple of minutes to build, but it'll be ready once you see a round green checkmark. The URL for your site will be by default https://\</a:t>
            </a:r>
            <a:r>
              <a:rPr lang="en-US" b="0">
                <a:solidFill>
                  <a:srgbClr val="808080"/>
                </a:solidFill>
                <a:effectLst/>
                <a:latin typeface="Menlo" panose="020B0609030804020204" pitchFamily="49" charset="0"/>
              </a:rPr>
              <a:t>&lt;</a:t>
            </a:r>
            <a:r>
              <a:rPr lang="en-US" b="0">
                <a:solidFill>
                  <a:srgbClr val="569CD6"/>
                </a:solidFill>
                <a:effectLst/>
                <a:latin typeface="Menlo" panose="020B0609030804020204" pitchFamily="49" charset="0"/>
              </a:rPr>
              <a:t>your-username\</a:t>
            </a:r>
            <a:r>
              <a:rPr lang="en-US" b="0">
                <a:solidFill>
                  <a:srgbClr val="808080"/>
                </a:solidFill>
                <a:effectLst/>
                <a:latin typeface="Menlo" panose="020B0609030804020204" pitchFamily="49" charset="0"/>
              </a:rPr>
              <a:t>&gt;</a:t>
            </a:r>
            <a:r>
              <a:rPr lang="en-US" b="0">
                <a:solidFill>
                  <a:srgbClr val="D4D4D4"/>
                </a:solidFill>
                <a:effectLst/>
                <a:latin typeface="Menlo" panose="020B0609030804020204" pitchFamily="49" charset="0"/>
              </a:rPr>
              <a:t>.github.io/\</a:t>
            </a:r>
            <a:r>
              <a:rPr lang="en-US" b="0">
                <a:solidFill>
                  <a:srgbClr val="808080"/>
                </a:solidFill>
                <a:effectLst/>
                <a:latin typeface="Menlo" panose="020B0609030804020204" pitchFamily="49" charset="0"/>
              </a:rPr>
              <a:t>&lt;</a:t>
            </a:r>
            <a:r>
              <a:rPr lang="en-US" b="0">
                <a:solidFill>
                  <a:srgbClr val="569CD6"/>
                </a:solidFill>
                <a:effectLst/>
                <a:latin typeface="Menlo" panose="020B0609030804020204" pitchFamily="49" charset="0"/>
              </a:rPr>
              <a:t>repo-name</a:t>
            </a:r>
            <a:r>
              <a:rPr lang="en-US" b="0">
                <a:solidFill>
                  <a:srgbClr val="808080"/>
                </a:solidFill>
                <a:effectLst/>
                <a:latin typeface="Menlo" panose="020B0609030804020204" pitchFamily="49" charset="0"/>
              </a:rPr>
              <a:t>&gt;</a:t>
            </a:r>
            <a:r>
              <a:rPr lang="en-US" b="0">
                <a:solidFill>
                  <a:srgbClr val="D4D4D4"/>
                </a:solidFill>
                <a:effectLst/>
                <a:latin typeface="Menlo" panose="020B0609030804020204" pitchFamily="49" charset="0"/>
              </a:rPr>
              <a:t>/. Add your html file to the end of that and you now have a nice explainer to accompany your paper. You can add this URL to the description of your repo by clicking the gear icon next to the "About" on the right side of you repo page.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While the specifics of how to generate a notebook using RMarkdown or Jupyter is out of the scope of this workshop, I hope this can get you started.</a:t>
            </a: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41</a:t>
            </a:fld>
            <a:endParaRPr lang="en-US"/>
          </a:p>
        </p:txBody>
      </p:sp>
    </p:spTree>
    <p:extLst>
      <p:ext uri="{BB962C8B-B14F-4D97-AF65-F5344CB8AC3E}">
        <p14:creationId xmlns:p14="http://schemas.microsoft.com/office/powerpoint/2010/main" val="16917487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You can navigate to your repository by searching for it on the left hand side. Or you can click your profile button on the right which opens a dropdown menu from which you can select "Your repositories". There's a lot of information and buttons on your repository, the vast majority of which are not relevant for our purpose of simply sharing completed code. You will see that whatever you put in the </a:t>
            </a:r>
            <a:r>
              <a:rPr lang="en-US" b="0">
                <a:solidFill>
                  <a:srgbClr val="CE9178"/>
                </a:solidFill>
                <a:effectLst/>
                <a:latin typeface="Menlo" panose="020B0609030804020204" pitchFamily="49" charset="0"/>
              </a:rPr>
              <a:t>`README.md`</a:t>
            </a:r>
            <a:r>
              <a:rPr lang="en-US" b="0">
                <a:solidFill>
                  <a:srgbClr val="D4D4D4"/>
                </a:solidFill>
                <a:effectLst/>
                <a:latin typeface="Menlo" panose="020B0609030804020204" pitchFamily="49" charset="0"/>
              </a:rPr>
              <a:t> file will be displayed on the front page of your repository. This is a good place to put information that will help readers understand what your code does, how to install any required software, and connect your code to your paper.</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You can use the search bar to search within a repository. Handy if you're exploring someone else's work. You can also create a new repository on the website first rather than locally. Of the various tabs that are on the second level, "&lt;&gt; Code", which gets you to your files, and "Settings" are the most important.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Once you are comfortable with how your repository looks, you can make it public by going to the "Settings" tab and scrolling down to the "Danger Zone" section. Here you can change the visibility of your repository. </a:t>
            </a: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42</a:t>
            </a:fld>
            <a:endParaRPr lang="en-US"/>
          </a:p>
        </p:txBody>
      </p:sp>
    </p:spTree>
    <p:extLst>
      <p:ext uri="{BB962C8B-B14F-4D97-AF65-F5344CB8AC3E}">
        <p14:creationId xmlns:p14="http://schemas.microsoft.com/office/powerpoint/2010/main" val="3663247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350"/>
              </a:lnSpc>
            </a:pPr>
            <a:r>
              <a:rPr lang="en-US" b="0">
                <a:solidFill>
                  <a:srgbClr val="D4D4D4"/>
                </a:solidFill>
                <a:effectLst/>
                <a:latin typeface="Menlo" panose="020B0609030804020204" pitchFamily="49" charset="0"/>
              </a:rPr>
              <a:t>If you are a student or postdoc at Harvard, the research records you create while at Harvard are property of Harvard and need to be archived for 7 years following the researcher's departure. This may include code or software that you create. Alternatively, you may have a project that is not yet published by the time you leave that you plan to hand it over to someone else in the lab. In both these cases, it is helpful for the owner of the repository to be the lab and not your personal github account. Why is this helpful? In our demo git workshop right now, only the owner, that is myself, can change any settings related to the repository and only I can make edits to it. I could add collaborators, but I need to do that on a per repo basis. If I leave the lab and others want to manage this repository, then they will first have to contact me to make these changes. </a:t>
            </a:r>
          </a:p>
          <a:p>
            <a:pPr>
              <a:lnSpc>
                <a:spcPts val="1350"/>
              </a:lnSpc>
            </a:pPr>
            <a:br>
              <a:rPr lang="en-US" b="0">
                <a:solidFill>
                  <a:srgbClr val="D4D4D4"/>
                </a:solidFill>
                <a:effectLst/>
                <a:latin typeface="Menlo" panose="020B0609030804020204" pitchFamily="49" charset="0"/>
              </a:rPr>
            </a:br>
            <a:r>
              <a:rPr lang="en-US" b="0">
                <a:solidFill>
                  <a:srgbClr val="D4D4D4"/>
                </a:solidFill>
                <a:effectLst/>
                <a:latin typeface="Menlo" panose="020B0609030804020204" pitchFamily="49" charset="0"/>
              </a:rPr>
              <a:t>GitHub has a feature called "Organizations" where you can create an organization that associates a bunch of GitHub accounts together. The organization is the owner of all the repositories. So instead of seeing "my_username/repo-name" it's "PI_lab/repo-name". Everybody in the organization will have access to public and private repositories owned by the organization, so onboarding somebody can be as simple as adding their name to the organization. If you already have a repo under your personal GitHub account, you can go to "Settings" for that repo and </a:t>
            </a:r>
            <a:r>
              <a:rPr lang="en-US" b="1">
                <a:solidFill>
                  <a:srgbClr val="569CD6"/>
                </a:solidFill>
                <a:effectLst/>
                <a:latin typeface="Menlo" panose="020B0609030804020204" pitchFamily="49" charset="0"/>
              </a:rPr>
              <a:t>**Transfer Owneership**</a:t>
            </a:r>
            <a:r>
              <a:rPr lang="en-US" b="0">
                <a:solidFill>
                  <a:srgbClr val="D4D4D4"/>
                </a:solidFill>
                <a:effectLst/>
                <a:latin typeface="Menlo" panose="020B0609030804020204" pitchFamily="49" charset="0"/>
              </a:rPr>
              <a:t> to an organization. </a:t>
            </a:r>
          </a:p>
          <a:p>
            <a:endParaRPr lang="en-US"/>
          </a:p>
        </p:txBody>
      </p:sp>
      <p:sp>
        <p:nvSpPr>
          <p:cNvPr id="4" name="Slide Number Placeholder 3"/>
          <p:cNvSpPr>
            <a:spLocks noGrp="1"/>
          </p:cNvSpPr>
          <p:nvPr>
            <p:ph type="sldNum" sz="quarter" idx="5"/>
          </p:nvPr>
        </p:nvSpPr>
        <p:spPr/>
        <p:txBody>
          <a:bodyPr/>
          <a:lstStyle/>
          <a:p>
            <a:fld id="{09B073C3-34AA-E540-B78C-5CAF7DE85827}" type="slidenum">
              <a:rPr lang="en-US"/>
              <a:t>43</a:t>
            </a:fld>
            <a:endParaRPr lang="en-US"/>
          </a:p>
        </p:txBody>
      </p:sp>
    </p:spTree>
    <p:extLst>
      <p:ext uri="{BB962C8B-B14F-4D97-AF65-F5344CB8AC3E}">
        <p14:creationId xmlns:p14="http://schemas.microsoft.com/office/powerpoint/2010/main" val="2423451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E2C7-73DB-C3A8-AF6B-93BE05D3CF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14C17C-5B00-2521-39AB-9DE4016D25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D4095B-F834-2308-6A55-55354079BBB2}"/>
              </a:ext>
            </a:extLst>
          </p:cNvPr>
          <p:cNvSpPr>
            <a:spLocks noGrp="1"/>
          </p:cNvSpPr>
          <p:nvPr>
            <p:ph type="dt" sz="half" idx="10"/>
          </p:nvPr>
        </p:nvSpPr>
        <p:spPr/>
        <p:txBody>
          <a:bodyPr/>
          <a:lstStyle/>
          <a:p>
            <a:fld id="{76A84026-166A-B54F-BCA3-33826D623C7A}" type="datetimeFigureOut">
              <a:t>9/17/25</a:t>
            </a:fld>
            <a:endParaRPr lang="en-US"/>
          </a:p>
        </p:txBody>
      </p:sp>
      <p:sp>
        <p:nvSpPr>
          <p:cNvPr id="5" name="Footer Placeholder 4">
            <a:extLst>
              <a:ext uri="{FF2B5EF4-FFF2-40B4-BE49-F238E27FC236}">
                <a16:creationId xmlns:a16="http://schemas.microsoft.com/office/drawing/2014/main" id="{ED64F238-1EBD-4D75-85ED-F31A3F161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03BC72-B4A5-E4D7-AFB6-559FF04549BB}"/>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4167523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CF9B6-E285-8119-4F0A-FCA26D6721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E3F06F-D187-2754-3090-CBEDA40C80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BC1773-E2B5-7363-6AB7-ACF322B9428C}"/>
              </a:ext>
            </a:extLst>
          </p:cNvPr>
          <p:cNvSpPr>
            <a:spLocks noGrp="1"/>
          </p:cNvSpPr>
          <p:nvPr>
            <p:ph type="dt" sz="half" idx="10"/>
          </p:nvPr>
        </p:nvSpPr>
        <p:spPr/>
        <p:txBody>
          <a:bodyPr/>
          <a:lstStyle/>
          <a:p>
            <a:fld id="{76A84026-166A-B54F-BCA3-33826D623C7A}" type="datetimeFigureOut">
              <a:t>9/17/25</a:t>
            </a:fld>
            <a:endParaRPr lang="en-US"/>
          </a:p>
        </p:txBody>
      </p:sp>
      <p:sp>
        <p:nvSpPr>
          <p:cNvPr id="5" name="Footer Placeholder 4">
            <a:extLst>
              <a:ext uri="{FF2B5EF4-FFF2-40B4-BE49-F238E27FC236}">
                <a16:creationId xmlns:a16="http://schemas.microsoft.com/office/drawing/2014/main" id="{9C62E9C6-D47D-BDFE-5B50-6CF875F726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169755-2998-339A-DA08-D3ED706FD745}"/>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4149951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BAA2F-4CCE-08B1-FDC0-CD9BECC00F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163295-32DC-871D-C295-EA23F05178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ED0BC1-349D-3D0D-FEC6-25CF0B2B5C4C}"/>
              </a:ext>
            </a:extLst>
          </p:cNvPr>
          <p:cNvSpPr>
            <a:spLocks noGrp="1"/>
          </p:cNvSpPr>
          <p:nvPr>
            <p:ph type="dt" sz="half" idx="10"/>
          </p:nvPr>
        </p:nvSpPr>
        <p:spPr/>
        <p:txBody>
          <a:bodyPr/>
          <a:lstStyle/>
          <a:p>
            <a:fld id="{76A84026-166A-B54F-BCA3-33826D623C7A}" type="datetimeFigureOut">
              <a:t>9/17/25</a:t>
            </a:fld>
            <a:endParaRPr lang="en-US"/>
          </a:p>
        </p:txBody>
      </p:sp>
      <p:sp>
        <p:nvSpPr>
          <p:cNvPr id="5" name="Footer Placeholder 4">
            <a:extLst>
              <a:ext uri="{FF2B5EF4-FFF2-40B4-BE49-F238E27FC236}">
                <a16:creationId xmlns:a16="http://schemas.microsoft.com/office/drawing/2014/main" id="{7E5F6F09-CAC0-5227-81B1-1D80F5B56A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EDE91-35D5-FDD4-C181-9810AEF30A31}"/>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4222939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CBFFE-A23F-9C6D-3D13-8723B7E640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0B3AF3-F43C-B802-6A25-A4A64B8BE0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CCADC7-48AB-24E0-8A16-E180960E15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3CDDF9-0938-5103-6EB3-053B680C267D}"/>
              </a:ext>
            </a:extLst>
          </p:cNvPr>
          <p:cNvSpPr>
            <a:spLocks noGrp="1"/>
          </p:cNvSpPr>
          <p:nvPr>
            <p:ph type="dt" sz="half" idx="10"/>
          </p:nvPr>
        </p:nvSpPr>
        <p:spPr/>
        <p:txBody>
          <a:bodyPr/>
          <a:lstStyle/>
          <a:p>
            <a:fld id="{76A84026-166A-B54F-BCA3-33826D623C7A}" type="datetimeFigureOut">
              <a:t>9/17/25</a:t>
            </a:fld>
            <a:endParaRPr lang="en-US"/>
          </a:p>
        </p:txBody>
      </p:sp>
      <p:sp>
        <p:nvSpPr>
          <p:cNvPr id="6" name="Footer Placeholder 5">
            <a:extLst>
              <a:ext uri="{FF2B5EF4-FFF2-40B4-BE49-F238E27FC236}">
                <a16:creationId xmlns:a16="http://schemas.microsoft.com/office/drawing/2014/main" id="{EBED6D9C-2D2F-40F9-060F-6B14E22017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712391-AD9E-8BB2-2D52-60EDDF38D75C}"/>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4131342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6B40-A653-0B7A-6A67-6A625B2498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198924-E757-E95F-67BC-FC8B93B7A0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D805AD-B81C-1956-311E-08B4F1EDF7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BE0E39-74FB-85BC-DA20-8B6A3E6C9A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FE1737-45A3-67B5-1246-647B8EA701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2C2685-B725-07A9-7395-390B79D6E94D}"/>
              </a:ext>
            </a:extLst>
          </p:cNvPr>
          <p:cNvSpPr>
            <a:spLocks noGrp="1"/>
          </p:cNvSpPr>
          <p:nvPr>
            <p:ph type="dt" sz="half" idx="10"/>
          </p:nvPr>
        </p:nvSpPr>
        <p:spPr/>
        <p:txBody>
          <a:bodyPr/>
          <a:lstStyle/>
          <a:p>
            <a:fld id="{76A84026-166A-B54F-BCA3-33826D623C7A}" type="datetimeFigureOut">
              <a:t>9/17/25</a:t>
            </a:fld>
            <a:endParaRPr lang="en-US"/>
          </a:p>
        </p:txBody>
      </p:sp>
      <p:sp>
        <p:nvSpPr>
          <p:cNvPr id="8" name="Footer Placeholder 7">
            <a:extLst>
              <a:ext uri="{FF2B5EF4-FFF2-40B4-BE49-F238E27FC236}">
                <a16:creationId xmlns:a16="http://schemas.microsoft.com/office/drawing/2014/main" id="{B368EC8C-01E5-0883-527D-5AA4315205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B63931-0887-79AD-A826-14788070C4EF}"/>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3340617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172E8-C0F0-404D-0A26-A0B04A4637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5999B4-9E61-BF84-9076-1C5A81DD4F68}"/>
              </a:ext>
            </a:extLst>
          </p:cNvPr>
          <p:cNvSpPr>
            <a:spLocks noGrp="1"/>
          </p:cNvSpPr>
          <p:nvPr>
            <p:ph type="dt" sz="half" idx="10"/>
          </p:nvPr>
        </p:nvSpPr>
        <p:spPr/>
        <p:txBody>
          <a:bodyPr/>
          <a:lstStyle/>
          <a:p>
            <a:fld id="{76A84026-166A-B54F-BCA3-33826D623C7A}" type="datetimeFigureOut">
              <a:t>9/17/25</a:t>
            </a:fld>
            <a:endParaRPr lang="en-US"/>
          </a:p>
        </p:txBody>
      </p:sp>
      <p:sp>
        <p:nvSpPr>
          <p:cNvPr id="4" name="Footer Placeholder 3">
            <a:extLst>
              <a:ext uri="{FF2B5EF4-FFF2-40B4-BE49-F238E27FC236}">
                <a16:creationId xmlns:a16="http://schemas.microsoft.com/office/drawing/2014/main" id="{22C67388-877D-F74F-EC83-74654B5872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5CF380-2ACD-27A1-CB9B-7696B853C2E0}"/>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3425908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5A3A3-152E-7664-869B-D617C2E2EC3D}"/>
              </a:ext>
            </a:extLst>
          </p:cNvPr>
          <p:cNvSpPr>
            <a:spLocks noGrp="1"/>
          </p:cNvSpPr>
          <p:nvPr>
            <p:ph type="dt" sz="half" idx="10"/>
          </p:nvPr>
        </p:nvSpPr>
        <p:spPr/>
        <p:txBody>
          <a:bodyPr/>
          <a:lstStyle/>
          <a:p>
            <a:fld id="{76A84026-166A-B54F-BCA3-33826D623C7A}" type="datetimeFigureOut">
              <a:t>9/17/25</a:t>
            </a:fld>
            <a:endParaRPr lang="en-US"/>
          </a:p>
        </p:txBody>
      </p:sp>
      <p:sp>
        <p:nvSpPr>
          <p:cNvPr id="3" name="Footer Placeholder 2">
            <a:extLst>
              <a:ext uri="{FF2B5EF4-FFF2-40B4-BE49-F238E27FC236}">
                <a16:creationId xmlns:a16="http://schemas.microsoft.com/office/drawing/2014/main" id="{B11CA14E-2548-4377-83B0-D6ABD699D4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140BC7-B080-1B9B-AA35-3304877D2328}"/>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4057362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746FA-1DDA-B34E-2396-912ED001DD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3059BC-A75F-82CD-9082-B23C58D551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729483-F968-3D11-D945-D3B4E8934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20F27F-7DA6-6783-A834-3BA5B7129F70}"/>
              </a:ext>
            </a:extLst>
          </p:cNvPr>
          <p:cNvSpPr>
            <a:spLocks noGrp="1"/>
          </p:cNvSpPr>
          <p:nvPr>
            <p:ph type="dt" sz="half" idx="10"/>
          </p:nvPr>
        </p:nvSpPr>
        <p:spPr/>
        <p:txBody>
          <a:bodyPr/>
          <a:lstStyle/>
          <a:p>
            <a:fld id="{76A84026-166A-B54F-BCA3-33826D623C7A}" type="datetimeFigureOut">
              <a:t>9/17/25</a:t>
            </a:fld>
            <a:endParaRPr lang="en-US"/>
          </a:p>
        </p:txBody>
      </p:sp>
      <p:sp>
        <p:nvSpPr>
          <p:cNvPr id="6" name="Footer Placeholder 5">
            <a:extLst>
              <a:ext uri="{FF2B5EF4-FFF2-40B4-BE49-F238E27FC236}">
                <a16:creationId xmlns:a16="http://schemas.microsoft.com/office/drawing/2014/main" id="{C128B5DE-6DF9-FBCC-7A61-556D14CADB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225290-CE68-A8ED-3269-13F4E5AC7A21}"/>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2483767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401A7-31C2-6A66-DF70-16E160BAA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8205F7-F548-BB33-10C2-26833BFBEF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1A12AC-8E87-CFE4-DD70-899C288A4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F8251A-BBD2-2F72-4E3A-0BA2410DEE18}"/>
              </a:ext>
            </a:extLst>
          </p:cNvPr>
          <p:cNvSpPr>
            <a:spLocks noGrp="1"/>
          </p:cNvSpPr>
          <p:nvPr>
            <p:ph type="dt" sz="half" idx="10"/>
          </p:nvPr>
        </p:nvSpPr>
        <p:spPr/>
        <p:txBody>
          <a:bodyPr/>
          <a:lstStyle/>
          <a:p>
            <a:fld id="{76A84026-166A-B54F-BCA3-33826D623C7A}" type="datetimeFigureOut">
              <a:t>9/17/25</a:t>
            </a:fld>
            <a:endParaRPr lang="en-US"/>
          </a:p>
        </p:txBody>
      </p:sp>
      <p:sp>
        <p:nvSpPr>
          <p:cNvPr id="6" name="Footer Placeholder 5">
            <a:extLst>
              <a:ext uri="{FF2B5EF4-FFF2-40B4-BE49-F238E27FC236}">
                <a16:creationId xmlns:a16="http://schemas.microsoft.com/office/drawing/2014/main" id="{E496CE1F-819B-2618-48BE-496863BDF1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BEB355-C996-74E7-F776-60854493B528}"/>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1637341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D2FC4-F0C0-0A65-45DE-720CC72270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B6F479-FE04-C351-236C-07452186A8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D80F46-0975-E0FC-74D5-D03609D8E437}"/>
              </a:ext>
            </a:extLst>
          </p:cNvPr>
          <p:cNvSpPr>
            <a:spLocks noGrp="1"/>
          </p:cNvSpPr>
          <p:nvPr>
            <p:ph type="dt" sz="half" idx="10"/>
          </p:nvPr>
        </p:nvSpPr>
        <p:spPr/>
        <p:txBody>
          <a:bodyPr/>
          <a:lstStyle/>
          <a:p>
            <a:fld id="{76A84026-166A-B54F-BCA3-33826D623C7A}" type="datetimeFigureOut">
              <a:t>9/17/25</a:t>
            </a:fld>
            <a:endParaRPr lang="en-US"/>
          </a:p>
        </p:txBody>
      </p:sp>
      <p:sp>
        <p:nvSpPr>
          <p:cNvPr id="5" name="Footer Placeholder 4">
            <a:extLst>
              <a:ext uri="{FF2B5EF4-FFF2-40B4-BE49-F238E27FC236}">
                <a16:creationId xmlns:a16="http://schemas.microsoft.com/office/drawing/2014/main" id="{AE3DDFE1-39B5-DADA-10DD-5C84DC3B6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81EDC2-EB43-32FF-DC4F-46C6EC54AAFE}"/>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1983701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D71F31-3F0F-70A5-CA1C-25FC187B74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6051A4-199F-B23E-B60D-6FCB0670DE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B52B3-0E03-BE48-89F9-A7EAEB4BAF87}"/>
              </a:ext>
            </a:extLst>
          </p:cNvPr>
          <p:cNvSpPr>
            <a:spLocks noGrp="1"/>
          </p:cNvSpPr>
          <p:nvPr>
            <p:ph type="dt" sz="half" idx="10"/>
          </p:nvPr>
        </p:nvSpPr>
        <p:spPr/>
        <p:txBody>
          <a:bodyPr/>
          <a:lstStyle/>
          <a:p>
            <a:fld id="{76A84026-166A-B54F-BCA3-33826D623C7A}" type="datetimeFigureOut">
              <a:t>9/17/25</a:t>
            </a:fld>
            <a:endParaRPr lang="en-US"/>
          </a:p>
        </p:txBody>
      </p:sp>
      <p:sp>
        <p:nvSpPr>
          <p:cNvPr id="5" name="Footer Placeholder 4">
            <a:extLst>
              <a:ext uri="{FF2B5EF4-FFF2-40B4-BE49-F238E27FC236}">
                <a16:creationId xmlns:a16="http://schemas.microsoft.com/office/drawing/2014/main" id="{812B2E9B-1621-E2BA-7FBC-1FB872586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EF2673-DEC4-EF87-342F-5CE5E68B76F6}"/>
              </a:ext>
            </a:extLst>
          </p:cNvPr>
          <p:cNvSpPr>
            <a:spLocks noGrp="1"/>
          </p:cNvSpPr>
          <p:nvPr>
            <p:ph type="sldNum" sz="quarter" idx="12"/>
          </p:nvPr>
        </p:nvSpPr>
        <p:spPr/>
        <p:txBody>
          <a:bodyPr/>
          <a:lstStyle/>
          <a:p>
            <a:fld id="{2C8732B6-0629-9E4A-8DE3-4FA22FAB9A05}" type="slidenum">
              <a:t>‹#›</a:t>
            </a:fld>
            <a:endParaRPr lang="en-US"/>
          </a:p>
        </p:txBody>
      </p:sp>
    </p:spTree>
    <p:extLst>
      <p:ext uri="{BB962C8B-B14F-4D97-AF65-F5344CB8AC3E}">
        <p14:creationId xmlns:p14="http://schemas.microsoft.com/office/powerpoint/2010/main" val="1329626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054AC9-AEA2-B32E-66FA-3B97DF6CF8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E83CDA-2084-A2F0-3481-D5D69EEA18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948A44-F01B-0B27-1952-B3560AF49E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A84026-166A-B54F-BCA3-33826D623C7A}" type="datetimeFigureOut">
              <a:t>9/17/25</a:t>
            </a:fld>
            <a:endParaRPr lang="en-US"/>
          </a:p>
        </p:txBody>
      </p:sp>
      <p:sp>
        <p:nvSpPr>
          <p:cNvPr id="5" name="Footer Placeholder 4">
            <a:extLst>
              <a:ext uri="{FF2B5EF4-FFF2-40B4-BE49-F238E27FC236}">
                <a16:creationId xmlns:a16="http://schemas.microsoft.com/office/drawing/2014/main" id="{B5B91C00-785C-A573-B0CC-9970581897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747C36-0718-69ED-2C86-BECE658A92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8732B6-0629-9E4A-8DE3-4FA22FAB9A05}" type="slidenum">
              <a:t>‹#›</a:t>
            </a:fld>
            <a:endParaRPr lang="en-US"/>
          </a:p>
        </p:txBody>
      </p:sp>
    </p:spTree>
    <p:extLst>
      <p:ext uri="{BB962C8B-B14F-4D97-AF65-F5344CB8AC3E}">
        <p14:creationId xmlns:p14="http://schemas.microsoft.com/office/powerpoint/2010/main" val="683545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hyperlink" Target="https://onlinelibrary.wiley.com/doi/10.1111/gbb.70012#gbb70012-bib-0032"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hyperlink" Target="http://doi.org/10.1109/CIBCB58642.2024.10702116" TargetMode="External"/><Relationship Id="rId5" Type="http://schemas.openxmlformats.org/officeDocument/2006/relationships/image" Target="../media/image18.png"/><Relationship Id="rId4" Type="http://schemas.openxmlformats.org/officeDocument/2006/relationships/hyperlink" Target="https://www.science.org/doi/10.1126/science.add1417"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hyperlink" Target="https://www.phdcomics.com/" TargetMode="Externa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s://agilescientific.com/blog/2021/2/17/which-open-licence-should-i-choose"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s://zenodo.org/records/10236681" TargetMode="External"/><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hyperlink" Target="https://github.com/dalmolingroup/euryale" TargetMode="External"/><Relationship Id="rId4" Type="http://schemas.openxmlformats.org/officeDocument/2006/relationships/hyperlink" Target="https://zenodo.org/records/10155524"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hyperlink" Target="https://learngitbranching.js.org/?NODEMO"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0.svg"/><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hyperlink" Target="https://github.com/schlosslab" TargetMode="External"/><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B87E67-9161-CE87-6E1B-14740126CBE8}"/>
              </a:ext>
            </a:extLst>
          </p:cNvPr>
          <p:cNvSpPr>
            <a:spLocks noGrp="1"/>
          </p:cNvSpPr>
          <p:nvPr>
            <p:ph type="ctrTitle"/>
          </p:nvPr>
        </p:nvSpPr>
        <p:spPr>
          <a:xfrm>
            <a:off x="1386865" y="818984"/>
            <a:ext cx="6596245" cy="3268520"/>
          </a:xfrm>
        </p:spPr>
        <p:txBody>
          <a:bodyPr>
            <a:normAutofit/>
          </a:bodyPr>
          <a:lstStyle/>
          <a:p>
            <a:pPr algn="r"/>
            <a:r>
              <a:rPr lang="en-US" sz="4800" b="1">
                <a:solidFill>
                  <a:srgbClr val="FFFFFF"/>
                </a:solidFill>
              </a:rPr>
              <a:t>git/GitHub Introduction</a:t>
            </a:r>
            <a:endParaRPr lang="en-US" sz="4800">
              <a:solidFill>
                <a:srgbClr val="FFFFFF"/>
              </a:solidFill>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73D39734-D113-93DD-287C-8A0927D6CA04}"/>
              </a:ext>
            </a:extLst>
          </p:cNvPr>
          <p:cNvSpPr>
            <a:spLocks noGrp="1"/>
          </p:cNvSpPr>
          <p:nvPr>
            <p:ph type="subTitle" idx="1"/>
          </p:nvPr>
        </p:nvSpPr>
        <p:spPr>
          <a:xfrm>
            <a:off x="1931874" y="4797188"/>
            <a:ext cx="6051236" cy="1241828"/>
          </a:xfrm>
        </p:spPr>
        <p:txBody>
          <a:bodyPr>
            <a:normAutofit/>
          </a:bodyPr>
          <a:lstStyle/>
          <a:p>
            <a:pPr algn="r"/>
            <a:endParaRPr lang="en-US">
              <a:solidFill>
                <a:srgbClr val="FFFFFF"/>
              </a:solidFill>
            </a:endParaRP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rofile picture of Lei Ma">
            <a:extLst>
              <a:ext uri="{FF2B5EF4-FFF2-40B4-BE49-F238E27FC236}">
                <a16:creationId xmlns:a16="http://schemas.microsoft.com/office/drawing/2014/main" id="{25CD182E-1C19-52F5-DFFD-D398CBD07E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4808" y="444610"/>
            <a:ext cx="2389188" cy="21839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1773671-D9A8-D114-9959-256E0839D04D}"/>
              </a:ext>
            </a:extLst>
          </p:cNvPr>
          <p:cNvSpPr txBox="1"/>
          <p:nvPr/>
        </p:nvSpPr>
        <p:spPr>
          <a:xfrm>
            <a:off x="9294808" y="2782669"/>
            <a:ext cx="1991123" cy="646331"/>
          </a:xfrm>
          <a:prstGeom prst="rect">
            <a:avLst/>
          </a:prstGeom>
          <a:noFill/>
        </p:spPr>
        <p:txBody>
          <a:bodyPr wrap="none" rtlCol="0">
            <a:spAutoFit/>
          </a:bodyPr>
          <a:lstStyle/>
          <a:p>
            <a:r>
              <a:rPr lang="en-US">
                <a:solidFill>
                  <a:schemeClr val="bg1"/>
                </a:solidFill>
              </a:rPr>
              <a:t>Lei Ma, PhD</a:t>
            </a:r>
          </a:p>
          <a:p>
            <a:r>
              <a:rPr lang="en-US">
                <a:solidFill>
                  <a:schemeClr val="bg1"/>
                </a:solidFill>
              </a:rPr>
              <a:t>Informatics Group</a:t>
            </a:r>
          </a:p>
        </p:txBody>
      </p:sp>
      <p:pic>
        <p:nvPicPr>
          <p:cNvPr id="6" name="Picture 5" descr="A person kneeling with two dogs&#10;&#10;Description automatically generated">
            <a:extLst>
              <a:ext uri="{FF2B5EF4-FFF2-40B4-BE49-F238E27FC236}">
                <a16:creationId xmlns:a16="http://schemas.microsoft.com/office/drawing/2014/main" id="{7B0881DB-2401-4B0E-FA31-98CD285793A2}"/>
              </a:ext>
            </a:extLst>
          </p:cNvPr>
          <p:cNvPicPr>
            <a:picLocks noChangeAspect="1"/>
          </p:cNvPicPr>
          <p:nvPr/>
        </p:nvPicPr>
        <p:blipFill rotWithShape="1">
          <a:blip r:embed="rId4"/>
          <a:srcRect l="12659" t="17500" r="13187" b="14000"/>
          <a:stretch/>
        </p:blipFill>
        <p:spPr>
          <a:xfrm>
            <a:off x="9256325" y="3547980"/>
            <a:ext cx="2359091" cy="2257769"/>
          </a:xfrm>
          <a:prstGeom prst="rect">
            <a:avLst/>
          </a:prstGeom>
        </p:spPr>
      </p:pic>
      <p:sp>
        <p:nvSpPr>
          <p:cNvPr id="9" name="TextBox 8">
            <a:extLst>
              <a:ext uri="{FF2B5EF4-FFF2-40B4-BE49-F238E27FC236}">
                <a16:creationId xmlns:a16="http://schemas.microsoft.com/office/drawing/2014/main" id="{7F514BFD-D056-27F1-F960-D2DFDD1AB197}"/>
              </a:ext>
            </a:extLst>
          </p:cNvPr>
          <p:cNvSpPr txBox="1"/>
          <p:nvPr/>
        </p:nvSpPr>
        <p:spPr>
          <a:xfrm>
            <a:off x="9366442" y="5938816"/>
            <a:ext cx="2138855" cy="646331"/>
          </a:xfrm>
          <a:prstGeom prst="rect">
            <a:avLst/>
          </a:prstGeom>
          <a:noFill/>
        </p:spPr>
        <p:txBody>
          <a:bodyPr wrap="none" rtlCol="0">
            <a:spAutoFit/>
          </a:bodyPr>
          <a:lstStyle/>
          <a:p>
            <a:r>
              <a:rPr lang="en-US">
                <a:solidFill>
                  <a:schemeClr val="bg1"/>
                </a:solidFill>
              </a:rPr>
              <a:t>Gregg Thomas, PhD</a:t>
            </a:r>
          </a:p>
          <a:p>
            <a:r>
              <a:rPr lang="en-US">
                <a:solidFill>
                  <a:schemeClr val="bg1"/>
                </a:solidFill>
              </a:rPr>
              <a:t>Informatics Group</a:t>
            </a:r>
          </a:p>
        </p:txBody>
      </p:sp>
    </p:spTree>
    <p:extLst>
      <p:ext uri="{BB962C8B-B14F-4D97-AF65-F5344CB8AC3E}">
        <p14:creationId xmlns:p14="http://schemas.microsoft.com/office/powerpoint/2010/main" val="1658122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E41E9-F619-3107-442C-3C3B68650A27}"/>
              </a:ext>
            </a:extLst>
          </p:cNvPr>
          <p:cNvSpPr>
            <a:spLocks noGrp="1"/>
          </p:cNvSpPr>
          <p:nvPr>
            <p:ph type="title"/>
          </p:nvPr>
        </p:nvSpPr>
        <p:spPr>
          <a:xfrm>
            <a:off x="1759287" y="798881"/>
            <a:ext cx="8673427" cy="1048945"/>
          </a:xfrm>
        </p:spPr>
        <p:txBody>
          <a:bodyPr>
            <a:normAutofit/>
          </a:bodyPr>
          <a:lstStyle/>
          <a:p>
            <a:r>
              <a:rPr lang="en-US" sz="3400">
                <a:solidFill>
                  <a:schemeClr val="tx1"/>
                </a:solidFill>
              </a:rPr>
              <a:t>We help FAS researchers with bioinformatic analysis</a:t>
            </a:r>
          </a:p>
        </p:txBody>
      </p:sp>
      <p:graphicFrame>
        <p:nvGraphicFramePr>
          <p:cNvPr id="5" name="Content Placeholder 2">
            <a:extLst>
              <a:ext uri="{FF2B5EF4-FFF2-40B4-BE49-F238E27FC236}">
                <a16:creationId xmlns:a16="http://schemas.microsoft.com/office/drawing/2014/main" id="{06C70C3B-C016-2087-470F-667B3A6CEFC7}"/>
              </a:ext>
            </a:extLst>
          </p:cNvPr>
          <p:cNvGraphicFramePr>
            <a:graphicFrameLocks noGrp="1"/>
          </p:cNvGraphicFramePr>
          <p:nvPr>
            <p:ph idx="1"/>
          </p:nvPr>
        </p:nvGraphicFramePr>
        <p:xfrm>
          <a:off x="807722" y="1990976"/>
          <a:ext cx="10576558" cy="4175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a:extLst>
              <a:ext uri="{FF2B5EF4-FFF2-40B4-BE49-F238E27FC236}">
                <a16:creationId xmlns:a16="http://schemas.microsoft.com/office/drawing/2014/main" id="{152BFB43-4FB5-A69E-3B95-8491EB11176C}"/>
              </a:ext>
            </a:extLst>
          </p:cNvPr>
          <p:cNvSpPr>
            <a:spLocks noGrp="1"/>
          </p:cNvSpPr>
          <p:nvPr>
            <p:ph type="ftr" sz="quarter" idx="11"/>
          </p:nvPr>
        </p:nvSpPr>
        <p:spPr/>
        <p:txBody>
          <a:bodyPr/>
          <a:lstStyle/>
          <a:p>
            <a:r>
              <a:rPr lang="en-US" sz="1400" b="1" err="1"/>
              <a:t>informatics.fas.harvard.edu</a:t>
            </a:r>
            <a:endParaRPr lang="en-US" sz="1400" b="1"/>
          </a:p>
        </p:txBody>
      </p:sp>
    </p:spTree>
    <p:extLst>
      <p:ext uri="{BB962C8B-B14F-4D97-AF65-F5344CB8AC3E}">
        <p14:creationId xmlns:p14="http://schemas.microsoft.com/office/powerpoint/2010/main" val="610299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E28B2-3839-F35A-D441-7D3055EC2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D8F05-13E2-0643-2AF8-7623140C71C0}"/>
              </a:ext>
            </a:extLst>
          </p:cNvPr>
          <p:cNvSpPr>
            <a:spLocks noGrp="1"/>
          </p:cNvSpPr>
          <p:nvPr>
            <p:ph type="title"/>
          </p:nvPr>
        </p:nvSpPr>
        <p:spPr>
          <a:xfrm>
            <a:off x="1759287" y="798881"/>
            <a:ext cx="8673427" cy="1048945"/>
          </a:xfrm>
        </p:spPr>
        <p:txBody>
          <a:bodyPr>
            <a:normAutofit/>
          </a:bodyPr>
          <a:lstStyle/>
          <a:p>
            <a:r>
              <a:rPr lang="en-US" sz="3400">
                <a:solidFill>
                  <a:schemeClr val="tx1"/>
                </a:solidFill>
              </a:rPr>
              <a:t>Specialized Services</a:t>
            </a:r>
          </a:p>
        </p:txBody>
      </p:sp>
      <p:graphicFrame>
        <p:nvGraphicFramePr>
          <p:cNvPr id="5" name="Content Placeholder 2">
            <a:extLst>
              <a:ext uri="{FF2B5EF4-FFF2-40B4-BE49-F238E27FC236}">
                <a16:creationId xmlns:a16="http://schemas.microsoft.com/office/drawing/2014/main" id="{472FBF74-2BCB-C87F-2730-B53B2965F110}"/>
              </a:ext>
            </a:extLst>
          </p:cNvPr>
          <p:cNvGraphicFramePr>
            <a:graphicFrameLocks noGrp="1"/>
          </p:cNvGraphicFramePr>
          <p:nvPr>
            <p:ph idx="1"/>
          </p:nvPr>
        </p:nvGraphicFramePr>
        <p:xfrm>
          <a:off x="807722" y="1990976"/>
          <a:ext cx="10576558" cy="4175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a:extLst>
              <a:ext uri="{FF2B5EF4-FFF2-40B4-BE49-F238E27FC236}">
                <a16:creationId xmlns:a16="http://schemas.microsoft.com/office/drawing/2014/main" id="{7A9A8B5B-1DB6-B71F-855B-4B6FF769464A}"/>
              </a:ext>
            </a:extLst>
          </p:cNvPr>
          <p:cNvSpPr>
            <a:spLocks noGrp="1"/>
          </p:cNvSpPr>
          <p:nvPr>
            <p:ph type="ftr" sz="quarter" idx="11"/>
          </p:nvPr>
        </p:nvSpPr>
        <p:spPr/>
        <p:txBody>
          <a:bodyPr/>
          <a:lstStyle/>
          <a:p>
            <a:r>
              <a:rPr lang="en-US" sz="1400" b="1" err="1"/>
              <a:t>informatics.fas.harvard.edu</a:t>
            </a:r>
            <a:endParaRPr lang="en-US" sz="1400" b="1"/>
          </a:p>
        </p:txBody>
      </p:sp>
    </p:spTree>
    <p:extLst>
      <p:ext uri="{BB962C8B-B14F-4D97-AF65-F5344CB8AC3E}">
        <p14:creationId xmlns:p14="http://schemas.microsoft.com/office/powerpoint/2010/main" val="1899940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568C36-F485-7F7F-42E5-38523C3AF387}"/>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kern="1200">
                <a:solidFill>
                  <a:srgbClr val="FFFFFF"/>
                </a:solidFill>
                <a:latin typeface="+mj-lt"/>
                <a:ea typeface="+mj-ea"/>
                <a:cs typeface="+mj-cs"/>
              </a:rPr>
              <a:t>“Data available upon request” is no longer acceptable, shouldn’t it be the same for code?</a:t>
            </a:r>
          </a:p>
        </p:txBody>
      </p:sp>
      <p:pic>
        <p:nvPicPr>
          <p:cNvPr id="9" name="Picture 8">
            <a:extLst>
              <a:ext uri="{FF2B5EF4-FFF2-40B4-BE49-F238E27FC236}">
                <a16:creationId xmlns:a16="http://schemas.microsoft.com/office/drawing/2014/main" id="{1420930F-01A4-F191-F061-A54399B5ED7F}"/>
              </a:ext>
            </a:extLst>
          </p:cNvPr>
          <p:cNvPicPr>
            <a:picLocks noChangeAspect="1"/>
          </p:cNvPicPr>
          <p:nvPr/>
        </p:nvPicPr>
        <p:blipFill>
          <a:blip r:embed="rId3"/>
          <a:stretch>
            <a:fillRect/>
          </a:stretch>
        </p:blipFill>
        <p:spPr>
          <a:xfrm>
            <a:off x="4227185" y="524350"/>
            <a:ext cx="7772400" cy="547680"/>
          </a:xfrm>
          <a:prstGeom prst="rect">
            <a:avLst/>
          </a:prstGeom>
        </p:spPr>
      </p:pic>
      <p:pic>
        <p:nvPicPr>
          <p:cNvPr id="11" name="Picture 10">
            <a:extLst>
              <a:ext uri="{FF2B5EF4-FFF2-40B4-BE49-F238E27FC236}">
                <a16:creationId xmlns:a16="http://schemas.microsoft.com/office/drawing/2014/main" id="{26E3F769-0F47-5C33-2E25-C8DA86A10BC0}"/>
              </a:ext>
            </a:extLst>
          </p:cNvPr>
          <p:cNvPicPr>
            <a:picLocks noChangeAspect="1"/>
          </p:cNvPicPr>
          <p:nvPr/>
        </p:nvPicPr>
        <p:blipFill>
          <a:blip r:embed="rId4"/>
          <a:stretch>
            <a:fillRect/>
          </a:stretch>
        </p:blipFill>
        <p:spPr>
          <a:xfrm>
            <a:off x="4090332" y="1321752"/>
            <a:ext cx="7772400" cy="864864"/>
          </a:xfrm>
          <a:prstGeom prst="rect">
            <a:avLst/>
          </a:prstGeom>
        </p:spPr>
      </p:pic>
      <p:grpSp>
        <p:nvGrpSpPr>
          <p:cNvPr id="35" name="Group 34">
            <a:extLst>
              <a:ext uri="{FF2B5EF4-FFF2-40B4-BE49-F238E27FC236}">
                <a16:creationId xmlns:a16="http://schemas.microsoft.com/office/drawing/2014/main" id="{B8EE0137-B570-4C56-7E11-2A134E44B8E7}"/>
              </a:ext>
            </a:extLst>
          </p:cNvPr>
          <p:cNvGrpSpPr/>
          <p:nvPr/>
        </p:nvGrpSpPr>
        <p:grpSpPr>
          <a:xfrm>
            <a:off x="6220903" y="2280603"/>
            <a:ext cx="1513428" cy="1693749"/>
            <a:chOff x="6220903" y="2280603"/>
            <a:chExt cx="1513428" cy="1693749"/>
          </a:xfrm>
        </p:grpSpPr>
        <p:cxnSp>
          <p:nvCxnSpPr>
            <p:cNvPr id="32" name="Straight Arrow Connector 31">
              <a:extLst>
                <a:ext uri="{FF2B5EF4-FFF2-40B4-BE49-F238E27FC236}">
                  <a16:creationId xmlns:a16="http://schemas.microsoft.com/office/drawing/2014/main" id="{C617C808-3CDA-03FA-7421-6B5BD69F5D04}"/>
                </a:ext>
              </a:extLst>
            </p:cNvPr>
            <p:cNvCxnSpPr>
              <a:cxnSpLocks/>
            </p:cNvCxnSpPr>
            <p:nvPr/>
          </p:nvCxnSpPr>
          <p:spPr>
            <a:xfrm flipV="1">
              <a:off x="7177715" y="2280603"/>
              <a:ext cx="242558" cy="13348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FCE3B3BC-5066-0488-2383-21F68C93FFA6}"/>
                </a:ext>
              </a:extLst>
            </p:cNvPr>
            <p:cNvSpPr txBox="1"/>
            <p:nvPr/>
          </p:nvSpPr>
          <p:spPr>
            <a:xfrm>
              <a:off x="6220903" y="3605020"/>
              <a:ext cx="1513428" cy="369332"/>
            </a:xfrm>
            <a:prstGeom prst="rect">
              <a:avLst/>
            </a:prstGeom>
            <a:noFill/>
          </p:spPr>
          <p:txBody>
            <a:bodyPr wrap="none" rtlCol="0">
              <a:spAutoFit/>
            </a:bodyPr>
            <a:lstStyle/>
            <a:p>
              <a:r>
                <a:rPr lang="en-US"/>
                <a:t>Don’t do this!</a:t>
              </a:r>
            </a:p>
          </p:txBody>
        </p:sp>
      </p:grpSp>
      <p:sp>
        <p:nvSpPr>
          <p:cNvPr id="7" name="Straight Connector 6">
            <a:extLst>
              <a:ext uri="{FF2B5EF4-FFF2-40B4-BE49-F238E27FC236}">
                <a16:creationId xmlns:a16="http://schemas.microsoft.com/office/drawing/2014/main" id="{2761F7A4-04B6-47EC-8503-0D94BA551C11}"/>
              </a:ext>
            </a:extLst>
          </p:cNvPr>
          <p:cNvSpPr/>
          <p:nvPr/>
        </p:nvSpPr>
        <p:spPr>
          <a:xfrm>
            <a:off x="10939320" y="1775160"/>
            <a:ext cx="365760" cy="0"/>
          </a:xfrm>
          <a:prstGeom prst="line">
            <a:avLst/>
          </a:prstGeom>
          <a:solidFill>
            <a:srgbClr val="0069AF">
              <a:alpha val="5000"/>
            </a:srgbClr>
          </a:solidFill>
          <a:ln w="108000">
            <a:solidFill>
              <a:srgbClr val="0069AF">
                <a:alpha val="50000"/>
              </a:srgbClr>
            </a:solidFill>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0069AF"/>
              </a:solidFill>
            </a:endParaRPr>
          </a:p>
        </p:txBody>
      </p:sp>
      <p:sp>
        <p:nvSpPr>
          <p:cNvPr id="8" name="Straight Connector 7">
            <a:extLst>
              <a:ext uri="{FF2B5EF4-FFF2-40B4-BE49-F238E27FC236}">
                <a16:creationId xmlns:a16="http://schemas.microsoft.com/office/drawing/2014/main" id="{48111CA4-7A92-4361-9723-B6E447D7799C}"/>
              </a:ext>
            </a:extLst>
          </p:cNvPr>
          <p:cNvSpPr/>
          <p:nvPr/>
        </p:nvSpPr>
        <p:spPr>
          <a:xfrm>
            <a:off x="10166760" y="660960"/>
            <a:ext cx="1645920" cy="0"/>
          </a:xfrm>
          <a:prstGeom prst="line">
            <a:avLst/>
          </a:prstGeom>
          <a:solidFill>
            <a:srgbClr val="0069AF">
              <a:alpha val="5000"/>
            </a:srgbClr>
          </a:solidFill>
          <a:ln w="108000">
            <a:solidFill>
              <a:srgbClr val="0069AF">
                <a:alpha val="49000"/>
              </a:srgbClr>
            </a:solidFill>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0069AF"/>
              </a:solidFill>
            </a:endParaRPr>
          </a:p>
        </p:txBody>
      </p:sp>
      <p:sp>
        <p:nvSpPr>
          <p:cNvPr id="13" name="Straight Connector 12">
            <a:extLst>
              <a:ext uri="{FF2B5EF4-FFF2-40B4-BE49-F238E27FC236}">
                <a16:creationId xmlns:a16="http://schemas.microsoft.com/office/drawing/2014/main" id="{C605E9B6-F045-4C88-91BB-EEF1E135C5A2}"/>
              </a:ext>
            </a:extLst>
          </p:cNvPr>
          <p:cNvSpPr/>
          <p:nvPr/>
        </p:nvSpPr>
        <p:spPr>
          <a:xfrm>
            <a:off x="4264920" y="943200"/>
            <a:ext cx="1097280" cy="0"/>
          </a:xfrm>
          <a:prstGeom prst="line">
            <a:avLst/>
          </a:prstGeom>
          <a:solidFill>
            <a:srgbClr val="0069AF">
              <a:alpha val="5000"/>
            </a:srgbClr>
          </a:solidFill>
          <a:ln w="108000">
            <a:solidFill>
              <a:srgbClr val="0069AF">
                <a:alpha val="50000"/>
              </a:srgbClr>
            </a:solidFill>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0069AF"/>
              </a:solidFill>
            </a:endParaRPr>
          </a:p>
        </p:txBody>
      </p:sp>
      <p:sp>
        <p:nvSpPr>
          <p:cNvPr id="10" name="Conector reto 9">
            <a:extLst>
              <a:ext uri="{FF2B5EF4-FFF2-40B4-BE49-F238E27FC236}">
                <a16:creationId xmlns:a16="http://schemas.microsoft.com/office/drawing/2014/main" id="{C1140969-59DF-45AA-B145-9B1EC249CEC7}"/>
              </a:ext>
            </a:extLst>
          </p:cNvPr>
          <p:cNvSpPr/>
          <p:nvPr/>
        </p:nvSpPr>
        <p:spPr>
          <a:xfrm>
            <a:off x="4290479" y="2050199"/>
            <a:ext cx="3443851" cy="3887"/>
          </a:xfrm>
          <a:prstGeom prst="line">
            <a:avLst/>
          </a:prstGeom>
          <a:solidFill>
            <a:srgbClr val="0069AF">
              <a:alpha val="5000"/>
            </a:srgbClr>
          </a:solidFill>
          <a:ln w="108000">
            <a:solidFill>
              <a:srgbClr val="0069AF">
                <a:alpha val="50000"/>
              </a:srgbClr>
            </a:solidFill>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0069AF"/>
              </a:solidFill>
            </a:endParaRPr>
          </a:p>
        </p:txBody>
      </p:sp>
    </p:spTree>
    <p:extLst>
      <p:ext uri="{BB962C8B-B14F-4D97-AF65-F5344CB8AC3E}">
        <p14:creationId xmlns:p14="http://schemas.microsoft.com/office/powerpoint/2010/main" val="1075659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C330C2-229C-2093-15BC-9B60F19DB9F4}"/>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7FBBA80-5309-092B-9BE7-974F94BA2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B6625307-F6B5-B6AB-E4F0-721B31C1EE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F776CD9-7470-FDFE-025B-F82988B54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0B5CCBF-8482-412C-D268-5B3238006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8738D0E-F5A5-7FEB-2D1A-52A25553C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E99A99B8-C632-BC77-3722-F1FD57A8E3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E697D5EA-5E0D-941B-9E41-EAD9582C3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E2589C-E98D-36E6-DAF6-436BAE8D5862}"/>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a:solidFill>
                  <a:srgbClr val="FFFFFF"/>
                </a:solidFill>
              </a:rPr>
              <a:t>Your code is part of your methods: what you include matters</a:t>
            </a:r>
            <a:endParaRPr lang="en-US" sz="3400" kern="1200">
              <a:solidFill>
                <a:srgbClr val="FFFFFF"/>
              </a:solidFill>
              <a:latin typeface="+mj-lt"/>
              <a:ea typeface="+mj-ea"/>
              <a:cs typeface="+mj-cs"/>
            </a:endParaRPr>
          </a:p>
        </p:txBody>
      </p:sp>
      <p:sp>
        <p:nvSpPr>
          <p:cNvPr id="3" name="TextBox 2">
            <a:extLst>
              <a:ext uri="{FF2B5EF4-FFF2-40B4-BE49-F238E27FC236}">
                <a16:creationId xmlns:a16="http://schemas.microsoft.com/office/drawing/2014/main" id="{37F34395-83C1-3752-8662-B276590D631C}"/>
              </a:ext>
            </a:extLst>
          </p:cNvPr>
          <p:cNvSpPr txBox="1"/>
          <p:nvPr/>
        </p:nvSpPr>
        <p:spPr>
          <a:xfrm>
            <a:off x="4373217" y="410817"/>
            <a:ext cx="7631004" cy="646331"/>
          </a:xfrm>
          <a:prstGeom prst="rect">
            <a:avLst/>
          </a:prstGeom>
          <a:noFill/>
        </p:spPr>
        <p:txBody>
          <a:bodyPr wrap="square" rtlCol="0">
            <a:spAutoFit/>
          </a:bodyPr>
          <a:lstStyle/>
          <a:p>
            <a:r>
              <a:rPr lang="en-US"/>
              <a:t>“A differential abundance analysis was conducted using the Wilcoxon Rank Sum Test…These analyses were performed using the R statistical program.”</a:t>
            </a:r>
          </a:p>
        </p:txBody>
      </p:sp>
      <p:sp>
        <p:nvSpPr>
          <p:cNvPr id="4" name="TextBox 3">
            <a:extLst>
              <a:ext uri="{FF2B5EF4-FFF2-40B4-BE49-F238E27FC236}">
                <a16:creationId xmlns:a16="http://schemas.microsoft.com/office/drawing/2014/main" id="{0D2ADF15-4671-FD0A-85C1-33637AC0B214}"/>
              </a:ext>
            </a:extLst>
          </p:cNvPr>
          <p:cNvSpPr txBox="1"/>
          <p:nvPr/>
        </p:nvSpPr>
        <p:spPr>
          <a:xfrm>
            <a:off x="4373217" y="2495530"/>
            <a:ext cx="7225391" cy="923330"/>
          </a:xfrm>
          <a:prstGeom prst="rect">
            <a:avLst/>
          </a:prstGeom>
          <a:noFill/>
        </p:spPr>
        <p:txBody>
          <a:bodyPr wrap="square" rtlCol="0">
            <a:spAutoFit/>
          </a:bodyPr>
          <a:lstStyle/>
          <a:p>
            <a:r>
              <a:rPr lang="en-US"/>
              <a:t>“Maaslin2 (version 1.14.1) [</a:t>
            </a:r>
            <a:r>
              <a:rPr lang="en-US">
                <a:hlinkClick r:id="rId3"/>
              </a:rPr>
              <a:t>32</a:t>
            </a:r>
            <a:r>
              <a:rPr lang="en-US"/>
              <a:t>] was used for differential abundance analysis on a rarefied dataset with TSS normalization, prevalence set to 15%, and cage household set as a random effect.”</a:t>
            </a:r>
          </a:p>
        </p:txBody>
      </p:sp>
      <p:sp>
        <p:nvSpPr>
          <p:cNvPr id="8" name="TextBox 7">
            <a:extLst>
              <a:ext uri="{FF2B5EF4-FFF2-40B4-BE49-F238E27FC236}">
                <a16:creationId xmlns:a16="http://schemas.microsoft.com/office/drawing/2014/main" id="{B10CB730-2AD8-2D63-FDA0-683B8F7A9CBC}"/>
              </a:ext>
            </a:extLst>
          </p:cNvPr>
          <p:cNvSpPr txBox="1"/>
          <p:nvPr/>
        </p:nvSpPr>
        <p:spPr>
          <a:xfrm>
            <a:off x="4651513" y="1232452"/>
            <a:ext cx="4686860" cy="923330"/>
          </a:xfrm>
          <a:prstGeom prst="rect">
            <a:avLst/>
          </a:prstGeom>
          <a:noFill/>
        </p:spPr>
        <p:txBody>
          <a:bodyPr wrap="none" rtlCol="0">
            <a:spAutoFit/>
          </a:bodyPr>
          <a:lstStyle/>
          <a:p>
            <a:r>
              <a:rPr lang="en-US"/>
              <a:t>❓Did they code their own or use a software?</a:t>
            </a:r>
          </a:p>
          <a:p>
            <a:r>
              <a:rPr lang="en-US"/>
              <a:t>❓ What parameters were given?</a:t>
            </a:r>
          </a:p>
          <a:p>
            <a:r>
              <a:rPr lang="en-US"/>
              <a:t>❓ What data cleaning was done beforehand?</a:t>
            </a:r>
          </a:p>
        </p:txBody>
      </p:sp>
      <p:sp>
        <p:nvSpPr>
          <p:cNvPr id="10" name="TextBox 9">
            <a:extLst>
              <a:ext uri="{FF2B5EF4-FFF2-40B4-BE49-F238E27FC236}">
                <a16:creationId xmlns:a16="http://schemas.microsoft.com/office/drawing/2014/main" id="{539DCAD5-C866-764E-9EBA-ABFDE3E70881}"/>
              </a:ext>
            </a:extLst>
          </p:cNvPr>
          <p:cNvSpPr txBox="1"/>
          <p:nvPr/>
        </p:nvSpPr>
        <p:spPr>
          <a:xfrm>
            <a:off x="4651513" y="3466871"/>
            <a:ext cx="6086923" cy="1477328"/>
          </a:xfrm>
          <a:prstGeom prst="rect">
            <a:avLst/>
          </a:prstGeom>
          <a:noFill/>
        </p:spPr>
        <p:txBody>
          <a:bodyPr wrap="none" rtlCol="0">
            <a:spAutoFit/>
          </a:bodyPr>
          <a:lstStyle/>
          <a:p>
            <a:r>
              <a:rPr lang="en-US"/>
              <a:t>✅ Software and version are listed and cited</a:t>
            </a:r>
          </a:p>
          <a:p>
            <a:r>
              <a:rPr lang="en-US"/>
              <a:t>✅ Parameters and data cleaning/normalization are listed</a:t>
            </a:r>
          </a:p>
          <a:p>
            <a:r>
              <a:rPr lang="en-US"/>
              <a:t>✅ Could recreate if we read the tutorial for Maaslin2, maybe</a:t>
            </a:r>
          </a:p>
          <a:p>
            <a:r>
              <a:rPr lang="en-US"/>
              <a:t>❓Not all parameters are listed, some are assumed</a:t>
            </a:r>
          </a:p>
          <a:p>
            <a:r>
              <a:rPr lang="en-US"/>
              <a:t>❓Takes a lot of effort to recreate</a:t>
            </a:r>
          </a:p>
        </p:txBody>
      </p:sp>
    </p:spTree>
    <p:extLst>
      <p:ext uri="{BB962C8B-B14F-4D97-AF65-F5344CB8AC3E}">
        <p14:creationId xmlns:p14="http://schemas.microsoft.com/office/powerpoint/2010/main" val="238655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455B73-FD05-8D52-DB33-2E7C402CDD3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DE158E6-7E3A-79B5-D222-24D711A2A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97459DE9-E5D2-8EB0-1FFC-24270AF22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87D366-045B-C8EF-65B2-D19C2F43AE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09689F0-3CB1-F3C6-9192-462C37C0C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C997E1-C0C5-8894-6868-B6557B4FA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976D8D16-D0CD-F56D-470E-4682C601C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4D4BFFD1-DFF7-9606-6404-94860F32DD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E9CE5E-DA95-4AA4-419A-5D72B61CEFCA}"/>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a:solidFill>
                  <a:srgbClr val="FFFFFF"/>
                </a:solidFill>
              </a:rPr>
              <a:t>Two types of sharing code: for reproduction and for reuse</a:t>
            </a:r>
            <a:endParaRPr lang="en-US" sz="3400" kern="1200">
              <a:solidFill>
                <a:srgbClr val="FFFFFF"/>
              </a:solidFill>
              <a:latin typeface="+mj-lt"/>
              <a:ea typeface="+mj-ea"/>
              <a:cs typeface="+mj-cs"/>
            </a:endParaRPr>
          </a:p>
        </p:txBody>
      </p:sp>
      <p:pic>
        <p:nvPicPr>
          <p:cNvPr id="9" name="Picture 8" descr="A close-up of a text&#10;&#10;AI-generated content may be incorrect.">
            <a:extLst>
              <a:ext uri="{FF2B5EF4-FFF2-40B4-BE49-F238E27FC236}">
                <a16:creationId xmlns:a16="http://schemas.microsoft.com/office/drawing/2014/main" id="{36F042A1-0859-2754-BC79-4AD2295BFBE5}"/>
              </a:ext>
            </a:extLst>
          </p:cNvPr>
          <p:cNvPicPr>
            <a:picLocks noChangeAspect="1"/>
          </p:cNvPicPr>
          <p:nvPr/>
        </p:nvPicPr>
        <p:blipFill>
          <a:blip r:embed="rId3"/>
          <a:stretch>
            <a:fillRect/>
          </a:stretch>
        </p:blipFill>
        <p:spPr>
          <a:xfrm>
            <a:off x="4245435" y="915138"/>
            <a:ext cx="7772400" cy="1451866"/>
          </a:xfrm>
          <a:prstGeom prst="rect">
            <a:avLst/>
          </a:prstGeom>
        </p:spPr>
      </p:pic>
      <p:sp>
        <p:nvSpPr>
          <p:cNvPr id="15" name="TextBox 14">
            <a:extLst>
              <a:ext uri="{FF2B5EF4-FFF2-40B4-BE49-F238E27FC236}">
                <a16:creationId xmlns:a16="http://schemas.microsoft.com/office/drawing/2014/main" id="{B983BCE0-867F-8819-EFD6-9F31C2874799}"/>
              </a:ext>
            </a:extLst>
          </p:cNvPr>
          <p:cNvSpPr txBox="1"/>
          <p:nvPr/>
        </p:nvSpPr>
        <p:spPr>
          <a:xfrm>
            <a:off x="4284815" y="2489586"/>
            <a:ext cx="7611384" cy="646331"/>
          </a:xfrm>
          <a:prstGeom prst="rect">
            <a:avLst/>
          </a:prstGeom>
          <a:noFill/>
        </p:spPr>
        <p:txBody>
          <a:bodyPr wrap="square" rtlCol="0">
            <a:spAutoFit/>
          </a:bodyPr>
          <a:lstStyle/>
          <a:p>
            <a:r>
              <a:rPr lang="en-US">
                <a:hlinkClick r:id="rId4"/>
              </a:rPr>
              <a:t>Link</a:t>
            </a:r>
            <a:r>
              <a:rPr lang="en-US"/>
              <a:t> to paper by Alejandro Couce et al, Science 2024 “Changing fitness effects of mutations through long-term bacterial evolution”</a:t>
            </a:r>
          </a:p>
        </p:txBody>
      </p:sp>
      <p:pic>
        <p:nvPicPr>
          <p:cNvPr id="4" name="Picture 3" descr="A close up of a text&#10;&#10;AI-generated content may be incorrect.">
            <a:extLst>
              <a:ext uri="{FF2B5EF4-FFF2-40B4-BE49-F238E27FC236}">
                <a16:creationId xmlns:a16="http://schemas.microsoft.com/office/drawing/2014/main" id="{9CAA8072-121F-5AFA-69C8-CA3D760289A0}"/>
              </a:ext>
            </a:extLst>
          </p:cNvPr>
          <p:cNvPicPr>
            <a:picLocks noChangeAspect="1"/>
          </p:cNvPicPr>
          <p:nvPr/>
        </p:nvPicPr>
        <p:blipFill>
          <a:blip r:embed="rId5"/>
          <a:stretch>
            <a:fillRect/>
          </a:stretch>
        </p:blipFill>
        <p:spPr>
          <a:xfrm>
            <a:off x="4245435" y="4078091"/>
            <a:ext cx="7772400" cy="1068822"/>
          </a:xfrm>
          <a:prstGeom prst="rect">
            <a:avLst/>
          </a:prstGeom>
        </p:spPr>
      </p:pic>
      <p:sp>
        <p:nvSpPr>
          <p:cNvPr id="5" name="TextBox 4">
            <a:extLst>
              <a:ext uri="{FF2B5EF4-FFF2-40B4-BE49-F238E27FC236}">
                <a16:creationId xmlns:a16="http://schemas.microsoft.com/office/drawing/2014/main" id="{F0B85AD4-E09D-082E-3364-069A5E0DC50E}"/>
              </a:ext>
            </a:extLst>
          </p:cNvPr>
          <p:cNvSpPr txBox="1"/>
          <p:nvPr/>
        </p:nvSpPr>
        <p:spPr>
          <a:xfrm>
            <a:off x="4419146" y="5514975"/>
            <a:ext cx="7200900" cy="923330"/>
          </a:xfrm>
          <a:prstGeom prst="rect">
            <a:avLst/>
          </a:prstGeom>
          <a:noFill/>
        </p:spPr>
        <p:txBody>
          <a:bodyPr wrap="square" rtlCol="0">
            <a:spAutoFit/>
          </a:bodyPr>
          <a:lstStyle/>
          <a:p>
            <a:r>
              <a:rPr lang="en-US">
                <a:hlinkClick r:id="rId6"/>
              </a:rPr>
              <a:t>Link</a:t>
            </a:r>
            <a:r>
              <a:rPr lang="en-US"/>
              <a:t> to paper by Cavalcante et al, IEEE 2024 “EURYALE: A versatile Nextflow pipeline for taxonomic classification and functional annotation of metagenomics data”</a:t>
            </a:r>
          </a:p>
        </p:txBody>
      </p:sp>
      <p:sp>
        <p:nvSpPr>
          <p:cNvPr id="6" name="TextBox 5">
            <a:extLst>
              <a:ext uri="{FF2B5EF4-FFF2-40B4-BE49-F238E27FC236}">
                <a16:creationId xmlns:a16="http://schemas.microsoft.com/office/drawing/2014/main" id="{B1CAD1B1-8297-88E1-0600-CF8C825C29A0}"/>
              </a:ext>
            </a:extLst>
          </p:cNvPr>
          <p:cNvSpPr txBox="1"/>
          <p:nvPr/>
        </p:nvSpPr>
        <p:spPr>
          <a:xfrm>
            <a:off x="4129089" y="528580"/>
            <a:ext cx="3267369" cy="369332"/>
          </a:xfrm>
          <a:prstGeom prst="rect">
            <a:avLst/>
          </a:prstGeom>
          <a:noFill/>
        </p:spPr>
        <p:txBody>
          <a:bodyPr wrap="none" rtlCol="0">
            <a:spAutoFit/>
          </a:bodyPr>
          <a:lstStyle/>
          <a:p>
            <a:r>
              <a:rPr lang="en-US" b="1"/>
              <a:t>Code shared for reproduction</a:t>
            </a:r>
          </a:p>
        </p:txBody>
      </p:sp>
      <p:sp>
        <p:nvSpPr>
          <p:cNvPr id="7" name="TextBox 6">
            <a:extLst>
              <a:ext uri="{FF2B5EF4-FFF2-40B4-BE49-F238E27FC236}">
                <a16:creationId xmlns:a16="http://schemas.microsoft.com/office/drawing/2014/main" id="{2C9A1F5C-3A7C-B28C-A249-029C531A84CE}"/>
              </a:ext>
            </a:extLst>
          </p:cNvPr>
          <p:cNvSpPr txBox="1"/>
          <p:nvPr/>
        </p:nvSpPr>
        <p:spPr>
          <a:xfrm>
            <a:off x="4129089" y="3693290"/>
            <a:ext cx="2608824" cy="369332"/>
          </a:xfrm>
          <a:prstGeom prst="rect">
            <a:avLst/>
          </a:prstGeom>
          <a:noFill/>
        </p:spPr>
        <p:txBody>
          <a:bodyPr wrap="square" rtlCol="0">
            <a:spAutoFit/>
          </a:bodyPr>
          <a:lstStyle/>
          <a:p>
            <a:r>
              <a:rPr lang="en-US" b="1"/>
              <a:t>Code shared for reuse</a:t>
            </a:r>
          </a:p>
        </p:txBody>
      </p:sp>
    </p:spTree>
    <p:extLst>
      <p:ext uri="{BB962C8B-B14F-4D97-AF65-F5344CB8AC3E}">
        <p14:creationId xmlns:p14="http://schemas.microsoft.com/office/powerpoint/2010/main" val="834089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61D54-6EA5-6535-61CE-48C6F15A2B99}"/>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EA2228C-DBFD-B5DC-E840-D708AABE47D0}"/>
              </a:ext>
            </a:extLst>
          </p:cNvPr>
          <p:cNvGraphicFramePr>
            <a:graphicFrameLocks noGrp="1"/>
          </p:cNvGraphicFramePr>
          <p:nvPr/>
        </p:nvGraphicFramePr>
        <p:xfrm>
          <a:off x="486062" y="130684"/>
          <a:ext cx="11219875" cy="6557421"/>
        </p:xfrm>
        <a:graphic>
          <a:graphicData uri="http://schemas.openxmlformats.org/drawingml/2006/table">
            <a:tbl>
              <a:tblPr firstRow="1" bandRow="1">
                <a:solidFill>
                  <a:schemeClr val="bg1"/>
                </a:solidFill>
              </a:tblPr>
              <a:tblGrid>
                <a:gridCol w="2574643">
                  <a:extLst>
                    <a:ext uri="{9D8B030D-6E8A-4147-A177-3AD203B41FA5}">
                      <a16:colId xmlns:a16="http://schemas.microsoft.com/office/drawing/2014/main" val="2566721546"/>
                    </a:ext>
                  </a:extLst>
                </a:gridCol>
                <a:gridCol w="2818268">
                  <a:extLst>
                    <a:ext uri="{9D8B030D-6E8A-4147-A177-3AD203B41FA5}">
                      <a16:colId xmlns:a16="http://schemas.microsoft.com/office/drawing/2014/main" val="3893320685"/>
                    </a:ext>
                  </a:extLst>
                </a:gridCol>
                <a:gridCol w="2913482">
                  <a:extLst>
                    <a:ext uri="{9D8B030D-6E8A-4147-A177-3AD203B41FA5}">
                      <a16:colId xmlns:a16="http://schemas.microsoft.com/office/drawing/2014/main" val="3712737575"/>
                    </a:ext>
                  </a:extLst>
                </a:gridCol>
                <a:gridCol w="2913482">
                  <a:extLst>
                    <a:ext uri="{9D8B030D-6E8A-4147-A177-3AD203B41FA5}">
                      <a16:colId xmlns:a16="http://schemas.microsoft.com/office/drawing/2014/main" val="3032844368"/>
                    </a:ext>
                  </a:extLst>
                </a:gridCol>
              </a:tblGrid>
              <a:tr h="458193">
                <a:tc>
                  <a:txBody>
                    <a:bodyPr/>
                    <a:lstStyle/>
                    <a:p>
                      <a:pPr fontAlgn="t" latinLnBrk="0"/>
                      <a:r>
                        <a:rPr lang="en-US" sz="1500" b="0" cap="none" spc="0">
                          <a:solidFill>
                            <a:schemeClr val="bg1"/>
                          </a:solidFill>
                          <a:effectLst/>
                        </a:rPr>
                        <a:t>Feature</a:t>
                      </a:r>
                    </a:p>
                  </a:txBody>
                  <a:tcPr marL="125842" marR="57581" marT="96801" marB="96801"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fontAlgn="t" latinLnBrk="0"/>
                      <a:endParaRPr lang="en-US" sz="1500" b="0" cap="none" spc="0" dirty="0">
                        <a:solidFill>
                          <a:schemeClr val="bg1"/>
                        </a:solidFill>
                        <a:effectLst/>
                      </a:endParaRPr>
                    </a:p>
                  </a:txBody>
                  <a:tcPr marL="125842" marR="57581" marT="96801" marB="9680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fontAlgn="t" latinLnBrk="0"/>
                      <a:r>
                        <a:rPr lang="en-US" sz="1500" b="0" cap="none" spc="0">
                          <a:solidFill>
                            <a:schemeClr val="bg1"/>
                          </a:solidFill>
                          <a:effectLst/>
                        </a:rPr>
                        <a:t>GitHub</a:t>
                      </a:r>
                    </a:p>
                  </a:txBody>
                  <a:tcPr marL="125842" marR="57581" marT="96801" marB="9680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fontAlgn="t" latinLnBrk="0"/>
                      <a:r>
                        <a:rPr lang="en-US" sz="1500" b="0" cap="none" spc="0">
                          <a:solidFill>
                            <a:schemeClr val="bg1"/>
                          </a:solidFill>
                          <a:effectLst/>
                        </a:rPr>
                        <a:t>GitHub Desktop</a:t>
                      </a:r>
                    </a:p>
                  </a:txBody>
                  <a:tcPr marL="125842" marR="57581" marT="96801" marB="96801"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481575192"/>
                  </a:ext>
                </a:extLst>
              </a:tr>
              <a:tr h="458193">
                <a:tc>
                  <a:txBody>
                    <a:bodyPr/>
                    <a:lstStyle/>
                    <a:p>
                      <a:pPr fontAlgn="base" latinLnBrk="0"/>
                      <a:r>
                        <a:rPr lang="en-US" sz="1500" cap="none" spc="0">
                          <a:solidFill>
                            <a:schemeClr val="tx1"/>
                          </a:solidFill>
                          <a:effectLst/>
                        </a:rPr>
                        <a:t>Type</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Local version control software</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fontAlgn="base" latinLnBrk="0"/>
                      <a:r>
                        <a:rPr lang="en-US" sz="1500" cap="none" spc="0" dirty="0">
                          <a:solidFill>
                            <a:schemeClr val="tx1"/>
                          </a:solidFill>
                          <a:effectLst/>
                        </a:rPr>
                        <a:t>Cloud-based hosting service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38100" cmpd="sng">
                      <a:noFill/>
                    </a:lnT>
                    <a:lnB w="6350" cap="flat" cmpd="sng" algn="ctr">
                      <a:solidFill>
                        <a:schemeClr val="tx1">
                          <a:lumMod val="50000"/>
                          <a:lumOff val="50000"/>
                        </a:schemeClr>
                      </a:solidFill>
                      <a:prstDash val="solid"/>
                    </a:lnB>
                    <a:noFill/>
                  </a:tcPr>
                </a:tc>
                <a:tc>
                  <a:txBody>
                    <a:bodyPr/>
                    <a:lstStyle/>
                    <a:p>
                      <a:pPr fontAlgn="base" latinLnBrk="0"/>
                      <a:r>
                        <a:rPr lang="en-US" sz="1500" cap="none" spc="0" dirty="0">
                          <a:solidFill>
                            <a:schemeClr val="tx1"/>
                          </a:solidFill>
                          <a:effectLst/>
                        </a:rPr>
                        <a:t>Software to help manage GitHub repositories with a user interface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38100" cmpd="sng">
                      <a:noFill/>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515302146"/>
                  </a:ext>
                </a:extLst>
              </a:tr>
              <a:tr h="684063">
                <a:tc>
                  <a:txBody>
                    <a:bodyPr/>
                    <a:lstStyle/>
                    <a:p>
                      <a:pPr fontAlgn="base" latinLnBrk="0"/>
                      <a:r>
                        <a:rPr lang="en-US" sz="1500" cap="none" spc="0">
                          <a:solidFill>
                            <a:schemeClr val="tx1"/>
                          </a:solidFill>
                          <a:effectLst/>
                        </a:rPr>
                        <a:t>Installation</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Downloaded and installed locally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Web-based, no installation needed</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Downloaded and installed locally</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2203901713"/>
                  </a:ext>
                </a:extLst>
              </a:tr>
              <a:tr h="458193">
                <a:tc>
                  <a:txBody>
                    <a:bodyPr/>
                    <a:lstStyle/>
                    <a:p>
                      <a:pPr fontAlgn="base" latinLnBrk="0"/>
                      <a:r>
                        <a:rPr lang="en-US" sz="1500" cap="none" spc="0">
                          <a:solidFill>
                            <a:schemeClr val="tx1"/>
                          </a:solidFill>
                          <a:effectLst/>
                        </a:rPr>
                        <a:t>Cost</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Free and open-source</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Free and paid tiers available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Free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540095750"/>
                  </a:ext>
                </a:extLst>
              </a:tr>
              <a:tr h="458193">
                <a:tc>
                  <a:txBody>
                    <a:bodyPr/>
                    <a:lstStyle/>
                    <a:p>
                      <a:pPr fontAlgn="base" latinLnBrk="0"/>
                      <a:r>
                        <a:rPr lang="en-US" sz="1500" cap="none" spc="0">
                          <a:solidFill>
                            <a:schemeClr val="tx1"/>
                          </a:solidFill>
                          <a:effectLst/>
                        </a:rPr>
                        <a:t>Dependency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Can work independently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Requires Git to function</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Comes with its own copy of git</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2414701731"/>
                  </a:ext>
                </a:extLst>
              </a:tr>
              <a:tr h="458193">
                <a:tc>
                  <a:txBody>
                    <a:bodyPr/>
                    <a:lstStyle/>
                    <a:p>
                      <a:pPr fontAlgn="base" latinLnBrk="0"/>
                      <a:r>
                        <a:rPr lang="en-US" sz="1500" cap="none" spc="0">
                          <a:solidFill>
                            <a:schemeClr val="tx1"/>
                          </a:solidFill>
                          <a:effectLst/>
                        </a:rPr>
                        <a:t>Ownership</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dirty="0">
                          <a:solidFill>
                            <a:schemeClr val="tx1"/>
                          </a:solidFill>
                          <a:effectLst/>
                        </a:rPr>
                        <a:t>Open-source community; (Maintained by the Linux Foundation)</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Owned by Microsoft</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Owned by Microsoft</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669532681"/>
                  </a:ext>
                </a:extLst>
              </a:tr>
              <a:tr h="458193">
                <a:tc>
                  <a:txBody>
                    <a:bodyPr/>
                    <a:lstStyle/>
                    <a:p>
                      <a:pPr fontAlgn="base" latinLnBrk="0"/>
                      <a:r>
                        <a:rPr lang="en-US" sz="1500" cap="none" spc="0">
                          <a:solidFill>
                            <a:schemeClr val="tx1"/>
                          </a:solidFill>
                          <a:effectLst/>
                        </a:rPr>
                        <a:t>Internet Requirement</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Works offline</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Requires internet connection</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Requires internet connection</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1398033193"/>
                  </a:ext>
                </a:extLst>
              </a:tr>
              <a:tr h="684063">
                <a:tc>
                  <a:txBody>
                    <a:bodyPr/>
                    <a:lstStyle/>
                    <a:p>
                      <a:pPr fontAlgn="base" latinLnBrk="0"/>
                      <a:r>
                        <a:rPr lang="en-US" sz="1500" cap="none" spc="0">
                          <a:solidFill>
                            <a:schemeClr val="tx1"/>
                          </a:solidFill>
                          <a:effectLst/>
                        </a:rPr>
                        <a:t>Primary Function</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dirty="0">
                          <a:solidFill>
                            <a:schemeClr val="tx1"/>
                          </a:solidFill>
                          <a:effectLst/>
                        </a:rPr>
                        <a:t>Version control and code management</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Repository hosting and collaboration</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Help manage git/GitHub repos</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00001352"/>
                  </a:ext>
                </a:extLst>
              </a:tr>
              <a:tr h="458193">
                <a:tc>
                  <a:txBody>
                    <a:bodyPr/>
                    <a:lstStyle/>
                    <a:p>
                      <a:pPr fontAlgn="base" latinLnBrk="0"/>
                      <a:r>
                        <a:rPr lang="en-US" sz="1500" cap="none" spc="0">
                          <a:solidFill>
                            <a:schemeClr val="tx1"/>
                          </a:solidFill>
                          <a:effectLst/>
                        </a:rPr>
                        <a:t>Access</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Local machine only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Accessible from anywhere</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Local machine only</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3225847399"/>
                  </a:ext>
                </a:extLst>
              </a:tr>
              <a:tr h="684063">
                <a:tc>
                  <a:txBody>
                    <a:bodyPr/>
                    <a:lstStyle/>
                    <a:p>
                      <a:pPr fontAlgn="base" latinLnBrk="0"/>
                      <a:r>
                        <a:rPr lang="en-US" sz="1500" cap="none" spc="0">
                          <a:solidFill>
                            <a:schemeClr val="tx1"/>
                          </a:solidFill>
                          <a:effectLst/>
                        </a:rPr>
                        <a:t>Features</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Basic version control operations</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Additional features like issue tracking, pull requests, wikis</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lnB>
                    <a:noFill/>
                  </a:tcPr>
                </a:tc>
                <a:tc>
                  <a:txBody>
                    <a:bodyPr/>
                    <a:lstStyle/>
                    <a:p>
                      <a:pPr fontAlgn="base" latinLnBrk="0"/>
                      <a:r>
                        <a:rPr lang="en-US" sz="1500" cap="none" spc="0">
                          <a:solidFill>
                            <a:schemeClr val="tx1"/>
                          </a:solidFill>
                          <a:effectLst/>
                        </a:rPr>
                        <a:t>Most features of git &amp; GitHub</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12700" cmpd="sng">
                      <a:noFill/>
                      <a:prstDash val="soli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72981506"/>
                  </a:ext>
                </a:extLst>
              </a:tr>
              <a:tr h="684063">
                <a:tc>
                  <a:txBody>
                    <a:bodyPr/>
                    <a:lstStyle/>
                    <a:p>
                      <a:pPr fontAlgn="base" latinLnBrk="0"/>
                      <a:r>
                        <a:rPr lang="en-US" sz="1500" cap="none" spc="0">
                          <a:solidFill>
                            <a:schemeClr val="tx1"/>
                          </a:solidFill>
                          <a:effectLst/>
                        </a:rPr>
                        <a:t>Security</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a:solidFill>
                            <a:schemeClr val="tx1"/>
                          </a:solidFill>
                          <a:effectLst/>
                        </a:rPr>
                        <a:t>Local authentication</a:t>
                      </a:r>
                    </a:p>
                  </a:txBody>
                  <a:tcPr marL="125842" marR="57581" marT="96801" marB="9680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dirty="0">
                          <a:solidFill>
                            <a:schemeClr val="tx1"/>
                          </a:solidFill>
                          <a:effectLst/>
                        </a:rPr>
                        <a:t>Two-factor authentication, access control</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fontAlgn="base" latinLnBrk="0"/>
                      <a:r>
                        <a:rPr lang="en-US" sz="1500" cap="none" spc="0" dirty="0">
                          <a:solidFill>
                            <a:schemeClr val="tx1"/>
                          </a:solidFill>
                          <a:effectLst/>
                        </a:rPr>
                        <a:t>Connects to GitHub account</a:t>
                      </a:r>
                    </a:p>
                  </a:txBody>
                  <a:tcPr marL="125842" marR="57581" marT="96801" marB="96801" anchor="ctr">
                    <a:lnL w="19050" cap="flat" cmpd="sng" algn="ctr">
                      <a:solidFill>
                        <a:schemeClr val="tx1"/>
                      </a:solidFill>
                      <a:prstDash val="solid"/>
                    </a:lnL>
                    <a:lnR w="19050"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12700" cmpd="sng">
                      <a:noFill/>
                      <a:prstDash val="solid"/>
                    </a:lnB>
                    <a:solidFill>
                      <a:schemeClr val="bg1">
                        <a:lumMod val="85000"/>
                      </a:schemeClr>
                    </a:solidFill>
                  </a:tcPr>
                </a:tc>
                <a:extLst>
                  <a:ext uri="{0D108BD9-81ED-4DB2-BD59-A6C34878D82A}">
                    <a16:rowId xmlns:a16="http://schemas.microsoft.com/office/drawing/2014/main" val="2102280542"/>
                  </a:ext>
                </a:extLst>
              </a:tr>
            </a:tbl>
          </a:graphicData>
        </a:graphic>
      </p:graphicFrame>
      <p:pic>
        <p:nvPicPr>
          <p:cNvPr id="5" name="Picture 4" descr="A black background with white text&#10;&#10;AI-generated content may be incorrect.">
            <a:extLst>
              <a:ext uri="{FF2B5EF4-FFF2-40B4-BE49-F238E27FC236}">
                <a16:creationId xmlns:a16="http://schemas.microsoft.com/office/drawing/2014/main" id="{26B7E79F-C02F-3474-8DE6-C8A2B96E6F01}"/>
              </a:ext>
            </a:extLst>
          </p:cNvPr>
          <p:cNvPicPr>
            <a:picLocks noChangeAspect="1"/>
          </p:cNvPicPr>
          <p:nvPr/>
        </p:nvPicPr>
        <p:blipFill>
          <a:blip r:embed="rId3"/>
          <a:stretch>
            <a:fillRect/>
          </a:stretch>
        </p:blipFill>
        <p:spPr>
          <a:xfrm>
            <a:off x="2975952" y="-642744"/>
            <a:ext cx="1420150" cy="2194777"/>
          </a:xfrm>
          <a:prstGeom prst="rect">
            <a:avLst/>
          </a:prstGeom>
        </p:spPr>
      </p:pic>
      <p:pic>
        <p:nvPicPr>
          <p:cNvPr id="7" name="Picture 6" descr="A white cat in a circle&#10;&#10;AI-generated content may be incorrect.">
            <a:extLst>
              <a:ext uri="{FF2B5EF4-FFF2-40B4-BE49-F238E27FC236}">
                <a16:creationId xmlns:a16="http://schemas.microsoft.com/office/drawing/2014/main" id="{D89F1DF6-6DEE-1F37-C38F-AF1F2CD1B499}"/>
              </a:ext>
            </a:extLst>
          </p:cNvPr>
          <p:cNvPicPr>
            <a:picLocks noChangeAspect="1"/>
          </p:cNvPicPr>
          <p:nvPr/>
        </p:nvPicPr>
        <p:blipFill>
          <a:blip r:embed="rId4"/>
          <a:stretch>
            <a:fillRect/>
          </a:stretch>
        </p:blipFill>
        <p:spPr>
          <a:xfrm flipH="1">
            <a:off x="6474166" y="-273954"/>
            <a:ext cx="823651" cy="1272916"/>
          </a:xfrm>
          <a:prstGeom prst="rect">
            <a:avLst/>
          </a:prstGeom>
        </p:spPr>
      </p:pic>
    </p:spTree>
    <p:extLst>
      <p:ext uri="{BB962C8B-B14F-4D97-AF65-F5344CB8AC3E}">
        <p14:creationId xmlns:p14="http://schemas.microsoft.com/office/powerpoint/2010/main" val="3181419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299B41-F1FE-106C-E8E0-EB326D48431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6959518-420C-0C6E-CC4E-B2A651E51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4" name="Rectangle 13">
            <a:extLst>
              <a:ext uri="{FF2B5EF4-FFF2-40B4-BE49-F238E27FC236}">
                <a16:creationId xmlns:a16="http://schemas.microsoft.com/office/drawing/2014/main" id="{2466233E-9099-0CCD-C47D-88AA9EFB3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D1BACA21-FDDB-47FB-8C99-0BDAF8B39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E8B456F0-224F-4873-D49F-4B1D1277C8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8EC09035-48AF-DFEE-1B04-34D43B541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ECA7E0AA-F0A4-AEB9-FFC6-B650A751B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107DAC5E-02DB-1778-84C7-0CFB51315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73AF59C-626F-1819-B0F7-400BB1676DEB}"/>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a:solidFill>
                  <a:srgbClr val="FFFFFF"/>
                </a:solidFill>
              </a:rPr>
              <a:t>What is git?</a:t>
            </a:r>
            <a:br>
              <a:rPr lang="en-US" sz="3400">
                <a:solidFill>
                  <a:srgbClr val="FFFFFF"/>
                </a:solidFill>
              </a:rPr>
            </a:br>
            <a:r>
              <a:rPr lang="en-US" sz="3400">
                <a:solidFill>
                  <a:srgbClr val="FFFFFF"/>
                </a:solidFill>
              </a:rPr>
              <a:t>It’s manual </a:t>
            </a:r>
            <a:r>
              <a:rPr lang="en-US" sz="3400" b="1">
                <a:solidFill>
                  <a:srgbClr val="FFFFFF"/>
                </a:solidFill>
              </a:rPr>
              <a:t>verson control</a:t>
            </a:r>
            <a:endParaRPr lang="en-US" sz="3400" b="1" kern="1200">
              <a:solidFill>
                <a:srgbClr val="FFFFFF"/>
              </a:solidFill>
              <a:latin typeface="+mj-lt"/>
              <a:ea typeface="+mj-ea"/>
              <a:cs typeface="+mj-cs"/>
            </a:endParaRPr>
          </a:p>
        </p:txBody>
      </p:sp>
      <p:pic>
        <p:nvPicPr>
          <p:cNvPr id="17" name="Graphic 16">
            <a:extLst>
              <a:ext uri="{FF2B5EF4-FFF2-40B4-BE49-F238E27FC236}">
                <a16:creationId xmlns:a16="http://schemas.microsoft.com/office/drawing/2014/main" id="{D5DF7DEC-AF1C-EA54-03A8-7F3F894F10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14579" y="195262"/>
            <a:ext cx="5854700" cy="1866900"/>
          </a:xfrm>
          <a:prstGeom prst="rect">
            <a:avLst/>
          </a:prstGeom>
        </p:spPr>
      </p:pic>
      <p:sp>
        <p:nvSpPr>
          <p:cNvPr id="21" name="TextBox 20">
            <a:extLst>
              <a:ext uri="{FF2B5EF4-FFF2-40B4-BE49-F238E27FC236}">
                <a16:creationId xmlns:a16="http://schemas.microsoft.com/office/drawing/2014/main" id="{7FACEFF2-BDA3-0DB2-BCB6-D15BD1BFBD11}"/>
              </a:ext>
            </a:extLst>
          </p:cNvPr>
          <p:cNvSpPr txBox="1"/>
          <p:nvPr/>
        </p:nvSpPr>
        <p:spPr>
          <a:xfrm>
            <a:off x="4367696" y="2635524"/>
            <a:ext cx="7357582" cy="35394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Allows </a:t>
            </a:r>
            <a:r>
              <a:rPr kumimoji="0" lang="en-US" sz="2800" b="1" i="0" u="none" strike="noStrike" kern="1200" cap="none" spc="0" normalizeH="0" baseline="0" noProof="0">
                <a:ln>
                  <a:noFill/>
                </a:ln>
                <a:solidFill>
                  <a:prstClr val="black"/>
                </a:solidFill>
                <a:effectLst/>
                <a:uLnTx/>
                <a:uFillTx/>
                <a:latin typeface="Aptos" panose="02110004020202020204"/>
                <a:ea typeface="+mn-ea"/>
                <a:cs typeface="+mn-cs"/>
              </a:rPr>
              <a:t>manual</a:t>
            </a: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 snapshotting of directory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like Time Machine, Dropbox, Google Docs, but not automatic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Works </a:t>
            </a:r>
            <a:r>
              <a:rPr kumimoji="0" lang="en-US" sz="2800" b="1" i="0" u="none" strike="noStrike" kern="1200" cap="none" spc="0" normalizeH="0" baseline="0" noProof="0">
                <a:ln>
                  <a:noFill/>
                </a:ln>
                <a:solidFill>
                  <a:prstClr val="black"/>
                </a:solidFill>
                <a:effectLst/>
                <a:uLnTx/>
                <a:uFillTx/>
                <a:latin typeface="Aptos" panose="02110004020202020204"/>
                <a:ea typeface="+mn-ea"/>
                <a:cs typeface="+mn-cs"/>
              </a:rPr>
              <a:t>locally</a:t>
            </a: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 (i.e. does not upload to anywhere on the internet)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A hidden folder (.git) tracks changes, not copies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Works </a:t>
            </a:r>
            <a:r>
              <a:rPr kumimoji="0" lang="en-US" sz="2800" b="1" i="0" u="none" strike="noStrike" kern="1200" cap="none" spc="0" normalizeH="0" baseline="0" noProof="0">
                <a:ln>
                  <a:noFill/>
                </a:ln>
                <a:solidFill>
                  <a:prstClr val="black"/>
                </a:solidFill>
                <a:effectLst/>
                <a:uLnTx/>
                <a:uFillTx/>
                <a:latin typeface="Aptos" panose="02110004020202020204"/>
                <a:ea typeface="+mn-ea"/>
                <a:cs typeface="+mn-cs"/>
              </a:rPr>
              <a:t>line by line</a:t>
            </a: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9F56D191-0C4B-3D83-31A9-D130A51B3E3A}"/>
              </a:ext>
            </a:extLst>
          </p:cNvPr>
          <p:cNvSpPr txBox="1"/>
          <p:nvPr/>
        </p:nvSpPr>
        <p:spPr>
          <a:xfrm>
            <a:off x="4911531" y="1828510"/>
            <a:ext cx="15520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initial commit</a:t>
            </a:r>
          </a:p>
        </p:txBody>
      </p:sp>
      <p:sp>
        <p:nvSpPr>
          <p:cNvPr id="25" name="TextBox 24">
            <a:extLst>
              <a:ext uri="{FF2B5EF4-FFF2-40B4-BE49-F238E27FC236}">
                <a16:creationId xmlns:a16="http://schemas.microsoft.com/office/drawing/2014/main" id="{89424C3D-072E-94B1-0D98-31DCF69A5370}"/>
              </a:ext>
            </a:extLst>
          </p:cNvPr>
          <p:cNvSpPr txBox="1"/>
          <p:nvPr/>
        </p:nvSpPr>
        <p:spPr>
          <a:xfrm>
            <a:off x="7278313" y="1828510"/>
            <a:ext cx="1127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commit 2</a:t>
            </a:r>
          </a:p>
        </p:txBody>
      </p:sp>
      <p:sp>
        <p:nvSpPr>
          <p:cNvPr id="26" name="TextBox 25">
            <a:extLst>
              <a:ext uri="{FF2B5EF4-FFF2-40B4-BE49-F238E27FC236}">
                <a16:creationId xmlns:a16="http://schemas.microsoft.com/office/drawing/2014/main" id="{62DC80DE-FB6C-9F8E-6E0E-D34EB504F2F1}"/>
              </a:ext>
            </a:extLst>
          </p:cNvPr>
          <p:cNvSpPr txBox="1"/>
          <p:nvPr/>
        </p:nvSpPr>
        <p:spPr>
          <a:xfrm>
            <a:off x="9406658" y="1828510"/>
            <a:ext cx="1127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commit 3</a:t>
            </a:r>
          </a:p>
        </p:txBody>
      </p:sp>
    </p:spTree>
    <p:extLst>
      <p:ext uri="{BB962C8B-B14F-4D97-AF65-F5344CB8AC3E}">
        <p14:creationId xmlns:p14="http://schemas.microsoft.com/office/powerpoint/2010/main" val="2851916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a:extLst>
            <a:ext uri="{FF2B5EF4-FFF2-40B4-BE49-F238E27FC236}">
              <a16:creationId xmlns:a16="http://schemas.microsoft.com/office/drawing/2014/main" id="{2D95F0C9-8C11-02F6-4909-AEA476E7B6F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7FA0E8C-4DB8-2FF9-E3AF-2F5552FAA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4" name="Rectangle 13">
            <a:extLst>
              <a:ext uri="{FF2B5EF4-FFF2-40B4-BE49-F238E27FC236}">
                <a16:creationId xmlns:a16="http://schemas.microsoft.com/office/drawing/2014/main" id="{45737299-00B7-7BC3-E1E5-D84CD57E7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9D23B2B8-CE01-053F-EC29-4ACFD87CE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11533073-64B0-E137-4696-997D495D26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18D3164C-B532-4AD1-6FFD-8814BBD79B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2D6D322E-A2B4-0193-96CD-D1235D2B8C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96DCFD6D-67B4-8B5F-B7EF-6B794F353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49D68C9-C659-2718-0508-5A88C1A27075}"/>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kern="1200">
                <a:solidFill>
                  <a:srgbClr val="FFFFFF"/>
                </a:solidFill>
                <a:latin typeface="+mj-lt"/>
                <a:ea typeface="+mj-ea"/>
                <a:cs typeface="+mj-cs"/>
              </a:rPr>
              <a:t>Changing file names is not version control</a:t>
            </a:r>
          </a:p>
        </p:txBody>
      </p:sp>
      <p:pic>
        <p:nvPicPr>
          <p:cNvPr id="3" name="Picture 2" descr="Comic: a PhD student sends &quot;FINAL.doc&quot; to their supervisor, but after several increasingly intense and frustrating rounds of comments and revisions they end up with a file named &quot;FINAL_rev.22.comments49.corrections.10.#@$%WHYDIDCOMETOGRADSCHOOL????.doc&quot;">
            <a:extLst>
              <a:ext uri="{FF2B5EF4-FFF2-40B4-BE49-F238E27FC236}">
                <a16:creationId xmlns:a16="http://schemas.microsoft.com/office/drawing/2014/main" id="{DB4D1D6E-8C6C-4C3F-1E57-5C900CD21A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27" r="4808" b="6"/>
          <a:stretch/>
        </p:blipFill>
        <p:spPr bwMode="auto">
          <a:xfrm>
            <a:off x="4164155" y="1025054"/>
            <a:ext cx="3901164" cy="4967408"/>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pic>
        <p:nvPicPr>
          <p:cNvPr id="4" name="Grafik 5" descr="Ein Bild, das Text, Screenshot enthält.&#10;&#10;Automatisch generierte Beschreibung">
            <a:extLst>
              <a:ext uri="{FF2B5EF4-FFF2-40B4-BE49-F238E27FC236}">
                <a16:creationId xmlns:a16="http://schemas.microsoft.com/office/drawing/2014/main" id="{EBB08162-4F7F-47D9-FBDF-C8EA89A047ED}"/>
              </a:ext>
            </a:extLst>
          </p:cNvPr>
          <p:cNvPicPr>
            <a:picLocks noChangeAspect="1"/>
          </p:cNvPicPr>
          <p:nvPr/>
        </p:nvPicPr>
        <p:blipFill>
          <a:blip r:embed="rId4"/>
          <a:stretch>
            <a:fillRect/>
          </a:stretch>
        </p:blipFill>
        <p:spPr>
          <a:xfrm>
            <a:off x="8191657" y="10138"/>
            <a:ext cx="4000343" cy="6772345"/>
          </a:xfrm>
          <a:prstGeom prst="rect">
            <a:avLst/>
          </a:prstGeom>
        </p:spPr>
      </p:pic>
      <p:sp>
        <p:nvSpPr>
          <p:cNvPr id="5" name="Abgerundetes Rechteck 6">
            <a:extLst>
              <a:ext uri="{FF2B5EF4-FFF2-40B4-BE49-F238E27FC236}">
                <a16:creationId xmlns:a16="http://schemas.microsoft.com/office/drawing/2014/main" id="{28BED1A7-25F7-AA1E-C12F-40893EDA0A5A}"/>
              </a:ext>
            </a:extLst>
          </p:cNvPr>
          <p:cNvSpPr/>
          <p:nvPr/>
        </p:nvSpPr>
        <p:spPr>
          <a:xfrm>
            <a:off x="10191828" y="1564426"/>
            <a:ext cx="676893" cy="58189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sym typeface="Wingdings" pitchFamily="2" charset="2"/>
              </a:rPr>
              <a:t></a:t>
            </a:r>
            <a:endParaRPr kumimoji="0" lang="de-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TextBox 16">
            <a:extLst>
              <a:ext uri="{FF2B5EF4-FFF2-40B4-BE49-F238E27FC236}">
                <a16:creationId xmlns:a16="http://schemas.microsoft.com/office/drawing/2014/main" id="{F3A8225D-B893-64B5-BD35-BA4260EE523B}"/>
              </a:ext>
            </a:extLst>
          </p:cNvPr>
          <p:cNvSpPr txBox="1"/>
          <p:nvPr/>
        </p:nvSpPr>
        <p:spPr>
          <a:xfrm>
            <a:off x="4164155" y="6117453"/>
            <a:ext cx="38603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ptos" panose="02110004020202020204"/>
                <a:ea typeface="+mn-ea"/>
                <a:cs typeface="+mn-cs"/>
              </a:rPr>
              <a:t>“notFinal.doc” by Jorge Cham, </a:t>
            </a:r>
            <a:r>
              <a:rPr kumimoji="0" lang="en-US" sz="1100" b="0" i="0" u="none" strike="noStrike" kern="1200" cap="none" spc="0" normalizeH="0" baseline="0" noProof="0">
                <a:ln>
                  <a:noFill/>
                </a:ln>
                <a:solidFill>
                  <a:prstClr val="black"/>
                </a:solidFill>
                <a:effectLst/>
                <a:uLnTx/>
                <a:uFillTx/>
                <a:latin typeface="Aptos" panose="02110004020202020204"/>
                <a:ea typeface="+mn-ea"/>
                <a:cs typeface="+mn-cs"/>
                <a:hlinkClick r:id="rId5"/>
              </a:rPr>
              <a:t>https://www.phdcomics.com</a:t>
            </a:r>
            <a:endParaRPr kumimoji="0" lang="en-US" sz="11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6679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4B7A04-9EDC-6FA9-598B-364F5A4648E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3D80B55-FD1A-8BD2-0199-FD301C5D2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EAD540FE-9E37-8527-9072-4829997D5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Rectangle 37">
            <a:extLst>
              <a:ext uri="{FF2B5EF4-FFF2-40B4-BE49-F238E27FC236}">
                <a16:creationId xmlns:a16="http://schemas.microsoft.com/office/drawing/2014/main" id="{D7F5BA15-2FF7-9B15-A95A-04A444943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Rectangle 38">
            <a:extLst>
              <a:ext uri="{FF2B5EF4-FFF2-40B4-BE49-F238E27FC236}">
                <a16:creationId xmlns:a16="http://schemas.microsoft.com/office/drawing/2014/main" id="{0DFB12BA-2CAC-3D9F-C30B-272A07692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Rectangle 39">
            <a:extLst>
              <a:ext uri="{FF2B5EF4-FFF2-40B4-BE49-F238E27FC236}">
                <a16:creationId xmlns:a16="http://schemas.microsoft.com/office/drawing/2014/main" id="{FC5A434A-8986-E909-D50B-FA55E3FCF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1" name="Freeform: Shape 17">
            <a:extLst>
              <a:ext uri="{FF2B5EF4-FFF2-40B4-BE49-F238E27FC236}">
                <a16:creationId xmlns:a16="http://schemas.microsoft.com/office/drawing/2014/main" id="{C7ADC2C9-6083-9E73-890D-F3C9227E5A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2" name="Rectangle 41">
            <a:extLst>
              <a:ext uri="{FF2B5EF4-FFF2-40B4-BE49-F238E27FC236}">
                <a16:creationId xmlns:a16="http://schemas.microsoft.com/office/drawing/2014/main" id="{D9A69736-8CC6-9872-D6A1-9C802903C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2" name="Rectangle 11">
            <a:extLst>
              <a:ext uri="{FF2B5EF4-FFF2-40B4-BE49-F238E27FC236}">
                <a16:creationId xmlns:a16="http://schemas.microsoft.com/office/drawing/2014/main" id="{332ED73D-3968-D913-ACD8-303D3D0C8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4" name="Rectangle 13">
            <a:extLst>
              <a:ext uri="{FF2B5EF4-FFF2-40B4-BE49-F238E27FC236}">
                <a16:creationId xmlns:a16="http://schemas.microsoft.com/office/drawing/2014/main" id="{E6FBC722-187F-8B96-673C-F92077ACF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CD9DDD0-964B-C3D6-2869-E26383705E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D4D91551-D94C-4CE2-A37F-527504942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C17B13BF-2C9E-4E46-CADF-BC7A2C27E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621CFDCA-27FA-47A5-3891-753FFDA5B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F0F57C3-C3EF-3C84-9B34-68AF066DE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0481C44-E125-B587-21E6-C80444B12588}"/>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a:solidFill>
                  <a:srgbClr val="FFFFFF"/>
                </a:solidFill>
              </a:rPr>
              <a:t>Why use git over Google Drive, Word, etc?</a:t>
            </a:r>
            <a:endParaRPr lang="en-US" sz="4000" kern="1200">
              <a:solidFill>
                <a:srgbClr val="FFFFFF"/>
              </a:solidFill>
              <a:latin typeface="+mj-lt"/>
              <a:ea typeface="+mj-ea"/>
              <a:cs typeface="+mj-cs"/>
            </a:endParaRPr>
          </a:p>
        </p:txBody>
      </p:sp>
      <p:sp>
        <p:nvSpPr>
          <p:cNvPr id="11" name="TextBox 10">
            <a:extLst>
              <a:ext uri="{FF2B5EF4-FFF2-40B4-BE49-F238E27FC236}">
                <a16:creationId xmlns:a16="http://schemas.microsoft.com/office/drawing/2014/main" id="{EC4B3C96-4E0C-A30F-BA51-C7E21CB3C447}"/>
              </a:ext>
            </a:extLst>
          </p:cNvPr>
          <p:cNvSpPr txBox="1"/>
          <p:nvPr/>
        </p:nvSpPr>
        <p:spPr>
          <a:xfrm>
            <a:off x="4504548" y="1710700"/>
            <a:ext cx="7205830" cy="341632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Records </a:t>
            </a: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all changes and who made them</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compare to track changes in Word after you’ve “accepted changes”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You have </a:t>
            </a: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control over snapshots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You can </a:t>
            </a: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experiment with different versions </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while keeping a working version intact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Will </a:t>
            </a: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never accidentally erase</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 something.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You can </a:t>
            </a: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time travel </a:t>
            </a: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across different versions of your files</a:t>
            </a:r>
          </a:p>
        </p:txBody>
      </p:sp>
    </p:spTree>
    <p:extLst>
      <p:ext uri="{BB962C8B-B14F-4D97-AF65-F5344CB8AC3E}">
        <p14:creationId xmlns:p14="http://schemas.microsoft.com/office/powerpoint/2010/main" val="2992441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E1D1C6-557E-E739-FCD3-BCE972CAE56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F4CA23-3C9E-96DA-F81D-28ADE33462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D1B66E30-21C8-0F5D-8B8D-412840C1B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Rectangle 37">
            <a:extLst>
              <a:ext uri="{FF2B5EF4-FFF2-40B4-BE49-F238E27FC236}">
                <a16:creationId xmlns:a16="http://schemas.microsoft.com/office/drawing/2014/main" id="{204D64E7-B28C-3405-9F0B-8E4EE304C1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Rectangle 38">
            <a:extLst>
              <a:ext uri="{FF2B5EF4-FFF2-40B4-BE49-F238E27FC236}">
                <a16:creationId xmlns:a16="http://schemas.microsoft.com/office/drawing/2014/main" id="{43BEA47F-49F9-1FA5-6E5B-CFF1EA555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Rectangle 39">
            <a:extLst>
              <a:ext uri="{FF2B5EF4-FFF2-40B4-BE49-F238E27FC236}">
                <a16:creationId xmlns:a16="http://schemas.microsoft.com/office/drawing/2014/main" id="{49DA3BB8-8E3A-A6D6-13F3-AA0EE1F9F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1" name="Freeform: Shape 17">
            <a:extLst>
              <a:ext uri="{FF2B5EF4-FFF2-40B4-BE49-F238E27FC236}">
                <a16:creationId xmlns:a16="http://schemas.microsoft.com/office/drawing/2014/main" id="{951F2FFB-4B79-2494-931F-570BCD1B4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2" name="Rectangle 41">
            <a:extLst>
              <a:ext uri="{FF2B5EF4-FFF2-40B4-BE49-F238E27FC236}">
                <a16:creationId xmlns:a16="http://schemas.microsoft.com/office/drawing/2014/main" id="{2FF8964B-23D9-BE89-1BA2-03B823A5CC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2" name="Rectangle 11">
            <a:extLst>
              <a:ext uri="{FF2B5EF4-FFF2-40B4-BE49-F238E27FC236}">
                <a16:creationId xmlns:a16="http://schemas.microsoft.com/office/drawing/2014/main" id="{882D10CD-2259-BD92-DDED-C698AB3A43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4" name="Rectangle 13">
            <a:extLst>
              <a:ext uri="{FF2B5EF4-FFF2-40B4-BE49-F238E27FC236}">
                <a16:creationId xmlns:a16="http://schemas.microsoft.com/office/drawing/2014/main" id="{FE084138-0701-7C51-E39C-CE49AFE2D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EB7BD706-D83A-3961-1C4B-C620FFECB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1DF3BAA6-72E9-7144-050B-6A0E21091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41F20806-C75D-458C-203C-DB80E9F963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CCDF6C5E-630F-F815-E731-144724474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7C975A1-48EA-F757-480D-09D6396EE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0E9C664-BAEA-7E21-6BE0-85A7BAC2BCCF}"/>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a:solidFill>
                  <a:srgbClr val="FFFFFF"/>
                </a:solidFill>
              </a:rPr>
              <a:t>Summary of use cases</a:t>
            </a:r>
            <a:endParaRPr lang="en-US" sz="4000" kern="1200">
              <a:solidFill>
                <a:srgbClr val="FFFFFF"/>
              </a:solidFill>
              <a:latin typeface="+mj-lt"/>
              <a:ea typeface="+mj-ea"/>
              <a:cs typeface="+mj-cs"/>
            </a:endParaRPr>
          </a:p>
        </p:txBody>
      </p:sp>
      <p:sp>
        <p:nvSpPr>
          <p:cNvPr id="11" name="TextBox 10">
            <a:extLst>
              <a:ext uri="{FF2B5EF4-FFF2-40B4-BE49-F238E27FC236}">
                <a16:creationId xmlns:a16="http://schemas.microsoft.com/office/drawing/2014/main" id="{AF69066A-559F-FD8C-CDA8-32C6D227D1D8}"/>
              </a:ext>
            </a:extLst>
          </p:cNvPr>
          <p:cNvSpPr txBox="1"/>
          <p:nvPr/>
        </p:nvSpPr>
        <p:spPr>
          <a:xfrm>
            <a:off x="4511994" y="2774023"/>
            <a:ext cx="7205830"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Version control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a:solidFill>
                  <a:prstClr val="black"/>
                </a:solidFill>
                <a:latin typeface="Aptos" panose="02110004020202020204"/>
              </a:rPr>
              <a:t>Collaboration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Publication</a:t>
            </a:r>
          </a:p>
        </p:txBody>
      </p:sp>
      <p:pic>
        <p:nvPicPr>
          <p:cNvPr id="3" name="Picture 2" descr="Git">
            <a:extLst>
              <a:ext uri="{FF2B5EF4-FFF2-40B4-BE49-F238E27FC236}">
                <a16:creationId xmlns:a16="http://schemas.microsoft.com/office/drawing/2014/main" id="{4EDB53C2-02F5-1723-DE1D-F0147BC1D38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04933" y="695996"/>
            <a:ext cx="3773602" cy="54660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A2A9898-6723-F2C8-3D59-7C66D96E2E27}"/>
              </a:ext>
            </a:extLst>
          </p:cNvPr>
          <p:cNvSpPr txBox="1"/>
          <p:nvPr/>
        </p:nvSpPr>
        <p:spPr>
          <a:xfrm>
            <a:off x="9873885" y="6147855"/>
            <a:ext cx="1149995" cy="369332"/>
          </a:xfrm>
          <a:prstGeom prst="rect">
            <a:avLst/>
          </a:prstGeom>
          <a:noFill/>
        </p:spPr>
        <p:txBody>
          <a:bodyPr wrap="none" rtlCol="0">
            <a:spAutoFit/>
          </a:bodyPr>
          <a:lstStyle/>
          <a:p>
            <a:r>
              <a:rPr lang="en-US"/>
              <a:t>xkcd.com</a:t>
            </a:r>
          </a:p>
        </p:txBody>
      </p:sp>
    </p:spTree>
    <p:extLst>
      <p:ext uri="{BB962C8B-B14F-4D97-AF65-F5344CB8AC3E}">
        <p14:creationId xmlns:p14="http://schemas.microsoft.com/office/powerpoint/2010/main" val="699589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DAAA332-DA58-0674-46C5-DB35A8B11FB2}"/>
              </a:ext>
            </a:extLst>
          </p:cNvPr>
          <p:cNvGrpSpPr/>
          <p:nvPr/>
        </p:nvGrpSpPr>
        <p:grpSpPr>
          <a:xfrm>
            <a:off x="478875" y="1081237"/>
            <a:ext cx="11234249" cy="4695525"/>
            <a:chOff x="390193" y="583324"/>
            <a:chExt cx="11234249" cy="4695525"/>
          </a:xfrm>
        </p:grpSpPr>
        <p:sp>
          <p:nvSpPr>
            <p:cNvPr id="6" name="Rectangle 5">
              <a:extLst>
                <a:ext uri="{FF2B5EF4-FFF2-40B4-BE49-F238E27FC236}">
                  <a16:creationId xmlns:a16="http://schemas.microsoft.com/office/drawing/2014/main" id="{8835C9B6-CFE1-CBE3-F0A4-EBD11D0BFE67}"/>
                </a:ext>
              </a:extLst>
            </p:cNvPr>
            <p:cNvSpPr/>
            <p:nvPr/>
          </p:nvSpPr>
          <p:spPr>
            <a:xfrm>
              <a:off x="4435364" y="607001"/>
              <a:ext cx="3074276"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Staging area</a:t>
              </a:r>
            </a:p>
          </p:txBody>
        </p:sp>
        <p:sp>
          <p:nvSpPr>
            <p:cNvPr id="7" name="Rectangle 6">
              <a:extLst>
                <a:ext uri="{FF2B5EF4-FFF2-40B4-BE49-F238E27FC236}">
                  <a16:creationId xmlns:a16="http://schemas.microsoft.com/office/drawing/2014/main" id="{2F5A1139-1EB3-7250-156D-04A46B7C195D}"/>
                </a:ext>
              </a:extLst>
            </p:cNvPr>
            <p:cNvSpPr/>
            <p:nvPr/>
          </p:nvSpPr>
          <p:spPr>
            <a:xfrm>
              <a:off x="390193" y="607229"/>
              <a:ext cx="2778671"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Working directory</a:t>
              </a:r>
            </a:p>
          </p:txBody>
        </p:sp>
        <p:sp>
          <p:nvSpPr>
            <p:cNvPr id="8" name="Rectangle 7">
              <a:extLst>
                <a:ext uri="{FF2B5EF4-FFF2-40B4-BE49-F238E27FC236}">
                  <a16:creationId xmlns:a16="http://schemas.microsoft.com/office/drawing/2014/main" id="{DE07B709-49F5-E382-7617-CE173E7A632D}"/>
                </a:ext>
              </a:extLst>
            </p:cNvPr>
            <p:cNvSpPr/>
            <p:nvPr/>
          </p:nvSpPr>
          <p:spPr>
            <a:xfrm>
              <a:off x="8776140" y="583324"/>
              <a:ext cx="2848302"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.git directory</a:t>
              </a:r>
            </a:p>
          </p:txBody>
        </p:sp>
        <p:cxnSp>
          <p:nvCxnSpPr>
            <p:cNvPr id="9" name="Straight Connector 8">
              <a:extLst>
                <a:ext uri="{FF2B5EF4-FFF2-40B4-BE49-F238E27FC236}">
                  <a16:creationId xmlns:a16="http://schemas.microsoft.com/office/drawing/2014/main" id="{BAC220A0-A379-04DD-45E7-CC1DBFD8E0BE}"/>
                </a:ext>
              </a:extLst>
            </p:cNvPr>
            <p:cNvCxnSpPr>
              <a:cxnSpLocks/>
            </p:cNvCxnSpPr>
            <p:nvPr/>
          </p:nvCxnSpPr>
          <p:spPr>
            <a:xfrm>
              <a:off x="1665889" y="1321705"/>
              <a:ext cx="0"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7639363-74C7-366E-A03D-5E4949116D93}"/>
                </a:ext>
              </a:extLst>
            </p:cNvPr>
            <p:cNvCxnSpPr/>
            <p:nvPr/>
          </p:nvCxnSpPr>
          <p:spPr>
            <a:xfrm flipH="1">
              <a:off x="5972503"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37D1A60-16EE-022D-072C-37CF6F45A1F5}"/>
                </a:ext>
              </a:extLst>
            </p:cNvPr>
            <p:cNvCxnSpPr/>
            <p:nvPr/>
          </p:nvCxnSpPr>
          <p:spPr>
            <a:xfrm flipH="1">
              <a:off x="10279116"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Right Arrow 11">
              <a:extLst>
                <a:ext uri="{FF2B5EF4-FFF2-40B4-BE49-F238E27FC236}">
                  <a16:creationId xmlns:a16="http://schemas.microsoft.com/office/drawing/2014/main" id="{38CBD498-04AC-CD27-8520-B954484C9651}"/>
                </a:ext>
              </a:extLst>
            </p:cNvPr>
            <p:cNvSpPr/>
            <p:nvPr/>
          </p:nvSpPr>
          <p:spPr>
            <a:xfrm>
              <a:off x="1665889" y="1602828"/>
              <a:ext cx="4306614" cy="1517374"/>
            </a:xfrm>
            <a:prstGeom prst="rightArrow">
              <a:avLst/>
            </a:prstGeom>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Stage file (git add)</a:t>
              </a:r>
            </a:p>
          </p:txBody>
        </p:sp>
        <p:sp>
          <p:nvSpPr>
            <p:cNvPr id="13" name="Right Arrow 12">
              <a:extLst>
                <a:ext uri="{FF2B5EF4-FFF2-40B4-BE49-F238E27FC236}">
                  <a16:creationId xmlns:a16="http://schemas.microsoft.com/office/drawing/2014/main" id="{EBE2CDCE-28DE-D274-70C8-EACAB8ED7131}"/>
                </a:ext>
              </a:extLst>
            </p:cNvPr>
            <p:cNvSpPr/>
            <p:nvPr/>
          </p:nvSpPr>
          <p:spPr>
            <a:xfrm>
              <a:off x="5972502" y="1898860"/>
              <a:ext cx="4306614" cy="1766566"/>
            </a:xfrm>
            <a:prstGeom prst="rightArrow">
              <a:avLst/>
            </a:prstGeom>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(git commit -m “message”)</a:t>
              </a:r>
            </a:p>
          </p:txBody>
        </p:sp>
        <p:sp>
          <p:nvSpPr>
            <p:cNvPr id="14" name="Left Arrow 13">
              <a:extLst>
                <a:ext uri="{FF2B5EF4-FFF2-40B4-BE49-F238E27FC236}">
                  <a16:creationId xmlns:a16="http://schemas.microsoft.com/office/drawing/2014/main" id="{4B9B6D73-925A-A5C6-D3A7-2DD0B4B27997}"/>
                </a:ext>
              </a:extLst>
            </p:cNvPr>
            <p:cNvSpPr/>
            <p:nvPr/>
          </p:nvSpPr>
          <p:spPr>
            <a:xfrm>
              <a:off x="1665889" y="3416234"/>
              <a:ext cx="8613227" cy="1798497"/>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saved version (git checkout or git restore)</a:t>
              </a:r>
            </a:p>
          </p:txBody>
        </p:sp>
      </p:grpSp>
    </p:spTree>
    <p:extLst>
      <p:ext uri="{BB962C8B-B14F-4D97-AF65-F5344CB8AC3E}">
        <p14:creationId xmlns:p14="http://schemas.microsoft.com/office/powerpoint/2010/main" val="2295596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3AA3961-D424-E3D5-2B9D-43ECE817C00F}"/>
              </a:ext>
            </a:extLst>
          </p:cNvPr>
          <p:cNvSpPr/>
          <p:nvPr/>
        </p:nvSpPr>
        <p:spPr>
          <a:xfrm>
            <a:off x="7940231" y="1684693"/>
            <a:ext cx="2604305" cy="2950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79D55745-9C8A-239F-C408-013B66081BCD}"/>
              </a:ext>
            </a:extLst>
          </p:cNvPr>
          <p:cNvGrpSpPr/>
          <p:nvPr/>
        </p:nvGrpSpPr>
        <p:grpSpPr>
          <a:xfrm>
            <a:off x="675022" y="2572473"/>
            <a:ext cx="3526588" cy="2265744"/>
            <a:chOff x="390193" y="583324"/>
            <a:chExt cx="11234249" cy="4695525"/>
          </a:xfrm>
        </p:grpSpPr>
        <p:sp>
          <p:nvSpPr>
            <p:cNvPr id="3" name="Rectangle 2">
              <a:extLst>
                <a:ext uri="{FF2B5EF4-FFF2-40B4-BE49-F238E27FC236}">
                  <a16:creationId xmlns:a16="http://schemas.microsoft.com/office/drawing/2014/main" id="{F9EDBE7F-943E-745D-DECE-ED3EE1369C8D}"/>
                </a:ext>
              </a:extLst>
            </p:cNvPr>
            <p:cNvSpPr/>
            <p:nvPr/>
          </p:nvSpPr>
          <p:spPr>
            <a:xfrm>
              <a:off x="4435364" y="607001"/>
              <a:ext cx="3074276"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Staging area</a:t>
              </a:r>
            </a:p>
          </p:txBody>
        </p:sp>
        <p:sp>
          <p:nvSpPr>
            <p:cNvPr id="4" name="Rectangle 3">
              <a:extLst>
                <a:ext uri="{FF2B5EF4-FFF2-40B4-BE49-F238E27FC236}">
                  <a16:creationId xmlns:a16="http://schemas.microsoft.com/office/drawing/2014/main" id="{39B96967-642C-21A1-5D7C-BD87ED536219}"/>
                </a:ext>
              </a:extLst>
            </p:cNvPr>
            <p:cNvSpPr/>
            <p:nvPr/>
          </p:nvSpPr>
          <p:spPr>
            <a:xfrm>
              <a:off x="390193" y="607229"/>
              <a:ext cx="2778671"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Working directory</a:t>
              </a:r>
            </a:p>
          </p:txBody>
        </p:sp>
        <p:sp>
          <p:nvSpPr>
            <p:cNvPr id="5" name="Rectangle 4">
              <a:extLst>
                <a:ext uri="{FF2B5EF4-FFF2-40B4-BE49-F238E27FC236}">
                  <a16:creationId xmlns:a16="http://schemas.microsoft.com/office/drawing/2014/main" id="{C5CD61E8-0E34-50AC-BEC2-F9DE17EFF379}"/>
                </a:ext>
              </a:extLst>
            </p:cNvPr>
            <p:cNvSpPr/>
            <p:nvPr/>
          </p:nvSpPr>
          <p:spPr>
            <a:xfrm>
              <a:off x="8776140" y="583324"/>
              <a:ext cx="2848302"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.git directory</a:t>
              </a:r>
            </a:p>
          </p:txBody>
        </p:sp>
        <p:cxnSp>
          <p:nvCxnSpPr>
            <p:cNvPr id="6" name="Straight Connector 5">
              <a:extLst>
                <a:ext uri="{FF2B5EF4-FFF2-40B4-BE49-F238E27FC236}">
                  <a16:creationId xmlns:a16="http://schemas.microsoft.com/office/drawing/2014/main" id="{3CB43A85-3732-54D1-55C4-D74ACE977AE6}"/>
                </a:ext>
              </a:extLst>
            </p:cNvPr>
            <p:cNvCxnSpPr>
              <a:cxnSpLocks/>
            </p:cNvCxnSpPr>
            <p:nvPr/>
          </p:nvCxnSpPr>
          <p:spPr>
            <a:xfrm>
              <a:off x="1665889" y="1321705"/>
              <a:ext cx="0"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E637A8E-065E-851A-6342-1FACC334EC6E}"/>
                </a:ext>
              </a:extLst>
            </p:cNvPr>
            <p:cNvCxnSpPr/>
            <p:nvPr/>
          </p:nvCxnSpPr>
          <p:spPr>
            <a:xfrm flipH="1">
              <a:off x="5972503"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F8407C8-3D0F-F117-2CE8-58120FDC4496}"/>
                </a:ext>
              </a:extLst>
            </p:cNvPr>
            <p:cNvCxnSpPr/>
            <p:nvPr/>
          </p:nvCxnSpPr>
          <p:spPr>
            <a:xfrm flipH="1">
              <a:off x="10279116"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Right Arrow 8">
              <a:extLst>
                <a:ext uri="{FF2B5EF4-FFF2-40B4-BE49-F238E27FC236}">
                  <a16:creationId xmlns:a16="http://schemas.microsoft.com/office/drawing/2014/main" id="{F80CAC05-7809-C3DE-68C3-085CFC6801DD}"/>
                </a:ext>
              </a:extLst>
            </p:cNvPr>
            <p:cNvSpPr/>
            <p:nvPr/>
          </p:nvSpPr>
          <p:spPr>
            <a:xfrm>
              <a:off x="1665889" y="1602828"/>
              <a:ext cx="4306614" cy="980660"/>
            </a:xfrm>
            <a:prstGeom prst="rightArrow">
              <a:avLst/>
            </a:prstGeom>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Stage</a:t>
              </a:r>
            </a:p>
          </p:txBody>
        </p:sp>
        <p:sp>
          <p:nvSpPr>
            <p:cNvPr id="10" name="Right Arrow 9">
              <a:extLst>
                <a:ext uri="{FF2B5EF4-FFF2-40B4-BE49-F238E27FC236}">
                  <a16:creationId xmlns:a16="http://schemas.microsoft.com/office/drawing/2014/main" id="{127BF359-CC03-E1C7-9C32-34FEC632EFD4}"/>
                </a:ext>
              </a:extLst>
            </p:cNvPr>
            <p:cNvSpPr/>
            <p:nvPr/>
          </p:nvSpPr>
          <p:spPr>
            <a:xfrm>
              <a:off x="5972502" y="2574978"/>
              <a:ext cx="4306614" cy="1090448"/>
            </a:xfrm>
            <a:prstGeom prst="rightArrow">
              <a:avLst/>
            </a:prstGeom>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Commit</a:t>
              </a:r>
            </a:p>
          </p:txBody>
        </p:sp>
        <p:sp>
          <p:nvSpPr>
            <p:cNvPr id="11" name="Left Arrow 10">
              <a:extLst>
                <a:ext uri="{FF2B5EF4-FFF2-40B4-BE49-F238E27FC236}">
                  <a16:creationId xmlns:a16="http://schemas.microsoft.com/office/drawing/2014/main" id="{51DBFF28-6D23-265A-5B6C-CA2B09FDCEA0}"/>
                </a:ext>
              </a:extLst>
            </p:cNvPr>
            <p:cNvSpPr/>
            <p:nvPr/>
          </p:nvSpPr>
          <p:spPr>
            <a:xfrm>
              <a:off x="1665889" y="3697357"/>
              <a:ext cx="8613227" cy="98066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Checkout</a:t>
              </a:r>
            </a:p>
          </p:txBody>
        </p:sp>
      </p:grpSp>
      <p:grpSp>
        <p:nvGrpSpPr>
          <p:cNvPr id="12" name="Group 11">
            <a:extLst>
              <a:ext uri="{FF2B5EF4-FFF2-40B4-BE49-F238E27FC236}">
                <a16:creationId xmlns:a16="http://schemas.microsoft.com/office/drawing/2014/main" id="{22F05476-54E3-8F01-5027-2144C84288F4}"/>
              </a:ext>
            </a:extLst>
          </p:cNvPr>
          <p:cNvGrpSpPr/>
          <p:nvPr/>
        </p:nvGrpSpPr>
        <p:grpSpPr>
          <a:xfrm>
            <a:off x="675022" y="1597455"/>
            <a:ext cx="3526588" cy="3252486"/>
            <a:chOff x="1126435" y="2442258"/>
            <a:chExt cx="3526588" cy="3252486"/>
          </a:xfrm>
        </p:grpSpPr>
        <p:sp>
          <p:nvSpPr>
            <p:cNvPr id="13" name="Rectangle 12">
              <a:extLst>
                <a:ext uri="{FF2B5EF4-FFF2-40B4-BE49-F238E27FC236}">
                  <a16:creationId xmlns:a16="http://schemas.microsoft.com/office/drawing/2014/main" id="{A4D43AAF-1376-4589-B0DD-F6243648AB5E}"/>
                </a:ext>
              </a:extLst>
            </p:cNvPr>
            <p:cNvSpPr/>
            <p:nvPr/>
          </p:nvSpPr>
          <p:spPr>
            <a:xfrm>
              <a:off x="1126435" y="2442258"/>
              <a:ext cx="3526588" cy="325248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AA602A9-6CD5-094F-5333-B7CB8F1187A6}"/>
                </a:ext>
              </a:extLst>
            </p:cNvPr>
            <p:cNvSpPr txBox="1"/>
            <p:nvPr/>
          </p:nvSpPr>
          <p:spPr>
            <a:xfrm>
              <a:off x="2083068" y="2649569"/>
              <a:ext cx="1471685" cy="461665"/>
            </a:xfrm>
            <a:prstGeom prst="rect">
              <a:avLst/>
            </a:prstGeom>
            <a:noFill/>
          </p:spPr>
          <p:txBody>
            <a:bodyPr wrap="none" rtlCol="0" anchor="ctr">
              <a:spAutoFit/>
            </a:bodyPr>
            <a:lstStyle/>
            <a:p>
              <a:pPr algn="ctr"/>
              <a:r>
                <a:rPr lang="en-US" sz="2400" dirty="0"/>
                <a:t>Local repo</a:t>
              </a:r>
            </a:p>
          </p:txBody>
        </p:sp>
      </p:grpSp>
      <p:pic>
        <p:nvPicPr>
          <p:cNvPr id="15" name="Picture 14" descr="A black cat with a white circle in the background&#10;&#10;Description automatically generated">
            <a:extLst>
              <a:ext uri="{FF2B5EF4-FFF2-40B4-BE49-F238E27FC236}">
                <a16:creationId xmlns:a16="http://schemas.microsoft.com/office/drawing/2014/main" id="{143A0FF2-A0D1-B78F-3196-91E5A95B2343}"/>
              </a:ext>
            </a:extLst>
          </p:cNvPr>
          <p:cNvPicPr>
            <a:picLocks noChangeAspect="1"/>
          </p:cNvPicPr>
          <p:nvPr/>
        </p:nvPicPr>
        <p:blipFill>
          <a:blip r:embed="rId3"/>
          <a:stretch>
            <a:fillRect/>
          </a:stretch>
        </p:blipFill>
        <p:spPr>
          <a:xfrm>
            <a:off x="8576058" y="3130093"/>
            <a:ext cx="1332653" cy="1303682"/>
          </a:xfrm>
          <a:prstGeom prst="rect">
            <a:avLst/>
          </a:prstGeom>
        </p:spPr>
      </p:pic>
      <p:sp>
        <p:nvSpPr>
          <p:cNvPr id="16" name="Rectangle 15">
            <a:extLst>
              <a:ext uri="{FF2B5EF4-FFF2-40B4-BE49-F238E27FC236}">
                <a16:creationId xmlns:a16="http://schemas.microsoft.com/office/drawing/2014/main" id="{8E6A241B-14D0-7385-294C-57646F63C09B}"/>
              </a:ext>
            </a:extLst>
          </p:cNvPr>
          <p:cNvSpPr/>
          <p:nvPr/>
        </p:nvSpPr>
        <p:spPr>
          <a:xfrm>
            <a:off x="7940233" y="1693152"/>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dirty="0"/>
          </a:p>
          <a:p>
            <a:pPr algn="ctr"/>
            <a:r>
              <a:rPr lang="en-US" sz="2400" dirty="0"/>
              <a:t>Remote</a:t>
            </a:r>
          </a:p>
          <a:p>
            <a:pPr algn="ctr"/>
            <a:r>
              <a:rPr lang="en-US" sz="2400" dirty="0" err="1"/>
              <a:t>Your_name</a:t>
            </a:r>
            <a:r>
              <a:rPr lang="en-US" sz="2400" dirty="0"/>
              <a:t>/repo-name</a:t>
            </a:r>
          </a:p>
        </p:txBody>
      </p:sp>
      <p:sp>
        <p:nvSpPr>
          <p:cNvPr id="17" name="Right Arrow 16">
            <a:extLst>
              <a:ext uri="{FF2B5EF4-FFF2-40B4-BE49-F238E27FC236}">
                <a16:creationId xmlns:a16="http://schemas.microsoft.com/office/drawing/2014/main" id="{585D14FA-AC1F-8565-6D38-D4367441B711}"/>
              </a:ext>
            </a:extLst>
          </p:cNvPr>
          <p:cNvSpPr/>
          <p:nvPr/>
        </p:nvSpPr>
        <p:spPr>
          <a:xfrm>
            <a:off x="4324850" y="1784059"/>
            <a:ext cx="3445201" cy="960848"/>
          </a:xfrm>
          <a:prstGeom prst="rightArrow">
            <a:avLst/>
          </a:prstGeom>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Backup to remote (git push)</a:t>
            </a:r>
          </a:p>
        </p:txBody>
      </p:sp>
      <p:sp>
        <p:nvSpPr>
          <p:cNvPr id="18" name="Left Arrow 17">
            <a:extLst>
              <a:ext uri="{FF2B5EF4-FFF2-40B4-BE49-F238E27FC236}">
                <a16:creationId xmlns:a16="http://schemas.microsoft.com/office/drawing/2014/main" id="{018C979B-60C7-07DE-B182-8DE5F21E859D}"/>
              </a:ext>
            </a:extLst>
          </p:cNvPr>
          <p:cNvSpPr/>
          <p:nvPr/>
        </p:nvSpPr>
        <p:spPr>
          <a:xfrm>
            <a:off x="4258453" y="2861387"/>
            <a:ext cx="3406717" cy="101067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from remote (git pull)</a:t>
            </a:r>
          </a:p>
        </p:txBody>
      </p:sp>
      <p:sp>
        <p:nvSpPr>
          <p:cNvPr id="20" name="TextBox 19">
            <a:extLst>
              <a:ext uri="{FF2B5EF4-FFF2-40B4-BE49-F238E27FC236}">
                <a16:creationId xmlns:a16="http://schemas.microsoft.com/office/drawing/2014/main" id="{6825E38D-0A45-ACA0-6736-A52DC10BC533}"/>
              </a:ext>
            </a:extLst>
          </p:cNvPr>
          <p:cNvSpPr txBox="1"/>
          <p:nvPr/>
        </p:nvSpPr>
        <p:spPr>
          <a:xfrm>
            <a:off x="1037036" y="5350185"/>
            <a:ext cx="2660921" cy="369332"/>
          </a:xfrm>
          <a:prstGeom prst="rect">
            <a:avLst/>
          </a:prstGeom>
          <a:noFill/>
        </p:spPr>
        <p:txBody>
          <a:bodyPr wrap="none" rtlCol="0">
            <a:spAutoFit/>
          </a:bodyPr>
          <a:lstStyle/>
          <a:p>
            <a:r>
              <a:rPr lang="en-US"/>
              <a:t>git on your local machine</a:t>
            </a:r>
          </a:p>
        </p:txBody>
      </p:sp>
      <p:sp>
        <p:nvSpPr>
          <p:cNvPr id="21" name="TextBox 20">
            <a:extLst>
              <a:ext uri="{FF2B5EF4-FFF2-40B4-BE49-F238E27FC236}">
                <a16:creationId xmlns:a16="http://schemas.microsoft.com/office/drawing/2014/main" id="{6730FA62-9395-3A34-CA6A-3D78F85CDC7E}"/>
              </a:ext>
            </a:extLst>
          </p:cNvPr>
          <p:cNvSpPr txBox="1"/>
          <p:nvPr/>
        </p:nvSpPr>
        <p:spPr>
          <a:xfrm>
            <a:off x="7940231" y="5342759"/>
            <a:ext cx="2732928" cy="369332"/>
          </a:xfrm>
          <a:prstGeom prst="rect">
            <a:avLst/>
          </a:prstGeom>
          <a:noFill/>
        </p:spPr>
        <p:txBody>
          <a:bodyPr wrap="none" rtlCol="0">
            <a:spAutoFit/>
          </a:bodyPr>
          <a:lstStyle/>
          <a:p>
            <a:r>
              <a:rPr lang="en-US"/>
              <a:t>GitHub on remote servers</a:t>
            </a:r>
          </a:p>
        </p:txBody>
      </p:sp>
    </p:spTree>
    <p:extLst>
      <p:ext uri="{BB962C8B-B14F-4D97-AF65-F5344CB8AC3E}">
        <p14:creationId xmlns:p14="http://schemas.microsoft.com/office/powerpoint/2010/main" val="591984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reenshot of the &quot;Let's get started!&quot; view in GitHub Desktop.">
            <a:extLst>
              <a:ext uri="{FF2B5EF4-FFF2-40B4-BE49-F238E27FC236}">
                <a16:creationId xmlns:a16="http://schemas.microsoft.com/office/drawing/2014/main" id="{54E0390C-4A98-8EA0-CF61-85DD3180A8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1000" y="561954"/>
            <a:ext cx="7018614" cy="54425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285D47F-99B9-E665-D648-53DE29A58D30}"/>
              </a:ext>
            </a:extLst>
          </p:cNvPr>
          <p:cNvSpPr>
            <a:spLocks noGrp="1"/>
          </p:cNvSpPr>
          <p:nvPr>
            <p:ph type="title"/>
          </p:nvPr>
        </p:nvSpPr>
        <p:spPr/>
        <p:txBody>
          <a:bodyPr/>
          <a:lstStyle/>
          <a:p>
            <a:r>
              <a:rPr lang="en-US"/>
              <a:t>First steps</a:t>
            </a:r>
          </a:p>
        </p:txBody>
      </p:sp>
      <p:sp>
        <p:nvSpPr>
          <p:cNvPr id="4" name="Text Placeholder 3">
            <a:extLst>
              <a:ext uri="{FF2B5EF4-FFF2-40B4-BE49-F238E27FC236}">
                <a16:creationId xmlns:a16="http://schemas.microsoft.com/office/drawing/2014/main" id="{005E3074-9A46-97C0-5191-77BA2ED205FD}"/>
              </a:ext>
            </a:extLst>
          </p:cNvPr>
          <p:cNvSpPr>
            <a:spLocks noGrp="1"/>
          </p:cNvSpPr>
          <p:nvPr>
            <p:ph type="body" sz="half" idx="2"/>
          </p:nvPr>
        </p:nvSpPr>
        <p:spPr>
          <a:xfrm>
            <a:off x="401361" y="2073349"/>
            <a:ext cx="4599639" cy="3811588"/>
          </a:xfrm>
        </p:spPr>
        <p:txBody>
          <a:bodyPr>
            <a:normAutofit/>
          </a:bodyPr>
          <a:lstStyle/>
          <a:p>
            <a:pPr marL="285750" indent="-285750">
              <a:buFont typeface="Arial" panose="020B0604020202020204" pitchFamily="34" charset="0"/>
              <a:buChar char="•"/>
            </a:pPr>
            <a:r>
              <a:rPr lang="en-US" sz="1800"/>
              <a:t>Create a GitHub account</a:t>
            </a:r>
          </a:p>
          <a:p>
            <a:pPr marL="285750" indent="-285750">
              <a:buFont typeface="Arial" panose="020B0604020202020204" pitchFamily="34" charset="0"/>
              <a:buChar char="•"/>
            </a:pPr>
            <a:r>
              <a:rPr lang="en-US" sz="1800"/>
              <a:t>Download and install GitHub Desktop</a:t>
            </a:r>
          </a:p>
          <a:p>
            <a:pPr marL="285750" indent="-285750">
              <a:buFont typeface="Arial" panose="020B0604020202020204" pitchFamily="34" charset="0"/>
              <a:buChar char="•"/>
            </a:pPr>
            <a:r>
              <a:rPr lang="en-US" sz="1800"/>
              <a:t>Link GitHub Desktop to your account</a:t>
            </a:r>
          </a:p>
          <a:p>
            <a:pPr marL="285750" indent="-285750">
              <a:buFont typeface="Arial" panose="020B0604020202020204" pitchFamily="34" charset="0"/>
              <a:buChar char="•"/>
            </a:pPr>
            <a:r>
              <a:rPr lang="en-US" sz="1800"/>
              <a:t>You should see something like this -&gt;</a:t>
            </a:r>
          </a:p>
          <a:p>
            <a:pPr marL="285750" indent="-285750">
              <a:buFont typeface="Arial" panose="020B0604020202020204" pitchFamily="34" charset="0"/>
              <a:buChar char="•"/>
            </a:pPr>
            <a:r>
              <a:rPr lang="en-US" sz="1800"/>
              <a:t>Click “Create a New Repository”</a:t>
            </a:r>
          </a:p>
        </p:txBody>
      </p:sp>
      <p:sp>
        <p:nvSpPr>
          <p:cNvPr id="6" name="Frame 5">
            <a:extLst>
              <a:ext uri="{FF2B5EF4-FFF2-40B4-BE49-F238E27FC236}">
                <a16:creationId xmlns:a16="http://schemas.microsoft.com/office/drawing/2014/main" id="{EF4C2BAF-AEA6-AC67-7B21-27FA6CE73501}"/>
              </a:ext>
            </a:extLst>
          </p:cNvPr>
          <p:cNvSpPr/>
          <p:nvPr/>
        </p:nvSpPr>
        <p:spPr>
          <a:xfrm>
            <a:off x="5229975" y="4082902"/>
            <a:ext cx="6592186" cy="786809"/>
          </a:xfrm>
          <a:prstGeom prst="fram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40548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25A5E-7461-350C-D501-9629BB2E4CD1}"/>
              </a:ext>
            </a:extLst>
          </p:cNvPr>
          <p:cNvSpPr>
            <a:spLocks noGrp="1"/>
          </p:cNvSpPr>
          <p:nvPr>
            <p:ph type="title"/>
          </p:nvPr>
        </p:nvSpPr>
        <p:spPr/>
        <p:txBody>
          <a:bodyPr/>
          <a:lstStyle/>
          <a:p>
            <a:r>
              <a:rPr lang="en-US"/>
              <a:t>Creating your first repo</a:t>
            </a:r>
          </a:p>
        </p:txBody>
      </p:sp>
      <p:pic>
        <p:nvPicPr>
          <p:cNvPr id="6" name="Picture Placeholder 5" descr="A screenshot of a computer&#10;&#10;AI-generated content may be incorrect.">
            <a:extLst>
              <a:ext uri="{FF2B5EF4-FFF2-40B4-BE49-F238E27FC236}">
                <a16:creationId xmlns:a16="http://schemas.microsoft.com/office/drawing/2014/main" id="{5B85AFC2-A943-CD2F-7908-DD18D075B876}"/>
              </a:ext>
            </a:extLst>
          </p:cNvPr>
          <p:cNvPicPr>
            <a:picLocks noGrp="1" noChangeAspect="1"/>
          </p:cNvPicPr>
          <p:nvPr>
            <p:ph type="pic" idx="1"/>
          </p:nvPr>
        </p:nvPicPr>
        <p:blipFill>
          <a:blip r:embed="rId3"/>
          <a:srcRect t="18112" b="18112"/>
          <a:stretch>
            <a:fillRect/>
          </a:stretch>
        </p:blipFill>
        <p:spPr/>
      </p:pic>
      <p:sp>
        <p:nvSpPr>
          <p:cNvPr id="4" name="Text Placeholder 3">
            <a:extLst>
              <a:ext uri="{FF2B5EF4-FFF2-40B4-BE49-F238E27FC236}">
                <a16:creationId xmlns:a16="http://schemas.microsoft.com/office/drawing/2014/main" id="{42221A92-6981-FE21-46DB-B56AF0D52718}"/>
              </a:ext>
            </a:extLst>
          </p:cNvPr>
          <p:cNvSpPr>
            <a:spLocks noGrp="1"/>
          </p:cNvSpPr>
          <p:nvPr>
            <p:ph type="body" sz="half" idx="2"/>
          </p:nvPr>
        </p:nvSpPr>
        <p:spPr/>
        <p:txBody>
          <a:bodyPr/>
          <a:lstStyle/>
          <a:p>
            <a:pPr marL="285750" indent="-285750">
              <a:buFont typeface="Arial" panose="020B0604020202020204" pitchFamily="34" charset="0"/>
              <a:buChar char="•"/>
            </a:pPr>
            <a:r>
              <a:rPr lang="en-US" sz="1800"/>
              <a:t>Makes a new folder AKA repo</a:t>
            </a:r>
          </a:p>
          <a:p>
            <a:pPr marL="285750" indent="-285750">
              <a:buFont typeface="Arial" panose="020B0604020202020204" pitchFamily="34" charset="0"/>
              <a:buChar char="•"/>
            </a:pPr>
            <a:r>
              <a:rPr lang="en-US" sz="1800"/>
              <a:t>No spaces in repo name</a:t>
            </a:r>
          </a:p>
          <a:p>
            <a:pPr marL="285750" indent="-285750">
              <a:buFont typeface="Arial" panose="020B0604020202020204" pitchFamily="34" charset="0"/>
              <a:buChar char="•"/>
            </a:pPr>
            <a:r>
              <a:rPr lang="en-US" sz="1800"/>
              <a:t>MIT license: Anyone can use (including commercially) as long as credit is given</a:t>
            </a:r>
          </a:p>
          <a:p>
            <a:pPr marL="285750" indent="-285750">
              <a:buFont typeface="Arial" panose="020B0604020202020204" pitchFamily="34" charset="0"/>
              <a:buChar char="•"/>
            </a:pPr>
            <a:r>
              <a:rPr lang="en-US" sz="1800"/>
              <a:t>GNU GPLv3: Anyone can use (including commercially) as long as credit is given and changes are record. No proprietary uses.</a:t>
            </a:r>
          </a:p>
        </p:txBody>
      </p:sp>
    </p:spTree>
    <p:extLst>
      <p:ext uri="{BB962C8B-B14F-4D97-AF65-F5344CB8AC3E}">
        <p14:creationId xmlns:p14="http://schemas.microsoft.com/office/powerpoint/2010/main" val="2407840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6" name="Rectangle 2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8" name="Rectangle 2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0" name="Freeform: Shape 2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CE6B461-F08C-38F2-8AD7-F3C57F62CB1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Open Licenses</a:t>
            </a:r>
          </a:p>
        </p:txBody>
      </p:sp>
      <p:pic>
        <p:nvPicPr>
          <p:cNvPr id="4" name="Picture 3" descr="A table of informational data&#10;&#10;AI-generated content may be incorrect.">
            <a:extLst>
              <a:ext uri="{FF2B5EF4-FFF2-40B4-BE49-F238E27FC236}">
                <a16:creationId xmlns:a16="http://schemas.microsoft.com/office/drawing/2014/main" id="{9492B0DC-DFD8-69D6-A4F0-8C61EE3212E7}"/>
              </a:ext>
            </a:extLst>
          </p:cNvPr>
          <p:cNvPicPr>
            <a:picLocks noChangeAspect="1"/>
          </p:cNvPicPr>
          <p:nvPr/>
        </p:nvPicPr>
        <p:blipFill>
          <a:blip r:embed="rId3"/>
          <a:stretch>
            <a:fillRect/>
          </a:stretch>
        </p:blipFill>
        <p:spPr>
          <a:xfrm>
            <a:off x="4502428" y="1125794"/>
            <a:ext cx="7225748" cy="4606412"/>
          </a:xfrm>
          <a:prstGeom prst="rect">
            <a:avLst/>
          </a:prstGeom>
        </p:spPr>
      </p:pic>
      <p:sp>
        <p:nvSpPr>
          <p:cNvPr id="5" name="TextBox 4">
            <a:extLst>
              <a:ext uri="{FF2B5EF4-FFF2-40B4-BE49-F238E27FC236}">
                <a16:creationId xmlns:a16="http://schemas.microsoft.com/office/drawing/2014/main" id="{A515B2D9-18EE-43E9-3085-12E6E771A473}"/>
              </a:ext>
            </a:extLst>
          </p:cNvPr>
          <p:cNvSpPr txBox="1"/>
          <p:nvPr/>
        </p:nvSpPr>
        <p:spPr>
          <a:xfrm>
            <a:off x="4502428" y="6184856"/>
            <a:ext cx="775411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kGroteskNeue"/>
                <a:ea typeface="+mn-ea"/>
                <a:cs typeface="+mn-cs"/>
              </a:rPr>
              <a:t>Hall, M. (2021, February 17). Which open </a:t>
            </a:r>
            <a:r>
              <a:rPr kumimoji="0" lang="en-US" sz="1400" b="0" i="0" u="none" strike="noStrike" kern="1200" cap="none" spc="0" normalizeH="0" baseline="0" noProof="0" dirty="0" err="1">
                <a:ln>
                  <a:noFill/>
                </a:ln>
                <a:solidFill>
                  <a:prstClr val="black"/>
                </a:solidFill>
                <a:effectLst/>
                <a:uLnTx/>
                <a:uFillTx/>
                <a:latin typeface="fkGroteskNeue"/>
                <a:ea typeface="+mn-ea"/>
                <a:cs typeface="+mn-cs"/>
              </a:rPr>
              <a:t>licence</a:t>
            </a:r>
            <a:r>
              <a:rPr kumimoji="0" lang="en-US" sz="1400" b="0" i="0" u="none" strike="noStrike" kern="1200" cap="none" spc="0" normalizeH="0" baseline="0" noProof="0" dirty="0">
                <a:ln>
                  <a:noFill/>
                </a:ln>
                <a:solidFill>
                  <a:prstClr val="black"/>
                </a:solidFill>
                <a:effectLst/>
                <a:uLnTx/>
                <a:uFillTx/>
                <a:latin typeface="fkGroteskNeue"/>
                <a:ea typeface="+mn-ea"/>
                <a:cs typeface="+mn-cs"/>
              </a:rPr>
              <a:t> should I choose? Agile Scientific. Retrieved February 12, 2025, from </a:t>
            </a:r>
            <a:r>
              <a:rPr kumimoji="0" lang="en-US" sz="1400" b="0" i="0" u="none" strike="noStrike" kern="1200" cap="none" spc="0" normalizeH="0" baseline="0" noProof="0" dirty="0">
                <a:ln>
                  <a:noFill/>
                </a:ln>
                <a:solidFill>
                  <a:prstClr val="black"/>
                </a:solidFill>
                <a:effectLst/>
                <a:uLnTx/>
                <a:uFillTx/>
                <a:latin typeface="fkGroteskNeue"/>
                <a:ea typeface="+mn-ea"/>
                <a:cs typeface="+mn-cs"/>
                <a:hlinkClick r:id="rId4"/>
              </a:rPr>
              <a:t>https://agilescientific.com/blog/2021/2/17/which-open-licence-should-i-choose</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7074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screenshot of a computer&#10;&#10;AI-generated content may be incorrect.">
            <a:extLst>
              <a:ext uri="{FF2B5EF4-FFF2-40B4-BE49-F238E27FC236}">
                <a16:creationId xmlns:a16="http://schemas.microsoft.com/office/drawing/2014/main" id="{E9BD643F-3891-EF92-BB88-B339E3113D83}"/>
              </a:ext>
            </a:extLst>
          </p:cNvPr>
          <p:cNvPicPr>
            <a:picLocks noGrp="1" noRot="1" noChangeAspect="1" noMove="1" noResize="1" noEditPoints="1" noAdjustHandles="1" noChangeArrowheads="1" noChangeShapeType="1" noCrop="1"/>
          </p:cNvPicPr>
          <p:nvPr/>
        </p:nvPicPr>
        <p:blipFill>
          <a:blip r:embed="rId3"/>
          <a:stretch>
            <a:fillRect/>
          </a:stretch>
        </p:blipFill>
        <p:spPr>
          <a:xfrm>
            <a:off x="1634553" y="0"/>
            <a:ext cx="10281079" cy="7315200"/>
          </a:xfrm>
          <a:prstGeom prst="rect">
            <a:avLst/>
          </a:prstGeom>
        </p:spPr>
      </p:pic>
      <p:grpSp>
        <p:nvGrpSpPr>
          <p:cNvPr id="31" name="Group 30">
            <a:extLst>
              <a:ext uri="{FF2B5EF4-FFF2-40B4-BE49-F238E27FC236}">
                <a16:creationId xmlns:a16="http://schemas.microsoft.com/office/drawing/2014/main" id="{B831E353-7BF3-09FB-06C3-6F98C222C1A8}"/>
              </a:ext>
            </a:extLst>
          </p:cNvPr>
          <p:cNvGrpSpPr/>
          <p:nvPr/>
        </p:nvGrpSpPr>
        <p:grpSpPr>
          <a:xfrm>
            <a:off x="41487" y="2664551"/>
            <a:ext cx="2065609" cy="369332"/>
            <a:chOff x="41487" y="2664551"/>
            <a:chExt cx="2065609" cy="369332"/>
          </a:xfrm>
        </p:grpSpPr>
        <p:cxnSp>
          <p:nvCxnSpPr>
            <p:cNvPr id="18" name="Straight Arrow Connector 17">
              <a:extLst>
                <a:ext uri="{FF2B5EF4-FFF2-40B4-BE49-F238E27FC236}">
                  <a16:creationId xmlns:a16="http://schemas.microsoft.com/office/drawing/2014/main" id="{4BA08A68-1056-81CB-ACCA-03255D22B385}"/>
                </a:ext>
              </a:extLst>
            </p:cNvPr>
            <p:cNvCxnSpPr>
              <a:cxnSpLocks/>
            </p:cNvCxnSpPr>
            <p:nvPr/>
          </p:nvCxnSpPr>
          <p:spPr>
            <a:xfrm>
              <a:off x="1272209" y="2849217"/>
              <a:ext cx="83488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CCB50F6-A518-465D-4D44-A01E9365F669}"/>
                </a:ext>
              </a:extLst>
            </p:cNvPr>
            <p:cNvSpPr txBox="1"/>
            <p:nvPr/>
          </p:nvSpPr>
          <p:spPr>
            <a:xfrm>
              <a:off x="41487" y="2664551"/>
              <a:ext cx="1230722" cy="369332"/>
            </a:xfrm>
            <a:prstGeom prst="rect">
              <a:avLst/>
            </a:prstGeom>
            <a:noFill/>
          </p:spPr>
          <p:txBody>
            <a:bodyPr wrap="none" rtlCol="0">
              <a:spAutoFit/>
            </a:bodyPr>
            <a:lstStyle/>
            <a:p>
              <a:r>
                <a:rPr lang="en-US"/>
                <a:t>not staged</a:t>
              </a:r>
            </a:p>
          </p:txBody>
        </p:sp>
      </p:grpSp>
      <p:grpSp>
        <p:nvGrpSpPr>
          <p:cNvPr id="32" name="Group 31">
            <a:extLst>
              <a:ext uri="{FF2B5EF4-FFF2-40B4-BE49-F238E27FC236}">
                <a16:creationId xmlns:a16="http://schemas.microsoft.com/office/drawing/2014/main" id="{FC3F5F94-F976-57CD-FBB1-D9FA254A4013}"/>
              </a:ext>
            </a:extLst>
          </p:cNvPr>
          <p:cNvGrpSpPr/>
          <p:nvPr/>
        </p:nvGrpSpPr>
        <p:grpSpPr>
          <a:xfrm>
            <a:off x="229038" y="1683026"/>
            <a:ext cx="1878058" cy="981525"/>
            <a:chOff x="229038" y="1683026"/>
            <a:chExt cx="1878058" cy="981525"/>
          </a:xfrm>
        </p:grpSpPr>
        <p:sp>
          <p:nvSpPr>
            <p:cNvPr id="22" name="TextBox 21">
              <a:extLst>
                <a:ext uri="{FF2B5EF4-FFF2-40B4-BE49-F238E27FC236}">
                  <a16:creationId xmlns:a16="http://schemas.microsoft.com/office/drawing/2014/main" id="{8F3FF9F8-EE13-43EB-B7EF-8EEA668C03EF}"/>
                </a:ext>
              </a:extLst>
            </p:cNvPr>
            <p:cNvSpPr txBox="1"/>
            <p:nvPr/>
          </p:nvSpPr>
          <p:spPr>
            <a:xfrm>
              <a:off x="229038" y="1989123"/>
              <a:ext cx="855619" cy="369332"/>
            </a:xfrm>
            <a:prstGeom prst="rect">
              <a:avLst/>
            </a:prstGeom>
            <a:noFill/>
          </p:spPr>
          <p:txBody>
            <a:bodyPr wrap="none" rtlCol="0">
              <a:spAutoFit/>
            </a:bodyPr>
            <a:lstStyle/>
            <a:p>
              <a:r>
                <a:rPr lang="en-US"/>
                <a:t>staged</a:t>
              </a:r>
            </a:p>
          </p:txBody>
        </p:sp>
        <p:sp>
          <p:nvSpPr>
            <p:cNvPr id="23" name="Left Brace 22">
              <a:extLst>
                <a:ext uri="{FF2B5EF4-FFF2-40B4-BE49-F238E27FC236}">
                  <a16:creationId xmlns:a16="http://schemas.microsoft.com/office/drawing/2014/main" id="{C5B5B27C-E379-A8FC-B051-509513611AA6}"/>
                </a:ext>
              </a:extLst>
            </p:cNvPr>
            <p:cNvSpPr/>
            <p:nvPr/>
          </p:nvSpPr>
          <p:spPr>
            <a:xfrm>
              <a:off x="1251477" y="1683026"/>
              <a:ext cx="855619" cy="98152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6408680B-3C29-0E6C-B109-779D976CBED0}"/>
              </a:ext>
            </a:extLst>
          </p:cNvPr>
          <p:cNvGrpSpPr/>
          <p:nvPr/>
        </p:nvGrpSpPr>
        <p:grpSpPr>
          <a:xfrm>
            <a:off x="5208104" y="3472934"/>
            <a:ext cx="2100948" cy="369332"/>
            <a:chOff x="5208104" y="3472934"/>
            <a:chExt cx="2100948" cy="369332"/>
          </a:xfrm>
        </p:grpSpPr>
        <p:cxnSp>
          <p:nvCxnSpPr>
            <p:cNvPr id="25" name="Straight Arrow Connector 24">
              <a:extLst>
                <a:ext uri="{FF2B5EF4-FFF2-40B4-BE49-F238E27FC236}">
                  <a16:creationId xmlns:a16="http://schemas.microsoft.com/office/drawing/2014/main" id="{489550E1-F17F-8E25-B3D3-0A46C85DE25E}"/>
                </a:ext>
              </a:extLst>
            </p:cNvPr>
            <p:cNvCxnSpPr/>
            <p:nvPr/>
          </p:nvCxnSpPr>
          <p:spPr>
            <a:xfrm flipH="1">
              <a:off x="5208104" y="3657600"/>
              <a:ext cx="887896"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DA6F134F-F7D0-FCA3-23C4-383FE5745F36}"/>
                </a:ext>
              </a:extLst>
            </p:cNvPr>
            <p:cNvSpPr txBox="1"/>
            <p:nvPr/>
          </p:nvSpPr>
          <p:spPr>
            <a:xfrm>
              <a:off x="6241131" y="3472934"/>
              <a:ext cx="1067921" cy="369332"/>
            </a:xfrm>
            <a:prstGeom prst="rect">
              <a:avLst/>
            </a:prstGeom>
            <a:noFill/>
          </p:spPr>
          <p:txBody>
            <a:bodyPr wrap="none" rtlCol="0">
              <a:spAutoFit/>
            </a:bodyPr>
            <a:lstStyle/>
            <a:p>
              <a:r>
                <a:rPr lang="en-US"/>
                <a:t>modified</a:t>
              </a:r>
            </a:p>
          </p:txBody>
        </p:sp>
      </p:grpSp>
      <p:grpSp>
        <p:nvGrpSpPr>
          <p:cNvPr id="29" name="Group 28">
            <a:extLst>
              <a:ext uri="{FF2B5EF4-FFF2-40B4-BE49-F238E27FC236}">
                <a16:creationId xmlns:a16="http://schemas.microsoft.com/office/drawing/2014/main" id="{BFEAAC05-69DB-5D77-AD39-76B674D771A1}"/>
              </a:ext>
            </a:extLst>
          </p:cNvPr>
          <p:cNvGrpSpPr/>
          <p:nvPr/>
        </p:nvGrpSpPr>
        <p:grpSpPr>
          <a:xfrm>
            <a:off x="5194852" y="1683026"/>
            <a:ext cx="1577706" cy="1745974"/>
            <a:chOff x="5194852" y="1683026"/>
            <a:chExt cx="1577706" cy="1745974"/>
          </a:xfrm>
        </p:grpSpPr>
        <p:sp>
          <p:nvSpPr>
            <p:cNvPr id="27" name="Right Brace 26">
              <a:extLst>
                <a:ext uri="{FF2B5EF4-FFF2-40B4-BE49-F238E27FC236}">
                  <a16:creationId xmlns:a16="http://schemas.microsoft.com/office/drawing/2014/main" id="{079B213B-8D07-CA8C-E66B-C4E7722D3682}"/>
                </a:ext>
              </a:extLst>
            </p:cNvPr>
            <p:cNvSpPr/>
            <p:nvPr/>
          </p:nvSpPr>
          <p:spPr>
            <a:xfrm>
              <a:off x="5194852" y="1683026"/>
              <a:ext cx="503583" cy="1745974"/>
            </a:xfrm>
            <a:prstGeom prst="rightBrace">
              <a:avLst>
                <a:gd name="adj1" fmla="val 8333"/>
                <a:gd name="adj2" fmla="val 5075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7E96F90A-2CA5-0E2C-4F42-90F332404643}"/>
                </a:ext>
              </a:extLst>
            </p:cNvPr>
            <p:cNvSpPr txBox="1"/>
            <p:nvPr/>
          </p:nvSpPr>
          <p:spPr>
            <a:xfrm>
              <a:off x="5709703" y="2371347"/>
              <a:ext cx="1062855" cy="369332"/>
            </a:xfrm>
            <a:prstGeom prst="rect">
              <a:avLst/>
            </a:prstGeom>
            <a:noFill/>
          </p:spPr>
          <p:txBody>
            <a:bodyPr wrap="none" rtlCol="0">
              <a:spAutoFit/>
            </a:bodyPr>
            <a:lstStyle/>
            <a:p>
              <a:r>
                <a:rPr lang="en-US"/>
                <a:t>new files</a:t>
              </a:r>
            </a:p>
          </p:txBody>
        </p:sp>
      </p:grpSp>
    </p:spTree>
    <p:extLst>
      <p:ext uri="{BB962C8B-B14F-4D97-AF65-F5344CB8AC3E}">
        <p14:creationId xmlns:p14="http://schemas.microsoft.com/office/powerpoint/2010/main" val="3601153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2F172-7217-FDCF-93AF-AEA7FF1FFCAB}"/>
            </a:ext>
          </a:extLst>
        </p:cNvPr>
        <p:cNvGrpSpPr/>
        <p:nvPr/>
      </p:nvGrpSpPr>
      <p:grpSpPr>
        <a:xfrm>
          <a:off x="0" y="0"/>
          <a:ext cx="0" cy="0"/>
          <a:chOff x="0" y="0"/>
          <a:chExt cx="0" cy="0"/>
        </a:xfrm>
      </p:grpSpPr>
      <p:pic>
        <p:nvPicPr>
          <p:cNvPr id="16" name="Picture 15" descr="A screenshot of a computer&#10;&#10;AI-generated content may be incorrect.">
            <a:extLst>
              <a:ext uri="{FF2B5EF4-FFF2-40B4-BE49-F238E27FC236}">
                <a16:creationId xmlns:a16="http://schemas.microsoft.com/office/drawing/2014/main" id="{E453D721-FA49-CBE5-C4A9-726B433AE296}"/>
              </a:ext>
            </a:extLst>
          </p:cNvPr>
          <p:cNvPicPr>
            <a:picLocks noGrp="1" noRot="1" noChangeAspect="1" noMove="1" noResize="1" noEditPoints="1" noAdjustHandles="1" noChangeArrowheads="1" noChangeShapeType="1" noCrop="1"/>
          </p:cNvPicPr>
          <p:nvPr/>
        </p:nvPicPr>
        <p:blipFill>
          <a:blip r:embed="rId3"/>
          <a:stretch>
            <a:fillRect/>
          </a:stretch>
        </p:blipFill>
        <p:spPr>
          <a:xfrm>
            <a:off x="1634553" y="0"/>
            <a:ext cx="10281079" cy="7315200"/>
          </a:xfrm>
          <a:prstGeom prst="rect">
            <a:avLst/>
          </a:prstGeom>
        </p:spPr>
      </p:pic>
      <p:grpSp>
        <p:nvGrpSpPr>
          <p:cNvPr id="31" name="Group 30">
            <a:extLst>
              <a:ext uri="{FF2B5EF4-FFF2-40B4-BE49-F238E27FC236}">
                <a16:creationId xmlns:a16="http://schemas.microsoft.com/office/drawing/2014/main" id="{B61E13B7-3338-BF66-4865-761B67A3885E}"/>
              </a:ext>
            </a:extLst>
          </p:cNvPr>
          <p:cNvGrpSpPr/>
          <p:nvPr/>
        </p:nvGrpSpPr>
        <p:grpSpPr>
          <a:xfrm>
            <a:off x="1" y="4435877"/>
            <a:ext cx="2065608" cy="646331"/>
            <a:chOff x="41488" y="2664551"/>
            <a:chExt cx="2065608" cy="646331"/>
          </a:xfrm>
        </p:grpSpPr>
        <p:cxnSp>
          <p:nvCxnSpPr>
            <p:cNvPr id="18" name="Straight Arrow Connector 17">
              <a:extLst>
                <a:ext uri="{FF2B5EF4-FFF2-40B4-BE49-F238E27FC236}">
                  <a16:creationId xmlns:a16="http://schemas.microsoft.com/office/drawing/2014/main" id="{AD2DC4E2-26B1-1401-5458-16FEBA7848D7}"/>
                </a:ext>
              </a:extLst>
            </p:cNvPr>
            <p:cNvCxnSpPr>
              <a:cxnSpLocks/>
            </p:cNvCxnSpPr>
            <p:nvPr/>
          </p:nvCxnSpPr>
          <p:spPr>
            <a:xfrm>
              <a:off x="1272209" y="2849217"/>
              <a:ext cx="83488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8E7D68F1-D23D-663F-A6B2-F7D795CB84B4}"/>
                </a:ext>
              </a:extLst>
            </p:cNvPr>
            <p:cNvSpPr txBox="1"/>
            <p:nvPr/>
          </p:nvSpPr>
          <p:spPr>
            <a:xfrm>
              <a:off x="41488" y="2664551"/>
              <a:ext cx="1230722" cy="646331"/>
            </a:xfrm>
            <a:prstGeom prst="rect">
              <a:avLst/>
            </a:prstGeom>
            <a:noFill/>
          </p:spPr>
          <p:txBody>
            <a:bodyPr wrap="square" rtlCol="0">
              <a:spAutoFit/>
            </a:bodyPr>
            <a:lstStyle/>
            <a:p>
              <a:r>
                <a:rPr lang="en-US"/>
                <a:t>commit message</a:t>
              </a:r>
            </a:p>
          </p:txBody>
        </p:sp>
      </p:grpSp>
      <p:grpSp>
        <p:nvGrpSpPr>
          <p:cNvPr id="30" name="Group 29">
            <a:extLst>
              <a:ext uri="{FF2B5EF4-FFF2-40B4-BE49-F238E27FC236}">
                <a16:creationId xmlns:a16="http://schemas.microsoft.com/office/drawing/2014/main" id="{CD7E5B12-F260-9DC6-D9EF-9460CD8563BB}"/>
              </a:ext>
            </a:extLst>
          </p:cNvPr>
          <p:cNvGrpSpPr/>
          <p:nvPr/>
        </p:nvGrpSpPr>
        <p:grpSpPr>
          <a:xfrm>
            <a:off x="5194852" y="5800347"/>
            <a:ext cx="2697713" cy="369332"/>
            <a:chOff x="5208104" y="3472934"/>
            <a:chExt cx="2697713" cy="369332"/>
          </a:xfrm>
        </p:grpSpPr>
        <p:cxnSp>
          <p:nvCxnSpPr>
            <p:cNvPr id="25" name="Straight Arrow Connector 24">
              <a:extLst>
                <a:ext uri="{FF2B5EF4-FFF2-40B4-BE49-F238E27FC236}">
                  <a16:creationId xmlns:a16="http://schemas.microsoft.com/office/drawing/2014/main" id="{432C1EEC-E526-A965-1235-E66BBB012B56}"/>
                </a:ext>
              </a:extLst>
            </p:cNvPr>
            <p:cNvCxnSpPr/>
            <p:nvPr/>
          </p:nvCxnSpPr>
          <p:spPr>
            <a:xfrm flipH="1">
              <a:off x="5208104" y="3657600"/>
              <a:ext cx="887896"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254A3499-2136-5283-306B-71AF5BEE07FA}"/>
                </a:ext>
              </a:extLst>
            </p:cNvPr>
            <p:cNvSpPr txBox="1"/>
            <p:nvPr/>
          </p:nvSpPr>
          <p:spPr>
            <a:xfrm>
              <a:off x="6241131" y="3472934"/>
              <a:ext cx="1664686" cy="369332"/>
            </a:xfrm>
            <a:prstGeom prst="rect">
              <a:avLst/>
            </a:prstGeom>
            <a:noFill/>
          </p:spPr>
          <p:txBody>
            <a:bodyPr wrap="none" rtlCol="0">
              <a:spAutoFit/>
            </a:bodyPr>
            <a:lstStyle/>
            <a:p>
              <a:r>
                <a:rPr lang="en-US"/>
                <a:t>commit button</a:t>
              </a:r>
            </a:p>
          </p:txBody>
        </p:sp>
      </p:grpSp>
      <p:grpSp>
        <p:nvGrpSpPr>
          <p:cNvPr id="29" name="Group 28">
            <a:extLst>
              <a:ext uri="{FF2B5EF4-FFF2-40B4-BE49-F238E27FC236}">
                <a16:creationId xmlns:a16="http://schemas.microsoft.com/office/drawing/2014/main" id="{B2BC3031-87E1-C503-790D-2E801FCDCFB0}"/>
              </a:ext>
            </a:extLst>
          </p:cNvPr>
          <p:cNvGrpSpPr/>
          <p:nvPr/>
        </p:nvGrpSpPr>
        <p:grpSpPr>
          <a:xfrm>
            <a:off x="5194851" y="1683025"/>
            <a:ext cx="2697715" cy="2536431"/>
            <a:chOff x="5194852" y="1683026"/>
            <a:chExt cx="2531028" cy="1745974"/>
          </a:xfrm>
        </p:grpSpPr>
        <p:sp>
          <p:nvSpPr>
            <p:cNvPr id="27" name="Right Brace 26">
              <a:extLst>
                <a:ext uri="{FF2B5EF4-FFF2-40B4-BE49-F238E27FC236}">
                  <a16:creationId xmlns:a16="http://schemas.microsoft.com/office/drawing/2014/main" id="{7241B57F-BC30-0F55-B5A6-D553B1A5D576}"/>
                </a:ext>
              </a:extLst>
            </p:cNvPr>
            <p:cNvSpPr/>
            <p:nvPr/>
          </p:nvSpPr>
          <p:spPr>
            <a:xfrm>
              <a:off x="5194852" y="1683026"/>
              <a:ext cx="503583" cy="1745974"/>
            </a:xfrm>
            <a:prstGeom prst="rightBrace">
              <a:avLst>
                <a:gd name="adj1" fmla="val 8333"/>
                <a:gd name="adj2" fmla="val 5075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6E3C37E3-8B75-2A57-F036-A1C62EDECD49}"/>
                </a:ext>
              </a:extLst>
            </p:cNvPr>
            <p:cNvSpPr txBox="1"/>
            <p:nvPr/>
          </p:nvSpPr>
          <p:spPr>
            <a:xfrm>
              <a:off x="5702107" y="2446177"/>
              <a:ext cx="2023773" cy="635582"/>
            </a:xfrm>
            <a:prstGeom prst="rect">
              <a:avLst/>
            </a:prstGeom>
            <a:noFill/>
          </p:spPr>
          <p:txBody>
            <a:bodyPr wrap="square" rtlCol="0">
              <a:spAutoFit/>
            </a:bodyPr>
            <a:lstStyle/>
            <a:p>
              <a:r>
                <a:rPr lang="en-US"/>
                <a:t>☑︎ = file is staged and ready to be committed</a:t>
              </a:r>
            </a:p>
          </p:txBody>
        </p:sp>
      </p:grpSp>
      <p:grpSp>
        <p:nvGrpSpPr>
          <p:cNvPr id="2" name="Group 1">
            <a:extLst>
              <a:ext uri="{FF2B5EF4-FFF2-40B4-BE49-F238E27FC236}">
                <a16:creationId xmlns:a16="http://schemas.microsoft.com/office/drawing/2014/main" id="{1BC01891-4128-F0F7-89AA-B0B5D477BABE}"/>
              </a:ext>
            </a:extLst>
          </p:cNvPr>
          <p:cNvGrpSpPr/>
          <p:nvPr/>
        </p:nvGrpSpPr>
        <p:grpSpPr>
          <a:xfrm>
            <a:off x="5194852" y="6169679"/>
            <a:ext cx="6242145" cy="369332"/>
            <a:chOff x="5208104" y="3472934"/>
            <a:chExt cx="6242145" cy="369332"/>
          </a:xfrm>
        </p:grpSpPr>
        <p:cxnSp>
          <p:nvCxnSpPr>
            <p:cNvPr id="3" name="Straight Arrow Connector 2">
              <a:extLst>
                <a:ext uri="{FF2B5EF4-FFF2-40B4-BE49-F238E27FC236}">
                  <a16:creationId xmlns:a16="http://schemas.microsoft.com/office/drawing/2014/main" id="{87F7379F-1619-F198-B8A8-1E2475004FD2}"/>
                </a:ext>
              </a:extLst>
            </p:cNvPr>
            <p:cNvCxnSpPr/>
            <p:nvPr/>
          </p:nvCxnSpPr>
          <p:spPr>
            <a:xfrm flipH="1">
              <a:off x="5208104" y="3657600"/>
              <a:ext cx="887896"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0DE445C-1E74-F766-F022-2D8D7758F0FB}"/>
                </a:ext>
              </a:extLst>
            </p:cNvPr>
            <p:cNvSpPr txBox="1"/>
            <p:nvPr/>
          </p:nvSpPr>
          <p:spPr>
            <a:xfrm>
              <a:off x="6241131" y="3472934"/>
              <a:ext cx="5209118" cy="369332"/>
            </a:xfrm>
            <a:prstGeom prst="rect">
              <a:avLst/>
            </a:prstGeom>
            <a:noFill/>
          </p:spPr>
          <p:txBody>
            <a:bodyPr wrap="none" rtlCol="0">
              <a:spAutoFit/>
            </a:bodyPr>
            <a:lstStyle/>
            <a:p>
              <a:r>
                <a:rPr lang="en-US"/>
                <a:t>undo commits that haven’t been pushed/uploaded</a:t>
              </a:r>
            </a:p>
          </p:txBody>
        </p:sp>
      </p:grpSp>
      <p:sp>
        <p:nvSpPr>
          <p:cNvPr id="6" name="Up Arrow 5">
            <a:extLst>
              <a:ext uri="{FF2B5EF4-FFF2-40B4-BE49-F238E27FC236}">
                <a16:creationId xmlns:a16="http://schemas.microsoft.com/office/drawing/2014/main" id="{024DB1E6-D0C1-8817-1492-C369DD1DEBE6}"/>
              </a:ext>
            </a:extLst>
          </p:cNvPr>
          <p:cNvSpPr/>
          <p:nvPr/>
        </p:nvSpPr>
        <p:spPr>
          <a:xfrm>
            <a:off x="8614238" y="1057619"/>
            <a:ext cx="385590" cy="219152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3B99B56-1688-24AA-68DA-AA83C1E080FB}"/>
              </a:ext>
            </a:extLst>
          </p:cNvPr>
          <p:cNvSpPr txBox="1"/>
          <p:nvPr/>
        </p:nvSpPr>
        <p:spPr>
          <a:xfrm>
            <a:off x="8567950" y="3296126"/>
            <a:ext cx="1989497" cy="923330"/>
          </a:xfrm>
          <a:prstGeom prst="rect">
            <a:avLst/>
          </a:prstGeom>
          <a:noFill/>
        </p:spPr>
        <p:txBody>
          <a:bodyPr wrap="square" rtlCol="0">
            <a:spAutoFit/>
          </a:bodyPr>
          <a:lstStyle/>
          <a:p>
            <a:r>
              <a:rPr lang="en-US"/>
              <a:t>Push/upload all commits to GitHub</a:t>
            </a:r>
          </a:p>
        </p:txBody>
      </p:sp>
    </p:spTree>
    <p:extLst>
      <p:ext uri="{BB962C8B-B14F-4D97-AF65-F5344CB8AC3E}">
        <p14:creationId xmlns:p14="http://schemas.microsoft.com/office/powerpoint/2010/main" val="3500895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B40B7A-B3A8-C35C-4DE2-440973760272}"/>
              </a:ext>
            </a:extLst>
          </p:cNvPr>
          <p:cNvSpPr>
            <a:spLocks noGrp="1"/>
          </p:cNvSpPr>
          <p:nvPr>
            <p:ph type="title"/>
          </p:nvPr>
        </p:nvSpPr>
        <p:spPr/>
        <p:txBody>
          <a:bodyPr/>
          <a:lstStyle/>
          <a:p>
            <a:r>
              <a:rPr lang="en-US"/>
              <a:t>What to upload</a:t>
            </a:r>
          </a:p>
        </p:txBody>
      </p:sp>
      <p:graphicFrame>
        <p:nvGraphicFramePr>
          <p:cNvPr id="7" name="Table 6">
            <a:extLst>
              <a:ext uri="{FF2B5EF4-FFF2-40B4-BE49-F238E27FC236}">
                <a16:creationId xmlns:a16="http://schemas.microsoft.com/office/drawing/2014/main" id="{311A1192-A5C3-DE4A-00CD-A11A30BA5826}"/>
              </a:ext>
            </a:extLst>
          </p:cNvPr>
          <p:cNvGraphicFramePr>
            <a:graphicFrameLocks noGrp="1"/>
          </p:cNvGraphicFramePr>
          <p:nvPr>
            <p:extLst>
              <p:ext uri="{D42A27DB-BD31-4B8C-83A1-F6EECF244321}">
                <p14:modId xmlns:p14="http://schemas.microsoft.com/office/powerpoint/2010/main" val="3342230261"/>
              </p:ext>
            </p:extLst>
          </p:nvPr>
        </p:nvGraphicFramePr>
        <p:xfrm>
          <a:off x="967409" y="1514795"/>
          <a:ext cx="10151166" cy="4342665"/>
        </p:xfrm>
        <a:graphic>
          <a:graphicData uri="http://schemas.openxmlformats.org/drawingml/2006/table">
            <a:tbl>
              <a:tblPr firstRow="1" bandRow="1">
                <a:tableStyleId>{5C22544A-7EE6-4342-B048-85BDC9FD1C3A}</a:tableStyleId>
              </a:tblPr>
              <a:tblGrid>
                <a:gridCol w="5075583">
                  <a:extLst>
                    <a:ext uri="{9D8B030D-6E8A-4147-A177-3AD203B41FA5}">
                      <a16:colId xmlns:a16="http://schemas.microsoft.com/office/drawing/2014/main" val="1678428013"/>
                    </a:ext>
                  </a:extLst>
                </a:gridCol>
                <a:gridCol w="5075583">
                  <a:extLst>
                    <a:ext uri="{9D8B030D-6E8A-4147-A177-3AD203B41FA5}">
                      <a16:colId xmlns:a16="http://schemas.microsoft.com/office/drawing/2014/main" val="3780352048"/>
                    </a:ext>
                  </a:extLst>
                </a:gridCol>
              </a:tblGrid>
              <a:tr h="675937">
                <a:tc>
                  <a:txBody>
                    <a:bodyPr/>
                    <a:lstStyle/>
                    <a:p>
                      <a:pPr algn="ctr"/>
                      <a:r>
                        <a:rPr lang="en-US" sz="3200"/>
                        <a:t>What to include</a:t>
                      </a:r>
                    </a:p>
                  </a:txBody>
                  <a:tcPr/>
                </a:tc>
                <a:tc>
                  <a:txBody>
                    <a:bodyPr/>
                    <a:lstStyle/>
                    <a:p>
                      <a:pPr algn="ctr"/>
                      <a:r>
                        <a:rPr lang="en-US" sz="3200"/>
                        <a:t>What NOT to include</a:t>
                      </a:r>
                    </a:p>
                  </a:txBody>
                  <a:tcPr/>
                </a:tc>
                <a:extLst>
                  <a:ext uri="{0D108BD9-81ED-4DB2-BD59-A6C34878D82A}">
                    <a16:rowId xmlns:a16="http://schemas.microsoft.com/office/drawing/2014/main" val="2007128576"/>
                  </a:ext>
                </a:extLst>
              </a:tr>
              <a:tr h="3666728">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Scripts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Notebooks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READMEs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Configuration files (yamls, config files)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Metadata files (maybe)</a:t>
                      </a:r>
                    </a:p>
                  </a:txBody>
                  <a:tcP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Data</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Software (conda envs, containers)</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Files &gt;50 MB</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Passwords and sensitive information (!!!)</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Log files (slurm logs, error logs, etc)</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Junk files (temp, OS-generated junk)</a:t>
                      </a:r>
                    </a:p>
                  </a:txBody>
                  <a:tcPr/>
                </a:tc>
                <a:extLst>
                  <a:ext uri="{0D108BD9-81ED-4DB2-BD59-A6C34878D82A}">
                    <a16:rowId xmlns:a16="http://schemas.microsoft.com/office/drawing/2014/main" val="4008996938"/>
                  </a:ext>
                </a:extLst>
              </a:tr>
            </a:tbl>
          </a:graphicData>
        </a:graphic>
      </p:graphicFrame>
    </p:spTree>
    <p:extLst>
      <p:ext uri="{BB962C8B-B14F-4D97-AF65-F5344CB8AC3E}">
        <p14:creationId xmlns:p14="http://schemas.microsoft.com/office/powerpoint/2010/main" val="2941207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9C2B9F6-5DEA-F43D-CB71-D2EA5C9C5673}"/>
              </a:ext>
            </a:extLst>
          </p:cNvPr>
          <p:cNvSpPr>
            <a:spLocks noGrp="1"/>
          </p:cNvSpPr>
          <p:nvPr>
            <p:ph type="title"/>
          </p:nvPr>
        </p:nvSpPr>
        <p:spPr/>
        <p:txBody>
          <a:bodyPr/>
          <a:lstStyle/>
          <a:p>
            <a:r>
              <a:rPr lang="en-US"/>
              <a:t>git terminology</a:t>
            </a:r>
          </a:p>
        </p:txBody>
      </p:sp>
      <p:graphicFrame>
        <p:nvGraphicFramePr>
          <p:cNvPr id="5" name="Content Placeholder 3">
            <a:extLst>
              <a:ext uri="{FF2B5EF4-FFF2-40B4-BE49-F238E27FC236}">
                <a16:creationId xmlns:a16="http://schemas.microsoft.com/office/drawing/2014/main" id="{7992000A-20E4-CD2A-612E-23F6989F85C6}"/>
              </a:ext>
            </a:extLst>
          </p:cNvPr>
          <p:cNvGraphicFramePr>
            <a:graphicFrameLocks/>
          </p:cNvGraphicFramePr>
          <p:nvPr>
            <p:extLst>
              <p:ext uri="{D42A27DB-BD31-4B8C-83A1-F6EECF244321}">
                <p14:modId xmlns:p14="http://schemas.microsoft.com/office/powerpoint/2010/main" val="1714627706"/>
              </p:ext>
            </p:extLst>
          </p:nvPr>
        </p:nvGraphicFramePr>
        <p:xfrm>
          <a:off x="838200" y="1690688"/>
          <a:ext cx="10347985" cy="4956060"/>
        </p:xfrm>
        <a:graphic>
          <a:graphicData uri="http://schemas.openxmlformats.org/drawingml/2006/table">
            <a:tbl>
              <a:tblPr firstRow="1" bandRow="1">
                <a:tableStyleId>{5C22544A-7EE6-4342-B048-85BDC9FD1C3A}</a:tableStyleId>
              </a:tblPr>
              <a:tblGrid>
                <a:gridCol w="1810957">
                  <a:extLst>
                    <a:ext uri="{9D8B030D-6E8A-4147-A177-3AD203B41FA5}">
                      <a16:colId xmlns:a16="http://schemas.microsoft.com/office/drawing/2014/main" val="2568585776"/>
                    </a:ext>
                  </a:extLst>
                </a:gridCol>
                <a:gridCol w="8537028">
                  <a:extLst>
                    <a:ext uri="{9D8B030D-6E8A-4147-A177-3AD203B41FA5}">
                      <a16:colId xmlns:a16="http://schemas.microsoft.com/office/drawing/2014/main" val="2358434205"/>
                    </a:ext>
                  </a:extLst>
                </a:gridCol>
              </a:tblGrid>
              <a:tr h="495606">
                <a:tc>
                  <a:txBody>
                    <a:bodyPr/>
                    <a:lstStyle/>
                    <a:p>
                      <a:r>
                        <a:rPr lang="en-US"/>
                        <a:t>Term</a:t>
                      </a:r>
                    </a:p>
                  </a:txBody>
                  <a:tcPr/>
                </a:tc>
                <a:tc>
                  <a:txBody>
                    <a:bodyPr/>
                    <a:lstStyle/>
                    <a:p>
                      <a:r>
                        <a:rPr lang="en-US"/>
                        <a:t>Definition</a:t>
                      </a:r>
                    </a:p>
                  </a:txBody>
                  <a:tcPr/>
                </a:tc>
                <a:extLst>
                  <a:ext uri="{0D108BD9-81ED-4DB2-BD59-A6C34878D82A}">
                    <a16:rowId xmlns:a16="http://schemas.microsoft.com/office/drawing/2014/main" val="1673741691"/>
                  </a:ext>
                </a:extLst>
              </a:tr>
              <a:tr h="495606">
                <a:tc>
                  <a:txBody>
                    <a:bodyPr/>
                    <a:lstStyle/>
                    <a:p>
                      <a:r>
                        <a:rPr lang="en-US"/>
                        <a:t>repository (repo)</a:t>
                      </a:r>
                    </a:p>
                  </a:txBody>
                  <a:tcPr/>
                </a:tc>
                <a:tc>
                  <a:txBody>
                    <a:bodyPr/>
                    <a:lstStyle/>
                    <a:p>
                      <a:r>
                        <a:rPr lang="en-US"/>
                        <a:t>a folder tracked by git</a:t>
                      </a:r>
                    </a:p>
                  </a:txBody>
                  <a:tcPr/>
                </a:tc>
                <a:extLst>
                  <a:ext uri="{0D108BD9-81ED-4DB2-BD59-A6C34878D82A}">
                    <a16:rowId xmlns:a16="http://schemas.microsoft.com/office/drawing/2014/main" val="3834734102"/>
                  </a:ext>
                </a:extLst>
              </a:tr>
              <a:tr h="495606">
                <a:tc>
                  <a:txBody>
                    <a:bodyPr/>
                    <a:lstStyle/>
                    <a:p>
                      <a:r>
                        <a:rPr lang="en-US"/>
                        <a:t>remote</a:t>
                      </a:r>
                    </a:p>
                  </a:txBody>
                  <a:tcPr/>
                </a:tc>
                <a:tc>
                  <a:txBody>
                    <a:bodyPr/>
                    <a:lstStyle/>
                    <a:p>
                      <a:r>
                        <a:rPr lang="en-US"/>
                        <a:t>a repository hosted on a server (e.g. GitHub)</a:t>
                      </a:r>
                    </a:p>
                  </a:txBody>
                  <a:tcPr/>
                </a:tc>
                <a:extLst>
                  <a:ext uri="{0D108BD9-81ED-4DB2-BD59-A6C34878D82A}">
                    <a16:rowId xmlns:a16="http://schemas.microsoft.com/office/drawing/2014/main" val="2233417361"/>
                  </a:ext>
                </a:extLst>
              </a:tr>
              <a:tr h="495606">
                <a:tc>
                  <a:txBody>
                    <a:bodyPr/>
                    <a:lstStyle/>
                    <a:p>
                      <a:r>
                        <a:rPr lang="en-US" b="0"/>
                        <a:t>add/stage</a:t>
                      </a:r>
                    </a:p>
                  </a:txBody>
                  <a:tcPr/>
                </a:tc>
                <a:tc>
                  <a:txBody>
                    <a:bodyPr/>
                    <a:lstStyle/>
                    <a:p>
                      <a:r>
                        <a:rPr lang="en-US"/>
                        <a:t>add file to staging area (start tracking it), a checkbox in GH Desktop</a:t>
                      </a:r>
                    </a:p>
                  </a:txBody>
                  <a:tcPr/>
                </a:tc>
                <a:extLst>
                  <a:ext uri="{0D108BD9-81ED-4DB2-BD59-A6C34878D82A}">
                    <a16:rowId xmlns:a16="http://schemas.microsoft.com/office/drawing/2014/main" val="1883509595"/>
                  </a:ext>
                </a:extLst>
              </a:tr>
              <a:tr h="495606">
                <a:tc>
                  <a:txBody>
                    <a:bodyPr/>
                    <a:lstStyle/>
                    <a:p>
                      <a:r>
                        <a:rPr lang="en-US"/>
                        <a:t>staging area</a:t>
                      </a:r>
                    </a:p>
                  </a:txBody>
                  <a:tcPr/>
                </a:tc>
                <a:tc>
                  <a:txBody>
                    <a:bodyPr/>
                    <a:lstStyle/>
                    <a:p>
                      <a:r>
                        <a:rPr lang="en-US"/>
                        <a:t>intermediate area where files are tracked before they are added to git</a:t>
                      </a:r>
                    </a:p>
                  </a:txBody>
                  <a:tcPr/>
                </a:tc>
                <a:extLst>
                  <a:ext uri="{0D108BD9-81ED-4DB2-BD59-A6C34878D82A}">
                    <a16:rowId xmlns:a16="http://schemas.microsoft.com/office/drawing/2014/main" val="4017779487"/>
                  </a:ext>
                </a:extLst>
              </a:tr>
              <a:tr h="495606">
                <a:tc>
                  <a:txBody>
                    <a:bodyPr/>
                    <a:lstStyle/>
                    <a:p>
                      <a:r>
                        <a:rPr lang="en-US" b="0"/>
                        <a:t>commit</a:t>
                      </a:r>
                    </a:p>
                  </a:txBody>
                  <a:tcPr/>
                </a:tc>
                <a:tc>
                  <a:txBody>
                    <a:bodyPr/>
                    <a:lstStyle/>
                    <a:p>
                      <a:r>
                        <a:rPr lang="en-US"/>
                        <a:t>make a snapshot of staging area to repository with commit message</a:t>
                      </a:r>
                    </a:p>
                  </a:txBody>
                  <a:tcPr/>
                </a:tc>
                <a:extLst>
                  <a:ext uri="{0D108BD9-81ED-4DB2-BD59-A6C34878D82A}">
                    <a16:rowId xmlns:a16="http://schemas.microsoft.com/office/drawing/2014/main" val="3590404162"/>
                  </a:ext>
                </a:extLst>
              </a:tr>
              <a:tr h="495606">
                <a:tc>
                  <a:txBody>
                    <a:bodyPr/>
                    <a:lstStyle/>
                    <a:p>
                      <a:r>
                        <a:rPr lang="en-US" b="0"/>
                        <a:t>push</a:t>
                      </a:r>
                    </a:p>
                  </a:txBody>
                  <a:tcPr/>
                </a:tc>
                <a:tc>
                  <a:txBody>
                    <a:bodyPr/>
                    <a:lstStyle/>
                    <a:p>
                      <a:r>
                        <a:rPr lang="en-US"/>
                        <a:t>upload changes to remote repo (GitHub)</a:t>
                      </a:r>
                    </a:p>
                  </a:txBody>
                  <a:tcPr/>
                </a:tc>
                <a:extLst>
                  <a:ext uri="{0D108BD9-81ED-4DB2-BD59-A6C34878D82A}">
                    <a16:rowId xmlns:a16="http://schemas.microsoft.com/office/drawing/2014/main" val="73513012"/>
                  </a:ext>
                </a:extLst>
              </a:tr>
              <a:tr h="495606">
                <a:tc>
                  <a:txBody>
                    <a:bodyPr/>
                    <a:lstStyle/>
                    <a:p>
                      <a:r>
                        <a:rPr lang="en-US" b="0"/>
                        <a:t>gitignore</a:t>
                      </a:r>
                    </a:p>
                  </a:txBody>
                  <a:tcPr/>
                </a:tc>
                <a:tc>
                  <a:txBody>
                    <a:bodyPr/>
                    <a:lstStyle/>
                    <a:p>
                      <a:r>
                        <a:rPr lang="en-US"/>
                        <a:t>a file called “.gitignore” that lists files to be ignored by git and GH desktop</a:t>
                      </a:r>
                    </a:p>
                  </a:txBody>
                  <a:tcPr/>
                </a:tc>
                <a:extLst>
                  <a:ext uri="{0D108BD9-81ED-4DB2-BD59-A6C34878D82A}">
                    <a16:rowId xmlns:a16="http://schemas.microsoft.com/office/drawing/2014/main" val="2094575337"/>
                  </a:ext>
                </a:extLst>
              </a:tr>
              <a:tr h="495606">
                <a:tc>
                  <a:txBody>
                    <a:bodyPr/>
                    <a:lstStyle/>
                    <a:p>
                      <a:r>
                        <a:rPr lang="en-US" b="0"/>
                        <a:t>README</a:t>
                      </a:r>
                    </a:p>
                  </a:txBody>
                  <a:tcPr/>
                </a:tc>
                <a:tc>
                  <a:txBody>
                    <a:bodyPr/>
                    <a:lstStyle/>
                    <a:p>
                      <a:r>
                        <a:rPr lang="en-US"/>
                        <a:t>a top level file called “README.md” that appears on your repo landing page</a:t>
                      </a:r>
                    </a:p>
                  </a:txBody>
                  <a:tcPr/>
                </a:tc>
                <a:extLst>
                  <a:ext uri="{0D108BD9-81ED-4DB2-BD59-A6C34878D82A}">
                    <a16:rowId xmlns:a16="http://schemas.microsoft.com/office/drawing/2014/main" val="1332276413"/>
                  </a:ext>
                </a:extLst>
              </a:tr>
              <a:tr h="495606">
                <a:tc>
                  <a:txBody>
                    <a:bodyPr/>
                    <a:lstStyle/>
                    <a:p>
                      <a:r>
                        <a:rPr lang="en-US" b="0"/>
                        <a:t>license</a:t>
                      </a:r>
                    </a:p>
                  </a:txBody>
                  <a:tcPr/>
                </a:tc>
                <a:tc>
                  <a:txBody>
                    <a:bodyPr/>
                    <a:lstStyle/>
                    <a:p>
                      <a:r>
                        <a:rPr lang="en-US"/>
                        <a:t>needed upon publication to tell others how to use your code</a:t>
                      </a:r>
                    </a:p>
                  </a:txBody>
                  <a:tcPr/>
                </a:tc>
                <a:extLst>
                  <a:ext uri="{0D108BD9-81ED-4DB2-BD59-A6C34878D82A}">
                    <a16:rowId xmlns:a16="http://schemas.microsoft.com/office/drawing/2014/main" val="2968991922"/>
                  </a:ext>
                </a:extLst>
              </a:tr>
            </a:tbl>
          </a:graphicData>
        </a:graphic>
      </p:graphicFrame>
    </p:spTree>
    <p:extLst>
      <p:ext uri="{BB962C8B-B14F-4D97-AF65-F5344CB8AC3E}">
        <p14:creationId xmlns:p14="http://schemas.microsoft.com/office/powerpoint/2010/main" val="1488891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2AC6C-42E7-1F66-748A-4125CF7226E1}"/>
              </a:ext>
            </a:extLst>
          </p:cNvPr>
          <p:cNvSpPr>
            <a:spLocks noGrp="1"/>
          </p:cNvSpPr>
          <p:nvPr>
            <p:ph type="title"/>
          </p:nvPr>
        </p:nvSpPr>
        <p:spPr/>
        <p:txBody>
          <a:bodyPr/>
          <a:lstStyle/>
          <a:p>
            <a:r>
              <a:rPr lang="en-US"/>
              <a:t>How to organize for reproduction vs reuse</a:t>
            </a:r>
          </a:p>
        </p:txBody>
      </p:sp>
      <p:sp>
        <p:nvSpPr>
          <p:cNvPr id="3" name="Text Placeholder 2">
            <a:extLst>
              <a:ext uri="{FF2B5EF4-FFF2-40B4-BE49-F238E27FC236}">
                <a16:creationId xmlns:a16="http://schemas.microsoft.com/office/drawing/2014/main" id="{02990A1C-5D27-4B90-3301-4DD9BFE0E3F7}"/>
              </a:ext>
            </a:extLst>
          </p:cNvPr>
          <p:cNvSpPr>
            <a:spLocks noGrp="1"/>
          </p:cNvSpPr>
          <p:nvPr>
            <p:ph type="body" idx="1"/>
          </p:nvPr>
        </p:nvSpPr>
        <p:spPr/>
        <p:txBody>
          <a:bodyPr>
            <a:normAutofit lnSpcReduction="10000"/>
          </a:bodyPr>
          <a:lstStyle/>
          <a:p>
            <a:r>
              <a:rPr lang="en-US"/>
              <a:t>Reproduction (analysis):</a:t>
            </a:r>
          </a:p>
          <a:p>
            <a:r>
              <a:rPr lang="en-US"/>
              <a:t>Examples </a:t>
            </a:r>
            <a:r>
              <a:rPr lang="en-US">
                <a:hlinkClick r:id="rId3"/>
              </a:rPr>
              <a:t>here</a:t>
            </a:r>
            <a:r>
              <a:rPr lang="en-US"/>
              <a:t> and </a:t>
            </a:r>
            <a:r>
              <a:rPr lang="en-US">
                <a:hlinkClick r:id="rId4"/>
              </a:rPr>
              <a:t>here</a:t>
            </a:r>
            <a:endParaRPr lang="en-US"/>
          </a:p>
        </p:txBody>
      </p:sp>
      <p:sp>
        <p:nvSpPr>
          <p:cNvPr id="4" name="Content Placeholder 3">
            <a:extLst>
              <a:ext uri="{FF2B5EF4-FFF2-40B4-BE49-F238E27FC236}">
                <a16:creationId xmlns:a16="http://schemas.microsoft.com/office/drawing/2014/main" id="{10A7D05E-D757-AF0D-FA0E-BBDE9D4786E0}"/>
              </a:ext>
            </a:extLst>
          </p:cNvPr>
          <p:cNvSpPr>
            <a:spLocks noGrp="1"/>
          </p:cNvSpPr>
          <p:nvPr>
            <p:ph sz="half" idx="2"/>
          </p:nvPr>
        </p:nvSpPr>
        <p:spPr/>
        <p:txBody>
          <a:bodyPr>
            <a:normAutofit fontScale="62500" lnSpcReduction="20000"/>
          </a:bodyPr>
          <a:lstStyle/>
          <a:p>
            <a:r>
              <a:rPr lang="en-US"/>
              <a:t>Provide installation instructions for the software dependencies</a:t>
            </a:r>
          </a:p>
          <a:p>
            <a:r>
              <a:rPr lang="en-US"/>
              <a:t>GitHub README should provide links or instructions for downloading raw or intermediate data, link to paper, describe folder structure</a:t>
            </a:r>
          </a:p>
          <a:p>
            <a:r>
              <a:rPr lang="en-US"/>
              <a:t>Folder organization based on Data, Metadata, Analysis, etc. </a:t>
            </a:r>
          </a:p>
          <a:p>
            <a:r>
              <a:rPr lang="en-US"/>
              <a:t>Organize your code in the order that it was run for your paper</a:t>
            </a:r>
          </a:p>
          <a:p>
            <a:r>
              <a:rPr lang="en-US"/>
              <a:t>Label each script with a number or put them into folders marking different aspects of your analysis</a:t>
            </a:r>
          </a:p>
          <a:p>
            <a:r>
              <a:rPr lang="en-US"/>
              <a:t>Add readme files or notebooks to each level</a:t>
            </a:r>
          </a:p>
          <a:p>
            <a:endParaRPr lang="en-US"/>
          </a:p>
        </p:txBody>
      </p:sp>
      <p:sp>
        <p:nvSpPr>
          <p:cNvPr id="5" name="Text Placeholder 4">
            <a:extLst>
              <a:ext uri="{FF2B5EF4-FFF2-40B4-BE49-F238E27FC236}">
                <a16:creationId xmlns:a16="http://schemas.microsoft.com/office/drawing/2014/main" id="{1FBE3566-9F9C-C81F-F1B1-63CB404B21BD}"/>
              </a:ext>
            </a:extLst>
          </p:cNvPr>
          <p:cNvSpPr>
            <a:spLocks noGrp="1"/>
          </p:cNvSpPr>
          <p:nvPr>
            <p:ph type="body" sz="quarter" idx="3"/>
          </p:nvPr>
        </p:nvSpPr>
        <p:spPr/>
        <p:txBody>
          <a:bodyPr>
            <a:normAutofit lnSpcReduction="10000"/>
          </a:bodyPr>
          <a:lstStyle/>
          <a:p>
            <a:r>
              <a:rPr lang="en-US"/>
              <a:t>Reuse (software):</a:t>
            </a:r>
          </a:p>
          <a:p>
            <a:r>
              <a:rPr lang="en-US"/>
              <a:t>Example </a:t>
            </a:r>
            <a:r>
              <a:rPr lang="en-US">
                <a:hlinkClick r:id="rId5"/>
              </a:rPr>
              <a:t>here</a:t>
            </a:r>
            <a:endParaRPr lang="en-US"/>
          </a:p>
        </p:txBody>
      </p:sp>
      <p:sp>
        <p:nvSpPr>
          <p:cNvPr id="6" name="Content Placeholder 5">
            <a:extLst>
              <a:ext uri="{FF2B5EF4-FFF2-40B4-BE49-F238E27FC236}">
                <a16:creationId xmlns:a16="http://schemas.microsoft.com/office/drawing/2014/main" id="{0466AA55-5ED6-8115-525E-C5E72B3A06F5}"/>
              </a:ext>
            </a:extLst>
          </p:cNvPr>
          <p:cNvSpPr>
            <a:spLocks noGrp="1"/>
          </p:cNvSpPr>
          <p:nvPr>
            <p:ph sz="quarter" idx="4"/>
          </p:nvPr>
        </p:nvSpPr>
        <p:spPr/>
        <p:txBody>
          <a:bodyPr>
            <a:normAutofit fontScale="62500" lnSpcReduction="20000"/>
          </a:bodyPr>
          <a:lstStyle/>
          <a:p>
            <a:r>
              <a:rPr lang="en-US"/>
              <a:t>Provide installation instructions for the software dependencies</a:t>
            </a:r>
          </a:p>
          <a:p>
            <a:r>
              <a:rPr lang="en-US"/>
              <a:t>GitHub README should be comprehensive and tell you what the inputs and outputs are, and what each parameter means</a:t>
            </a:r>
          </a:p>
          <a:p>
            <a:r>
              <a:rPr lang="en-US"/>
              <a:t>Folder structure is different and split based on configuration, dependencies, modules, scripts, etc. </a:t>
            </a:r>
          </a:p>
          <a:p>
            <a:r>
              <a:rPr lang="en-US"/>
              <a:t>Provide a small test dataset to demonstrate program andd check that it is running properly. </a:t>
            </a:r>
          </a:p>
          <a:p>
            <a:r>
              <a:rPr lang="en-US"/>
              <a:t>Write a documentation page if it's a larger project</a:t>
            </a:r>
          </a:p>
          <a:p>
            <a:r>
              <a:rPr lang="en-US"/>
              <a:t>Remove hard-coded or personalized parameters as much as possible</a:t>
            </a:r>
          </a:p>
          <a:p>
            <a:endParaRPr lang="en-US"/>
          </a:p>
        </p:txBody>
      </p:sp>
    </p:spTree>
    <p:extLst>
      <p:ext uri="{BB962C8B-B14F-4D97-AF65-F5344CB8AC3E}">
        <p14:creationId xmlns:p14="http://schemas.microsoft.com/office/powerpoint/2010/main" val="3036901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125AC-A2F6-2735-60FC-6D254F391B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4A4427B-31E6-2426-A556-6501A30DE6CF}"/>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BC23049-4AEE-D521-4108-CE0F7CB34340}"/>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35FE34D-4FDE-CFA9-52A5-0A546B74CE66}"/>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D8EF64A-96BB-0931-F715-7FD1A0FAD993}"/>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1284B6E6-1413-42CE-43F7-21D816D0AB39}"/>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008016DF-4E76-E622-485F-01CE7A38AE47}"/>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24BF7A93-278A-DDAE-02E2-E52FD087F06C}"/>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07B24DD4-EAB7-C5A1-6B35-4FE6BC22E32F}"/>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14" name="Straight Connector 13">
            <a:extLst>
              <a:ext uri="{FF2B5EF4-FFF2-40B4-BE49-F238E27FC236}">
                <a16:creationId xmlns:a16="http://schemas.microsoft.com/office/drawing/2014/main" id="{8C039139-B212-0AB9-F4E2-3CDBF9FBD196}"/>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6EA0006-C1D4-192D-63A4-19E6C6B92CAE}"/>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16" name="Terminator 15">
            <a:extLst>
              <a:ext uri="{FF2B5EF4-FFF2-40B4-BE49-F238E27FC236}">
                <a16:creationId xmlns:a16="http://schemas.microsoft.com/office/drawing/2014/main" id="{11E4A14D-6244-52E4-A917-894FC985038D}"/>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7" name="Terminator 16">
            <a:extLst>
              <a:ext uri="{FF2B5EF4-FFF2-40B4-BE49-F238E27FC236}">
                <a16:creationId xmlns:a16="http://schemas.microsoft.com/office/drawing/2014/main" id="{08EDD88A-B8B5-48A2-638C-8D21DD64468E}"/>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8" name="Terminator 17">
            <a:extLst>
              <a:ext uri="{FF2B5EF4-FFF2-40B4-BE49-F238E27FC236}">
                <a16:creationId xmlns:a16="http://schemas.microsoft.com/office/drawing/2014/main" id="{4EB52E13-475A-18FF-7CF5-83E165A4761B}"/>
              </a:ext>
            </a:extLst>
          </p:cNvPr>
          <p:cNvSpPr/>
          <p:nvPr/>
        </p:nvSpPr>
        <p:spPr>
          <a:xfrm>
            <a:off x="7463365" y="5016696"/>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9" name="Straight Connector 18">
            <a:extLst>
              <a:ext uri="{FF2B5EF4-FFF2-40B4-BE49-F238E27FC236}">
                <a16:creationId xmlns:a16="http://schemas.microsoft.com/office/drawing/2014/main" id="{AB483A74-3235-BBA2-37A7-FA81C0CE21DE}"/>
              </a:ext>
            </a:extLst>
          </p:cNvPr>
          <p:cNvCxnSpPr>
            <a:cxnSpLocks/>
            <a:stCxn id="18" idx="2"/>
            <a:endCxn id="17" idx="0"/>
          </p:cNvCxnSpPr>
          <p:nvPr/>
        </p:nvCxnSpPr>
        <p:spPr>
          <a:xfrm>
            <a:off x="8189805" y="541293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825CA1B-87D0-EE5A-F6BB-CA43FF25C123}"/>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3CBE0F3-E89D-15E4-B366-6689CC21C863}"/>
              </a:ext>
            </a:extLst>
          </p:cNvPr>
          <p:cNvSpPr txBox="1"/>
          <p:nvPr/>
        </p:nvSpPr>
        <p:spPr>
          <a:xfrm>
            <a:off x="7271701" y="3573976"/>
            <a:ext cx="1836208" cy="369332"/>
          </a:xfrm>
          <a:prstGeom prst="rect">
            <a:avLst/>
          </a:prstGeom>
          <a:noFill/>
        </p:spPr>
        <p:txBody>
          <a:bodyPr wrap="none" rtlCol="0">
            <a:spAutoFit/>
          </a:bodyPr>
          <a:lstStyle/>
          <a:p>
            <a:r>
              <a:rPr lang="en-US" dirty="0"/>
              <a:t>Cluster Computer</a:t>
            </a:r>
          </a:p>
        </p:txBody>
      </p:sp>
      <p:sp>
        <p:nvSpPr>
          <p:cNvPr id="22" name="Terminator 21">
            <a:extLst>
              <a:ext uri="{FF2B5EF4-FFF2-40B4-BE49-F238E27FC236}">
                <a16:creationId xmlns:a16="http://schemas.microsoft.com/office/drawing/2014/main" id="{713149C6-A92C-F677-A783-E7A62A40EF1D}"/>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E1C91E1E-5BC6-7788-0CD6-0D5FC2AAD348}"/>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26" name="Straight Connector 25">
            <a:extLst>
              <a:ext uri="{FF2B5EF4-FFF2-40B4-BE49-F238E27FC236}">
                <a16:creationId xmlns:a16="http://schemas.microsoft.com/office/drawing/2014/main" id="{4103D4ED-6D58-FBC7-0479-AA5CAB5A517F}"/>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B9ECBD0-9EBB-2FC9-92D4-8C9DBD5BB3AB}"/>
              </a:ext>
            </a:extLst>
          </p:cNvPr>
          <p:cNvSpPr txBox="1"/>
          <p:nvPr/>
        </p:nvSpPr>
        <p:spPr>
          <a:xfrm>
            <a:off x="5221184" y="539168"/>
            <a:ext cx="1727204" cy="369332"/>
          </a:xfrm>
          <a:prstGeom prst="rect">
            <a:avLst/>
          </a:prstGeom>
          <a:noFill/>
        </p:spPr>
        <p:txBody>
          <a:bodyPr wrap="none" rtlCol="0">
            <a:spAutoFit/>
          </a:bodyPr>
          <a:lstStyle/>
          <a:p>
            <a:pPr algn="ctr"/>
            <a:r>
              <a:rPr lang="en-US" dirty="0"/>
              <a:t>GitHub Remote</a:t>
            </a:r>
          </a:p>
        </p:txBody>
      </p:sp>
      <p:cxnSp>
        <p:nvCxnSpPr>
          <p:cNvPr id="32" name="Straight Arrow Connector 31">
            <a:extLst>
              <a:ext uri="{FF2B5EF4-FFF2-40B4-BE49-F238E27FC236}">
                <a16:creationId xmlns:a16="http://schemas.microsoft.com/office/drawing/2014/main" id="{2521E90B-8409-4FC0-3557-48504B63B983}"/>
              </a:ext>
            </a:extLst>
          </p:cNvPr>
          <p:cNvCxnSpPr>
            <a:cxnSpLocks/>
            <a:stCxn id="15" idx="0"/>
            <a:endCxn id="5" idx="2"/>
          </p:cNvCxnSpPr>
          <p:nvPr/>
        </p:nvCxnSpPr>
        <p:spPr>
          <a:xfrm flipV="1">
            <a:off x="4126859" y="3079708"/>
            <a:ext cx="1969141" cy="520840"/>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4530080-B5AD-8A88-E3E0-FF92FECB3E4F}"/>
              </a:ext>
            </a:extLst>
          </p:cNvPr>
          <p:cNvCxnSpPr>
            <a:cxnSpLocks/>
            <a:stCxn id="21" idx="0"/>
            <a:endCxn id="5" idx="2"/>
          </p:cNvCxnSpPr>
          <p:nvPr/>
        </p:nvCxnSpPr>
        <p:spPr>
          <a:xfrm flipH="1" flipV="1">
            <a:off x="6096000" y="3079708"/>
            <a:ext cx="2093805" cy="494268"/>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5AD8EFE0-1FF4-3D0F-6827-F1A5ACDC6511}"/>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sp>
        <p:nvSpPr>
          <p:cNvPr id="36" name="Terminator 35">
            <a:extLst>
              <a:ext uri="{FF2B5EF4-FFF2-40B4-BE49-F238E27FC236}">
                <a16:creationId xmlns:a16="http://schemas.microsoft.com/office/drawing/2014/main" id="{3419958A-F416-2159-211E-F8C2D00B0726}"/>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B0360F09-13A4-A9AB-AC4C-4328BF23A977}"/>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A976A76B-226D-02AA-013C-E6135B189C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39" name="TextBox 38">
            <a:extLst>
              <a:ext uri="{FF2B5EF4-FFF2-40B4-BE49-F238E27FC236}">
                <a16:creationId xmlns:a16="http://schemas.microsoft.com/office/drawing/2014/main" id="{6A2474B5-A719-DA80-BA3F-5E1FB522B12B}"/>
              </a:ext>
            </a:extLst>
          </p:cNvPr>
          <p:cNvSpPr txBox="1"/>
          <p:nvPr/>
        </p:nvSpPr>
        <p:spPr>
          <a:xfrm>
            <a:off x="9424245" y="4723564"/>
            <a:ext cx="1481496" cy="369332"/>
          </a:xfrm>
          <a:prstGeom prst="rect">
            <a:avLst/>
          </a:prstGeom>
          <a:noFill/>
        </p:spPr>
        <p:txBody>
          <a:bodyPr wrap="none" rtlCol="0">
            <a:spAutoFit/>
          </a:bodyPr>
          <a:lstStyle/>
          <a:p>
            <a:r>
              <a:rPr lang="en-US"/>
              <a:t>1. git commit</a:t>
            </a:r>
          </a:p>
        </p:txBody>
      </p:sp>
    </p:spTree>
    <p:extLst>
      <p:ext uri="{BB962C8B-B14F-4D97-AF65-F5344CB8AC3E}">
        <p14:creationId xmlns:p14="http://schemas.microsoft.com/office/powerpoint/2010/main" val="1916473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E1B14-5030-07CD-4A94-72ADFC3C5D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6E711A-32FB-431B-5666-13280B90CB5A}"/>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102D2D4-11BB-EAA2-2BCE-03A7F49B56FC}"/>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B8EEC7D-0B39-D548-B8DB-9A4A11A3732C}"/>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9224F17-EC75-76F3-C980-59C25218AE72}"/>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DCBC3B94-B796-4D65-B89A-DB185B989929}"/>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B56BFBD8-FA08-B90D-74AB-9AB3BA4F92BA}"/>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AFC6DD7A-7A7F-BC4F-854C-24577D1B78D9}"/>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D3397C83-09E7-4A9F-F601-171758CDDA39}"/>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cxnSp>
        <p:nvCxnSpPr>
          <p:cNvPr id="14" name="Straight Connector 13">
            <a:extLst>
              <a:ext uri="{FF2B5EF4-FFF2-40B4-BE49-F238E27FC236}">
                <a16:creationId xmlns:a16="http://schemas.microsoft.com/office/drawing/2014/main" id="{E842479A-0A78-4874-93A2-A5FF1A61A928}"/>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5AFE92B-819F-8E03-E041-45818F44AA21}"/>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16" name="Terminator 15">
            <a:extLst>
              <a:ext uri="{FF2B5EF4-FFF2-40B4-BE49-F238E27FC236}">
                <a16:creationId xmlns:a16="http://schemas.microsoft.com/office/drawing/2014/main" id="{D5B3D431-F7D5-A5B2-EE21-2A72D462AA0B}"/>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7" name="Terminator 16">
            <a:extLst>
              <a:ext uri="{FF2B5EF4-FFF2-40B4-BE49-F238E27FC236}">
                <a16:creationId xmlns:a16="http://schemas.microsoft.com/office/drawing/2014/main" id="{EB9F8FF2-4AF6-2891-D830-3BBD1D34DFF0}"/>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8" name="Terminator 17">
            <a:extLst>
              <a:ext uri="{FF2B5EF4-FFF2-40B4-BE49-F238E27FC236}">
                <a16:creationId xmlns:a16="http://schemas.microsoft.com/office/drawing/2014/main" id="{C90B0445-A192-F764-DB6E-BE93E9A02B52}"/>
              </a:ext>
            </a:extLst>
          </p:cNvPr>
          <p:cNvSpPr/>
          <p:nvPr/>
        </p:nvSpPr>
        <p:spPr>
          <a:xfrm>
            <a:off x="7463365" y="5016696"/>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9" name="Straight Connector 18">
            <a:extLst>
              <a:ext uri="{FF2B5EF4-FFF2-40B4-BE49-F238E27FC236}">
                <a16:creationId xmlns:a16="http://schemas.microsoft.com/office/drawing/2014/main" id="{17F117F9-62B6-FBE0-F832-B722B4A802D3}"/>
              </a:ext>
            </a:extLst>
          </p:cNvPr>
          <p:cNvCxnSpPr>
            <a:cxnSpLocks/>
            <a:stCxn id="18" idx="2"/>
            <a:endCxn id="17" idx="0"/>
          </p:cNvCxnSpPr>
          <p:nvPr/>
        </p:nvCxnSpPr>
        <p:spPr>
          <a:xfrm>
            <a:off x="8189805" y="541293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297DD55-B3A7-85F9-65E2-6397090F53C1}"/>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67E790E-7D76-CD4A-6B50-63E42EDE10EC}"/>
              </a:ext>
            </a:extLst>
          </p:cNvPr>
          <p:cNvSpPr txBox="1"/>
          <p:nvPr/>
        </p:nvSpPr>
        <p:spPr>
          <a:xfrm>
            <a:off x="7271701" y="3573976"/>
            <a:ext cx="1836208" cy="369332"/>
          </a:xfrm>
          <a:prstGeom prst="rect">
            <a:avLst/>
          </a:prstGeom>
          <a:noFill/>
        </p:spPr>
        <p:txBody>
          <a:bodyPr wrap="none" rtlCol="0">
            <a:spAutoFit/>
          </a:bodyPr>
          <a:lstStyle/>
          <a:p>
            <a:r>
              <a:rPr lang="en-US" dirty="0"/>
              <a:t>Cluster Computer</a:t>
            </a:r>
          </a:p>
        </p:txBody>
      </p:sp>
      <p:sp>
        <p:nvSpPr>
          <p:cNvPr id="22" name="Terminator 21">
            <a:extLst>
              <a:ext uri="{FF2B5EF4-FFF2-40B4-BE49-F238E27FC236}">
                <a16:creationId xmlns:a16="http://schemas.microsoft.com/office/drawing/2014/main" id="{4E5A4785-E44E-718E-D48A-EDB3D52A79A4}"/>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51E3899F-F710-8DDC-B5CA-AC46CDFA514D}"/>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24" name="Terminator 23">
            <a:extLst>
              <a:ext uri="{FF2B5EF4-FFF2-40B4-BE49-F238E27FC236}">
                <a16:creationId xmlns:a16="http://schemas.microsoft.com/office/drawing/2014/main" id="{8C6830F7-FA7F-A245-79C2-549C990D92C2}"/>
              </a:ext>
            </a:extLst>
          </p:cNvPr>
          <p:cNvSpPr/>
          <p:nvPr/>
        </p:nvSpPr>
        <p:spPr>
          <a:xfrm>
            <a:off x="5389671" y="1500704"/>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25" name="Straight Connector 24">
            <a:extLst>
              <a:ext uri="{FF2B5EF4-FFF2-40B4-BE49-F238E27FC236}">
                <a16:creationId xmlns:a16="http://schemas.microsoft.com/office/drawing/2014/main" id="{44455804-E5BA-D6C9-6731-8876F9FDCEC1}"/>
              </a:ext>
            </a:extLst>
          </p:cNvPr>
          <p:cNvCxnSpPr>
            <a:cxnSpLocks/>
            <a:stCxn id="24" idx="2"/>
            <a:endCxn id="23" idx="0"/>
          </p:cNvCxnSpPr>
          <p:nvPr/>
        </p:nvCxnSpPr>
        <p:spPr>
          <a:xfrm>
            <a:off x="6116111" y="189694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E289697-896B-547B-F6F6-01236C4306F3}"/>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C6BECE3-29E5-5BB0-F3F4-EBEC457920FF}"/>
              </a:ext>
            </a:extLst>
          </p:cNvPr>
          <p:cNvSpPr txBox="1"/>
          <p:nvPr/>
        </p:nvSpPr>
        <p:spPr>
          <a:xfrm>
            <a:off x="5221184" y="539168"/>
            <a:ext cx="1727204" cy="369332"/>
          </a:xfrm>
          <a:prstGeom prst="rect">
            <a:avLst/>
          </a:prstGeom>
          <a:noFill/>
        </p:spPr>
        <p:txBody>
          <a:bodyPr wrap="none" rtlCol="0">
            <a:spAutoFit/>
          </a:bodyPr>
          <a:lstStyle/>
          <a:p>
            <a:pPr algn="ctr"/>
            <a:r>
              <a:rPr lang="en-US" dirty="0"/>
              <a:t>GitHub Remote</a:t>
            </a:r>
          </a:p>
        </p:txBody>
      </p:sp>
      <p:cxnSp>
        <p:nvCxnSpPr>
          <p:cNvPr id="32" name="Straight Arrow Connector 31">
            <a:extLst>
              <a:ext uri="{FF2B5EF4-FFF2-40B4-BE49-F238E27FC236}">
                <a16:creationId xmlns:a16="http://schemas.microsoft.com/office/drawing/2014/main" id="{1EE97762-F09B-D004-EA2A-6378ACB6C4D0}"/>
              </a:ext>
            </a:extLst>
          </p:cNvPr>
          <p:cNvCxnSpPr>
            <a:cxnSpLocks/>
            <a:stCxn id="15" idx="0"/>
            <a:endCxn id="5" idx="2"/>
          </p:cNvCxnSpPr>
          <p:nvPr/>
        </p:nvCxnSpPr>
        <p:spPr>
          <a:xfrm flipV="1">
            <a:off x="4126859" y="3079708"/>
            <a:ext cx="1969141" cy="520840"/>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2D625AB-CD19-BA80-12F2-B56EA4BC5508}"/>
              </a:ext>
            </a:extLst>
          </p:cNvPr>
          <p:cNvCxnSpPr>
            <a:cxnSpLocks/>
            <a:stCxn id="21" idx="0"/>
            <a:endCxn id="5" idx="2"/>
          </p:cNvCxnSpPr>
          <p:nvPr/>
        </p:nvCxnSpPr>
        <p:spPr>
          <a:xfrm flipH="1" flipV="1">
            <a:off x="6096000" y="3079708"/>
            <a:ext cx="2093805" cy="494268"/>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AFC318A6-15BA-764B-B124-C38D42017799}"/>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sp>
        <p:nvSpPr>
          <p:cNvPr id="36" name="Terminator 35">
            <a:extLst>
              <a:ext uri="{FF2B5EF4-FFF2-40B4-BE49-F238E27FC236}">
                <a16:creationId xmlns:a16="http://schemas.microsoft.com/office/drawing/2014/main" id="{249F2724-7C43-59C9-5305-2E626A77DC3B}"/>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3F52EF54-00E2-275C-5791-5ADB5ACBF66D}"/>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EDE649C5-82B9-AA9B-1A74-F93AB074AF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7" name="TextBox 6">
            <a:extLst>
              <a:ext uri="{FF2B5EF4-FFF2-40B4-BE49-F238E27FC236}">
                <a16:creationId xmlns:a16="http://schemas.microsoft.com/office/drawing/2014/main" id="{83C9ACC3-61EA-2FC6-9C46-5DE87BA3AB11}"/>
              </a:ext>
            </a:extLst>
          </p:cNvPr>
          <p:cNvSpPr txBox="1"/>
          <p:nvPr/>
        </p:nvSpPr>
        <p:spPr>
          <a:xfrm>
            <a:off x="9424245" y="4723564"/>
            <a:ext cx="1481496" cy="369332"/>
          </a:xfrm>
          <a:prstGeom prst="rect">
            <a:avLst/>
          </a:prstGeom>
          <a:noFill/>
        </p:spPr>
        <p:txBody>
          <a:bodyPr wrap="none" rtlCol="0">
            <a:spAutoFit/>
          </a:bodyPr>
          <a:lstStyle/>
          <a:p>
            <a:r>
              <a:rPr lang="en-US"/>
              <a:t>1. git commit</a:t>
            </a:r>
          </a:p>
        </p:txBody>
      </p:sp>
      <p:sp>
        <p:nvSpPr>
          <p:cNvPr id="28" name="TextBox 27">
            <a:extLst>
              <a:ext uri="{FF2B5EF4-FFF2-40B4-BE49-F238E27FC236}">
                <a16:creationId xmlns:a16="http://schemas.microsoft.com/office/drawing/2014/main" id="{3B29236E-011E-B937-C41D-EF34B822D95E}"/>
              </a:ext>
            </a:extLst>
          </p:cNvPr>
          <p:cNvSpPr txBox="1"/>
          <p:nvPr/>
        </p:nvSpPr>
        <p:spPr>
          <a:xfrm>
            <a:off x="8016869" y="2896660"/>
            <a:ext cx="1204176" cy="369332"/>
          </a:xfrm>
          <a:prstGeom prst="rect">
            <a:avLst/>
          </a:prstGeom>
          <a:noFill/>
        </p:spPr>
        <p:txBody>
          <a:bodyPr wrap="none" rtlCol="0">
            <a:spAutoFit/>
          </a:bodyPr>
          <a:lstStyle/>
          <a:p>
            <a:r>
              <a:rPr lang="en-US"/>
              <a:t>2. git push</a:t>
            </a:r>
          </a:p>
        </p:txBody>
      </p:sp>
    </p:spTree>
    <p:extLst>
      <p:ext uri="{BB962C8B-B14F-4D97-AF65-F5344CB8AC3E}">
        <p14:creationId xmlns:p14="http://schemas.microsoft.com/office/powerpoint/2010/main" val="3052531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2A2C2-6E44-A06C-9FD4-BD382EC638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505BD1-8D79-69DC-0A8E-CA0B9B5EA881}"/>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BB12ABC-FC9B-473D-697B-DA1DF21D937E}"/>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DC47572-FC70-E92D-0456-C650EF00DC8D}"/>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72D1CDE-07E0-7D12-8743-DC007227F9CB}"/>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2650FB3E-CEB6-A386-C357-90287160FBF0}"/>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1693EF81-8CE0-15C3-2E46-3BCC03BA06C1}"/>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A69275C6-5477-30C9-DA6F-4E7E209ECBA3}"/>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E8EBE97E-706A-006A-9E65-9D471A5DBCF9}"/>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2" name="Terminator 11">
            <a:extLst>
              <a:ext uri="{FF2B5EF4-FFF2-40B4-BE49-F238E27FC236}">
                <a16:creationId xmlns:a16="http://schemas.microsoft.com/office/drawing/2014/main" id="{6C916904-D435-2C0E-57BB-9BCF936B4244}"/>
              </a:ext>
            </a:extLst>
          </p:cNvPr>
          <p:cNvSpPr/>
          <p:nvPr/>
        </p:nvSpPr>
        <p:spPr>
          <a:xfrm>
            <a:off x="3400419" y="504326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3" name="Straight Connector 12">
            <a:extLst>
              <a:ext uri="{FF2B5EF4-FFF2-40B4-BE49-F238E27FC236}">
                <a16:creationId xmlns:a16="http://schemas.microsoft.com/office/drawing/2014/main" id="{792B4652-B0C8-4387-CADE-6EB68751ED44}"/>
              </a:ext>
            </a:extLst>
          </p:cNvPr>
          <p:cNvCxnSpPr>
            <a:cxnSpLocks/>
            <a:stCxn id="12" idx="2"/>
            <a:endCxn id="11" idx="0"/>
          </p:cNvCxnSpPr>
          <p:nvPr/>
        </p:nvCxnSpPr>
        <p:spPr>
          <a:xfrm>
            <a:off x="4126859" y="543950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33DC068-7BE5-3D4A-4315-40B00A207C73}"/>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078C7B2-B85B-3280-47CB-FBA35C23503B}"/>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16" name="Terminator 15">
            <a:extLst>
              <a:ext uri="{FF2B5EF4-FFF2-40B4-BE49-F238E27FC236}">
                <a16:creationId xmlns:a16="http://schemas.microsoft.com/office/drawing/2014/main" id="{2E94B79A-E6AB-8027-DEA0-DA655834FAF5}"/>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7" name="Terminator 16">
            <a:extLst>
              <a:ext uri="{FF2B5EF4-FFF2-40B4-BE49-F238E27FC236}">
                <a16:creationId xmlns:a16="http://schemas.microsoft.com/office/drawing/2014/main" id="{D7DE617B-82A1-FBDA-40D8-A5BB02BB4192}"/>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8" name="Terminator 17">
            <a:extLst>
              <a:ext uri="{FF2B5EF4-FFF2-40B4-BE49-F238E27FC236}">
                <a16:creationId xmlns:a16="http://schemas.microsoft.com/office/drawing/2014/main" id="{8E925E61-D5FD-8AFD-DFE6-5248A21C9C99}"/>
              </a:ext>
            </a:extLst>
          </p:cNvPr>
          <p:cNvSpPr/>
          <p:nvPr/>
        </p:nvSpPr>
        <p:spPr>
          <a:xfrm>
            <a:off x="7463365" y="5016696"/>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9" name="Straight Connector 18">
            <a:extLst>
              <a:ext uri="{FF2B5EF4-FFF2-40B4-BE49-F238E27FC236}">
                <a16:creationId xmlns:a16="http://schemas.microsoft.com/office/drawing/2014/main" id="{8DDFE0EF-9666-4AE3-E3B6-3ED5C0611AEA}"/>
              </a:ext>
            </a:extLst>
          </p:cNvPr>
          <p:cNvCxnSpPr>
            <a:cxnSpLocks/>
            <a:stCxn id="18" idx="2"/>
            <a:endCxn id="17" idx="0"/>
          </p:cNvCxnSpPr>
          <p:nvPr/>
        </p:nvCxnSpPr>
        <p:spPr>
          <a:xfrm>
            <a:off x="8189805" y="541293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6A7DFC2-DD2D-80BE-9974-66163FA9C8BD}"/>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A80D662-F02D-BF00-4735-2E35DA9B1223}"/>
              </a:ext>
            </a:extLst>
          </p:cNvPr>
          <p:cNvSpPr txBox="1"/>
          <p:nvPr/>
        </p:nvSpPr>
        <p:spPr>
          <a:xfrm>
            <a:off x="7271701" y="3573976"/>
            <a:ext cx="1836208" cy="369332"/>
          </a:xfrm>
          <a:prstGeom prst="rect">
            <a:avLst/>
          </a:prstGeom>
          <a:noFill/>
        </p:spPr>
        <p:txBody>
          <a:bodyPr wrap="none" rtlCol="0">
            <a:spAutoFit/>
          </a:bodyPr>
          <a:lstStyle/>
          <a:p>
            <a:r>
              <a:rPr lang="en-US" dirty="0"/>
              <a:t>Cluster Computer</a:t>
            </a:r>
          </a:p>
        </p:txBody>
      </p:sp>
      <p:sp>
        <p:nvSpPr>
          <p:cNvPr id="22" name="Terminator 21">
            <a:extLst>
              <a:ext uri="{FF2B5EF4-FFF2-40B4-BE49-F238E27FC236}">
                <a16:creationId xmlns:a16="http://schemas.microsoft.com/office/drawing/2014/main" id="{22BFDC83-5C31-7300-3232-233E47E066D5}"/>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E3CA2FDC-56C8-2608-9917-FBC37A0727CE}"/>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24" name="Terminator 23">
            <a:extLst>
              <a:ext uri="{FF2B5EF4-FFF2-40B4-BE49-F238E27FC236}">
                <a16:creationId xmlns:a16="http://schemas.microsoft.com/office/drawing/2014/main" id="{F0DD7480-663A-FCA6-4A57-F880DCB310F4}"/>
              </a:ext>
            </a:extLst>
          </p:cNvPr>
          <p:cNvSpPr/>
          <p:nvPr/>
        </p:nvSpPr>
        <p:spPr>
          <a:xfrm>
            <a:off x="5389671" y="1500704"/>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25" name="Straight Connector 24">
            <a:extLst>
              <a:ext uri="{FF2B5EF4-FFF2-40B4-BE49-F238E27FC236}">
                <a16:creationId xmlns:a16="http://schemas.microsoft.com/office/drawing/2014/main" id="{5F3C2DA6-64F8-DC1D-EDF1-00544684EB54}"/>
              </a:ext>
            </a:extLst>
          </p:cNvPr>
          <p:cNvCxnSpPr>
            <a:cxnSpLocks/>
            <a:stCxn id="24" idx="2"/>
            <a:endCxn id="23" idx="0"/>
          </p:cNvCxnSpPr>
          <p:nvPr/>
        </p:nvCxnSpPr>
        <p:spPr>
          <a:xfrm>
            <a:off x="6116111" y="189694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204DCB2-4400-62A8-0FD8-D207DF7D3E5E}"/>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C240CF9-86CB-38A6-4619-7414C248D431}"/>
              </a:ext>
            </a:extLst>
          </p:cNvPr>
          <p:cNvSpPr txBox="1"/>
          <p:nvPr/>
        </p:nvSpPr>
        <p:spPr>
          <a:xfrm>
            <a:off x="5221184" y="539168"/>
            <a:ext cx="1727204" cy="369332"/>
          </a:xfrm>
          <a:prstGeom prst="rect">
            <a:avLst/>
          </a:prstGeom>
          <a:noFill/>
        </p:spPr>
        <p:txBody>
          <a:bodyPr wrap="none" rtlCol="0">
            <a:spAutoFit/>
          </a:bodyPr>
          <a:lstStyle/>
          <a:p>
            <a:pPr algn="ctr"/>
            <a:r>
              <a:rPr lang="en-US" dirty="0"/>
              <a:t>GitHub Remote</a:t>
            </a:r>
          </a:p>
        </p:txBody>
      </p:sp>
      <p:cxnSp>
        <p:nvCxnSpPr>
          <p:cNvPr id="32" name="Straight Arrow Connector 31">
            <a:extLst>
              <a:ext uri="{FF2B5EF4-FFF2-40B4-BE49-F238E27FC236}">
                <a16:creationId xmlns:a16="http://schemas.microsoft.com/office/drawing/2014/main" id="{38FD4918-DC79-B34D-06B0-7D4EDE277EB8}"/>
              </a:ext>
            </a:extLst>
          </p:cNvPr>
          <p:cNvCxnSpPr>
            <a:cxnSpLocks/>
            <a:stCxn id="15" idx="0"/>
            <a:endCxn id="5" idx="2"/>
          </p:cNvCxnSpPr>
          <p:nvPr/>
        </p:nvCxnSpPr>
        <p:spPr>
          <a:xfrm flipV="1">
            <a:off x="4126859" y="3079708"/>
            <a:ext cx="1969141" cy="520840"/>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A75C787-064A-F8CB-1D05-EF68C6D816B3}"/>
              </a:ext>
            </a:extLst>
          </p:cNvPr>
          <p:cNvCxnSpPr>
            <a:cxnSpLocks/>
            <a:stCxn id="21" idx="0"/>
            <a:endCxn id="5" idx="2"/>
          </p:cNvCxnSpPr>
          <p:nvPr/>
        </p:nvCxnSpPr>
        <p:spPr>
          <a:xfrm flipH="1" flipV="1">
            <a:off x="6096000" y="3079708"/>
            <a:ext cx="2093805" cy="494268"/>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BF026E4A-B0C4-D299-FA9E-D5397CCBB0F9}"/>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sp>
        <p:nvSpPr>
          <p:cNvPr id="36" name="Terminator 35">
            <a:extLst>
              <a:ext uri="{FF2B5EF4-FFF2-40B4-BE49-F238E27FC236}">
                <a16:creationId xmlns:a16="http://schemas.microsoft.com/office/drawing/2014/main" id="{3F14DDA0-D9ED-EB0D-287F-A41BB40F4683}"/>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750CB19E-0216-7AE7-C3F2-7BD8BE194D85}"/>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05067778-F843-6AA4-6931-2F52ABD66C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4" name="TextBox 3">
            <a:extLst>
              <a:ext uri="{FF2B5EF4-FFF2-40B4-BE49-F238E27FC236}">
                <a16:creationId xmlns:a16="http://schemas.microsoft.com/office/drawing/2014/main" id="{C15ED61C-709C-3C52-1061-597FB8488678}"/>
              </a:ext>
            </a:extLst>
          </p:cNvPr>
          <p:cNvSpPr txBox="1"/>
          <p:nvPr/>
        </p:nvSpPr>
        <p:spPr>
          <a:xfrm>
            <a:off x="1898410" y="4443378"/>
            <a:ext cx="1085554" cy="369332"/>
          </a:xfrm>
          <a:prstGeom prst="rect">
            <a:avLst/>
          </a:prstGeom>
          <a:noFill/>
        </p:spPr>
        <p:txBody>
          <a:bodyPr wrap="none" rtlCol="0">
            <a:spAutoFit/>
          </a:bodyPr>
          <a:lstStyle/>
          <a:p>
            <a:r>
              <a:rPr lang="en-US"/>
              <a:t>3. git pull</a:t>
            </a:r>
          </a:p>
        </p:txBody>
      </p:sp>
      <p:sp>
        <p:nvSpPr>
          <p:cNvPr id="7" name="TextBox 6">
            <a:extLst>
              <a:ext uri="{FF2B5EF4-FFF2-40B4-BE49-F238E27FC236}">
                <a16:creationId xmlns:a16="http://schemas.microsoft.com/office/drawing/2014/main" id="{DC52D6D4-009C-D397-1973-A72D920C2263}"/>
              </a:ext>
            </a:extLst>
          </p:cNvPr>
          <p:cNvSpPr txBox="1"/>
          <p:nvPr/>
        </p:nvSpPr>
        <p:spPr>
          <a:xfrm>
            <a:off x="9424245" y="4723564"/>
            <a:ext cx="1481496" cy="369332"/>
          </a:xfrm>
          <a:prstGeom prst="rect">
            <a:avLst/>
          </a:prstGeom>
          <a:noFill/>
        </p:spPr>
        <p:txBody>
          <a:bodyPr wrap="none" rtlCol="0">
            <a:spAutoFit/>
          </a:bodyPr>
          <a:lstStyle/>
          <a:p>
            <a:r>
              <a:rPr lang="en-US"/>
              <a:t>1. git commit</a:t>
            </a:r>
          </a:p>
        </p:txBody>
      </p:sp>
      <p:sp>
        <p:nvSpPr>
          <p:cNvPr id="28" name="TextBox 27">
            <a:extLst>
              <a:ext uri="{FF2B5EF4-FFF2-40B4-BE49-F238E27FC236}">
                <a16:creationId xmlns:a16="http://schemas.microsoft.com/office/drawing/2014/main" id="{C34EA01C-75CB-C29B-2E63-428D3F618CCA}"/>
              </a:ext>
            </a:extLst>
          </p:cNvPr>
          <p:cNvSpPr txBox="1"/>
          <p:nvPr/>
        </p:nvSpPr>
        <p:spPr>
          <a:xfrm>
            <a:off x="8016869" y="2896660"/>
            <a:ext cx="1204176" cy="369332"/>
          </a:xfrm>
          <a:prstGeom prst="rect">
            <a:avLst/>
          </a:prstGeom>
          <a:noFill/>
        </p:spPr>
        <p:txBody>
          <a:bodyPr wrap="none" rtlCol="0">
            <a:spAutoFit/>
          </a:bodyPr>
          <a:lstStyle/>
          <a:p>
            <a:r>
              <a:rPr lang="en-US"/>
              <a:t>2. git push</a:t>
            </a:r>
          </a:p>
        </p:txBody>
      </p:sp>
    </p:spTree>
    <p:extLst>
      <p:ext uri="{BB962C8B-B14F-4D97-AF65-F5344CB8AC3E}">
        <p14:creationId xmlns:p14="http://schemas.microsoft.com/office/powerpoint/2010/main" val="2725356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9D92-1D36-6D46-A659-DCAC5F506EA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9866E8-9D18-C1CD-E515-E296C06E762F}"/>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C2CB10-D771-160B-A570-E0C8F4EBBABE}"/>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273A366-0C33-9571-435A-41657B127E4C}"/>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CCB387D-F07E-AE6B-8605-BCB8E8D2FA67}"/>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8" name="Rectangle 7">
            <a:extLst>
              <a:ext uri="{FF2B5EF4-FFF2-40B4-BE49-F238E27FC236}">
                <a16:creationId xmlns:a16="http://schemas.microsoft.com/office/drawing/2014/main" id="{FAA4126D-C5A7-C17D-DC80-ADE317F4FD4F}"/>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9" name="Rectangle 8">
            <a:extLst>
              <a:ext uri="{FF2B5EF4-FFF2-40B4-BE49-F238E27FC236}">
                <a16:creationId xmlns:a16="http://schemas.microsoft.com/office/drawing/2014/main" id="{696AB834-6A61-FD95-53CC-E87D0D0D73B4}"/>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algn="ctr"/>
            <a:r>
              <a:rPr lang="en-US" sz="1600" dirty="0"/>
              <a:t>Version DB</a:t>
            </a:r>
          </a:p>
        </p:txBody>
      </p:sp>
      <p:sp>
        <p:nvSpPr>
          <p:cNvPr id="10" name="Terminator 9">
            <a:extLst>
              <a:ext uri="{FF2B5EF4-FFF2-40B4-BE49-F238E27FC236}">
                <a16:creationId xmlns:a16="http://schemas.microsoft.com/office/drawing/2014/main" id="{6AC61551-99E2-F33A-8007-4505E5F697E5}"/>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1" name="Terminator 10">
            <a:extLst>
              <a:ext uri="{FF2B5EF4-FFF2-40B4-BE49-F238E27FC236}">
                <a16:creationId xmlns:a16="http://schemas.microsoft.com/office/drawing/2014/main" id="{2B4BA4D3-65B1-7774-EA62-B0ED90C09F47}"/>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2" name="Terminator 11">
            <a:extLst>
              <a:ext uri="{FF2B5EF4-FFF2-40B4-BE49-F238E27FC236}">
                <a16:creationId xmlns:a16="http://schemas.microsoft.com/office/drawing/2014/main" id="{4CCF3DC6-702D-79A1-7774-52AF5938CA3A}"/>
              </a:ext>
            </a:extLst>
          </p:cNvPr>
          <p:cNvSpPr/>
          <p:nvPr/>
        </p:nvSpPr>
        <p:spPr>
          <a:xfrm>
            <a:off x="3400419" y="504326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3" name="Straight Connector 12">
            <a:extLst>
              <a:ext uri="{FF2B5EF4-FFF2-40B4-BE49-F238E27FC236}">
                <a16:creationId xmlns:a16="http://schemas.microsoft.com/office/drawing/2014/main" id="{FEEB1998-FFC1-100B-9B4C-FDF320E4FFB7}"/>
              </a:ext>
            </a:extLst>
          </p:cNvPr>
          <p:cNvCxnSpPr>
            <a:cxnSpLocks/>
            <a:stCxn id="12" idx="2"/>
            <a:endCxn id="11" idx="0"/>
          </p:cNvCxnSpPr>
          <p:nvPr/>
        </p:nvCxnSpPr>
        <p:spPr>
          <a:xfrm>
            <a:off x="4126859" y="543950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E5261CC-86C9-489A-0818-5B0A264DE97B}"/>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F085FCC-BF5C-066B-D43A-96C8F4BD3655}"/>
              </a:ext>
            </a:extLst>
          </p:cNvPr>
          <p:cNvSpPr txBox="1"/>
          <p:nvPr/>
        </p:nvSpPr>
        <p:spPr>
          <a:xfrm>
            <a:off x="3135177" y="3600548"/>
            <a:ext cx="1983363" cy="369332"/>
          </a:xfrm>
          <a:prstGeom prst="rect">
            <a:avLst/>
          </a:prstGeom>
          <a:noFill/>
        </p:spPr>
        <p:txBody>
          <a:bodyPr wrap="none" rtlCol="0">
            <a:spAutoFit/>
          </a:bodyPr>
          <a:lstStyle/>
          <a:p>
            <a:r>
              <a:rPr lang="en-US" dirty="0"/>
              <a:t>Personal Computer</a:t>
            </a:r>
          </a:p>
        </p:txBody>
      </p:sp>
      <p:sp>
        <p:nvSpPr>
          <p:cNvPr id="16" name="Terminator 15">
            <a:extLst>
              <a:ext uri="{FF2B5EF4-FFF2-40B4-BE49-F238E27FC236}">
                <a16:creationId xmlns:a16="http://schemas.microsoft.com/office/drawing/2014/main" id="{84559474-225E-75D9-E4F0-AF9738C5F76A}"/>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17" name="Terminator 16">
            <a:extLst>
              <a:ext uri="{FF2B5EF4-FFF2-40B4-BE49-F238E27FC236}">
                <a16:creationId xmlns:a16="http://schemas.microsoft.com/office/drawing/2014/main" id="{72597737-119E-1A0D-5696-907E91A81C4B}"/>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18" name="Terminator 17">
            <a:extLst>
              <a:ext uri="{FF2B5EF4-FFF2-40B4-BE49-F238E27FC236}">
                <a16:creationId xmlns:a16="http://schemas.microsoft.com/office/drawing/2014/main" id="{AD34B45B-7697-D754-8E38-0962D13A3347}"/>
              </a:ext>
            </a:extLst>
          </p:cNvPr>
          <p:cNvSpPr/>
          <p:nvPr/>
        </p:nvSpPr>
        <p:spPr>
          <a:xfrm>
            <a:off x="7463365" y="5016696"/>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19" name="Straight Connector 18">
            <a:extLst>
              <a:ext uri="{FF2B5EF4-FFF2-40B4-BE49-F238E27FC236}">
                <a16:creationId xmlns:a16="http://schemas.microsoft.com/office/drawing/2014/main" id="{56AF9A3A-4E99-491F-63D9-9B74187D8C76}"/>
              </a:ext>
            </a:extLst>
          </p:cNvPr>
          <p:cNvCxnSpPr>
            <a:cxnSpLocks/>
            <a:stCxn id="18" idx="2"/>
            <a:endCxn id="17" idx="0"/>
          </p:cNvCxnSpPr>
          <p:nvPr/>
        </p:nvCxnSpPr>
        <p:spPr>
          <a:xfrm>
            <a:off x="8189805" y="541293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66F8075-D805-A367-7403-B7C764A85CB1}"/>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D1E5C5D-349B-8B58-270E-8B918B23DA6F}"/>
              </a:ext>
            </a:extLst>
          </p:cNvPr>
          <p:cNvSpPr txBox="1"/>
          <p:nvPr/>
        </p:nvSpPr>
        <p:spPr>
          <a:xfrm>
            <a:off x="7271701" y="3573976"/>
            <a:ext cx="1836208" cy="369332"/>
          </a:xfrm>
          <a:prstGeom prst="rect">
            <a:avLst/>
          </a:prstGeom>
          <a:noFill/>
        </p:spPr>
        <p:txBody>
          <a:bodyPr wrap="none" rtlCol="0">
            <a:spAutoFit/>
          </a:bodyPr>
          <a:lstStyle/>
          <a:p>
            <a:r>
              <a:rPr lang="en-US" dirty="0"/>
              <a:t>Cluster Computer</a:t>
            </a:r>
          </a:p>
        </p:txBody>
      </p:sp>
      <p:sp>
        <p:nvSpPr>
          <p:cNvPr id="22" name="Terminator 21">
            <a:extLst>
              <a:ext uri="{FF2B5EF4-FFF2-40B4-BE49-F238E27FC236}">
                <a16:creationId xmlns:a16="http://schemas.microsoft.com/office/drawing/2014/main" id="{4CAE3F12-4B33-9ABF-74B0-B24E3A33E15E}"/>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1</a:t>
            </a:r>
          </a:p>
        </p:txBody>
      </p:sp>
      <p:sp>
        <p:nvSpPr>
          <p:cNvPr id="23" name="Terminator 22">
            <a:extLst>
              <a:ext uri="{FF2B5EF4-FFF2-40B4-BE49-F238E27FC236}">
                <a16:creationId xmlns:a16="http://schemas.microsoft.com/office/drawing/2014/main" id="{DC223562-BD09-9D18-D04C-D0890A224B0D}"/>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 2</a:t>
            </a:r>
          </a:p>
        </p:txBody>
      </p:sp>
      <p:sp>
        <p:nvSpPr>
          <p:cNvPr id="24" name="Terminator 23">
            <a:extLst>
              <a:ext uri="{FF2B5EF4-FFF2-40B4-BE49-F238E27FC236}">
                <a16:creationId xmlns:a16="http://schemas.microsoft.com/office/drawing/2014/main" id="{2A4831E4-F119-F652-4BA3-F843C76606A3}"/>
              </a:ext>
            </a:extLst>
          </p:cNvPr>
          <p:cNvSpPr/>
          <p:nvPr/>
        </p:nvSpPr>
        <p:spPr>
          <a:xfrm>
            <a:off x="5389671" y="1500704"/>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Commit 3</a:t>
            </a:r>
          </a:p>
        </p:txBody>
      </p:sp>
      <p:cxnSp>
        <p:nvCxnSpPr>
          <p:cNvPr id="25" name="Straight Connector 24">
            <a:extLst>
              <a:ext uri="{FF2B5EF4-FFF2-40B4-BE49-F238E27FC236}">
                <a16:creationId xmlns:a16="http://schemas.microsoft.com/office/drawing/2014/main" id="{AC06D8C1-712D-20F6-1DF2-AFD9D794D843}"/>
              </a:ext>
            </a:extLst>
          </p:cNvPr>
          <p:cNvCxnSpPr>
            <a:cxnSpLocks/>
            <a:stCxn id="24" idx="2"/>
            <a:endCxn id="23" idx="0"/>
          </p:cNvCxnSpPr>
          <p:nvPr/>
        </p:nvCxnSpPr>
        <p:spPr>
          <a:xfrm>
            <a:off x="6116111" y="189694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2264A7C-B457-41A3-6D94-E22CDEABB46B}"/>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F45C75D-3F8F-A2C0-995E-4E2DF9C3988C}"/>
              </a:ext>
            </a:extLst>
          </p:cNvPr>
          <p:cNvSpPr txBox="1"/>
          <p:nvPr/>
        </p:nvSpPr>
        <p:spPr>
          <a:xfrm>
            <a:off x="5221184" y="539168"/>
            <a:ext cx="1727204" cy="369332"/>
          </a:xfrm>
          <a:prstGeom prst="rect">
            <a:avLst/>
          </a:prstGeom>
          <a:noFill/>
        </p:spPr>
        <p:txBody>
          <a:bodyPr wrap="none" rtlCol="0">
            <a:spAutoFit/>
          </a:bodyPr>
          <a:lstStyle/>
          <a:p>
            <a:pPr algn="ctr"/>
            <a:r>
              <a:rPr lang="en-US" dirty="0"/>
              <a:t>GitHub Remote</a:t>
            </a:r>
          </a:p>
        </p:txBody>
      </p:sp>
      <p:cxnSp>
        <p:nvCxnSpPr>
          <p:cNvPr id="32" name="Straight Arrow Connector 31">
            <a:extLst>
              <a:ext uri="{FF2B5EF4-FFF2-40B4-BE49-F238E27FC236}">
                <a16:creationId xmlns:a16="http://schemas.microsoft.com/office/drawing/2014/main" id="{8E83416E-E788-E437-454E-7EB5D60A9716}"/>
              </a:ext>
            </a:extLst>
          </p:cNvPr>
          <p:cNvCxnSpPr>
            <a:cxnSpLocks/>
            <a:stCxn id="15" idx="0"/>
            <a:endCxn id="5" idx="2"/>
          </p:cNvCxnSpPr>
          <p:nvPr/>
        </p:nvCxnSpPr>
        <p:spPr>
          <a:xfrm flipV="1">
            <a:off x="4126859" y="3079708"/>
            <a:ext cx="1969141" cy="520840"/>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B477479-15A4-4038-0666-243BA987FD3A}"/>
              </a:ext>
            </a:extLst>
          </p:cNvPr>
          <p:cNvCxnSpPr>
            <a:cxnSpLocks/>
            <a:stCxn id="21" idx="0"/>
            <a:endCxn id="5" idx="2"/>
          </p:cNvCxnSpPr>
          <p:nvPr/>
        </p:nvCxnSpPr>
        <p:spPr>
          <a:xfrm flipH="1" flipV="1">
            <a:off x="6096000" y="3079708"/>
            <a:ext cx="2093805" cy="494268"/>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A0845978-F6A4-D9F6-B1F1-5F1E666D6C95}"/>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sp>
        <p:nvSpPr>
          <p:cNvPr id="36" name="Terminator 35">
            <a:extLst>
              <a:ext uri="{FF2B5EF4-FFF2-40B4-BE49-F238E27FC236}">
                <a16:creationId xmlns:a16="http://schemas.microsoft.com/office/drawing/2014/main" id="{8ED356CC-3E36-57EC-696B-56A0B176DD33}"/>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1F3A5C3A-0C35-2E8D-7E61-870DBD3D8D56}"/>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425809DF-F353-BDF5-5589-A59E955B5E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
        <p:nvSpPr>
          <p:cNvPr id="4" name="TextBox 3">
            <a:extLst>
              <a:ext uri="{FF2B5EF4-FFF2-40B4-BE49-F238E27FC236}">
                <a16:creationId xmlns:a16="http://schemas.microsoft.com/office/drawing/2014/main" id="{322804D7-4316-C2F7-5781-818CE4C84AF9}"/>
              </a:ext>
            </a:extLst>
          </p:cNvPr>
          <p:cNvSpPr txBox="1"/>
          <p:nvPr/>
        </p:nvSpPr>
        <p:spPr>
          <a:xfrm>
            <a:off x="1898410" y="4443378"/>
            <a:ext cx="1085554" cy="369332"/>
          </a:xfrm>
          <a:prstGeom prst="rect">
            <a:avLst/>
          </a:prstGeom>
          <a:noFill/>
        </p:spPr>
        <p:txBody>
          <a:bodyPr wrap="none" rtlCol="0">
            <a:spAutoFit/>
          </a:bodyPr>
          <a:lstStyle/>
          <a:p>
            <a:r>
              <a:rPr lang="en-US"/>
              <a:t>3. git pull</a:t>
            </a:r>
          </a:p>
        </p:txBody>
      </p:sp>
      <p:sp>
        <p:nvSpPr>
          <p:cNvPr id="7" name="TextBox 6">
            <a:extLst>
              <a:ext uri="{FF2B5EF4-FFF2-40B4-BE49-F238E27FC236}">
                <a16:creationId xmlns:a16="http://schemas.microsoft.com/office/drawing/2014/main" id="{8EC7B401-B10E-410B-326A-C46194CFF9FB}"/>
              </a:ext>
            </a:extLst>
          </p:cNvPr>
          <p:cNvSpPr txBox="1"/>
          <p:nvPr/>
        </p:nvSpPr>
        <p:spPr>
          <a:xfrm>
            <a:off x="9424245" y="4723564"/>
            <a:ext cx="1481496" cy="369332"/>
          </a:xfrm>
          <a:prstGeom prst="rect">
            <a:avLst/>
          </a:prstGeom>
          <a:noFill/>
        </p:spPr>
        <p:txBody>
          <a:bodyPr wrap="none" rtlCol="0">
            <a:spAutoFit/>
          </a:bodyPr>
          <a:lstStyle/>
          <a:p>
            <a:r>
              <a:rPr lang="en-US"/>
              <a:t>1. git commit</a:t>
            </a:r>
          </a:p>
        </p:txBody>
      </p:sp>
      <p:sp>
        <p:nvSpPr>
          <p:cNvPr id="28" name="TextBox 27">
            <a:extLst>
              <a:ext uri="{FF2B5EF4-FFF2-40B4-BE49-F238E27FC236}">
                <a16:creationId xmlns:a16="http://schemas.microsoft.com/office/drawing/2014/main" id="{985C77C0-2707-B1E8-A32F-7656A8D4669B}"/>
              </a:ext>
            </a:extLst>
          </p:cNvPr>
          <p:cNvSpPr txBox="1"/>
          <p:nvPr/>
        </p:nvSpPr>
        <p:spPr>
          <a:xfrm>
            <a:off x="8016869" y="2896660"/>
            <a:ext cx="1204176" cy="369332"/>
          </a:xfrm>
          <a:prstGeom prst="rect">
            <a:avLst/>
          </a:prstGeom>
          <a:noFill/>
        </p:spPr>
        <p:txBody>
          <a:bodyPr wrap="none" rtlCol="0">
            <a:spAutoFit/>
          </a:bodyPr>
          <a:lstStyle/>
          <a:p>
            <a:r>
              <a:rPr lang="en-US"/>
              <a:t>2. git push</a:t>
            </a:r>
          </a:p>
        </p:txBody>
      </p:sp>
      <p:sp>
        <p:nvSpPr>
          <p:cNvPr id="29" name="TextBox 28">
            <a:extLst>
              <a:ext uri="{FF2B5EF4-FFF2-40B4-BE49-F238E27FC236}">
                <a16:creationId xmlns:a16="http://schemas.microsoft.com/office/drawing/2014/main" id="{11E91AFB-CE92-B8FB-D32C-AE0A370905DB}"/>
              </a:ext>
            </a:extLst>
          </p:cNvPr>
          <p:cNvSpPr txBox="1"/>
          <p:nvPr/>
        </p:nvSpPr>
        <p:spPr>
          <a:xfrm>
            <a:off x="8575289" y="300375"/>
            <a:ext cx="3122332" cy="1569660"/>
          </a:xfrm>
          <a:prstGeom prst="rect">
            <a:avLst/>
          </a:prstGeom>
          <a:noFill/>
          <a:ln>
            <a:solidFill>
              <a:schemeClr val="tx1"/>
            </a:solidFill>
          </a:ln>
        </p:spPr>
        <p:txBody>
          <a:bodyPr wrap="square" rtlCol="0">
            <a:spAutoFit/>
          </a:bodyPr>
          <a:lstStyle/>
          <a:p>
            <a:r>
              <a:rPr lang="en-US" sz="2400" b="1"/>
              <a:t>Start day</a:t>
            </a:r>
          </a:p>
          <a:p>
            <a:pPr marL="342900" indent="-342900">
              <a:buAutoNum type="arabicPeriod"/>
            </a:pPr>
            <a:r>
              <a:rPr lang="en-US" sz="2400" u="sng"/>
              <a:t>Pull</a:t>
            </a:r>
            <a:r>
              <a:rPr lang="en-US" sz="2400"/>
              <a:t> changes</a:t>
            </a:r>
          </a:p>
          <a:p>
            <a:pPr marL="342900" indent="-342900">
              <a:buAutoNum type="arabicPeriod"/>
            </a:pPr>
            <a:r>
              <a:rPr lang="en-US" sz="2400"/>
              <a:t>Make </a:t>
            </a:r>
            <a:r>
              <a:rPr lang="en-US" sz="2400" u="sng"/>
              <a:t>commits</a:t>
            </a:r>
          </a:p>
          <a:p>
            <a:pPr marL="342900" indent="-342900">
              <a:buAutoNum type="arabicPeriod"/>
            </a:pPr>
            <a:r>
              <a:rPr lang="en-US" sz="2400" u="sng"/>
              <a:t>Push</a:t>
            </a:r>
            <a:r>
              <a:rPr lang="en-US" sz="2400"/>
              <a:t> changes</a:t>
            </a:r>
          </a:p>
        </p:txBody>
      </p:sp>
    </p:spTree>
    <p:extLst>
      <p:ext uri="{BB962C8B-B14F-4D97-AF65-F5344CB8AC3E}">
        <p14:creationId xmlns:p14="http://schemas.microsoft.com/office/powerpoint/2010/main" val="11201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5A7C-C189-4F6F-587F-8AA74949572E}"/>
              </a:ext>
            </a:extLst>
          </p:cNvPr>
          <p:cNvSpPr>
            <a:spLocks noGrp="1"/>
          </p:cNvSpPr>
          <p:nvPr>
            <p:ph type="title"/>
          </p:nvPr>
        </p:nvSpPr>
        <p:spPr/>
        <p:txBody>
          <a:bodyPr/>
          <a:lstStyle/>
          <a:p>
            <a:r>
              <a:rPr lang="en-US"/>
              <a:t>merging conflicts</a:t>
            </a:r>
          </a:p>
        </p:txBody>
      </p:sp>
      <p:pic>
        <p:nvPicPr>
          <p:cNvPr id="5" name="Content Placeholder 4">
            <a:extLst>
              <a:ext uri="{FF2B5EF4-FFF2-40B4-BE49-F238E27FC236}">
                <a16:creationId xmlns:a16="http://schemas.microsoft.com/office/drawing/2014/main" id="{A08E356E-79BE-8A6B-8B2F-9DDDFA7C069A}"/>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38200" y="2014506"/>
            <a:ext cx="3784600" cy="3632200"/>
          </a:xfrm>
        </p:spPr>
      </p:pic>
      <p:sp>
        <p:nvSpPr>
          <p:cNvPr id="6" name="TextBox 5">
            <a:extLst>
              <a:ext uri="{FF2B5EF4-FFF2-40B4-BE49-F238E27FC236}">
                <a16:creationId xmlns:a16="http://schemas.microsoft.com/office/drawing/2014/main" id="{208CD008-1427-B2A3-B9D4-966A747921B0}"/>
              </a:ext>
            </a:extLst>
          </p:cNvPr>
          <p:cNvSpPr txBox="1"/>
          <p:nvPr/>
        </p:nvSpPr>
        <p:spPr>
          <a:xfrm>
            <a:off x="978321" y="5785858"/>
            <a:ext cx="339003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Edits to different lines: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no conflict, automatically merge</a:t>
            </a:r>
          </a:p>
        </p:txBody>
      </p:sp>
      <p:pic>
        <p:nvPicPr>
          <p:cNvPr id="7" name="Content Placeholder 4">
            <a:extLst>
              <a:ext uri="{FF2B5EF4-FFF2-40B4-BE49-F238E27FC236}">
                <a16:creationId xmlns:a16="http://schemas.microsoft.com/office/drawing/2014/main" id="{8C4A5E6E-7489-5DBC-6D80-E6DD513DFC2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76902" y="2014506"/>
            <a:ext cx="3784600" cy="3632200"/>
          </a:xfrm>
          <a:prstGeom prst="rect">
            <a:avLst/>
          </a:prstGeom>
        </p:spPr>
      </p:pic>
      <p:pic>
        <p:nvPicPr>
          <p:cNvPr id="9" name="Content Placeholder 4">
            <a:extLst>
              <a:ext uri="{FF2B5EF4-FFF2-40B4-BE49-F238E27FC236}">
                <a16:creationId xmlns:a16="http://schemas.microsoft.com/office/drawing/2014/main" id="{2B5ACDD7-597A-DD28-1916-9FF0EC36C8CD}"/>
              </a:ext>
            </a:extLst>
          </p:cNvPr>
          <p:cNvPicPr>
            <a:picLocks noChangeAspect="1"/>
          </p:cNvPicPr>
          <p:nvPr/>
        </p:nvPicPr>
        <p:blipFill>
          <a:blip r:embed="rId2">
            <a:extLst>
              <a:ext uri="{96DAC541-7B7A-43D3-8B79-37D633B846F1}">
                <asvg:svgBlip xmlns:asvg="http://schemas.microsoft.com/office/drawing/2016/SVG/main" r:embed="rId3"/>
              </a:ext>
            </a:extLst>
          </a:blip>
          <a:srcRect l="6265" t="7671" r="64205" b="49905"/>
          <a:stretch/>
        </p:blipFill>
        <p:spPr>
          <a:xfrm>
            <a:off x="5909733" y="3987800"/>
            <a:ext cx="1117600" cy="1540933"/>
          </a:xfrm>
          <a:prstGeom prst="rect">
            <a:avLst/>
          </a:prstGeom>
        </p:spPr>
      </p:pic>
      <p:sp>
        <p:nvSpPr>
          <p:cNvPr id="11" name="Rectangle 10">
            <a:extLst>
              <a:ext uri="{FF2B5EF4-FFF2-40B4-BE49-F238E27FC236}">
                <a16:creationId xmlns:a16="http://schemas.microsoft.com/office/drawing/2014/main" id="{200451E7-DBB2-5325-CACB-9C351C420C4A}"/>
              </a:ext>
            </a:extLst>
          </p:cNvPr>
          <p:cNvSpPr/>
          <p:nvPr/>
        </p:nvSpPr>
        <p:spPr>
          <a:xfrm>
            <a:off x="7141635" y="3830606"/>
            <a:ext cx="855133" cy="231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 name="Content Placeholder 4">
            <a:extLst>
              <a:ext uri="{FF2B5EF4-FFF2-40B4-BE49-F238E27FC236}">
                <a16:creationId xmlns:a16="http://schemas.microsoft.com/office/drawing/2014/main" id="{D9219861-DA1B-549A-8FFA-C027D7F281A3}"/>
              </a:ext>
            </a:extLst>
          </p:cNvPr>
          <p:cNvPicPr>
            <a:picLocks noChangeAspect="1"/>
          </p:cNvPicPr>
          <p:nvPr/>
        </p:nvPicPr>
        <p:blipFill>
          <a:blip r:embed="rId4">
            <a:extLst>
              <a:ext uri="{96DAC541-7B7A-43D3-8B79-37D633B846F1}">
                <asvg:svgBlip xmlns:asvg="http://schemas.microsoft.com/office/drawing/2016/SVG/main" r:embed="rId5"/>
              </a:ext>
            </a:extLst>
          </a:blip>
          <a:srcRect l="38256" t="37974" r="37136" b="52236"/>
          <a:stretch/>
        </p:blipFill>
        <p:spPr>
          <a:xfrm>
            <a:off x="7103534" y="3884051"/>
            <a:ext cx="931333" cy="355600"/>
          </a:xfrm>
          <a:prstGeom prst="rect">
            <a:avLst/>
          </a:prstGeom>
        </p:spPr>
      </p:pic>
      <p:pic>
        <p:nvPicPr>
          <p:cNvPr id="12" name="Content Placeholder 4">
            <a:extLst>
              <a:ext uri="{FF2B5EF4-FFF2-40B4-BE49-F238E27FC236}">
                <a16:creationId xmlns:a16="http://schemas.microsoft.com/office/drawing/2014/main" id="{59078DF8-B891-0815-DD6C-571629040EE1}"/>
              </a:ext>
            </a:extLst>
          </p:cNvPr>
          <p:cNvPicPr>
            <a:picLocks noChangeAspect="1"/>
          </p:cNvPicPr>
          <p:nvPr/>
        </p:nvPicPr>
        <p:blipFill>
          <a:blip r:embed="rId4">
            <a:extLst>
              <a:ext uri="{96DAC541-7B7A-43D3-8B79-37D633B846F1}">
                <asvg:svgBlip xmlns:asvg="http://schemas.microsoft.com/office/drawing/2016/SVG/main" r:embed="rId5"/>
              </a:ext>
            </a:extLst>
          </a:blip>
          <a:srcRect l="38256" t="37974" r="37136" b="52236"/>
          <a:stretch/>
        </p:blipFill>
        <p:spPr>
          <a:xfrm>
            <a:off x="6019774" y="4273700"/>
            <a:ext cx="931333" cy="355600"/>
          </a:xfrm>
          <a:prstGeom prst="rect">
            <a:avLst/>
          </a:prstGeom>
        </p:spPr>
      </p:pic>
      <p:sp>
        <p:nvSpPr>
          <p:cNvPr id="13" name="&quot;No&quot; Symbol 12">
            <a:extLst>
              <a:ext uri="{FF2B5EF4-FFF2-40B4-BE49-F238E27FC236}">
                <a16:creationId xmlns:a16="http://schemas.microsoft.com/office/drawing/2014/main" id="{B7B44182-0714-6175-49F3-08D641E44D5F}"/>
              </a:ext>
            </a:extLst>
          </p:cNvPr>
          <p:cNvSpPr/>
          <p:nvPr/>
        </p:nvSpPr>
        <p:spPr>
          <a:xfrm>
            <a:off x="8232758" y="3301111"/>
            <a:ext cx="856211" cy="972589"/>
          </a:xfrm>
          <a:prstGeom prst="noSmoking">
            <a:avLst/>
          </a:prstGeom>
          <a:solidFill>
            <a:srgbClr val="D8DAE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57250A7F-F60A-D800-E883-2061659204AA}"/>
              </a:ext>
            </a:extLst>
          </p:cNvPr>
          <p:cNvSpPr txBox="1"/>
          <p:nvPr/>
        </p:nvSpPr>
        <p:spPr>
          <a:xfrm>
            <a:off x="5929829" y="5787102"/>
            <a:ext cx="242361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Edits to the same line: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conflict, cannot merge</a:t>
            </a:r>
          </a:p>
        </p:txBody>
      </p:sp>
    </p:spTree>
    <p:extLst>
      <p:ext uri="{BB962C8B-B14F-4D97-AF65-F5344CB8AC3E}">
        <p14:creationId xmlns:p14="http://schemas.microsoft.com/office/powerpoint/2010/main" val="3657387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1EE486C-FDD0-DC42-D1CA-725C2C3450F5}"/>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Git takeaways</a:t>
            </a:r>
          </a:p>
        </p:txBody>
      </p:sp>
      <p:sp>
        <p:nvSpPr>
          <p:cNvPr id="3" name="Content Placeholder 2">
            <a:extLst>
              <a:ext uri="{FF2B5EF4-FFF2-40B4-BE49-F238E27FC236}">
                <a16:creationId xmlns:a16="http://schemas.microsoft.com/office/drawing/2014/main" id="{7B597073-E1D4-9DB5-0EE7-31312A699E6B}"/>
              </a:ext>
            </a:extLst>
          </p:cNvPr>
          <p:cNvSpPr>
            <a:spLocks noGrp="1"/>
          </p:cNvSpPr>
          <p:nvPr>
            <p:ph idx="1"/>
          </p:nvPr>
        </p:nvSpPr>
        <p:spPr>
          <a:xfrm>
            <a:off x="4810259" y="649480"/>
            <a:ext cx="6555347" cy="5546047"/>
          </a:xfrm>
        </p:spPr>
        <p:txBody>
          <a:bodyPr anchor="ctr">
            <a:normAutofit/>
          </a:bodyPr>
          <a:lstStyle/>
          <a:p>
            <a:pPr marL="0" indent="0">
              <a:buNone/>
            </a:pPr>
            <a:r>
              <a:rPr lang="en-US" sz="2000"/>
              <a:t>1. </a:t>
            </a:r>
            <a:r>
              <a:rPr lang="en-US" sz="2000" b="1"/>
              <a:t>Commits are NOT automatic</a:t>
            </a:r>
            <a:r>
              <a:rPr lang="en-US" sz="2000"/>
              <a:t>. You have to tell git when and what to commit every time. So do it frequently, or you won't be able to go back to a version that you didn't commit. </a:t>
            </a:r>
          </a:p>
          <a:p>
            <a:pPr marL="0" indent="0">
              <a:buNone/>
            </a:pPr>
            <a:r>
              <a:rPr lang="en-US" sz="2000"/>
              <a:t>2. </a:t>
            </a:r>
            <a:r>
              <a:rPr lang="en-US" sz="2000" b="1"/>
              <a:t>Always pull </a:t>
            </a:r>
            <a:r>
              <a:rPr lang="en-US" sz="2000"/>
              <a:t>to get the latest changes from the remote before you start working on your local version. Again, git does NOT operate automatically at all. Everything is manual. </a:t>
            </a:r>
          </a:p>
          <a:p>
            <a:pPr marL="0" indent="0">
              <a:buNone/>
            </a:pPr>
            <a:r>
              <a:rPr lang="en-US" sz="2000"/>
              <a:t>3. </a:t>
            </a:r>
            <a:r>
              <a:rPr lang="en-US" sz="2000" b="1"/>
              <a:t>Always be aware of what you're committing</a:t>
            </a:r>
            <a:r>
              <a:rPr lang="en-US" sz="2000"/>
              <a:t> as permanently deleting things is annoying</a:t>
            </a:r>
          </a:p>
          <a:p>
            <a:pPr marL="0" indent="0">
              <a:buNone/>
            </a:pPr>
            <a:r>
              <a:rPr lang="en-US" sz="2000"/>
              <a:t>4. Everything is recorded and almost everything can be undone, so </a:t>
            </a:r>
            <a:r>
              <a:rPr lang="en-US" sz="2000" b="1"/>
              <a:t>don’t be afraid</a:t>
            </a:r>
          </a:p>
        </p:txBody>
      </p:sp>
    </p:spTree>
    <p:extLst>
      <p:ext uri="{BB962C8B-B14F-4D97-AF65-F5344CB8AC3E}">
        <p14:creationId xmlns:p14="http://schemas.microsoft.com/office/powerpoint/2010/main" val="626042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8BD8F-9BB6-D3B2-5561-37207F96945D}"/>
              </a:ext>
            </a:extLst>
          </p:cNvPr>
          <p:cNvSpPr>
            <a:spLocks noGrp="1"/>
          </p:cNvSpPr>
          <p:nvPr>
            <p:ph type="title"/>
          </p:nvPr>
        </p:nvSpPr>
        <p:spPr/>
        <p:txBody>
          <a:bodyPr/>
          <a:lstStyle/>
          <a:p>
            <a:r>
              <a:rPr lang="en-US"/>
              <a:t>Getting a DOI and archiving your code</a:t>
            </a:r>
          </a:p>
        </p:txBody>
      </p:sp>
      <p:pic>
        <p:nvPicPr>
          <p:cNvPr id="4" name="Picture 3" descr="A screenshot of a computer&#10;&#10;AI-generated content may be incorrect.">
            <a:extLst>
              <a:ext uri="{FF2B5EF4-FFF2-40B4-BE49-F238E27FC236}">
                <a16:creationId xmlns:a16="http://schemas.microsoft.com/office/drawing/2014/main" id="{48E969DC-8EBF-AECD-3CF1-EBD63FAA0DAF}"/>
              </a:ext>
            </a:extLst>
          </p:cNvPr>
          <p:cNvPicPr>
            <a:picLocks noChangeAspect="1"/>
          </p:cNvPicPr>
          <p:nvPr/>
        </p:nvPicPr>
        <p:blipFill>
          <a:blip r:embed="rId3"/>
          <a:stretch>
            <a:fillRect/>
          </a:stretch>
        </p:blipFill>
        <p:spPr>
          <a:xfrm>
            <a:off x="1262717" y="2014539"/>
            <a:ext cx="9666565" cy="3986212"/>
          </a:xfrm>
          <a:prstGeom prst="rect">
            <a:avLst/>
          </a:prstGeom>
        </p:spPr>
      </p:pic>
    </p:spTree>
    <p:extLst>
      <p:ext uri="{BB962C8B-B14F-4D97-AF65-F5344CB8AC3E}">
        <p14:creationId xmlns:p14="http://schemas.microsoft.com/office/powerpoint/2010/main" val="65474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458E9B-8624-92F3-71B3-6EE7B1A7029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E7D059B-D326-8455-8453-09B8F6BE1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66797490-EEE1-67E3-6DA3-A092AACE7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91F466C-4265-5F6A-44A6-105406ADC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B5122A8-A4C8-9C01-0D11-631266172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E7DA02D-3E9B-7C54-F3FB-90924424FA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5A53D93E-2326-ED17-2910-AB5D58EE2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50C921DC-0E02-FB69-101E-FC5DB499E8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C6C46D-DD08-6DBE-2698-D57E1A6B4F72}"/>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a:solidFill>
                  <a:srgbClr val="FFFFFF"/>
                </a:solidFill>
              </a:rPr>
              <a:t>Summary</a:t>
            </a:r>
            <a:endParaRPr lang="en-US" sz="3400" kern="1200">
              <a:solidFill>
                <a:srgbClr val="FFFFFF"/>
              </a:solidFill>
              <a:latin typeface="+mj-lt"/>
              <a:ea typeface="+mj-ea"/>
              <a:cs typeface="+mj-cs"/>
            </a:endParaRPr>
          </a:p>
        </p:txBody>
      </p:sp>
      <p:sp>
        <p:nvSpPr>
          <p:cNvPr id="3" name="TextBox 2">
            <a:extLst>
              <a:ext uri="{FF2B5EF4-FFF2-40B4-BE49-F238E27FC236}">
                <a16:creationId xmlns:a16="http://schemas.microsoft.com/office/drawing/2014/main" id="{68AD6F1B-B044-8FA5-7B3D-5CC111D8D152}"/>
              </a:ext>
            </a:extLst>
          </p:cNvPr>
          <p:cNvSpPr txBox="1"/>
          <p:nvPr/>
        </p:nvSpPr>
        <p:spPr>
          <a:xfrm>
            <a:off x="4367695" y="586855"/>
            <a:ext cx="6516592" cy="769441"/>
          </a:xfrm>
          <a:prstGeom prst="rect">
            <a:avLst/>
          </a:prstGeom>
          <a:noFill/>
        </p:spPr>
        <p:txBody>
          <a:bodyPr wrap="none" rtlCol="0">
            <a:spAutoFit/>
          </a:bodyPr>
          <a:lstStyle/>
          <a:p>
            <a:r>
              <a:rPr lang="en-US" sz="4400">
                <a:latin typeface="+mj-lt"/>
              </a:rPr>
              <a:t>4 steps to sharing your code</a:t>
            </a:r>
          </a:p>
        </p:txBody>
      </p:sp>
      <p:sp>
        <p:nvSpPr>
          <p:cNvPr id="4" name="TextBox 3">
            <a:extLst>
              <a:ext uri="{FF2B5EF4-FFF2-40B4-BE49-F238E27FC236}">
                <a16:creationId xmlns:a16="http://schemas.microsoft.com/office/drawing/2014/main" id="{F1281031-D3F0-0A0E-C64B-A375523BE89C}"/>
              </a:ext>
            </a:extLst>
          </p:cNvPr>
          <p:cNvSpPr txBox="1"/>
          <p:nvPr/>
        </p:nvSpPr>
        <p:spPr>
          <a:xfrm>
            <a:off x="4457700" y="1700213"/>
            <a:ext cx="6629400" cy="2954655"/>
          </a:xfrm>
          <a:prstGeom prst="rect">
            <a:avLst/>
          </a:prstGeom>
          <a:noFill/>
        </p:spPr>
        <p:txBody>
          <a:bodyPr wrap="square" rtlCol="0">
            <a:spAutoFit/>
          </a:bodyPr>
          <a:lstStyle/>
          <a:p>
            <a:pPr marL="342900" indent="-342900">
              <a:buAutoNum type="arabicPeriod"/>
            </a:pPr>
            <a:r>
              <a:rPr lang="en-US" sz="2800"/>
              <a:t>Decide if you are sharing for reuse or reproduction</a:t>
            </a:r>
          </a:p>
          <a:p>
            <a:pPr marL="342900" indent="-342900">
              <a:buAutoNum type="arabicPeriod"/>
            </a:pPr>
            <a:r>
              <a:rPr lang="en-US" sz="2800"/>
              <a:t>Write your READMEs and organize your folders</a:t>
            </a:r>
          </a:p>
          <a:p>
            <a:pPr marL="342900" indent="-342900">
              <a:buAutoNum type="arabicPeriod"/>
            </a:pPr>
            <a:r>
              <a:rPr lang="en-US" sz="2800"/>
              <a:t>Upload to GitHub</a:t>
            </a:r>
          </a:p>
          <a:p>
            <a:pPr marL="342900" indent="-342900">
              <a:buAutoNum type="arabicPeriod"/>
            </a:pPr>
            <a:r>
              <a:rPr lang="en-US" sz="2800"/>
              <a:t>Link to Zenodo</a:t>
            </a:r>
          </a:p>
          <a:p>
            <a:pPr marL="342900" indent="-342900">
              <a:buAutoNum type="arabicPeriod"/>
            </a:pPr>
            <a:endParaRPr lang="en-US"/>
          </a:p>
        </p:txBody>
      </p:sp>
    </p:spTree>
    <p:extLst>
      <p:ext uri="{BB962C8B-B14F-4D97-AF65-F5344CB8AC3E}">
        <p14:creationId xmlns:p14="http://schemas.microsoft.com/office/powerpoint/2010/main" val="2039250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329CB1-1BA9-8E0C-70FD-62938FA3B78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01ABB4-3A01-A2A2-D738-0FF9B3E027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4" name="Rectangle 13">
            <a:extLst>
              <a:ext uri="{FF2B5EF4-FFF2-40B4-BE49-F238E27FC236}">
                <a16:creationId xmlns:a16="http://schemas.microsoft.com/office/drawing/2014/main" id="{4C35B524-070B-194D-D73F-51D95AF2C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290F60A1-C9DE-8410-9565-929D27E5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DA1FA82F-BADE-22F2-C725-1545B3B22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9F92016B-1E56-2597-86B6-6485D6FF33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693DEBDA-FF61-0535-5584-6A9873FCC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F5AB1FA9-EBC2-D349-17B6-850241F19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8FFCDA1-3CF4-D9D8-B23A-CC9B585C8723}"/>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a:solidFill>
                  <a:srgbClr val="FFFFFF"/>
                </a:solidFill>
              </a:rPr>
              <a:t>Bonus topics</a:t>
            </a:r>
            <a:br>
              <a:rPr lang="en-US" sz="3400">
                <a:solidFill>
                  <a:srgbClr val="FFFFFF"/>
                </a:solidFill>
              </a:rPr>
            </a:br>
            <a:r>
              <a:rPr lang="en-US" sz="3400">
                <a:solidFill>
                  <a:srgbClr val="FFFFFF"/>
                </a:solidFill>
              </a:rPr>
              <a:t>Pick one!</a:t>
            </a:r>
            <a:endParaRPr lang="en-US" sz="3400" kern="1200">
              <a:solidFill>
                <a:srgbClr val="FFFFFF"/>
              </a:solidFill>
              <a:latin typeface="+mj-lt"/>
              <a:ea typeface="+mj-ea"/>
              <a:cs typeface="+mj-cs"/>
            </a:endParaRPr>
          </a:p>
        </p:txBody>
      </p:sp>
      <p:sp>
        <p:nvSpPr>
          <p:cNvPr id="4" name="TextBox 3">
            <a:extLst>
              <a:ext uri="{FF2B5EF4-FFF2-40B4-BE49-F238E27FC236}">
                <a16:creationId xmlns:a16="http://schemas.microsoft.com/office/drawing/2014/main" id="{3148A746-2F43-708C-5C73-56D0E7295DF1}"/>
              </a:ext>
            </a:extLst>
          </p:cNvPr>
          <p:cNvSpPr txBox="1"/>
          <p:nvPr/>
        </p:nvSpPr>
        <p:spPr>
          <a:xfrm>
            <a:off x="4457700" y="1700213"/>
            <a:ext cx="6629400" cy="209288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git branching &amp; merging</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2800">
                <a:solidFill>
                  <a:prstClr val="black"/>
                </a:solidFill>
                <a:latin typeface="Aptos" panose="02110004020202020204"/>
              </a:rPr>
              <a:t>collaboration (forking and pull requests)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2800">
                <a:solidFill>
                  <a:prstClr val="black"/>
                </a:solidFill>
                <a:latin typeface="Aptos" panose="02110004020202020204"/>
              </a:rPr>
              <a:t>GitHub pages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2800">
                <a:solidFill>
                  <a:prstClr val="black"/>
                </a:solidFill>
                <a:latin typeface="Aptos" panose="02110004020202020204"/>
              </a:rPr>
              <a:t>GitHub lab organization</a:t>
            </a:r>
            <a:endParaRPr kumimoji="0" lang="en-US" sz="2800" b="0" i="0" u="none" strike="noStrike" kern="1200" cap="none" spc="0" normalizeH="0" baseline="0" noProof="0">
              <a:ln>
                <a:noFill/>
              </a:ln>
              <a:solidFill>
                <a:prstClr val="black"/>
              </a:solidFill>
              <a:effectLst/>
              <a:uLnTx/>
              <a:uFillTx/>
              <a:latin typeface="Aptos" panose="021100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68410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9">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EC35B447-2447-BCD9-EA98-2AC5A5171603}"/>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git branching explanation</a:t>
            </a:r>
          </a:p>
        </p:txBody>
      </p:sp>
      <p:sp>
        <p:nvSpPr>
          <p:cNvPr id="5" name="Text Placeholder 4">
            <a:extLst>
              <a:ext uri="{FF2B5EF4-FFF2-40B4-BE49-F238E27FC236}">
                <a16:creationId xmlns:a16="http://schemas.microsoft.com/office/drawing/2014/main" id="{43AD0DE8-89C3-7CF4-12A6-2AE5EA333A87}"/>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2977623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5B9A1-2A97-2413-0CA5-09F7675608C8}"/>
              </a:ext>
            </a:extLst>
          </p:cNvPr>
          <p:cNvSpPr>
            <a:spLocks noGrp="1"/>
          </p:cNvSpPr>
          <p:nvPr>
            <p:ph type="title"/>
          </p:nvPr>
        </p:nvSpPr>
        <p:spPr/>
        <p:txBody>
          <a:bodyPr/>
          <a:lstStyle/>
          <a:p>
            <a:r>
              <a:rPr lang="en-US"/>
              <a:t>visual demo of branching</a:t>
            </a:r>
          </a:p>
        </p:txBody>
      </p:sp>
      <p:sp>
        <p:nvSpPr>
          <p:cNvPr id="3" name="Content Placeholder 2">
            <a:extLst>
              <a:ext uri="{FF2B5EF4-FFF2-40B4-BE49-F238E27FC236}">
                <a16:creationId xmlns:a16="http://schemas.microsoft.com/office/drawing/2014/main" id="{6CF984AE-9922-C9DA-20CF-26A6AAFDDC2A}"/>
              </a:ext>
            </a:extLst>
          </p:cNvPr>
          <p:cNvSpPr>
            <a:spLocks noGrp="1"/>
          </p:cNvSpPr>
          <p:nvPr>
            <p:ph idx="1"/>
          </p:nvPr>
        </p:nvSpPr>
        <p:spPr>
          <a:solidFill>
            <a:schemeClr val="accent1">
              <a:lumMod val="50000"/>
            </a:schemeClr>
          </a:solidFill>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rPr>
              <a:t>Demo on </a:t>
            </a: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hlinkClick r:id="rId2"/>
              </a:rPr>
              <a:t>learngitbranching</a:t>
            </a: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rPr>
              <a:t> : </a:t>
            </a:r>
            <a:r>
              <a:rPr kumimoji="0" lang="en-US" sz="2800" b="0" i="0" u="sng" strike="noStrike" kern="1200" cap="none" spc="0" normalizeH="0" baseline="0" noProof="0">
                <a:ln>
                  <a:noFill/>
                </a:ln>
                <a:solidFill>
                  <a:srgbClr val="D4D4D4"/>
                </a:solidFill>
                <a:effectLst/>
                <a:uLnTx/>
                <a:uFillTx/>
                <a:latin typeface="Menlo" panose="020B0609030804020204" pitchFamily="49" charset="0"/>
                <a:ea typeface="+mn-ea"/>
                <a:cs typeface="+mn-cs"/>
              </a:rPr>
              <a:t>https://learngitbranching.js.org/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branch</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bugfix</a:t>
            </a:r>
            <a:endPar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commit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switch</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main</a:t>
            </a:r>
            <a:endPar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commit</a:t>
            </a:r>
            <a:endPar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merge</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bugFix</a:t>
            </a:r>
            <a:endPar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a:ln>
                  <a:noFill/>
                </a:ln>
                <a:solidFill>
                  <a:srgbClr val="DCDCAA"/>
                </a:solidFill>
                <a:effectLst/>
                <a:uLnTx/>
                <a:uFillTx/>
                <a:latin typeface="Menlo" panose="020B0609030804020204" pitchFamily="49" charset="0"/>
                <a:ea typeface="+mn-ea"/>
                <a:cs typeface="+mn-cs"/>
              </a:rPr>
              <a:t>git</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branch</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569CD6"/>
                </a:solidFill>
                <a:effectLst/>
                <a:uLnTx/>
                <a:uFillTx/>
                <a:latin typeface="Menlo" panose="020B0609030804020204" pitchFamily="49" charset="0"/>
                <a:ea typeface="+mn-ea"/>
                <a:cs typeface="+mn-cs"/>
              </a:rPr>
              <a:t>-d</a:t>
            </a:r>
            <a:r>
              <a:rPr kumimoji="0" lang="en-US" sz="2600" b="0" i="0" u="none" strike="noStrike" kern="1200" cap="none" spc="0" normalizeH="0" baseline="0" noProof="0">
                <a:ln>
                  <a:noFill/>
                </a:ln>
                <a:solidFill>
                  <a:srgbClr val="D4D4D4"/>
                </a:solidFill>
                <a:effectLst/>
                <a:uLnTx/>
                <a:uFillTx/>
                <a:latin typeface="Menlo" panose="020B0609030804020204" pitchFamily="49" charset="0"/>
                <a:ea typeface="+mn-ea"/>
                <a:cs typeface="+mn-cs"/>
              </a:rPr>
              <a:t> </a:t>
            </a:r>
            <a:r>
              <a:rPr kumimoji="0" lang="en-US" sz="2600" b="0" i="0" u="none" strike="noStrike" kern="1200" cap="none" spc="0" normalizeH="0" baseline="0" noProof="0">
                <a:ln>
                  <a:noFill/>
                </a:ln>
                <a:solidFill>
                  <a:srgbClr val="CE9178"/>
                </a:solidFill>
                <a:effectLst/>
                <a:uLnTx/>
                <a:uFillTx/>
                <a:latin typeface="Menlo" panose="020B0609030804020204" pitchFamily="49" charset="0"/>
                <a:ea typeface="+mn-ea"/>
                <a:cs typeface="+mn-cs"/>
              </a:rPr>
              <a:t>bugFix</a:t>
            </a:r>
            <a:endParaRPr kumimoji="0" lang="en-US" sz="2800" b="0" i="0" u="none" strike="noStrike" kern="1200" cap="none" spc="0" normalizeH="0" baseline="0" noProof="0">
              <a:ln>
                <a:noFill/>
              </a:ln>
              <a:solidFill>
                <a:srgbClr val="D4D4D4"/>
              </a:solidFill>
              <a:effectLst/>
              <a:uLnTx/>
              <a:uFillTx/>
              <a:latin typeface="Menlo" panose="020B0609030804020204" pitchFamily="49" charset="0"/>
              <a:ea typeface="+mn-ea"/>
              <a:cs typeface="+mn-cs"/>
            </a:endParaRPr>
          </a:p>
        </p:txBody>
      </p:sp>
    </p:spTree>
    <p:extLst>
      <p:ext uri="{BB962C8B-B14F-4D97-AF65-F5344CB8AC3E}">
        <p14:creationId xmlns:p14="http://schemas.microsoft.com/office/powerpoint/2010/main" val="3257752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C68C101-C91D-D7EF-0DB4-18A0B3136D6C}"/>
              </a:ext>
            </a:extLst>
          </p:cNvPr>
          <p:cNvSpPr>
            <a:spLocks noChangeAspect="1"/>
          </p:cNvSpPr>
          <p:nvPr/>
        </p:nvSpPr>
        <p:spPr>
          <a:xfrm>
            <a:off x="2543175" y="2311883"/>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c1</a:t>
            </a:r>
          </a:p>
        </p:txBody>
      </p:sp>
      <p:sp>
        <p:nvSpPr>
          <p:cNvPr id="7" name="Oval 6">
            <a:extLst>
              <a:ext uri="{FF2B5EF4-FFF2-40B4-BE49-F238E27FC236}">
                <a16:creationId xmlns:a16="http://schemas.microsoft.com/office/drawing/2014/main" id="{0D229936-FD1B-3927-23C2-EA44C70C5CDE}"/>
              </a:ext>
            </a:extLst>
          </p:cNvPr>
          <p:cNvSpPr>
            <a:spLocks noChangeAspect="1"/>
          </p:cNvSpPr>
          <p:nvPr/>
        </p:nvSpPr>
        <p:spPr>
          <a:xfrm>
            <a:off x="3782253" y="2311882"/>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c2</a:t>
            </a:r>
          </a:p>
        </p:txBody>
      </p:sp>
      <p:sp>
        <p:nvSpPr>
          <p:cNvPr id="8" name="Oval 7">
            <a:extLst>
              <a:ext uri="{FF2B5EF4-FFF2-40B4-BE49-F238E27FC236}">
                <a16:creationId xmlns:a16="http://schemas.microsoft.com/office/drawing/2014/main" id="{2A3786BA-EABB-701F-8778-B53E746CD0F5}"/>
              </a:ext>
            </a:extLst>
          </p:cNvPr>
          <p:cNvSpPr>
            <a:spLocks noChangeAspect="1"/>
          </p:cNvSpPr>
          <p:nvPr/>
        </p:nvSpPr>
        <p:spPr>
          <a:xfrm>
            <a:off x="5021331" y="2311882"/>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c3</a:t>
            </a:r>
          </a:p>
        </p:txBody>
      </p:sp>
      <p:cxnSp>
        <p:nvCxnSpPr>
          <p:cNvPr id="10" name="Straight Connector 9">
            <a:extLst>
              <a:ext uri="{FF2B5EF4-FFF2-40B4-BE49-F238E27FC236}">
                <a16:creationId xmlns:a16="http://schemas.microsoft.com/office/drawing/2014/main" id="{E36B5F29-708A-0111-E044-94B85DF53D3F}"/>
              </a:ext>
            </a:extLst>
          </p:cNvPr>
          <p:cNvCxnSpPr>
            <a:stCxn id="4" idx="6"/>
            <a:endCxn id="7" idx="2"/>
          </p:cNvCxnSpPr>
          <p:nvPr/>
        </p:nvCxnSpPr>
        <p:spPr>
          <a:xfrm flipV="1">
            <a:off x="3166028" y="2623309"/>
            <a:ext cx="616225" cy="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BEBA54-31C1-C9B5-1D13-6E97E47594A5}"/>
              </a:ext>
            </a:extLst>
          </p:cNvPr>
          <p:cNvCxnSpPr>
            <a:stCxn id="7" idx="6"/>
            <a:endCxn id="8" idx="2"/>
          </p:cNvCxnSpPr>
          <p:nvPr/>
        </p:nvCxnSpPr>
        <p:spPr>
          <a:xfrm>
            <a:off x="4405106" y="2623309"/>
            <a:ext cx="61622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7" name="Rounded Rectangle 26">
            <a:extLst>
              <a:ext uri="{FF2B5EF4-FFF2-40B4-BE49-F238E27FC236}">
                <a16:creationId xmlns:a16="http://schemas.microsoft.com/office/drawing/2014/main" id="{CBCFFB20-6F96-44C0-EB71-C78096870CC0}"/>
              </a:ext>
            </a:extLst>
          </p:cNvPr>
          <p:cNvSpPr/>
          <p:nvPr/>
        </p:nvSpPr>
        <p:spPr>
          <a:xfrm>
            <a:off x="701226" y="2414792"/>
            <a:ext cx="1214437" cy="5199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Aptos" panose="02110004020202020204"/>
                <a:ea typeface="+mn-ea"/>
                <a:cs typeface="+mn-cs"/>
              </a:rPr>
              <a:t>main</a:t>
            </a:r>
          </a:p>
        </p:txBody>
      </p:sp>
      <p:sp>
        <p:nvSpPr>
          <p:cNvPr id="30" name="Right Arrow 29">
            <a:extLst>
              <a:ext uri="{FF2B5EF4-FFF2-40B4-BE49-F238E27FC236}">
                <a16:creationId xmlns:a16="http://schemas.microsoft.com/office/drawing/2014/main" id="{F6DA6651-3339-7A41-308A-AF6E7AAA6379}"/>
              </a:ext>
            </a:extLst>
          </p:cNvPr>
          <p:cNvSpPr/>
          <p:nvPr/>
        </p:nvSpPr>
        <p:spPr>
          <a:xfrm rot="2700000">
            <a:off x="4093845" y="1512753"/>
            <a:ext cx="1275108" cy="528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HEAD</a:t>
            </a:r>
          </a:p>
        </p:txBody>
      </p:sp>
      <p:sp>
        <p:nvSpPr>
          <p:cNvPr id="3" name="TextBox 2">
            <a:extLst>
              <a:ext uri="{FF2B5EF4-FFF2-40B4-BE49-F238E27FC236}">
                <a16:creationId xmlns:a16="http://schemas.microsoft.com/office/drawing/2014/main" id="{0C2F231F-15A8-A860-32F0-80B71DA501A5}"/>
              </a:ext>
            </a:extLst>
          </p:cNvPr>
          <p:cNvSpPr txBox="1"/>
          <p:nvPr/>
        </p:nvSpPr>
        <p:spPr>
          <a:xfrm>
            <a:off x="9311309" y="3738504"/>
            <a:ext cx="1579278"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git commit</a:t>
            </a:r>
          </a:p>
        </p:txBody>
      </p:sp>
      <p:sp>
        <p:nvSpPr>
          <p:cNvPr id="2" name="Title 1">
            <a:extLst>
              <a:ext uri="{FF2B5EF4-FFF2-40B4-BE49-F238E27FC236}">
                <a16:creationId xmlns:a16="http://schemas.microsoft.com/office/drawing/2014/main" id="{A858C8E6-AD9A-F98D-A258-DA91C0E58A4B}"/>
              </a:ext>
            </a:extLst>
          </p:cNvPr>
          <p:cNvSpPr>
            <a:spLocks noGrp="1"/>
          </p:cNvSpPr>
          <p:nvPr>
            <p:ph type="title"/>
          </p:nvPr>
        </p:nvSpPr>
        <p:spPr/>
        <p:txBody>
          <a:bodyPr/>
          <a:lstStyle/>
          <a:p>
            <a:r>
              <a:rPr lang="en-US"/>
              <a:t>Navigating your git history: the HEAD pointer</a:t>
            </a:r>
          </a:p>
        </p:txBody>
      </p:sp>
    </p:spTree>
    <p:extLst>
      <p:ext uri="{BB962C8B-B14F-4D97-AF65-F5344CB8AC3E}">
        <p14:creationId xmlns:p14="http://schemas.microsoft.com/office/powerpoint/2010/main" val="3558631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C68C101-C91D-D7EF-0DB4-18A0B3136D6C}"/>
              </a:ext>
            </a:extLst>
          </p:cNvPr>
          <p:cNvSpPr>
            <a:spLocks noChangeAspect="1"/>
          </p:cNvSpPr>
          <p:nvPr/>
        </p:nvSpPr>
        <p:spPr>
          <a:xfrm>
            <a:off x="2543175" y="2311883"/>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c1</a:t>
            </a:r>
          </a:p>
        </p:txBody>
      </p:sp>
      <p:sp>
        <p:nvSpPr>
          <p:cNvPr id="7" name="Oval 6">
            <a:extLst>
              <a:ext uri="{FF2B5EF4-FFF2-40B4-BE49-F238E27FC236}">
                <a16:creationId xmlns:a16="http://schemas.microsoft.com/office/drawing/2014/main" id="{0D229936-FD1B-3927-23C2-EA44C70C5CDE}"/>
              </a:ext>
            </a:extLst>
          </p:cNvPr>
          <p:cNvSpPr>
            <a:spLocks noChangeAspect="1"/>
          </p:cNvSpPr>
          <p:nvPr/>
        </p:nvSpPr>
        <p:spPr>
          <a:xfrm>
            <a:off x="3782253" y="2311882"/>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c2</a:t>
            </a:r>
          </a:p>
        </p:txBody>
      </p:sp>
      <p:sp>
        <p:nvSpPr>
          <p:cNvPr id="8" name="Oval 7">
            <a:extLst>
              <a:ext uri="{FF2B5EF4-FFF2-40B4-BE49-F238E27FC236}">
                <a16:creationId xmlns:a16="http://schemas.microsoft.com/office/drawing/2014/main" id="{2A3786BA-EABB-701F-8778-B53E746CD0F5}"/>
              </a:ext>
            </a:extLst>
          </p:cNvPr>
          <p:cNvSpPr>
            <a:spLocks noChangeAspect="1"/>
          </p:cNvSpPr>
          <p:nvPr/>
        </p:nvSpPr>
        <p:spPr>
          <a:xfrm>
            <a:off x="5021331" y="2311882"/>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c3</a:t>
            </a:r>
          </a:p>
        </p:txBody>
      </p:sp>
      <p:cxnSp>
        <p:nvCxnSpPr>
          <p:cNvPr id="10" name="Straight Connector 9">
            <a:extLst>
              <a:ext uri="{FF2B5EF4-FFF2-40B4-BE49-F238E27FC236}">
                <a16:creationId xmlns:a16="http://schemas.microsoft.com/office/drawing/2014/main" id="{E36B5F29-708A-0111-E044-94B85DF53D3F}"/>
              </a:ext>
            </a:extLst>
          </p:cNvPr>
          <p:cNvCxnSpPr>
            <a:stCxn id="4" idx="6"/>
            <a:endCxn id="7" idx="2"/>
          </p:cNvCxnSpPr>
          <p:nvPr/>
        </p:nvCxnSpPr>
        <p:spPr>
          <a:xfrm flipV="1">
            <a:off x="3166028" y="2623309"/>
            <a:ext cx="616225" cy="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BEBA54-31C1-C9B5-1D13-6E97E47594A5}"/>
              </a:ext>
            </a:extLst>
          </p:cNvPr>
          <p:cNvCxnSpPr>
            <a:stCxn id="7" idx="6"/>
            <a:endCxn id="8" idx="2"/>
          </p:cNvCxnSpPr>
          <p:nvPr/>
        </p:nvCxnSpPr>
        <p:spPr>
          <a:xfrm>
            <a:off x="4405106" y="2623309"/>
            <a:ext cx="61622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29E02814-1981-1C96-05A5-2F89EE3F29F7}"/>
              </a:ext>
            </a:extLst>
          </p:cNvPr>
          <p:cNvSpPr>
            <a:spLocks noChangeAspect="1"/>
          </p:cNvSpPr>
          <p:nvPr/>
        </p:nvSpPr>
        <p:spPr>
          <a:xfrm>
            <a:off x="5930969" y="4464532"/>
            <a:ext cx="622853" cy="62285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c4</a:t>
            </a:r>
          </a:p>
        </p:txBody>
      </p:sp>
      <p:cxnSp>
        <p:nvCxnSpPr>
          <p:cNvPr id="15" name="Elbow Connector 14">
            <a:extLst>
              <a:ext uri="{FF2B5EF4-FFF2-40B4-BE49-F238E27FC236}">
                <a16:creationId xmlns:a16="http://schemas.microsoft.com/office/drawing/2014/main" id="{4A3895AC-7916-F983-CE0E-676334D4D14E}"/>
              </a:ext>
            </a:extLst>
          </p:cNvPr>
          <p:cNvCxnSpPr>
            <a:stCxn id="8" idx="4"/>
            <a:endCxn id="13" idx="2"/>
          </p:cNvCxnSpPr>
          <p:nvPr/>
        </p:nvCxnSpPr>
        <p:spPr>
          <a:xfrm rot="16200000" flipH="1">
            <a:off x="4711251" y="3556241"/>
            <a:ext cx="1841224" cy="598211"/>
          </a:xfrm>
          <a:prstGeom prst="bentConnector2">
            <a:avLst/>
          </a:prstGeom>
          <a:ln w="76200"/>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7751F39-FB33-ADB5-AAD5-1B9C354F7184}"/>
              </a:ext>
            </a:extLst>
          </p:cNvPr>
          <p:cNvSpPr>
            <a:spLocks noChangeAspect="1"/>
          </p:cNvSpPr>
          <p:nvPr/>
        </p:nvSpPr>
        <p:spPr>
          <a:xfrm>
            <a:off x="7413348" y="4464532"/>
            <a:ext cx="622853" cy="62285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c5</a:t>
            </a:r>
          </a:p>
        </p:txBody>
      </p:sp>
      <p:cxnSp>
        <p:nvCxnSpPr>
          <p:cNvPr id="18" name="Straight Connector 17">
            <a:extLst>
              <a:ext uri="{FF2B5EF4-FFF2-40B4-BE49-F238E27FC236}">
                <a16:creationId xmlns:a16="http://schemas.microsoft.com/office/drawing/2014/main" id="{718E9866-CA8B-F969-5A60-C6C4D27A55D3}"/>
              </a:ext>
            </a:extLst>
          </p:cNvPr>
          <p:cNvCxnSpPr>
            <a:stCxn id="13" idx="6"/>
          </p:cNvCxnSpPr>
          <p:nvPr/>
        </p:nvCxnSpPr>
        <p:spPr>
          <a:xfrm flipV="1">
            <a:off x="6553822" y="4775958"/>
            <a:ext cx="989978" cy="1"/>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Rounded Rectangle 26">
            <a:extLst>
              <a:ext uri="{FF2B5EF4-FFF2-40B4-BE49-F238E27FC236}">
                <a16:creationId xmlns:a16="http://schemas.microsoft.com/office/drawing/2014/main" id="{CBCFFB20-6F96-44C0-EB71-C78096870CC0}"/>
              </a:ext>
            </a:extLst>
          </p:cNvPr>
          <p:cNvSpPr/>
          <p:nvPr/>
        </p:nvSpPr>
        <p:spPr>
          <a:xfrm>
            <a:off x="701226" y="2414792"/>
            <a:ext cx="1214437" cy="5199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Aptos" panose="02110004020202020204"/>
                <a:ea typeface="+mn-ea"/>
                <a:cs typeface="+mn-cs"/>
              </a:rPr>
              <a:t>main</a:t>
            </a:r>
          </a:p>
        </p:txBody>
      </p:sp>
      <p:sp>
        <p:nvSpPr>
          <p:cNvPr id="28" name="Rounded Rectangle 27">
            <a:extLst>
              <a:ext uri="{FF2B5EF4-FFF2-40B4-BE49-F238E27FC236}">
                <a16:creationId xmlns:a16="http://schemas.microsoft.com/office/drawing/2014/main" id="{A3B9202D-0E67-1CDD-7C3C-48B9F87A8135}"/>
              </a:ext>
            </a:extLst>
          </p:cNvPr>
          <p:cNvSpPr/>
          <p:nvPr/>
        </p:nvSpPr>
        <p:spPr>
          <a:xfrm>
            <a:off x="746210" y="4520749"/>
            <a:ext cx="1124467" cy="510417"/>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test</a:t>
            </a:r>
          </a:p>
        </p:txBody>
      </p:sp>
      <p:sp>
        <p:nvSpPr>
          <p:cNvPr id="30" name="Right Arrow 29">
            <a:extLst>
              <a:ext uri="{FF2B5EF4-FFF2-40B4-BE49-F238E27FC236}">
                <a16:creationId xmlns:a16="http://schemas.microsoft.com/office/drawing/2014/main" id="{F6DA6651-3339-7A41-308A-AF6E7AAA6379}"/>
              </a:ext>
            </a:extLst>
          </p:cNvPr>
          <p:cNvSpPr/>
          <p:nvPr/>
        </p:nvSpPr>
        <p:spPr>
          <a:xfrm rot="2700000">
            <a:off x="6449499" y="3618711"/>
            <a:ext cx="1275108" cy="528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HEAD</a:t>
            </a:r>
          </a:p>
        </p:txBody>
      </p:sp>
      <p:sp>
        <p:nvSpPr>
          <p:cNvPr id="31" name="TextBox 30">
            <a:extLst>
              <a:ext uri="{FF2B5EF4-FFF2-40B4-BE49-F238E27FC236}">
                <a16:creationId xmlns:a16="http://schemas.microsoft.com/office/drawing/2014/main" id="{5CC31137-5A14-C085-DFA6-C62C07B43F22}"/>
              </a:ext>
            </a:extLst>
          </p:cNvPr>
          <p:cNvSpPr txBox="1"/>
          <p:nvPr/>
        </p:nvSpPr>
        <p:spPr>
          <a:xfrm>
            <a:off x="9311309" y="3738504"/>
            <a:ext cx="2276585" cy="175432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git branch test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git commit</a:t>
            </a:r>
          </a:p>
        </p:txBody>
      </p:sp>
    </p:spTree>
    <p:extLst>
      <p:ext uri="{BB962C8B-B14F-4D97-AF65-F5344CB8AC3E}">
        <p14:creationId xmlns:p14="http://schemas.microsoft.com/office/powerpoint/2010/main" val="2329584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C68C101-C91D-D7EF-0DB4-18A0B3136D6C}"/>
              </a:ext>
            </a:extLst>
          </p:cNvPr>
          <p:cNvSpPr>
            <a:spLocks noChangeAspect="1"/>
          </p:cNvSpPr>
          <p:nvPr/>
        </p:nvSpPr>
        <p:spPr>
          <a:xfrm>
            <a:off x="2543175" y="2311883"/>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c1</a:t>
            </a:r>
          </a:p>
        </p:txBody>
      </p:sp>
      <p:sp>
        <p:nvSpPr>
          <p:cNvPr id="7" name="Oval 6">
            <a:extLst>
              <a:ext uri="{FF2B5EF4-FFF2-40B4-BE49-F238E27FC236}">
                <a16:creationId xmlns:a16="http://schemas.microsoft.com/office/drawing/2014/main" id="{0D229936-FD1B-3927-23C2-EA44C70C5CDE}"/>
              </a:ext>
            </a:extLst>
          </p:cNvPr>
          <p:cNvSpPr>
            <a:spLocks noChangeAspect="1"/>
          </p:cNvSpPr>
          <p:nvPr/>
        </p:nvSpPr>
        <p:spPr>
          <a:xfrm>
            <a:off x="3782253" y="2311882"/>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c2</a:t>
            </a:r>
          </a:p>
        </p:txBody>
      </p:sp>
      <p:sp>
        <p:nvSpPr>
          <p:cNvPr id="8" name="Oval 7">
            <a:extLst>
              <a:ext uri="{FF2B5EF4-FFF2-40B4-BE49-F238E27FC236}">
                <a16:creationId xmlns:a16="http://schemas.microsoft.com/office/drawing/2014/main" id="{2A3786BA-EABB-701F-8778-B53E746CD0F5}"/>
              </a:ext>
            </a:extLst>
          </p:cNvPr>
          <p:cNvSpPr>
            <a:spLocks noChangeAspect="1"/>
          </p:cNvSpPr>
          <p:nvPr/>
        </p:nvSpPr>
        <p:spPr>
          <a:xfrm>
            <a:off x="5021331" y="2311882"/>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c3</a:t>
            </a:r>
          </a:p>
        </p:txBody>
      </p:sp>
      <p:cxnSp>
        <p:nvCxnSpPr>
          <p:cNvPr id="10" name="Straight Connector 9">
            <a:extLst>
              <a:ext uri="{FF2B5EF4-FFF2-40B4-BE49-F238E27FC236}">
                <a16:creationId xmlns:a16="http://schemas.microsoft.com/office/drawing/2014/main" id="{E36B5F29-708A-0111-E044-94B85DF53D3F}"/>
              </a:ext>
            </a:extLst>
          </p:cNvPr>
          <p:cNvCxnSpPr>
            <a:stCxn id="4" idx="6"/>
            <a:endCxn id="7" idx="2"/>
          </p:cNvCxnSpPr>
          <p:nvPr/>
        </p:nvCxnSpPr>
        <p:spPr>
          <a:xfrm flipV="1">
            <a:off x="3166028" y="2623309"/>
            <a:ext cx="616225" cy="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BEBA54-31C1-C9B5-1D13-6E97E47594A5}"/>
              </a:ext>
            </a:extLst>
          </p:cNvPr>
          <p:cNvCxnSpPr>
            <a:stCxn id="7" idx="6"/>
            <a:endCxn id="8" idx="2"/>
          </p:cNvCxnSpPr>
          <p:nvPr/>
        </p:nvCxnSpPr>
        <p:spPr>
          <a:xfrm>
            <a:off x="4405106" y="2623309"/>
            <a:ext cx="61622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29E02814-1981-1C96-05A5-2F89EE3F29F7}"/>
              </a:ext>
            </a:extLst>
          </p:cNvPr>
          <p:cNvSpPr>
            <a:spLocks noChangeAspect="1"/>
          </p:cNvSpPr>
          <p:nvPr/>
        </p:nvSpPr>
        <p:spPr>
          <a:xfrm>
            <a:off x="5930969" y="4464532"/>
            <a:ext cx="622853" cy="62285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c4</a:t>
            </a:r>
          </a:p>
        </p:txBody>
      </p:sp>
      <p:cxnSp>
        <p:nvCxnSpPr>
          <p:cNvPr id="15" name="Elbow Connector 14">
            <a:extLst>
              <a:ext uri="{FF2B5EF4-FFF2-40B4-BE49-F238E27FC236}">
                <a16:creationId xmlns:a16="http://schemas.microsoft.com/office/drawing/2014/main" id="{4A3895AC-7916-F983-CE0E-676334D4D14E}"/>
              </a:ext>
            </a:extLst>
          </p:cNvPr>
          <p:cNvCxnSpPr>
            <a:stCxn id="8" idx="4"/>
            <a:endCxn id="13" idx="2"/>
          </p:cNvCxnSpPr>
          <p:nvPr/>
        </p:nvCxnSpPr>
        <p:spPr>
          <a:xfrm rot="16200000" flipH="1">
            <a:off x="4711251" y="3556241"/>
            <a:ext cx="1841224" cy="598211"/>
          </a:xfrm>
          <a:prstGeom prst="bentConnector2">
            <a:avLst/>
          </a:prstGeom>
          <a:ln w="76200"/>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7751F39-FB33-ADB5-AAD5-1B9C354F7184}"/>
              </a:ext>
            </a:extLst>
          </p:cNvPr>
          <p:cNvSpPr>
            <a:spLocks noChangeAspect="1"/>
          </p:cNvSpPr>
          <p:nvPr/>
        </p:nvSpPr>
        <p:spPr>
          <a:xfrm>
            <a:off x="7413348" y="4464532"/>
            <a:ext cx="622853" cy="62285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c5</a:t>
            </a:r>
          </a:p>
        </p:txBody>
      </p:sp>
      <p:cxnSp>
        <p:nvCxnSpPr>
          <p:cNvPr id="18" name="Straight Connector 17">
            <a:extLst>
              <a:ext uri="{FF2B5EF4-FFF2-40B4-BE49-F238E27FC236}">
                <a16:creationId xmlns:a16="http://schemas.microsoft.com/office/drawing/2014/main" id="{718E9866-CA8B-F969-5A60-C6C4D27A55D3}"/>
              </a:ext>
            </a:extLst>
          </p:cNvPr>
          <p:cNvCxnSpPr>
            <a:stCxn id="13" idx="6"/>
          </p:cNvCxnSpPr>
          <p:nvPr/>
        </p:nvCxnSpPr>
        <p:spPr>
          <a:xfrm flipV="1">
            <a:off x="6553822" y="4775958"/>
            <a:ext cx="989978" cy="1"/>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Rounded Rectangle 26">
            <a:extLst>
              <a:ext uri="{FF2B5EF4-FFF2-40B4-BE49-F238E27FC236}">
                <a16:creationId xmlns:a16="http://schemas.microsoft.com/office/drawing/2014/main" id="{CBCFFB20-6F96-44C0-EB71-C78096870CC0}"/>
              </a:ext>
            </a:extLst>
          </p:cNvPr>
          <p:cNvSpPr/>
          <p:nvPr/>
        </p:nvSpPr>
        <p:spPr>
          <a:xfrm>
            <a:off x="701226" y="2414792"/>
            <a:ext cx="1214437" cy="5199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Aptos" panose="02110004020202020204"/>
                <a:ea typeface="+mn-ea"/>
                <a:cs typeface="+mn-cs"/>
              </a:rPr>
              <a:t>main</a:t>
            </a:r>
          </a:p>
        </p:txBody>
      </p:sp>
      <p:sp>
        <p:nvSpPr>
          <p:cNvPr id="28" name="Rounded Rectangle 27">
            <a:extLst>
              <a:ext uri="{FF2B5EF4-FFF2-40B4-BE49-F238E27FC236}">
                <a16:creationId xmlns:a16="http://schemas.microsoft.com/office/drawing/2014/main" id="{A3B9202D-0E67-1CDD-7C3C-48B9F87A8135}"/>
              </a:ext>
            </a:extLst>
          </p:cNvPr>
          <p:cNvSpPr/>
          <p:nvPr/>
        </p:nvSpPr>
        <p:spPr>
          <a:xfrm>
            <a:off x="746210" y="4520749"/>
            <a:ext cx="1124467" cy="510417"/>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test</a:t>
            </a:r>
          </a:p>
        </p:txBody>
      </p:sp>
      <p:sp>
        <p:nvSpPr>
          <p:cNvPr id="30" name="Right Arrow 29">
            <a:extLst>
              <a:ext uri="{FF2B5EF4-FFF2-40B4-BE49-F238E27FC236}">
                <a16:creationId xmlns:a16="http://schemas.microsoft.com/office/drawing/2014/main" id="{F6DA6651-3339-7A41-308A-AF6E7AAA6379}"/>
              </a:ext>
            </a:extLst>
          </p:cNvPr>
          <p:cNvSpPr/>
          <p:nvPr/>
        </p:nvSpPr>
        <p:spPr>
          <a:xfrm rot="2700000">
            <a:off x="4096992" y="1466912"/>
            <a:ext cx="1275108" cy="528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HEAD</a:t>
            </a:r>
          </a:p>
        </p:txBody>
      </p:sp>
      <p:sp>
        <p:nvSpPr>
          <p:cNvPr id="31" name="TextBox 30">
            <a:extLst>
              <a:ext uri="{FF2B5EF4-FFF2-40B4-BE49-F238E27FC236}">
                <a16:creationId xmlns:a16="http://schemas.microsoft.com/office/drawing/2014/main" id="{5CC31137-5A14-C085-DFA6-C62C07B43F22}"/>
              </a:ext>
            </a:extLst>
          </p:cNvPr>
          <p:cNvSpPr txBox="1"/>
          <p:nvPr/>
        </p:nvSpPr>
        <p:spPr>
          <a:xfrm>
            <a:off x="9311309" y="3738504"/>
            <a:ext cx="2276585"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branch test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git switch main</a:t>
            </a:r>
          </a:p>
        </p:txBody>
      </p:sp>
    </p:spTree>
    <p:extLst>
      <p:ext uri="{BB962C8B-B14F-4D97-AF65-F5344CB8AC3E}">
        <p14:creationId xmlns:p14="http://schemas.microsoft.com/office/powerpoint/2010/main" val="1685815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C68C101-C91D-D7EF-0DB4-18A0B3136D6C}"/>
              </a:ext>
            </a:extLst>
          </p:cNvPr>
          <p:cNvSpPr>
            <a:spLocks noChangeAspect="1"/>
          </p:cNvSpPr>
          <p:nvPr/>
        </p:nvSpPr>
        <p:spPr>
          <a:xfrm>
            <a:off x="2543175" y="2311883"/>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c1</a:t>
            </a:r>
          </a:p>
        </p:txBody>
      </p:sp>
      <p:sp>
        <p:nvSpPr>
          <p:cNvPr id="7" name="Oval 6">
            <a:extLst>
              <a:ext uri="{FF2B5EF4-FFF2-40B4-BE49-F238E27FC236}">
                <a16:creationId xmlns:a16="http://schemas.microsoft.com/office/drawing/2014/main" id="{0D229936-FD1B-3927-23C2-EA44C70C5CDE}"/>
              </a:ext>
            </a:extLst>
          </p:cNvPr>
          <p:cNvSpPr>
            <a:spLocks noChangeAspect="1"/>
          </p:cNvSpPr>
          <p:nvPr/>
        </p:nvSpPr>
        <p:spPr>
          <a:xfrm>
            <a:off x="3782253" y="2311882"/>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c2</a:t>
            </a:r>
          </a:p>
        </p:txBody>
      </p:sp>
      <p:sp>
        <p:nvSpPr>
          <p:cNvPr id="8" name="Oval 7">
            <a:extLst>
              <a:ext uri="{FF2B5EF4-FFF2-40B4-BE49-F238E27FC236}">
                <a16:creationId xmlns:a16="http://schemas.microsoft.com/office/drawing/2014/main" id="{2A3786BA-EABB-701F-8778-B53E746CD0F5}"/>
              </a:ext>
            </a:extLst>
          </p:cNvPr>
          <p:cNvSpPr>
            <a:spLocks noChangeAspect="1"/>
          </p:cNvSpPr>
          <p:nvPr/>
        </p:nvSpPr>
        <p:spPr>
          <a:xfrm>
            <a:off x="5021331" y="2311882"/>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c3</a:t>
            </a:r>
          </a:p>
        </p:txBody>
      </p:sp>
      <p:cxnSp>
        <p:nvCxnSpPr>
          <p:cNvPr id="10" name="Straight Connector 9">
            <a:extLst>
              <a:ext uri="{FF2B5EF4-FFF2-40B4-BE49-F238E27FC236}">
                <a16:creationId xmlns:a16="http://schemas.microsoft.com/office/drawing/2014/main" id="{E36B5F29-708A-0111-E044-94B85DF53D3F}"/>
              </a:ext>
            </a:extLst>
          </p:cNvPr>
          <p:cNvCxnSpPr>
            <a:stCxn id="4" idx="6"/>
            <a:endCxn id="7" idx="2"/>
          </p:cNvCxnSpPr>
          <p:nvPr/>
        </p:nvCxnSpPr>
        <p:spPr>
          <a:xfrm flipV="1">
            <a:off x="3166028" y="2623309"/>
            <a:ext cx="616225" cy="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BEBA54-31C1-C9B5-1D13-6E97E47594A5}"/>
              </a:ext>
            </a:extLst>
          </p:cNvPr>
          <p:cNvCxnSpPr>
            <a:stCxn id="7" idx="6"/>
            <a:endCxn id="8" idx="2"/>
          </p:cNvCxnSpPr>
          <p:nvPr/>
        </p:nvCxnSpPr>
        <p:spPr>
          <a:xfrm>
            <a:off x="4405106" y="2623309"/>
            <a:ext cx="61622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29E02814-1981-1C96-05A5-2F89EE3F29F7}"/>
              </a:ext>
            </a:extLst>
          </p:cNvPr>
          <p:cNvSpPr>
            <a:spLocks noChangeAspect="1"/>
          </p:cNvSpPr>
          <p:nvPr/>
        </p:nvSpPr>
        <p:spPr>
          <a:xfrm>
            <a:off x="5930969" y="4464532"/>
            <a:ext cx="622853" cy="62285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c4</a:t>
            </a:r>
          </a:p>
        </p:txBody>
      </p:sp>
      <p:cxnSp>
        <p:nvCxnSpPr>
          <p:cNvPr id="15" name="Elbow Connector 14">
            <a:extLst>
              <a:ext uri="{FF2B5EF4-FFF2-40B4-BE49-F238E27FC236}">
                <a16:creationId xmlns:a16="http://schemas.microsoft.com/office/drawing/2014/main" id="{4A3895AC-7916-F983-CE0E-676334D4D14E}"/>
              </a:ext>
            </a:extLst>
          </p:cNvPr>
          <p:cNvCxnSpPr>
            <a:stCxn id="8" idx="4"/>
            <a:endCxn id="13" idx="2"/>
          </p:cNvCxnSpPr>
          <p:nvPr/>
        </p:nvCxnSpPr>
        <p:spPr>
          <a:xfrm rot="16200000" flipH="1">
            <a:off x="4711251" y="3556241"/>
            <a:ext cx="1841224" cy="598211"/>
          </a:xfrm>
          <a:prstGeom prst="bentConnector2">
            <a:avLst/>
          </a:prstGeom>
          <a:ln w="76200"/>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7751F39-FB33-ADB5-AAD5-1B9C354F7184}"/>
              </a:ext>
            </a:extLst>
          </p:cNvPr>
          <p:cNvSpPr>
            <a:spLocks noChangeAspect="1"/>
          </p:cNvSpPr>
          <p:nvPr/>
        </p:nvSpPr>
        <p:spPr>
          <a:xfrm>
            <a:off x="7413348" y="4464532"/>
            <a:ext cx="622853" cy="622853"/>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c5</a:t>
            </a:r>
          </a:p>
        </p:txBody>
      </p:sp>
      <p:cxnSp>
        <p:nvCxnSpPr>
          <p:cNvPr id="18" name="Straight Connector 17">
            <a:extLst>
              <a:ext uri="{FF2B5EF4-FFF2-40B4-BE49-F238E27FC236}">
                <a16:creationId xmlns:a16="http://schemas.microsoft.com/office/drawing/2014/main" id="{718E9866-CA8B-F969-5A60-C6C4D27A55D3}"/>
              </a:ext>
            </a:extLst>
          </p:cNvPr>
          <p:cNvCxnSpPr>
            <a:stCxn id="13" idx="6"/>
          </p:cNvCxnSpPr>
          <p:nvPr/>
        </p:nvCxnSpPr>
        <p:spPr>
          <a:xfrm flipV="1">
            <a:off x="6553822" y="4775958"/>
            <a:ext cx="989978" cy="1"/>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F096AE52-0CAA-2DCC-EADD-A571A6304342}"/>
              </a:ext>
            </a:extLst>
          </p:cNvPr>
          <p:cNvSpPr>
            <a:spLocks noChangeAspect="1"/>
          </p:cNvSpPr>
          <p:nvPr/>
        </p:nvSpPr>
        <p:spPr>
          <a:xfrm>
            <a:off x="8688456" y="2311881"/>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c6</a:t>
            </a:r>
          </a:p>
        </p:txBody>
      </p:sp>
      <p:cxnSp>
        <p:nvCxnSpPr>
          <p:cNvPr id="21" name="Elbow Connector 20">
            <a:extLst>
              <a:ext uri="{FF2B5EF4-FFF2-40B4-BE49-F238E27FC236}">
                <a16:creationId xmlns:a16="http://schemas.microsoft.com/office/drawing/2014/main" id="{112199F5-C6B7-80C9-7BEA-E795CFDE4E0B}"/>
              </a:ext>
            </a:extLst>
          </p:cNvPr>
          <p:cNvCxnSpPr>
            <a:stCxn id="16" idx="6"/>
            <a:endCxn id="19" idx="4"/>
          </p:cNvCxnSpPr>
          <p:nvPr/>
        </p:nvCxnSpPr>
        <p:spPr>
          <a:xfrm flipV="1">
            <a:off x="8036201" y="2934734"/>
            <a:ext cx="963682" cy="1841225"/>
          </a:xfrm>
          <a:prstGeom prst="bentConnector2">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FD0EB05-955D-411C-B862-7F4A07725EAF}"/>
              </a:ext>
            </a:extLst>
          </p:cNvPr>
          <p:cNvCxnSpPr>
            <a:stCxn id="8" idx="6"/>
            <a:endCxn id="19" idx="2"/>
          </p:cNvCxnSpPr>
          <p:nvPr/>
        </p:nvCxnSpPr>
        <p:spPr>
          <a:xfrm flipV="1">
            <a:off x="5644184" y="2623308"/>
            <a:ext cx="304427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E8AB5A25-F267-6B41-400A-E08B97FA986D}"/>
              </a:ext>
            </a:extLst>
          </p:cNvPr>
          <p:cNvSpPr>
            <a:spLocks noChangeAspect="1"/>
          </p:cNvSpPr>
          <p:nvPr/>
        </p:nvSpPr>
        <p:spPr>
          <a:xfrm>
            <a:off x="9963564" y="2311881"/>
            <a:ext cx="622853" cy="6228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c7</a:t>
            </a:r>
          </a:p>
        </p:txBody>
      </p:sp>
      <p:cxnSp>
        <p:nvCxnSpPr>
          <p:cNvPr id="26" name="Straight Connector 25">
            <a:extLst>
              <a:ext uri="{FF2B5EF4-FFF2-40B4-BE49-F238E27FC236}">
                <a16:creationId xmlns:a16="http://schemas.microsoft.com/office/drawing/2014/main" id="{A96C03E5-43E1-7F87-FC9B-18F01904849D}"/>
              </a:ext>
            </a:extLst>
          </p:cNvPr>
          <p:cNvCxnSpPr>
            <a:stCxn id="19" idx="6"/>
            <a:endCxn id="24" idx="2"/>
          </p:cNvCxnSpPr>
          <p:nvPr/>
        </p:nvCxnSpPr>
        <p:spPr>
          <a:xfrm>
            <a:off x="9311309" y="2623308"/>
            <a:ext cx="65225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7" name="Rounded Rectangle 26">
            <a:extLst>
              <a:ext uri="{FF2B5EF4-FFF2-40B4-BE49-F238E27FC236}">
                <a16:creationId xmlns:a16="http://schemas.microsoft.com/office/drawing/2014/main" id="{CBCFFB20-6F96-44C0-EB71-C78096870CC0}"/>
              </a:ext>
            </a:extLst>
          </p:cNvPr>
          <p:cNvSpPr/>
          <p:nvPr/>
        </p:nvSpPr>
        <p:spPr>
          <a:xfrm>
            <a:off x="701226" y="2414792"/>
            <a:ext cx="1214437" cy="5199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Aptos" panose="02110004020202020204"/>
                <a:ea typeface="+mn-ea"/>
                <a:cs typeface="+mn-cs"/>
              </a:rPr>
              <a:t>main</a:t>
            </a:r>
          </a:p>
        </p:txBody>
      </p:sp>
      <p:sp>
        <p:nvSpPr>
          <p:cNvPr id="28" name="Rounded Rectangle 27">
            <a:extLst>
              <a:ext uri="{FF2B5EF4-FFF2-40B4-BE49-F238E27FC236}">
                <a16:creationId xmlns:a16="http://schemas.microsoft.com/office/drawing/2014/main" id="{A3B9202D-0E67-1CDD-7C3C-48B9F87A8135}"/>
              </a:ext>
            </a:extLst>
          </p:cNvPr>
          <p:cNvSpPr/>
          <p:nvPr/>
        </p:nvSpPr>
        <p:spPr>
          <a:xfrm>
            <a:off x="746210" y="4520749"/>
            <a:ext cx="1124467" cy="510417"/>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ptos" panose="02110004020202020204"/>
                <a:ea typeface="+mn-ea"/>
                <a:cs typeface="+mn-cs"/>
              </a:rPr>
              <a:t>test</a:t>
            </a:r>
          </a:p>
        </p:txBody>
      </p:sp>
      <p:sp>
        <p:nvSpPr>
          <p:cNvPr id="30" name="Right Arrow 29">
            <a:extLst>
              <a:ext uri="{FF2B5EF4-FFF2-40B4-BE49-F238E27FC236}">
                <a16:creationId xmlns:a16="http://schemas.microsoft.com/office/drawing/2014/main" id="{F6DA6651-3339-7A41-308A-AF6E7AAA6379}"/>
              </a:ext>
            </a:extLst>
          </p:cNvPr>
          <p:cNvSpPr/>
          <p:nvPr/>
        </p:nvSpPr>
        <p:spPr>
          <a:xfrm rot="2700000">
            <a:off x="9045605" y="1512752"/>
            <a:ext cx="1275108" cy="528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HEAD</a:t>
            </a:r>
          </a:p>
        </p:txBody>
      </p:sp>
      <p:sp>
        <p:nvSpPr>
          <p:cNvPr id="31" name="TextBox 30">
            <a:extLst>
              <a:ext uri="{FF2B5EF4-FFF2-40B4-BE49-F238E27FC236}">
                <a16:creationId xmlns:a16="http://schemas.microsoft.com/office/drawing/2014/main" id="{5CC31137-5A14-C085-DFA6-C62C07B43F22}"/>
              </a:ext>
            </a:extLst>
          </p:cNvPr>
          <p:cNvSpPr txBox="1"/>
          <p:nvPr/>
        </p:nvSpPr>
        <p:spPr>
          <a:xfrm>
            <a:off x="9311309" y="3738504"/>
            <a:ext cx="2276585" cy="258532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branch test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commit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50000"/>
                  </a:prstClr>
                </a:solidFill>
                <a:effectLst/>
                <a:uLnTx/>
                <a:uFillTx/>
                <a:latin typeface="Menlo" panose="020B0609030804020204" pitchFamily="49" charset="0"/>
                <a:ea typeface="Menlo" panose="020B0609030804020204" pitchFamily="49" charset="0"/>
                <a:cs typeface="Menlo" panose="020B0609030804020204" pitchFamily="49" charset="0"/>
              </a:rPr>
              <a:t>git switch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git merge test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enlo" panose="020B0609030804020204" pitchFamily="49" charset="0"/>
                <a:ea typeface="Menlo" panose="020B0609030804020204" pitchFamily="49" charset="0"/>
                <a:cs typeface="Menlo" panose="020B0609030804020204" pitchFamily="49" charset="0"/>
              </a:rPr>
              <a:t>git commit</a:t>
            </a:r>
          </a:p>
        </p:txBody>
      </p:sp>
    </p:spTree>
    <p:extLst>
      <p:ext uri="{BB962C8B-B14F-4D97-AF65-F5344CB8AC3E}">
        <p14:creationId xmlns:p14="http://schemas.microsoft.com/office/powerpoint/2010/main" val="35629405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1CEFEC-8F8A-8472-59D1-2BD5B0609DE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278D8A4-52FB-6898-430F-06D90A4FE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EBD4D960-8FAB-E710-C144-B11D918B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8A4667E4-0FCA-EE8D-57CA-1B58D4C10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7728D64-FF9B-5E9A-D369-3B1B30968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BE6141C0-3071-A501-4B6D-CC20C08E2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9">
            <a:extLst>
              <a:ext uri="{FF2B5EF4-FFF2-40B4-BE49-F238E27FC236}">
                <a16:creationId xmlns:a16="http://schemas.microsoft.com/office/drawing/2014/main" id="{9BB51CC9-AE85-0FDF-12EA-023EE62E70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F31A7BC0-48B3-C8A0-3FF8-8C2A225A19A6}"/>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collaboration (forking and pull requests)</a:t>
            </a:r>
          </a:p>
        </p:txBody>
      </p:sp>
      <p:sp>
        <p:nvSpPr>
          <p:cNvPr id="5" name="Text Placeholder 4">
            <a:extLst>
              <a:ext uri="{FF2B5EF4-FFF2-40B4-BE49-F238E27FC236}">
                <a16:creationId xmlns:a16="http://schemas.microsoft.com/office/drawing/2014/main" id="{8294EBA0-FAB3-CE75-B116-CAFC56D1095D}"/>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617182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DDE7EF-D51A-840C-66BA-6EE8544C5D05}"/>
              </a:ext>
            </a:extLst>
          </p:cNvPr>
          <p:cNvSpPr/>
          <p:nvPr/>
        </p:nvSpPr>
        <p:spPr>
          <a:xfrm>
            <a:off x="7903655" y="472748"/>
            <a:ext cx="2604305" cy="2950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 name="Picture 2" descr="A black cat with a white circle in the background&#10;&#10;Description automatically generated">
            <a:extLst>
              <a:ext uri="{FF2B5EF4-FFF2-40B4-BE49-F238E27FC236}">
                <a16:creationId xmlns:a16="http://schemas.microsoft.com/office/drawing/2014/main" id="{B638D541-E82E-854F-F00A-764645F46154}"/>
              </a:ext>
            </a:extLst>
          </p:cNvPr>
          <p:cNvPicPr>
            <a:picLocks noChangeAspect="1"/>
          </p:cNvPicPr>
          <p:nvPr/>
        </p:nvPicPr>
        <p:blipFill>
          <a:blip r:embed="rId3"/>
          <a:stretch>
            <a:fillRect/>
          </a:stretch>
        </p:blipFill>
        <p:spPr>
          <a:xfrm>
            <a:off x="8539482" y="1918148"/>
            <a:ext cx="1332653" cy="1303682"/>
          </a:xfrm>
          <a:prstGeom prst="rect">
            <a:avLst/>
          </a:prstGeom>
        </p:spPr>
      </p:pic>
      <p:sp>
        <p:nvSpPr>
          <p:cNvPr id="4" name="Rectangle 3">
            <a:extLst>
              <a:ext uri="{FF2B5EF4-FFF2-40B4-BE49-F238E27FC236}">
                <a16:creationId xmlns:a16="http://schemas.microsoft.com/office/drawing/2014/main" id="{20CD8438-657D-BFAA-69F4-9CC85F75A6FD}"/>
              </a:ext>
            </a:extLst>
          </p:cNvPr>
          <p:cNvSpPr/>
          <p:nvPr/>
        </p:nvSpPr>
        <p:spPr>
          <a:xfrm>
            <a:off x="7903657" y="481207"/>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Remote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Your_name</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/repo-name</a:t>
            </a:r>
          </a:p>
        </p:txBody>
      </p:sp>
      <p:sp>
        <p:nvSpPr>
          <p:cNvPr id="5" name="Rectangle 4">
            <a:extLst>
              <a:ext uri="{FF2B5EF4-FFF2-40B4-BE49-F238E27FC236}">
                <a16:creationId xmlns:a16="http://schemas.microsoft.com/office/drawing/2014/main" id="{CE5A17AC-877A-CB3A-9FE6-C56724823E08}"/>
              </a:ext>
            </a:extLst>
          </p:cNvPr>
          <p:cNvSpPr/>
          <p:nvPr/>
        </p:nvSpPr>
        <p:spPr>
          <a:xfrm>
            <a:off x="1090236" y="472748"/>
            <a:ext cx="2604305" cy="2950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 name="Picture 5" descr="A black cat with a white circle in the background&#10;&#10;Description automatically generated">
            <a:extLst>
              <a:ext uri="{FF2B5EF4-FFF2-40B4-BE49-F238E27FC236}">
                <a16:creationId xmlns:a16="http://schemas.microsoft.com/office/drawing/2014/main" id="{CBFDE5DA-AEAF-47D8-E5AA-A50F9A81B35E}"/>
              </a:ext>
            </a:extLst>
          </p:cNvPr>
          <p:cNvPicPr>
            <a:picLocks noChangeAspect="1"/>
          </p:cNvPicPr>
          <p:nvPr/>
        </p:nvPicPr>
        <p:blipFill>
          <a:blip r:embed="rId3"/>
          <a:stretch>
            <a:fillRect/>
          </a:stretch>
        </p:blipFill>
        <p:spPr>
          <a:xfrm>
            <a:off x="1726063" y="1918148"/>
            <a:ext cx="1332653" cy="1303682"/>
          </a:xfrm>
          <a:prstGeom prst="rect">
            <a:avLst/>
          </a:prstGeom>
        </p:spPr>
      </p:pic>
      <p:sp>
        <p:nvSpPr>
          <p:cNvPr id="7" name="Rectangle 6">
            <a:extLst>
              <a:ext uri="{FF2B5EF4-FFF2-40B4-BE49-F238E27FC236}">
                <a16:creationId xmlns:a16="http://schemas.microsoft.com/office/drawing/2014/main" id="{849FBE31-1B71-481C-007F-2023437EE2E1}"/>
              </a:ext>
            </a:extLst>
          </p:cNvPr>
          <p:cNvSpPr/>
          <p:nvPr/>
        </p:nvSpPr>
        <p:spPr>
          <a:xfrm>
            <a:off x="1090238" y="481207"/>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Remote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collab</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/repo-name</a:t>
            </a:r>
          </a:p>
        </p:txBody>
      </p:sp>
      <p:sp>
        <p:nvSpPr>
          <p:cNvPr id="8" name="Right Arrow 7">
            <a:extLst>
              <a:ext uri="{FF2B5EF4-FFF2-40B4-BE49-F238E27FC236}">
                <a16:creationId xmlns:a16="http://schemas.microsoft.com/office/drawing/2014/main" id="{067BCC86-C8D0-4F9E-B060-F650F19AB780}"/>
              </a:ext>
            </a:extLst>
          </p:cNvPr>
          <p:cNvSpPr/>
          <p:nvPr/>
        </p:nvSpPr>
        <p:spPr>
          <a:xfrm>
            <a:off x="4109696" y="954252"/>
            <a:ext cx="3445201" cy="960848"/>
          </a:xfrm>
          <a:prstGeom prst="rightArrow">
            <a:avLst/>
          </a:prstGeom>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Make copy to account (fork)</a:t>
            </a:r>
          </a:p>
        </p:txBody>
      </p:sp>
      <p:sp>
        <p:nvSpPr>
          <p:cNvPr id="9" name="Left Arrow 8">
            <a:extLst>
              <a:ext uri="{FF2B5EF4-FFF2-40B4-BE49-F238E27FC236}">
                <a16:creationId xmlns:a16="http://schemas.microsoft.com/office/drawing/2014/main" id="{737457A0-42B9-8931-0E8D-B9DEDA22F636}"/>
              </a:ext>
            </a:extLst>
          </p:cNvPr>
          <p:cNvSpPr/>
          <p:nvPr/>
        </p:nvSpPr>
        <p:spPr>
          <a:xfrm>
            <a:off x="4043299" y="2031580"/>
            <a:ext cx="3406717" cy="101067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Update original repo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(pull request)</a:t>
            </a:r>
          </a:p>
        </p:txBody>
      </p:sp>
      <p:sp>
        <p:nvSpPr>
          <p:cNvPr id="11" name="TextBox 10">
            <a:extLst>
              <a:ext uri="{FF2B5EF4-FFF2-40B4-BE49-F238E27FC236}">
                <a16:creationId xmlns:a16="http://schemas.microsoft.com/office/drawing/2014/main" id="{ED2D2E4E-3E81-8B8D-ACED-4134C9213919}"/>
              </a:ext>
            </a:extLst>
          </p:cNvPr>
          <p:cNvSpPr txBox="1"/>
          <p:nvPr/>
        </p:nvSpPr>
        <p:spPr>
          <a:xfrm>
            <a:off x="8216753" y="4394742"/>
            <a:ext cx="1968649"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Copy to your local computer (git clone)</a:t>
            </a:r>
          </a:p>
        </p:txBody>
      </p:sp>
      <p:grpSp>
        <p:nvGrpSpPr>
          <p:cNvPr id="12" name="Group 11">
            <a:extLst>
              <a:ext uri="{FF2B5EF4-FFF2-40B4-BE49-F238E27FC236}">
                <a16:creationId xmlns:a16="http://schemas.microsoft.com/office/drawing/2014/main" id="{494F91B2-2763-0197-F33E-4621E0A64E15}"/>
              </a:ext>
            </a:extLst>
          </p:cNvPr>
          <p:cNvGrpSpPr/>
          <p:nvPr/>
        </p:nvGrpSpPr>
        <p:grpSpPr>
          <a:xfrm>
            <a:off x="5035296" y="5065286"/>
            <a:ext cx="2600988" cy="1607523"/>
            <a:chOff x="390193" y="583324"/>
            <a:chExt cx="11234249" cy="4695525"/>
          </a:xfrm>
        </p:grpSpPr>
        <p:sp>
          <p:nvSpPr>
            <p:cNvPr id="13" name="Rectangle 12">
              <a:extLst>
                <a:ext uri="{FF2B5EF4-FFF2-40B4-BE49-F238E27FC236}">
                  <a16:creationId xmlns:a16="http://schemas.microsoft.com/office/drawing/2014/main" id="{7B39F9CA-9587-D266-36F9-6F89C443D367}"/>
                </a:ext>
              </a:extLst>
            </p:cNvPr>
            <p:cNvSpPr/>
            <p:nvPr/>
          </p:nvSpPr>
          <p:spPr>
            <a:xfrm>
              <a:off x="4435364" y="607001"/>
              <a:ext cx="3074276"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723FDE6A-5651-3766-EC9C-2DEA6A75B607}"/>
                </a:ext>
              </a:extLst>
            </p:cNvPr>
            <p:cNvSpPr/>
            <p:nvPr/>
          </p:nvSpPr>
          <p:spPr>
            <a:xfrm>
              <a:off x="390193" y="607229"/>
              <a:ext cx="2778671"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A9FF01B9-0E74-46C9-8540-FC2AAD2FDA9B}"/>
                </a:ext>
              </a:extLst>
            </p:cNvPr>
            <p:cNvSpPr/>
            <p:nvPr/>
          </p:nvSpPr>
          <p:spPr>
            <a:xfrm>
              <a:off x="8776140" y="583324"/>
              <a:ext cx="2848302" cy="7147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cxnSp>
          <p:nvCxnSpPr>
            <p:cNvPr id="16" name="Straight Connector 15">
              <a:extLst>
                <a:ext uri="{FF2B5EF4-FFF2-40B4-BE49-F238E27FC236}">
                  <a16:creationId xmlns:a16="http://schemas.microsoft.com/office/drawing/2014/main" id="{CF7CA63C-7FB9-6BB5-B1F5-E99F5AC9A23B}"/>
                </a:ext>
              </a:extLst>
            </p:cNvPr>
            <p:cNvCxnSpPr>
              <a:cxnSpLocks/>
            </p:cNvCxnSpPr>
            <p:nvPr/>
          </p:nvCxnSpPr>
          <p:spPr>
            <a:xfrm>
              <a:off x="1665889" y="1321705"/>
              <a:ext cx="0"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5DEAE7-C21F-B266-2DAE-2E5E48628A50}"/>
                </a:ext>
              </a:extLst>
            </p:cNvPr>
            <p:cNvCxnSpPr/>
            <p:nvPr/>
          </p:nvCxnSpPr>
          <p:spPr>
            <a:xfrm flipH="1">
              <a:off x="5972503"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AB41936-AAAD-8B51-1F5D-883F22773B65}"/>
                </a:ext>
              </a:extLst>
            </p:cNvPr>
            <p:cNvCxnSpPr/>
            <p:nvPr/>
          </p:nvCxnSpPr>
          <p:spPr>
            <a:xfrm flipH="1">
              <a:off x="10279116" y="1298028"/>
              <a:ext cx="1" cy="395714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9" name="Right Arrow 18">
              <a:extLst>
                <a:ext uri="{FF2B5EF4-FFF2-40B4-BE49-F238E27FC236}">
                  <a16:creationId xmlns:a16="http://schemas.microsoft.com/office/drawing/2014/main" id="{5175B7AA-68B9-1F69-642A-E81F73F8B636}"/>
                </a:ext>
              </a:extLst>
            </p:cNvPr>
            <p:cNvSpPr/>
            <p:nvPr/>
          </p:nvSpPr>
          <p:spPr>
            <a:xfrm>
              <a:off x="1665889" y="1602828"/>
              <a:ext cx="4306614" cy="980660"/>
            </a:xfrm>
            <a:prstGeom prst="rightArrow">
              <a:avLst/>
            </a:prstGeom>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ight Arrow 19">
              <a:extLst>
                <a:ext uri="{FF2B5EF4-FFF2-40B4-BE49-F238E27FC236}">
                  <a16:creationId xmlns:a16="http://schemas.microsoft.com/office/drawing/2014/main" id="{5F2316C4-6693-4CC6-60A9-2B730B0B442A}"/>
                </a:ext>
              </a:extLst>
            </p:cNvPr>
            <p:cNvSpPr/>
            <p:nvPr/>
          </p:nvSpPr>
          <p:spPr>
            <a:xfrm>
              <a:off x="5972502" y="2574978"/>
              <a:ext cx="4306614" cy="1090448"/>
            </a:xfrm>
            <a:prstGeom prst="rightArrow">
              <a:avLst/>
            </a:prstGeom>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Left Arrow 20">
              <a:extLst>
                <a:ext uri="{FF2B5EF4-FFF2-40B4-BE49-F238E27FC236}">
                  <a16:creationId xmlns:a16="http://schemas.microsoft.com/office/drawing/2014/main" id="{ACD7208C-1774-9960-8E74-5299EFBE1EB1}"/>
                </a:ext>
              </a:extLst>
            </p:cNvPr>
            <p:cNvSpPr/>
            <p:nvPr/>
          </p:nvSpPr>
          <p:spPr>
            <a:xfrm>
              <a:off x="1665889" y="3697357"/>
              <a:ext cx="8613227" cy="980660"/>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nvGrpSpPr>
          <p:cNvPr id="22" name="Group 21">
            <a:extLst>
              <a:ext uri="{FF2B5EF4-FFF2-40B4-BE49-F238E27FC236}">
                <a16:creationId xmlns:a16="http://schemas.microsoft.com/office/drawing/2014/main" id="{03983F2E-DBC5-42D6-E67D-D7731E670FB4}"/>
              </a:ext>
            </a:extLst>
          </p:cNvPr>
          <p:cNvGrpSpPr/>
          <p:nvPr/>
        </p:nvGrpSpPr>
        <p:grpSpPr>
          <a:xfrm>
            <a:off x="5035296" y="4376928"/>
            <a:ext cx="2600988" cy="2307606"/>
            <a:chOff x="1126435" y="2442258"/>
            <a:chExt cx="3526588" cy="3252486"/>
          </a:xfrm>
        </p:grpSpPr>
        <p:sp>
          <p:nvSpPr>
            <p:cNvPr id="23" name="Rectangle 22">
              <a:extLst>
                <a:ext uri="{FF2B5EF4-FFF2-40B4-BE49-F238E27FC236}">
                  <a16:creationId xmlns:a16="http://schemas.microsoft.com/office/drawing/2014/main" id="{EDD2F984-10B1-4D84-5032-0BEF406673E6}"/>
                </a:ext>
              </a:extLst>
            </p:cNvPr>
            <p:cNvSpPr/>
            <p:nvPr/>
          </p:nvSpPr>
          <p:spPr>
            <a:xfrm>
              <a:off x="1126435" y="2442258"/>
              <a:ext cx="3526588" cy="325248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TextBox 23">
              <a:extLst>
                <a:ext uri="{FF2B5EF4-FFF2-40B4-BE49-F238E27FC236}">
                  <a16:creationId xmlns:a16="http://schemas.microsoft.com/office/drawing/2014/main" id="{339592C5-73FC-BFEE-FA60-D2EAED4BB4F8}"/>
                </a:ext>
              </a:extLst>
            </p:cNvPr>
            <p:cNvSpPr txBox="1"/>
            <p:nvPr/>
          </p:nvSpPr>
          <p:spPr>
            <a:xfrm>
              <a:off x="2083068" y="2649569"/>
              <a:ext cx="1471685" cy="46166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Local repo</a:t>
              </a:r>
            </a:p>
          </p:txBody>
        </p:sp>
      </p:grpSp>
      <p:cxnSp>
        <p:nvCxnSpPr>
          <p:cNvPr id="26" name="Elbow Connector 25">
            <a:extLst>
              <a:ext uri="{FF2B5EF4-FFF2-40B4-BE49-F238E27FC236}">
                <a16:creationId xmlns:a16="http://schemas.microsoft.com/office/drawing/2014/main" id="{F00ADF1B-6C8B-527A-B8DF-D7DC459FC863}"/>
              </a:ext>
            </a:extLst>
          </p:cNvPr>
          <p:cNvCxnSpPr>
            <a:endCxn id="23" idx="3"/>
          </p:cNvCxnSpPr>
          <p:nvPr/>
        </p:nvCxnSpPr>
        <p:spPr>
          <a:xfrm rot="10800000" flipV="1">
            <a:off x="7636284" y="3535677"/>
            <a:ext cx="2568420" cy="1995053"/>
          </a:xfrm>
          <a:prstGeom prst="bentConnector3">
            <a:avLst>
              <a:gd name="adj1" fmla="val -792"/>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9997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125AC-A2F6-2735-60FC-6D254F391B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4A4427B-31E6-2426-A556-6501A30DE6CF}"/>
              </a:ext>
            </a:extLst>
          </p:cNvPr>
          <p:cNvSpPr/>
          <p:nvPr/>
        </p:nvSpPr>
        <p:spPr>
          <a:xfrm>
            <a:off x="7158565" y="3573976"/>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8BC23049-4AEE-D521-4108-CE0F7CB34340}"/>
              </a:ext>
            </a:extLst>
          </p:cNvPr>
          <p:cNvSpPr/>
          <p:nvPr/>
        </p:nvSpPr>
        <p:spPr>
          <a:xfrm>
            <a:off x="3095619" y="3600548"/>
            <a:ext cx="2062480" cy="30378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DB8E6CA1-86CF-63E5-33D6-681E4C28EE11}"/>
              </a:ext>
            </a:extLst>
          </p:cNvPr>
          <p:cNvSpPr/>
          <p:nvPr/>
        </p:nvSpPr>
        <p:spPr>
          <a:xfrm>
            <a:off x="2210651" y="468118"/>
            <a:ext cx="2062480" cy="24829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135FE34D-4FDE-CFA9-52A5-0A546B74CE66}"/>
              </a:ext>
            </a:extLst>
          </p:cNvPr>
          <p:cNvSpPr/>
          <p:nvPr/>
        </p:nvSpPr>
        <p:spPr>
          <a:xfrm>
            <a:off x="5064760" y="467360"/>
            <a:ext cx="2062480" cy="261234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3D8EF64A-96BB-0931-F715-7FD1A0FAD993}"/>
              </a:ext>
            </a:extLst>
          </p:cNvPr>
          <p:cNvSpPr/>
          <p:nvPr/>
        </p:nvSpPr>
        <p:spPr>
          <a:xfrm>
            <a:off x="7361765" y="4620624"/>
            <a:ext cx="1656080" cy="2005818"/>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Version DB</a:t>
            </a:r>
          </a:p>
        </p:txBody>
      </p:sp>
      <p:sp>
        <p:nvSpPr>
          <p:cNvPr id="7" name="Rectangle 6">
            <a:extLst>
              <a:ext uri="{FF2B5EF4-FFF2-40B4-BE49-F238E27FC236}">
                <a16:creationId xmlns:a16="http://schemas.microsoft.com/office/drawing/2014/main" id="{197DC6D3-B330-82E0-2808-93E9F5F90D76}"/>
              </a:ext>
            </a:extLst>
          </p:cNvPr>
          <p:cNvSpPr/>
          <p:nvPr/>
        </p:nvSpPr>
        <p:spPr>
          <a:xfrm>
            <a:off x="2418931" y="1185499"/>
            <a:ext cx="1656080" cy="1724499"/>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Version DB</a:t>
            </a:r>
          </a:p>
        </p:txBody>
      </p:sp>
      <p:sp>
        <p:nvSpPr>
          <p:cNvPr id="8" name="Rectangle 7">
            <a:extLst>
              <a:ext uri="{FF2B5EF4-FFF2-40B4-BE49-F238E27FC236}">
                <a16:creationId xmlns:a16="http://schemas.microsoft.com/office/drawing/2014/main" id="{1284B6E6-1413-42CE-43F7-21D816D0AB39}"/>
              </a:ext>
            </a:extLst>
          </p:cNvPr>
          <p:cNvSpPr/>
          <p:nvPr/>
        </p:nvSpPr>
        <p:spPr>
          <a:xfrm>
            <a:off x="3318930" y="4620624"/>
            <a:ext cx="1656080" cy="1991191"/>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Version DB</a:t>
            </a:r>
          </a:p>
        </p:txBody>
      </p:sp>
      <p:sp>
        <p:nvSpPr>
          <p:cNvPr id="9" name="Rectangle 8">
            <a:extLst>
              <a:ext uri="{FF2B5EF4-FFF2-40B4-BE49-F238E27FC236}">
                <a16:creationId xmlns:a16="http://schemas.microsoft.com/office/drawing/2014/main" id="{008016DF-4E76-E622-485F-01CE7A38AE47}"/>
              </a:ext>
            </a:extLst>
          </p:cNvPr>
          <p:cNvSpPr/>
          <p:nvPr/>
        </p:nvSpPr>
        <p:spPr>
          <a:xfrm>
            <a:off x="5267960" y="1176944"/>
            <a:ext cx="1656080" cy="185370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Version DB</a:t>
            </a:r>
          </a:p>
        </p:txBody>
      </p:sp>
      <p:sp>
        <p:nvSpPr>
          <p:cNvPr id="10" name="Terminator 9">
            <a:extLst>
              <a:ext uri="{FF2B5EF4-FFF2-40B4-BE49-F238E27FC236}">
                <a16:creationId xmlns:a16="http://schemas.microsoft.com/office/drawing/2014/main" id="{24BF7A93-278A-DDAE-02E2-E52FD087F06C}"/>
              </a:ext>
            </a:extLst>
          </p:cNvPr>
          <p:cNvSpPr/>
          <p:nvPr/>
        </p:nvSpPr>
        <p:spPr>
          <a:xfrm>
            <a:off x="3400419" y="612022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1</a:t>
            </a:r>
          </a:p>
        </p:txBody>
      </p:sp>
      <p:sp>
        <p:nvSpPr>
          <p:cNvPr id="11" name="Terminator 10">
            <a:extLst>
              <a:ext uri="{FF2B5EF4-FFF2-40B4-BE49-F238E27FC236}">
                <a16:creationId xmlns:a16="http://schemas.microsoft.com/office/drawing/2014/main" id="{07B24DD4-EAB7-C5A1-6B35-4FE6BC22E32F}"/>
              </a:ext>
            </a:extLst>
          </p:cNvPr>
          <p:cNvSpPr/>
          <p:nvPr/>
        </p:nvSpPr>
        <p:spPr>
          <a:xfrm>
            <a:off x="3400419" y="5581748"/>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2</a:t>
            </a:r>
          </a:p>
        </p:txBody>
      </p:sp>
      <p:sp>
        <p:nvSpPr>
          <p:cNvPr id="12" name="Terminator 11">
            <a:extLst>
              <a:ext uri="{FF2B5EF4-FFF2-40B4-BE49-F238E27FC236}">
                <a16:creationId xmlns:a16="http://schemas.microsoft.com/office/drawing/2014/main" id="{CC568B0B-23FF-2C1E-2731-F9C8E981617F}"/>
              </a:ext>
            </a:extLst>
          </p:cNvPr>
          <p:cNvSpPr/>
          <p:nvPr/>
        </p:nvSpPr>
        <p:spPr>
          <a:xfrm>
            <a:off x="3400419" y="504326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3</a:t>
            </a:r>
          </a:p>
        </p:txBody>
      </p:sp>
      <p:cxnSp>
        <p:nvCxnSpPr>
          <p:cNvPr id="13" name="Straight Connector 12">
            <a:extLst>
              <a:ext uri="{FF2B5EF4-FFF2-40B4-BE49-F238E27FC236}">
                <a16:creationId xmlns:a16="http://schemas.microsoft.com/office/drawing/2014/main" id="{AE378067-3302-B83F-6482-11342FE8638F}"/>
              </a:ext>
            </a:extLst>
          </p:cNvPr>
          <p:cNvCxnSpPr>
            <a:cxnSpLocks/>
            <a:stCxn id="12" idx="2"/>
            <a:endCxn id="11" idx="0"/>
          </p:cNvCxnSpPr>
          <p:nvPr/>
        </p:nvCxnSpPr>
        <p:spPr>
          <a:xfrm>
            <a:off x="4126859" y="543950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C039139-B212-0AB9-F4E2-3CDBF9FBD196}"/>
              </a:ext>
            </a:extLst>
          </p:cNvPr>
          <p:cNvCxnSpPr>
            <a:cxnSpLocks/>
            <a:stCxn id="10" idx="0"/>
            <a:endCxn id="11" idx="2"/>
          </p:cNvCxnSpPr>
          <p:nvPr/>
        </p:nvCxnSpPr>
        <p:spPr>
          <a:xfrm flipV="1">
            <a:off x="4126859" y="5977988"/>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6EA0006-C1D4-192D-63A4-19E6C6B92CAE}"/>
              </a:ext>
            </a:extLst>
          </p:cNvPr>
          <p:cNvSpPr txBox="1"/>
          <p:nvPr/>
        </p:nvSpPr>
        <p:spPr>
          <a:xfrm>
            <a:off x="3135177" y="3600548"/>
            <a:ext cx="19833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Personal Computer</a:t>
            </a:r>
          </a:p>
        </p:txBody>
      </p:sp>
      <p:sp>
        <p:nvSpPr>
          <p:cNvPr id="16" name="Terminator 15">
            <a:extLst>
              <a:ext uri="{FF2B5EF4-FFF2-40B4-BE49-F238E27FC236}">
                <a16:creationId xmlns:a16="http://schemas.microsoft.com/office/drawing/2014/main" id="{11E4A14D-6244-52E4-A917-894FC985038D}"/>
              </a:ext>
            </a:extLst>
          </p:cNvPr>
          <p:cNvSpPr/>
          <p:nvPr/>
        </p:nvSpPr>
        <p:spPr>
          <a:xfrm>
            <a:off x="7463365" y="609365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1</a:t>
            </a:r>
          </a:p>
        </p:txBody>
      </p:sp>
      <p:sp>
        <p:nvSpPr>
          <p:cNvPr id="17" name="Terminator 16">
            <a:extLst>
              <a:ext uri="{FF2B5EF4-FFF2-40B4-BE49-F238E27FC236}">
                <a16:creationId xmlns:a16="http://schemas.microsoft.com/office/drawing/2014/main" id="{08EDD88A-B8B5-48A2-638C-8D21DD64468E}"/>
              </a:ext>
            </a:extLst>
          </p:cNvPr>
          <p:cNvSpPr/>
          <p:nvPr/>
        </p:nvSpPr>
        <p:spPr>
          <a:xfrm>
            <a:off x="7463365" y="5555176"/>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2</a:t>
            </a:r>
          </a:p>
        </p:txBody>
      </p:sp>
      <p:sp>
        <p:nvSpPr>
          <p:cNvPr id="18" name="Terminator 17">
            <a:extLst>
              <a:ext uri="{FF2B5EF4-FFF2-40B4-BE49-F238E27FC236}">
                <a16:creationId xmlns:a16="http://schemas.microsoft.com/office/drawing/2014/main" id="{4EB52E13-475A-18FF-7CF5-83E165A4761B}"/>
              </a:ext>
            </a:extLst>
          </p:cNvPr>
          <p:cNvSpPr/>
          <p:nvPr/>
        </p:nvSpPr>
        <p:spPr>
          <a:xfrm>
            <a:off x="7463365" y="5016696"/>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3</a:t>
            </a:r>
          </a:p>
        </p:txBody>
      </p:sp>
      <p:cxnSp>
        <p:nvCxnSpPr>
          <p:cNvPr id="19" name="Straight Connector 18">
            <a:extLst>
              <a:ext uri="{FF2B5EF4-FFF2-40B4-BE49-F238E27FC236}">
                <a16:creationId xmlns:a16="http://schemas.microsoft.com/office/drawing/2014/main" id="{AB483A74-3235-BBA2-37A7-FA81C0CE21DE}"/>
              </a:ext>
            </a:extLst>
          </p:cNvPr>
          <p:cNvCxnSpPr>
            <a:cxnSpLocks/>
            <a:stCxn id="18" idx="2"/>
            <a:endCxn id="17" idx="0"/>
          </p:cNvCxnSpPr>
          <p:nvPr/>
        </p:nvCxnSpPr>
        <p:spPr>
          <a:xfrm>
            <a:off x="8189805" y="541293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825CA1B-87D0-EE5A-F6BB-CA43FF25C123}"/>
              </a:ext>
            </a:extLst>
          </p:cNvPr>
          <p:cNvCxnSpPr>
            <a:cxnSpLocks/>
            <a:stCxn id="16" idx="0"/>
            <a:endCxn id="17" idx="2"/>
          </p:cNvCxnSpPr>
          <p:nvPr/>
        </p:nvCxnSpPr>
        <p:spPr>
          <a:xfrm flipV="1">
            <a:off x="8189805" y="5951416"/>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3CBE0F3-E89D-15E4-B366-6689CC21C863}"/>
              </a:ext>
            </a:extLst>
          </p:cNvPr>
          <p:cNvSpPr txBox="1"/>
          <p:nvPr/>
        </p:nvSpPr>
        <p:spPr>
          <a:xfrm>
            <a:off x="7271701" y="3573976"/>
            <a:ext cx="183620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Cluster Computer</a:t>
            </a:r>
          </a:p>
        </p:txBody>
      </p:sp>
      <p:sp>
        <p:nvSpPr>
          <p:cNvPr id="22" name="Terminator 21">
            <a:extLst>
              <a:ext uri="{FF2B5EF4-FFF2-40B4-BE49-F238E27FC236}">
                <a16:creationId xmlns:a16="http://schemas.microsoft.com/office/drawing/2014/main" id="{713149C6-A92C-F677-A783-E7A62A40EF1D}"/>
              </a:ext>
            </a:extLst>
          </p:cNvPr>
          <p:cNvSpPr/>
          <p:nvPr/>
        </p:nvSpPr>
        <p:spPr>
          <a:xfrm>
            <a:off x="5389671" y="257766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1</a:t>
            </a:r>
          </a:p>
        </p:txBody>
      </p:sp>
      <p:sp>
        <p:nvSpPr>
          <p:cNvPr id="23" name="Terminator 22">
            <a:extLst>
              <a:ext uri="{FF2B5EF4-FFF2-40B4-BE49-F238E27FC236}">
                <a16:creationId xmlns:a16="http://schemas.microsoft.com/office/drawing/2014/main" id="{E1C91E1E-5BC6-7788-0CD6-0D5FC2AAD348}"/>
              </a:ext>
            </a:extLst>
          </p:cNvPr>
          <p:cNvSpPr/>
          <p:nvPr/>
        </p:nvSpPr>
        <p:spPr>
          <a:xfrm>
            <a:off x="5389671" y="2039184"/>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2</a:t>
            </a:r>
          </a:p>
        </p:txBody>
      </p:sp>
      <p:sp>
        <p:nvSpPr>
          <p:cNvPr id="24" name="Terminator 23">
            <a:extLst>
              <a:ext uri="{FF2B5EF4-FFF2-40B4-BE49-F238E27FC236}">
                <a16:creationId xmlns:a16="http://schemas.microsoft.com/office/drawing/2014/main" id="{1EFC4EBF-A077-061E-FCD0-9BADCDEB48B5}"/>
              </a:ext>
            </a:extLst>
          </p:cNvPr>
          <p:cNvSpPr/>
          <p:nvPr/>
        </p:nvSpPr>
        <p:spPr>
          <a:xfrm>
            <a:off x="5389671" y="1500704"/>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3</a:t>
            </a:r>
          </a:p>
        </p:txBody>
      </p:sp>
      <p:cxnSp>
        <p:nvCxnSpPr>
          <p:cNvPr id="25" name="Straight Connector 24">
            <a:extLst>
              <a:ext uri="{FF2B5EF4-FFF2-40B4-BE49-F238E27FC236}">
                <a16:creationId xmlns:a16="http://schemas.microsoft.com/office/drawing/2014/main" id="{90CAD0A6-8386-B977-0370-E52DA32A306B}"/>
              </a:ext>
            </a:extLst>
          </p:cNvPr>
          <p:cNvCxnSpPr>
            <a:cxnSpLocks/>
            <a:stCxn id="24" idx="2"/>
            <a:endCxn id="23" idx="0"/>
          </p:cNvCxnSpPr>
          <p:nvPr/>
        </p:nvCxnSpPr>
        <p:spPr>
          <a:xfrm>
            <a:off x="6116111" y="189694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103D4ED-6D58-FBC7-0479-AA5CAB5A517F}"/>
              </a:ext>
            </a:extLst>
          </p:cNvPr>
          <p:cNvCxnSpPr>
            <a:cxnSpLocks/>
            <a:stCxn id="22" idx="0"/>
            <a:endCxn id="23" idx="2"/>
          </p:cNvCxnSpPr>
          <p:nvPr/>
        </p:nvCxnSpPr>
        <p:spPr>
          <a:xfrm flipV="1">
            <a:off x="6116111" y="2435424"/>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B9ECBD0-9EBB-2FC9-92D4-8C9DBD5BB3AB}"/>
              </a:ext>
            </a:extLst>
          </p:cNvPr>
          <p:cNvSpPr txBox="1"/>
          <p:nvPr/>
        </p:nvSpPr>
        <p:spPr>
          <a:xfrm>
            <a:off x="5267960" y="539168"/>
            <a:ext cx="1633652"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GitHub Remote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(your fork)</a:t>
            </a:r>
          </a:p>
        </p:txBody>
      </p:sp>
      <p:sp>
        <p:nvSpPr>
          <p:cNvPr id="28" name="Terminator 27">
            <a:extLst>
              <a:ext uri="{FF2B5EF4-FFF2-40B4-BE49-F238E27FC236}">
                <a16:creationId xmlns:a16="http://schemas.microsoft.com/office/drawing/2014/main" id="{9127A9D9-9FC4-3251-D130-4D674753AADA}"/>
              </a:ext>
            </a:extLst>
          </p:cNvPr>
          <p:cNvSpPr/>
          <p:nvPr/>
        </p:nvSpPr>
        <p:spPr>
          <a:xfrm>
            <a:off x="2515451" y="243290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1</a:t>
            </a:r>
          </a:p>
        </p:txBody>
      </p:sp>
      <p:sp>
        <p:nvSpPr>
          <p:cNvPr id="29" name="Terminator 28">
            <a:extLst>
              <a:ext uri="{FF2B5EF4-FFF2-40B4-BE49-F238E27FC236}">
                <a16:creationId xmlns:a16="http://schemas.microsoft.com/office/drawing/2014/main" id="{664B7C3D-5103-08E3-1CEC-BE628DA62CE2}"/>
              </a:ext>
            </a:extLst>
          </p:cNvPr>
          <p:cNvSpPr/>
          <p:nvPr/>
        </p:nvSpPr>
        <p:spPr>
          <a:xfrm>
            <a:off x="2515451" y="1894427"/>
            <a:ext cx="1452880" cy="39624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Commit 2</a:t>
            </a:r>
          </a:p>
        </p:txBody>
      </p:sp>
      <p:cxnSp>
        <p:nvCxnSpPr>
          <p:cNvPr id="30" name="Straight Connector 29">
            <a:extLst>
              <a:ext uri="{FF2B5EF4-FFF2-40B4-BE49-F238E27FC236}">
                <a16:creationId xmlns:a16="http://schemas.microsoft.com/office/drawing/2014/main" id="{71B1D1D4-5923-A2B2-040E-533A373C5929}"/>
              </a:ext>
            </a:extLst>
          </p:cNvPr>
          <p:cNvCxnSpPr>
            <a:cxnSpLocks/>
            <a:stCxn id="28" idx="0"/>
            <a:endCxn id="29" idx="2"/>
          </p:cNvCxnSpPr>
          <p:nvPr/>
        </p:nvCxnSpPr>
        <p:spPr>
          <a:xfrm flipV="1">
            <a:off x="3241891" y="2290667"/>
            <a:ext cx="0" cy="14630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04B4DB8-39C5-B749-F9A8-21BDE094E68F}"/>
              </a:ext>
            </a:extLst>
          </p:cNvPr>
          <p:cNvSpPr txBox="1"/>
          <p:nvPr/>
        </p:nvSpPr>
        <p:spPr>
          <a:xfrm>
            <a:off x="2456266" y="569162"/>
            <a:ext cx="157126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Original Repo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(lab repo)</a:t>
            </a:r>
          </a:p>
        </p:txBody>
      </p:sp>
      <p:cxnSp>
        <p:nvCxnSpPr>
          <p:cNvPr id="32" name="Straight Arrow Connector 31">
            <a:extLst>
              <a:ext uri="{FF2B5EF4-FFF2-40B4-BE49-F238E27FC236}">
                <a16:creationId xmlns:a16="http://schemas.microsoft.com/office/drawing/2014/main" id="{2521E90B-8409-4FC0-3557-48504B63B983}"/>
              </a:ext>
            </a:extLst>
          </p:cNvPr>
          <p:cNvCxnSpPr>
            <a:cxnSpLocks/>
            <a:stCxn id="15" idx="0"/>
            <a:endCxn id="5" idx="2"/>
          </p:cNvCxnSpPr>
          <p:nvPr/>
        </p:nvCxnSpPr>
        <p:spPr>
          <a:xfrm flipV="1">
            <a:off x="4126859" y="3079708"/>
            <a:ext cx="1969141" cy="520840"/>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4530080-B5AD-8A88-E3E0-FF92FECB3E4F}"/>
              </a:ext>
            </a:extLst>
          </p:cNvPr>
          <p:cNvCxnSpPr>
            <a:cxnSpLocks/>
            <a:stCxn id="21" idx="0"/>
            <a:endCxn id="5" idx="2"/>
          </p:cNvCxnSpPr>
          <p:nvPr/>
        </p:nvCxnSpPr>
        <p:spPr>
          <a:xfrm flipH="1" flipV="1">
            <a:off x="6096000" y="3079708"/>
            <a:ext cx="2093805" cy="494268"/>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DF30E0F-1DDA-B137-C1B0-32FF5FD1D512}"/>
              </a:ext>
            </a:extLst>
          </p:cNvPr>
          <p:cNvCxnSpPr>
            <a:cxnSpLocks/>
            <a:stCxn id="4" idx="3"/>
            <a:endCxn id="5" idx="1"/>
          </p:cNvCxnSpPr>
          <p:nvPr/>
        </p:nvCxnSpPr>
        <p:spPr>
          <a:xfrm>
            <a:off x="4273131" y="1709592"/>
            <a:ext cx="791629" cy="639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rminator 34">
            <a:extLst>
              <a:ext uri="{FF2B5EF4-FFF2-40B4-BE49-F238E27FC236}">
                <a16:creationId xmlns:a16="http://schemas.microsoft.com/office/drawing/2014/main" id="{5AD8EFE0-1FF4-3D0F-6827-F1A5ACDC6511}"/>
              </a:ext>
            </a:extLst>
          </p:cNvPr>
          <p:cNvSpPr/>
          <p:nvPr/>
        </p:nvSpPr>
        <p:spPr>
          <a:xfrm>
            <a:off x="3420530"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File(s)</a:t>
            </a:r>
          </a:p>
        </p:txBody>
      </p:sp>
      <p:sp>
        <p:nvSpPr>
          <p:cNvPr id="36" name="Terminator 35">
            <a:extLst>
              <a:ext uri="{FF2B5EF4-FFF2-40B4-BE49-F238E27FC236}">
                <a16:creationId xmlns:a16="http://schemas.microsoft.com/office/drawing/2014/main" id="{3419958A-F416-2159-211E-F8C2D00B0726}"/>
              </a:ext>
            </a:extLst>
          </p:cNvPr>
          <p:cNvSpPr/>
          <p:nvPr/>
        </p:nvSpPr>
        <p:spPr>
          <a:xfrm>
            <a:off x="7465905" y="4121388"/>
            <a:ext cx="1452880" cy="396240"/>
          </a:xfrm>
          <a:prstGeom prst="flowChartTermina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File(s)</a:t>
            </a:r>
          </a:p>
        </p:txBody>
      </p:sp>
      <p:pic>
        <p:nvPicPr>
          <p:cNvPr id="37" name="Picture 36" descr="A black cat with a white circle in the background&#10;&#10;Description automatically generated">
            <a:extLst>
              <a:ext uri="{FF2B5EF4-FFF2-40B4-BE49-F238E27FC236}">
                <a16:creationId xmlns:a16="http://schemas.microsoft.com/office/drawing/2014/main" id="{B0360F09-13A4-A9AB-AC4C-4328BF23A977}"/>
              </a:ext>
            </a:extLst>
          </p:cNvPr>
          <p:cNvPicPr>
            <a:picLocks noChangeAspect="1"/>
          </p:cNvPicPr>
          <p:nvPr/>
        </p:nvPicPr>
        <p:blipFill>
          <a:blip r:embed="rId3">
            <a:alphaModFix/>
          </a:blip>
          <a:stretch>
            <a:fillRect/>
          </a:stretch>
        </p:blipFill>
        <p:spPr>
          <a:xfrm>
            <a:off x="298453" y="520649"/>
            <a:ext cx="1332653" cy="1303682"/>
          </a:xfrm>
          <a:prstGeom prst="rect">
            <a:avLst/>
          </a:prstGeom>
          <a:solidFill>
            <a:schemeClr val="accent1"/>
          </a:solidFill>
        </p:spPr>
      </p:pic>
      <p:pic>
        <p:nvPicPr>
          <p:cNvPr id="38" name="Graphic 37" descr="Laptop with solid fill">
            <a:extLst>
              <a:ext uri="{FF2B5EF4-FFF2-40B4-BE49-F238E27FC236}">
                <a16:creationId xmlns:a16="http://schemas.microsoft.com/office/drawing/2014/main" id="{A976A76B-226D-02AA-013C-E6135B189C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78" y="4628044"/>
            <a:ext cx="2133917" cy="2133917"/>
          </a:xfrm>
          <a:prstGeom prst="rect">
            <a:avLst/>
          </a:prstGeom>
        </p:spPr>
      </p:pic>
    </p:spTree>
    <p:extLst>
      <p:ext uri="{BB962C8B-B14F-4D97-AF65-F5344CB8AC3E}">
        <p14:creationId xmlns:p14="http://schemas.microsoft.com/office/powerpoint/2010/main" val="175859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pic>
        <p:nvPicPr>
          <p:cNvPr id="6" name="Picture 5" descr="A black cat with a white circle in the background&#10;&#10;Description automatically generated">
            <a:extLst>
              <a:ext uri="{FF2B5EF4-FFF2-40B4-BE49-F238E27FC236}">
                <a16:creationId xmlns:a16="http://schemas.microsoft.com/office/drawing/2014/main" id="{8C7671D0-06AA-0A96-BDF1-94CE9EFA26D3}"/>
              </a:ext>
            </a:extLst>
          </p:cNvPr>
          <p:cNvPicPr>
            <a:picLocks noChangeAspect="1"/>
          </p:cNvPicPr>
          <p:nvPr/>
        </p:nvPicPr>
        <p:blipFill>
          <a:blip r:embed="rId3"/>
          <a:stretch>
            <a:fillRect/>
          </a:stretch>
        </p:blipFill>
        <p:spPr>
          <a:xfrm>
            <a:off x="1005800" y="1733459"/>
            <a:ext cx="1332653" cy="1303682"/>
          </a:xfrm>
          <a:prstGeom prst="rect">
            <a:avLst/>
          </a:prstGeom>
        </p:spPr>
      </p:pic>
      <p:sp>
        <p:nvSpPr>
          <p:cNvPr id="7" name="Rectangle 6">
            <a:extLst>
              <a:ext uri="{FF2B5EF4-FFF2-40B4-BE49-F238E27FC236}">
                <a16:creationId xmlns:a16="http://schemas.microsoft.com/office/drawing/2014/main" id="{8F8AA35F-10E4-5B9A-447F-0597E0A5EC0C}"/>
              </a:ext>
            </a:extLst>
          </p:cNvPr>
          <p:cNvSpPr/>
          <p:nvPr/>
        </p:nvSpPr>
        <p:spPr>
          <a:xfrm>
            <a:off x="369975" y="296518"/>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Original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Informatics/github-intro</a:t>
            </a:r>
          </a:p>
        </p:txBody>
      </p:sp>
      <p:pic>
        <p:nvPicPr>
          <p:cNvPr id="8" name="Picture 7" descr="A black cat with a white circle in the background&#10;&#10;Description automatically generated">
            <a:extLst>
              <a:ext uri="{FF2B5EF4-FFF2-40B4-BE49-F238E27FC236}">
                <a16:creationId xmlns:a16="http://schemas.microsoft.com/office/drawing/2014/main" id="{85796DBC-759A-B542-49C1-F8BB5F9F68D5}"/>
              </a:ext>
            </a:extLst>
          </p:cNvPr>
          <p:cNvPicPr>
            <a:picLocks noChangeAspect="1"/>
          </p:cNvPicPr>
          <p:nvPr/>
        </p:nvPicPr>
        <p:blipFill>
          <a:blip r:embed="rId3"/>
          <a:stretch>
            <a:fillRect/>
          </a:stretch>
        </p:blipFill>
        <p:spPr>
          <a:xfrm>
            <a:off x="5429673" y="3180302"/>
            <a:ext cx="1332653" cy="1303682"/>
          </a:xfrm>
          <a:prstGeom prst="rect">
            <a:avLst/>
          </a:prstGeom>
        </p:spPr>
      </p:pic>
      <p:sp>
        <p:nvSpPr>
          <p:cNvPr id="9" name="Rectangle 8">
            <a:extLst>
              <a:ext uri="{FF2B5EF4-FFF2-40B4-BE49-F238E27FC236}">
                <a16:creationId xmlns:a16="http://schemas.microsoft.com/office/drawing/2014/main" id="{28ED92F5-D46D-7678-758A-B3B28FB4ACC6}"/>
              </a:ext>
            </a:extLst>
          </p:cNvPr>
          <p:cNvSpPr/>
          <p:nvPr/>
        </p:nvSpPr>
        <p:spPr>
          <a:xfrm>
            <a:off x="4793848" y="1743361"/>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Remote fork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Your_name</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/github-intro</a:t>
            </a:r>
          </a:p>
        </p:txBody>
      </p:sp>
      <p:sp>
        <p:nvSpPr>
          <p:cNvPr id="11" name="Rectangle 10">
            <a:extLst>
              <a:ext uri="{FF2B5EF4-FFF2-40B4-BE49-F238E27FC236}">
                <a16:creationId xmlns:a16="http://schemas.microsoft.com/office/drawing/2014/main" id="{83F96294-7A48-B3E1-724F-E0C13DD3D294}"/>
              </a:ext>
            </a:extLst>
          </p:cNvPr>
          <p:cNvSpPr/>
          <p:nvPr/>
        </p:nvSpPr>
        <p:spPr>
          <a:xfrm>
            <a:off x="9430652" y="2757044"/>
            <a:ext cx="2604304" cy="295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/path/github-intro</a:t>
            </a:r>
          </a:p>
        </p:txBody>
      </p:sp>
      <p:pic>
        <p:nvPicPr>
          <p:cNvPr id="13" name="Graphic 12" descr="Laptop with solid fill">
            <a:extLst>
              <a:ext uri="{FF2B5EF4-FFF2-40B4-BE49-F238E27FC236}">
                <a16:creationId xmlns:a16="http://schemas.microsoft.com/office/drawing/2014/main" id="{C702C10F-E83F-0083-95E8-371102DD49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14292" y="3859926"/>
            <a:ext cx="2133917" cy="2133917"/>
          </a:xfrm>
          <a:prstGeom prst="rect">
            <a:avLst/>
          </a:prstGeom>
        </p:spPr>
      </p:pic>
      <p:sp>
        <p:nvSpPr>
          <p:cNvPr id="16" name="Right Arrow 15">
            <a:extLst>
              <a:ext uri="{FF2B5EF4-FFF2-40B4-BE49-F238E27FC236}">
                <a16:creationId xmlns:a16="http://schemas.microsoft.com/office/drawing/2014/main" id="{4213A0DC-9979-1F77-8ECA-8CA3701AD760}"/>
              </a:ext>
            </a:extLst>
          </p:cNvPr>
          <p:cNvSpPr/>
          <p:nvPr/>
        </p:nvSpPr>
        <p:spPr>
          <a:xfrm>
            <a:off x="3021014" y="1501045"/>
            <a:ext cx="1772834"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1. Fork</a:t>
            </a:r>
          </a:p>
        </p:txBody>
      </p:sp>
      <p:sp>
        <p:nvSpPr>
          <p:cNvPr id="17" name="Right Arrow 16">
            <a:extLst>
              <a:ext uri="{FF2B5EF4-FFF2-40B4-BE49-F238E27FC236}">
                <a16:creationId xmlns:a16="http://schemas.microsoft.com/office/drawing/2014/main" id="{A7339CFC-621F-60D0-012D-159CD7EA2014}"/>
              </a:ext>
            </a:extLst>
          </p:cNvPr>
          <p:cNvSpPr/>
          <p:nvPr/>
        </p:nvSpPr>
        <p:spPr>
          <a:xfrm>
            <a:off x="7491178" y="2914572"/>
            <a:ext cx="1900976" cy="6655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2. clone</a:t>
            </a:r>
          </a:p>
        </p:txBody>
      </p:sp>
      <p:sp>
        <p:nvSpPr>
          <p:cNvPr id="18" name="Cross 17">
            <a:extLst>
              <a:ext uri="{FF2B5EF4-FFF2-40B4-BE49-F238E27FC236}">
                <a16:creationId xmlns:a16="http://schemas.microsoft.com/office/drawing/2014/main" id="{2AA956E0-0565-819C-A497-CF2FA1234426}"/>
              </a:ext>
            </a:extLst>
          </p:cNvPr>
          <p:cNvSpPr/>
          <p:nvPr/>
        </p:nvSpPr>
        <p:spPr>
          <a:xfrm>
            <a:off x="10027980" y="1546987"/>
            <a:ext cx="1342112" cy="1142754"/>
          </a:xfrm>
          <a:prstGeom prst="plus">
            <a:avLst>
              <a:gd name="adj" fmla="val 328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4-5. add, commit</a:t>
            </a:r>
          </a:p>
        </p:txBody>
      </p:sp>
      <p:sp>
        <p:nvSpPr>
          <p:cNvPr id="19" name="Left Arrow 18">
            <a:extLst>
              <a:ext uri="{FF2B5EF4-FFF2-40B4-BE49-F238E27FC236}">
                <a16:creationId xmlns:a16="http://schemas.microsoft.com/office/drawing/2014/main" id="{78E8FA98-3B72-4F7E-78D8-8656B18A1A86}"/>
              </a:ext>
            </a:extLst>
          </p:cNvPr>
          <p:cNvSpPr/>
          <p:nvPr/>
        </p:nvSpPr>
        <p:spPr>
          <a:xfrm>
            <a:off x="7398151" y="3499579"/>
            <a:ext cx="1957260" cy="66512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6. push</a:t>
            </a:r>
          </a:p>
        </p:txBody>
      </p:sp>
      <p:sp>
        <p:nvSpPr>
          <p:cNvPr id="20" name="Left Arrow 19">
            <a:extLst>
              <a:ext uri="{FF2B5EF4-FFF2-40B4-BE49-F238E27FC236}">
                <a16:creationId xmlns:a16="http://schemas.microsoft.com/office/drawing/2014/main" id="{EA474B0C-3EA1-941E-2A23-9CEB552F6777}"/>
              </a:ext>
            </a:extLst>
          </p:cNvPr>
          <p:cNvSpPr/>
          <p:nvPr/>
        </p:nvSpPr>
        <p:spPr>
          <a:xfrm>
            <a:off x="2761348" y="2004398"/>
            <a:ext cx="2199692" cy="66512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7-8. pull request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merge</a:t>
            </a:r>
          </a:p>
        </p:txBody>
      </p:sp>
      <p:sp>
        <p:nvSpPr>
          <p:cNvPr id="21" name="Right Arrow 20">
            <a:extLst>
              <a:ext uri="{FF2B5EF4-FFF2-40B4-BE49-F238E27FC236}">
                <a16:creationId xmlns:a16="http://schemas.microsoft.com/office/drawing/2014/main" id="{7568C571-05E2-30E3-A071-2534B63A088A}"/>
              </a:ext>
            </a:extLst>
          </p:cNvPr>
          <p:cNvSpPr/>
          <p:nvPr/>
        </p:nvSpPr>
        <p:spPr>
          <a:xfrm>
            <a:off x="3007233" y="2757044"/>
            <a:ext cx="1693589" cy="5601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9. sync</a:t>
            </a:r>
          </a:p>
        </p:txBody>
      </p:sp>
      <p:sp>
        <p:nvSpPr>
          <p:cNvPr id="22" name="Right Arrow 21">
            <a:extLst>
              <a:ext uri="{FF2B5EF4-FFF2-40B4-BE49-F238E27FC236}">
                <a16:creationId xmlns:a16="http://schemas.microsoft.com/office/drawing/2014/main" id="{A158AA4C-41FA-450F-B922-45D5B4BE321E}"/>
              </a:ext>
            </a:extLst>
          </p:cNvPr>
          <p:cNvSpPr/>
          <p:nvPr/>
        </p:nvSpPr>
        <p:spPr>
          <a:xfrm>
            <a:off x="7473393" y="4205631"/>
            <a:ext cx="1871938" cy="6651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9. pull</a:t>
            </a:r>
          </a:p>
        </p:txBody>
      </p:sp>
      <p:sp>
        <p:nvSpPr>
          <p:cNvPr id="23" name="TextBox 22">
            <a:extLst>
              <a:ext uri="{FF2B5EF4-FFF2-40B4-BE49-F238E27FC236}">
                <a16:creationId xmlns:a16="http://schemas.microsoft.com/office/drawing/2014/main" id="{F9DCE609-9B29-2D4A-6157-87A699A4BDAB}"/>
              </a:ext>
            </a:extLst>
          </p:cNvPr>
          <p:cNvSpPr txBox="1"/>
          <p:nvPr/>
        </p:nvSpPr>
        <p:spPr>
          <a:xfrm>
            <a:off x="771525" y="5929313"/>
            <a:ext cx="546226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https://github.com/harvardinformatics/github-intro  </a:t>
            </a:r>
          </a:p>
        </p:txBody>
      </p:sp>
    </p:spTree>
    <p:extLst>
      <p:ext uri="{BB962C8B-B14F-4D97-AF65-F5344CB8AC3E}">
        <p14:creationId xmlns:p14="http://schemas.microsoft.com/office/powerpoint/2010/main" val="15255639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8F993B-69D0-7487-61DC-E1E01CBCA903}"/>
              </a:ext>
            </a:extLst>
          </p:cNvPr>
          <p:cNvSpPr>
            <a:spLocks noGrp="1"/>
          </p:cNvSpPr>
          <p:nvPr>
            <p:ph type="title"/>
          </p:nvPr>
        </p:nvSpPr>
        <p:spPr>
          <a:xfrm>
            <a:off x="699713" y="248038"/>
            <a:ext cx="10573338" cy="1159200"/>
          </a:xfrm>
        </p:spPr>
        <p:txBody>
          <a:bodyPr vert="horz" lIns="91440" tIns="45720" rIns="91440" bIns="45720" rtlCol="0" anchor="ctr">
            <a:normAutofit/>
          </a:bodyPr>
          <a:lstStyle/>
          <a:p>
            <a:r>
              <a:rPr lang="en-US" sz="4000" kern="1200">
                <a:solidFill>
                  <a:srgbClr val="FFFFFF"/>
                </a:solidFill>
                <a:latin typeface="+mj-lt"/>
                <a:ea typeface="+mj-ea"/>
                <a:cs typeface="+mj-cs"/>
              </a:rPr>
              <a:t>GitHub Pages: a website for your repo</a:t>
            </a:r>
          </a:p>
        </p:txBody>
      </p:sp>
      <p:pic>
        <p:nvPicPr>
          <p:cNvPr id="4" name="Picture 3" descr="A screenshot of a web page&#10;&#10;AI-generated content may be incorrect.">
            <a:extLst>
              <a:ext uri="{FF2B5EF4-FFF2-40B4-BE49-F238E27FC236}">
                <a16:creationId xmlns:a16="http://schemas.microsoft.com/office/drawing/2014/main" id="{2ED8220F-D67C-A3EC-FF77-A350B025931D}"/>
              </a:ext>
            </a:extLst>
          </p:cNvPr>
          <p:cNvPicPr>
            <a:picLocks noChangeAspect="1"/>
          </p:cNvPicPr>
          <p:nvPr/>
        </p:nvPicPr>
        <p:blipFill>
          <a:blip r:embed="rId3"/>
          <a:stretch>
            <a:fillRect/>
          </a:stretch>
        </p:blipFill>
        <p:spPr>
          <a:xfrm>
            <a:off x="1176485" y="1966293"/>
            <a:ext cx="9839029" cy="4452160"/>
          </a:xfrm>
          <a:prstGeom prst="rect">
            <a:avLst/>
          </a:prstGeom>
        </p:spPr>
      </p:pic>
    </p:spTree>
    <p:extLst>
      <p:ext uri="{BB962C8B-B14F-4D97-AF65-F5344CB8AC3E}">
        <p14:creationId xmlns:p14="http://schemas.microsoft.com/office/powerpoint/2010/main" val="37981891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5952BE-2EA7-1462-3EDC-CF880BBEF20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878E674-655A-67CA-5622-13BE767D99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AF11C5A2-8E25-ED5A-E080-A92E0AF7A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6FC6855-4BA3-3D59-0962-FD75D8FEE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E20D1A6-8C75-E582-4FFC-78CB5CDB75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56E9161-48FD-701C-2768-E6DFA3EA9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5408FD7E-5EBA-6840-284B-48D73043F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34B56218-9BEA-9505-58FE-6CEED1EB9D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BFD784-5C6B-D2D7-63E7-19A849F9AA07}"/>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a:solidFill>
                  <a:srgbClr val="FFFFFF"/>
                </a:solidFill>
              </a:rPr>
              <a:t>GitHub Website</a:t>
            </a:r>
            <a:endParaRPr lang="en-US" sz="3400" kern="1200">
              <a:solidFill>
                <a:srgbClr val="FFFFFF"/>
              </a:solidFill>
              <a:latin typeface="+mj-lt"/>
              <a:ea typeface="+mj-ea"/>
              <a:cs typeface="+mj-cs"/>
            </a:endParaRPr>
          </a:p>
        </p:txBody>
      </p:sp>
      <p:sp>
        <p:nvSpPr>
          <p:cNvPr id="3" name="TextBox 2">
            <a:extLst>
              <a:ext uri="{FF2B5EF4-FFF2-40B4-BE49-F238E27FC236}">
                <a16:creationId xmlns:a16="http://schemas.microsoft.com/office/drawing/2014/main" id="{C85B2818-1792-2F36-7354-F53D5300E50F}"/>
              </a:ext>
            </a:extLst>
          </p:cNvPr>
          <p:cNvSpPr txBox="1"/>
          <p:nvPr/>
        </p:nvSpPr>
        <p:spPr>
          <a:xfrm>
            <a:off x="4367695" y="586855"/>
            <a:ext cx="4966424" cy="769441"/>
          </a:xfrm>
          <a:prstGeom prst="rect">
            <a:avLst/>
          </a:prstGeom>
          <a:noFill/>
        </p:spPr>
        <p:txBody>
          <a:bodyPr wrap="none" rtlCol="0">
            <a:spAutoFit/>
          </a:bodyPr>
          <a:lstStyle/>
          <a:p>
            <a:r>
              <a:rPr lang="en-US" sz="4400">
                <a:latin typeface="+mj-lt"/>
              </a:rPr>
              <a:t>Website walkthrough</a:t>
            </a:r>
          </a:p>
        </p:txBody>
      </p:sp>
      <p:sp>
        <p:nvSpPr>
          <p:cNvPr id="4" name="TextBox 3">
            <a:extLst>
              <a:ext uri="{FF2B5EF4-FFF2-40B4-BE49-F238E27FC236}">
                <a16:creationId xmlns:a16="http://schemas.microsoft.com/office/drawing/2014/main" id="{28B2107E-406F-8225-CD84-C5A6DB27C9A7}"/>
              </a:ext>
            </a:extLst>
          </p:cNvPr>
          <p:cNvSpPr txBox="1"/>
          <p:nvPr/>
        </p:nvSpPr>
        <p:spPr>
          <a:xfrm>
            <a:off x="4457700" y="1700213"/>
            <a:ext cx="6629400" cy="2308324"/>
          </a:xfrm>
          <a:prstGeom prst="rect">
            <a:avLst/>
          </a:prstGeom>
          <a:noFill/>
        </p:spPr>
        <p:txBody>
          <a:bodyPr wrap="square" rtlCol="0">
            <a:spAutoFit/>
          </a:bodyPr>
          <a:lstStyle/>
          <a:p>
            <a:pPr marL="342900" indent="-342900">
              <a:buFont typeface="Arial" panose="020B0604020202020204" pitchFamily="34" charset="0"/>
              <a:buChar char="•"/>
            </a:pPr>
            <a:r>
              <a:rPr lang="en-US" sz="2400"/>
              <a:t>Your repo will be found at www.github.com/Your_name/repo-name</a:t>
            </a:r>
          </a:p>
          <a:p>
            <a:pPr marL="342900" indent="-342900">
              <a:buFont typeface="Arial" panose="020B0604020202020204" pitchFamily="34" charset="0"/>
              <a:buChar char="•"/>
            </a:pPr>
            <a:r>
              <a:rPr lang="en-US" sz="2400"/>
              <a:t>&lt;&gt; Code is your landing page</a:t>
            </a:r>
          </a:p>
          <a:p>
            <a:pPr marL="342900" indent="-342900">
              <a:buFont typeface="Arial" panose="020B0604020202020204" pitchFamily="34" charset="0"/>
              <a:buChar char="•"/>
            </a:pPr>
            <a:r>
              <a:rPr lang="en-US" sz="2400">
                <a:latin typeface="Menlo" panose="020B0609030804020204" pitchFamily="49" charset="0"/>
                <a:ea typeface="Menlo" panose="020B0609030804020204" pitchFamily="49" charset="0"/>
                <a:cs typeface="Menlo" panose="020B0609030804020204" pitchFamily="49" charset="0"/>
              </a:rPr>
              <a:t>⚙</a:t>
            </a:r>
            <a:r>
              <a:rPr lang="en-US" sz="2400"/>
              <a:t> Settings for repo-specific preferences</a:t>
            </a:r>
          </a:p>
          <a:p>
            <a:pPr marL="800100" lvl="1" indent="-342900">
              <a:buFont typeface="Arial" panose="020B0604020202020204" pitchFamily="34" charset="0"/>
              <a:buChar char="•"/>
            </a:pPr>
            <a:r>
              <a:rPr lang="en-US" sz="2400"/>
              <a:t>go to “Danger Zone” to change visibility</a:t>
            </a:r>
          </a:p>
          <a:p>
            <a:pPr marL="342900" indent="-342900">
              <a:buFont typeface="Arial" panose="020B0604020202020204" pitchFamily="34" charset="0"/>
              <a:buChar char="•"/>
            </a:pPr>
            <a:r>
              <a:rPr lang="en-US" sz="2400"/>
              <a:t>README.md will render on your landing page</a:t>
            </a:r>
          </a:p>
        </p:txBody>
      </p:sp>
    </p:spTree>
    <p:extLst>
      <p:ext uri="{BB962C8B-B14F-4D97-AF65-F5344CB8AC3E}">
        <p14:creationId xmlns:p14="http://schemas.microsoft.com/office/powerpoint/2010/main" val="2325717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C9C5EE-5567-D41A-55A9-3CA82AA495B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F262E1B-8507-D2A0-ADC9-8B9B762E77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41576FDD-3146-22F5-C1C5-195560A0D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6FE120-6212-D917-25C6-AA046E9732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0764849-685F-EA25-0F43-A25CD740A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C53071B-8817-2683-469C-020E0649F4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BDB78458-6FDD-C870-F9F5-FA57208C9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32D9E303-1723-2BC4-AF80-4F0E6D27FD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94B4A2-B401-0AC6-DA1D-9DD7251284F1}"/>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3400">
                <a:solidFill>
                  <a:srgbClr val="FFFFFF"/>
                </a:solidFill>
              </a:rPr>
              <a:t>GitHub Organizations</a:t>
            </a:r>
            <a:endParaRPr lang="en-US" sz="3400" kern="1200">
              <a:solidFill>
                <a:srgbClr val="FFFFFF"/>
              </a:solidFill>
              <a:latin typeface="+mj-lt"/>
              <a:ea typeface="+mj-ea"/>
              <a:cs typeface="+mj-cs"/>
            </a:endParaRPr>
          </a:p>
        </p:txBody>
      </p:sp>
      <p:sp>
        <p:nvSpPr>
          <p:cNvPr id="3" name="TextBox 2">
            <a:extLst>
              <a:ext uri="{FF2B5EF4-FFF2-40B4-BE49-F238E27FC236}">
                <a16:creationId xmlns:a16="http://schemas.microsoft.com/office/drawing/2014/main" id="{E9D5C137-572F-1C94-EDA2-1DA7025F4DE3}"/>
              </a:ext>
            </a:extLst>
          </p:cNvPr>
          <p:cNvSpPr txBox="1"/>
          <p:nvPr/>
        </p:nvSpPr>
        <p:spPr>
          <a:xfrm>
            <a:off x="4367695" y="586855"/>
            <a:ext cx="5779403" cy="769441"/>
          </a:xfrm>
          <a:prstGeom prst="rect">
            <a:avLst/>
          </a:prstGeom>
          <a:noFill/>
        </p:spPr>
        <p:txBody>
          <a:bodyPr wrap="none" rtlCol="0">
            <a:spAutoFit/>
          </a:bodyPr>
          <a:lstStyle/>
          <a:p>
            <a:r>
              <a:rPr lang="en-US" sz="4400">
                <a:latin typeface="+mj-lt"/>
              </a:rPr>
              <a:t>Create a lab organization</a:t>
            </a:r>
          </a:p>
        </p:txBody>
      </p:sp>
      <p:sp>
        <p:nvSpPr>
          <p:cNvPr id="4" name="TextBox 3">
            <a:extLst>
              <a:ext uri="{FF2B5EF4-FFF2-40B4-BE49-F238E27FC236}">
                <a16:creationId xmlns:a16="http://schemas.microsoft.com/office/drawing/2014/main" id="{CDC2EB1C-4B94-AC7F-E119-B54B80C8A421}"/>
              </a:ext>
            </a:extLst>
          </p:cNvPr>
          <p:cNvSpPr txBox="1"/>
          <p:nvPr/>
        </p:nvSpPr>
        <p:spPr>
          <a:xfrm>
            <a:off x="4457700" y="1700213"/>
            <a:ext cx="6629400" cy="3108543"/>
          </a:xfrm>
          <a:prstGeom prst="rect">
            <a:avLst/>
          </a:prstGeom>
          <a:noFill/>
        </p:spPr>
        <p:txBody>
          <a:bodyPr wrap="square" rtlCol="0">
            <a:spAutoFit/>
          </a:bodyPr>
          <a:lstStyle/>
          <a:p>
            <a:pPr marL="285750" indent="-285750">
              <a:buFont typeface="Arial" panose="020B0604020202020204" pitchFamily="34" charset="0"/>
              <a:buChar char="•"/>
            </a:pPr>
            <a:r>
              <a:rPr lang="en-US" sz="2800"/>
              <a:t>Your data belongs to Harvard, which needs to archive for 7 years</a:t>
            </a:r>
          </a:p>
          <a:p>
            <a:pPr marL="285750" indent="-285750">
              <a:buFont typeface="Arial" panose="020B0604020202020204" pitchFamily="34" charset="0"/>
              <a:buChar char="•"/>
            </a:pPr>
            <a:r>
              <a:rPr lang="en-US" sz="2800"/>
              <a:t>Transfer ownership of your repository to your lab</a:t>
            </a:r>
          </a:p>
          <a:p>
            <a:pPr marL="285750" indent="-285750">
              <a:buFont typeface="Arial" panose="020B0604020202020204" pitchFamily="34" charset="0"/>
              <a:buChar char="•"/>
            </a:pPr>
            <a:r>
              <a:rPr lang="en-US" sz="2800"/>
              <a:t>Easier to pass on project for others to manage</a:t>
            </a:r>
          </a:p>
          <a:p>
            <a:pPr marL="285750" indent="-285750">
              <a:buFont typeface="Arial" panose="020B0604020202020204" pitchFamily="34" charset="0"/>
              <a:buChar char="•"/>
            </a:pPr>
            <a:r>
              <a:rPr lang="en-US" sz="2800"/>
              <a:t>Example: </a:t>
            </a:r>
            <a:r>
              <a:rPr lang="en-US" sz="2800">
                <a:hlinkClick r:id="rId3"/>
              </a:rPr>
              <a:t>https://github.com/schlosslab</a:t>
            </a:r>
            <a:r>
              <a:rPr lang="en-US" sz="2800"/>
              <a:t> </a:t>
            </a:r>
            <a:endParaRPr lang="en-US"/>
          </a:p>
        </p:txBody>
      </p:sp>
    </p:spTree>
    <p:extLst>
      <p:ext uri="{BB962C8B-B14F-4D97-AF65-F5344CB8AC3E}">
        <p14:creationId xmlns:p14="http://schemas.microsoft.com/office/powerpoint/2010/main" val="3806179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20704</TotalTime>
  <Words>8042</Words>
  <Application>Microsoft Macintosh PowerPoint</Application>
  <PresentationFormat>Widescreen</PresentationFormat>
  <Paragraphs>562</Paragraphs>
  <Slides>43</Slides>
  <Notes>40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Aptos</vt:lpstr>
      <vt:lpstr>Aptos Display</vt:lpstr>
      <vt:lpstr>Arial</vt:lpstr>
      <vt:lpstr>Calibri</vt:lpstr>
      <vt:lpstr>fkGroteskNeue</vt:lpstr>
      <vt:lpstr>Menlo</vt:lpstr>
      <vt:lpstr>Office Theme</vt:lpstr>
      <vt:lpstr>git/GitHub Introduction</vt:lpstr>
      <vt:lpstr>We help FAS researchers with bioinformatic analysis</vt:lpstr>
      <vt:lpstr>Specialized Services</vt:lpstr>
      <vt:lpstr>“Data available upon request” is no longer acceptable, shouldn’t it be the same for code?</vt:lpstr>
      <vt:lpstr>Your code is part of your methods: what you include matters</vt:lpstr>
      <vt:lpstr>Two types of sharing code: for reproduction and for reuse</vt:lpstr>
      <vt:lpstr>PowerPoint Presentation</vt:lpstr>
      <vt:lpstr>What is git? It’s manual verson control</vt:lpstr>
      <vt:lpstr>Changing file names is not version control</vt:lpstr>
      <vt:lpstr>Why use git over Google Drive, Word, etc?</vt:lpstr>
      <vt:lpstr>Summary of use cases</vt:lpstr>
      <vt:lpstr>PowerPoint Presentation</vt:lpstr>
      <vt:lpstr>PowerPoint Presentation</vt:lpstr>
      <vt:lpstr>First steps</vt:lpstr>
      <vt:lpstr>Creating your first repo</vt:lpstr>
      <vt:lpstr>Open Licenses</vt:lpstr>
      <vt:lpstr>PowerPoint Presentation</vt:lpstr>
      <vt:lpstr>PowerPoint Presentation</vt:lpstr>
      <vt:lpstr>What to upload</vt:lpstr>
      <vt:lpstr>git terminology</vt:lpstr>
      <vt:lpstr>How to organize for reproduction vs reuse</vt:lpstr>
      <vt:lpstr>PowerPoint Presentation</vt:lpstr>
      <vt:lpstr>PowerPoint Presentation</vt:lpstr>
      <vt:lpstr>PowerPoint Presentation</vt:lpstr>
      <vt:lpstr>PowerPoint Presentation</vt:lpstr>
      <vt:lpstr>merging conflicts</vt:lpstr>
      <vt:lpstr>Git takeaways</vt:lpstr>
      <vt:lpstr>Getting a DOI and archiving your code</vt:lpstr>
      <vt:lpstr>Summary</vt:lpstr>
      <vt:lpstr>Bonus topics Pick one!</vt:lpstr>
      <vt:lpstr>git branching explanation</vt:lpstr>
      <vt:lpstr>visual demo of branching</vt:lpstr>
      <vt:lpstr>Navigating your git history: the HEAD pointer</vt:lpstr>
      <vt:lpstr>PowerPoint Presentation</vt:lpstr>
      <vt:lpstr>PowerPoint Presentation</vt:lpstr>
      <vt:lpstr>PowerPoint Presentation</vt:lpstr>
      <vt:lpstr>collaboration (forking and pull requests)</vt:lpstr>
      <vt:lpstr>PowerPoint Presentation</vt:lpstr>
      <vt:lpstr>PowerPoint Presentation</vt:lpstr>
      <vt:lpstr>PowerPoint Presentation</vt:lpstr>
      <vt:lpstr>GitHub Pages: a website for your repo</vt:lpstr>
      <vt:lpstr>GitHub Website</vt:lpstr>
      <vt:lpstr>GitHub Organizations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 Lei</dc:creator>
  <cp:lastModifiedBy>Ma, Lei</cp:lastModifiedBy>
  <cp:revision>33</cp:revision>
  <cp:lastPrinted>2025-02-18T13:31:50Z</cp:lastPrinted>
  <dcterms:created xsi:type="dcterms:W3CDTF">2025-02-04T19:18:36Z</dcterms:created>
  <dcterms:modified xsi:type="dcterms:W3CDTF">2025-09-24T17:05:24Z</dcterms:modified>
</cp:coreProperties>
</file>