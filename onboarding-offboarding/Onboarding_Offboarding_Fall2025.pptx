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34" r:id="rId1"/>
  </p:sldMasterIdLst>
  <p:sldIdLst>
    <p:sldId id="256" r:id="rId2"/>
    <p:sldId id="275" r:id="rId3"/>
    <p:sldId id="258" r:id="rId4"/>
    <p:sldId id="269" r:id="rId5"/>
    <p:sldId id="261" r:id="rId6"/>
    <p:sldId id="270" r:id="rId7"/>
    <p:sldId id="265" r:id="rId8"/>
    <p:sldId id="271" r:id="rId9"/>
    <p:sldId id="272" r:id="rId10"/>
    <p:sldId id="262" r:id="rId11"/>
    <p:sldId id="273" r:id="rId12"/>
    <p:sldId id="276" r:id="rId13"/>
    <p:sldId id="274" r:id="rId14"/>
    <p:sldId id="26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/>
    <p:restoredTop sz="94795"/>
  </p:normalViewPr>
  <p:slideViewPr>
    <p:cSldViewPr snapToGrid="0">
      <p:cViewPr varScale="1">
        <p:scale>
          <a:sx n="120" d="100"/>
          <a:sy n="120" d="100"/>
        </p:scale>
        <p:origin x="4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0793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804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93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018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336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634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544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55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86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62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9/24/25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4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diagrams.net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XguJfm2AVbNBALAXTVybZrj2WQESD7e7UWYi4hX4v0Y/edit?usp=sharing" TargetMode="External"/><Relationship Id="rId2" Type="http://schemas.openxmlformats.org/officeDocument/2006/relationships/hyperlink" Target="https://docs.google.com/document/d/166d1b6qUEWp_oFhU3F-MFs9EtKwr9pU6lIbzvAng8Co/edit?usp=drive_lin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uleuven.be/rdm/en/services/BADM-output-files/case3-researchdatahandover-checklist.pdf" TargetMode="External"/><Relationship Id="rId2" Type="http://schemas.openxmlformats.org/officeDocument/2006/relationships/hyperlink" Target="https://datamanagement.hms.harvard.edu/about/where-start/rdm-knowledge-transfer-file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ocs.rc.fas.harvard.edu/kb/offboardin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E600175-39F0-43C7-8405-DD4579CF7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DEB46E1F-0372-4440-887E-8B147731B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5412340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7503F-8D63-823E-7F39-E1ABED5913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8004" y="1480930"/>
            <a:ext cx="5607908" cy="3254321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The Baton Pass: preparing your data for the hand-off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66250-7A26-962D-DEAC-0385DC5B9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38006" y="4804850"/>
            <a:ext cx="5607906" cy="1086237"/>
          </a:xfrm>
        </p:spPr>
        <p:txBody>
          <a:bodyPr>
            <a:normAutofit fontScale="85000" lnSpcReduction="20000"/>
          </a:bodyPr>
          <a:lstStyle/>
          <a:p>
            <a:pPr algn="l"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Fall 2025</a:t>
            </a:r>
          </a:p>
          <a:p>
            <a:pPr algn="l"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Harvard FAS Informatics Group</a:t>
            </a:r>
          </a:p>
          <a:p>
            <a:pPr algn="l">
              <a:spcAft>
                <a:spcPts val="600"/>
              </a:spcAft>
            </a:pPr>
            <a:r>
              <a:rPr lang="en-US">
                <a:solidFill>
                  <a:schemeClr val="tx2"/>
                </a:solidFill>
              </a:rPr>
              <a:t>Lei Ma</a:t>
            </a:r>
          </a:p>
        </p:txBody>
      </p:sp>
      <p:pic>
        <p:nvPicPr>
          <p:cNvPr id="4" name="Picture 3" descr="A black and white image of hands shaking&#10;&#10;AI-generated content may be incorrect.">
            <a:extLst>
              <a:ext uri="{FF2B5EF4-FFF2-40B4-BE49-F238E27FC236}">
                <a16:creationId xmlns:a16="http://schemas.microsoft.com/office/drawing/2014/main" id="{D94EC901-F676-C3EF-0C42-67D0699F3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7" t="21653" r="13622" b="21991"/>
          <a:stretch/>
        </p:blipFill>
        <p:spPr>
          <a:xfrm>
            <a:off x="243015" y="1480930"/>
            <a:ext cx="4806492" cy="34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460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71B6C-E266-4484-4544-08FE5A5B2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1151FC-FB0F-2243-C67E-5BEB6EEDB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Onboarding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B557E-9B34-00EF-DF58-4C2AC31B8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0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024D02-87BB-4538-BB35-BD297D94E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55B4-03FE-69F3-115D-2F4352FE7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US"/>
              <a:t>Will you house sit for me for the next 2 months?</a:t>
            </a:r>
          </a:p>
        </p:txBody>
      </p:sp>
      <p:pic>
        <p:nvPicPr>
          <p:cNvPr id="5" name="Picture 4" descr="Cat beside flowers">
            <a:extLst>
              <a:ext uri="{FF2B5EF4-FFF2-40B4-BE49-F238E27FC236}">
                <a16:creationId xmlns:a16="http://schemas.microsoft.com/office/drawing/2014/main" id="{AC5335C6-187C-1B75-09DB-E6A107913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43" r="26388" b="-1"/>
          <a:stretch/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73DA661-0AB2-4196-A6A3-7A92321C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CBE69-255D-9ACE-1BEF-688D97D13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6000"/>
            <a:ext cx="6176776" cy="3581400"/>
          </a:xfrm>
        </p:spPr>
        <p:txBody>
          <a:bodyPr>
            <a:normAutofit/>
          </a:bodyPr>
          <a:lstStyle/>
          <a:p>
            <a:r>
              <a:rPr lang="en-US"/>
              <a:t>Feed my cats</a:t>
            </a:r>
          </a:p>
          <a:p>
            <a:r>
              <a:rPr lang="en-US"/>
              <a:t>Feed my dogs</a:t>
            </a:r>
          </a:p>
          <a:p>
            <a:r>
              <a:rPr lang="en-US"/>
              <a:t>Walk my dogs</a:t>
            </a:r>
          </a:p>
          <a:p>
            <a:r>
              <a:rPr lang="en-US"/>
              <a:t>Make sure they get to their vet appointments!</a:t>
            </a:r>
          </a:p>
          <a:p>
            <a:r>
              <a:rPr lang="en-US"/>
              <a:t>Keep my plants alive</a:t>
            </a:r>
          </a:p>
          <a:p>
            <a:r>
              <a:rPr lang="en-US"/>
              <a:t>Keep everything in good repair</a:t>
            </a:r>
          </a:p>
        </p:txBody>
      </p:sp>
    </p:spTree>
    <p:extLst>
      <p:ext uri="{BB962C8B-B14F-4D97-AF65-F5344CB8AC3E}">
        <p14:creationId xmlns:p14="http://schemas.microsoft.com/office/powerpoint/2010/main" val="3980951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0323DD-5AF9-94BF-4125-FEF390DC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2456F04-AFE7-DC11-92D0-251BA1D1E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66140-60E2-41AA-9AC9-9DAEC8317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824" y="685800"/>
            <a:ext cx="6176776" cy="1485900"/>
          </a:xfrm>
        </p:spPr>
        <p:txBody>
          <a:bodyPr>
            <a:normAutofit/>
          </a:bodyPr>
          <a:lstStyle/>
          <a:p>
            <a:r>
              <a:rPr lang="en-US"/>
              <a:t>Will you house sit for me for the next 2 months?</a:t>
            </a:r>
          </a:p>
        </p:txBody>
      </p:sp>
      <p:pic>
        <p:nvPicPr>
          <p:cNvPr id="5" name="Picture 4" descr="Cat beside flowers">
            <a:extLst>
              <a:ext uri="{FF2B5EF4-FFF2-40B4-BE49-F238E27FC236}">
                <a16:creationId xmlns:a16="http://schemas.microsoft.com/office/drawing/2014/main" id="{8C937E2B-E396-A907-1D6F-9786747E9B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43" r="26388" b="-1"/>
          <a:stretch/>
        </p:blipFill>
        <p:spPr>
          <a:xfrm>
            <a:off x="-1" y="10"/>
            <a:ext cx="4373546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8BCB360-520A-F536-AE44-CCDB48EF6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354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DBD9B-EFEA-792A-3EFD-952496C9E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824" y="2285999"/>
            <a:ext cx="6176776" cy="4391247"/>
          </a:xfrm>
        </p:spPr>
        <p:txBody>
          <a:bodyPr>
            <a:normAutofit/>
          </a:bodyPr>
          <a:lstStyle/>
          <a:p>
            <a:r>
              <a:rPr lang="en-US" sz="1400"/>
              <a:t>Feed my pets</a:t>
            </a:r>
          </a:p>
          <a:p>
            <a:pPr lvl="1"/>
            <a:r>
              <a:rPr lang="en-US" sz="1400"/>
              <a:t>Fluffy: Purina cat chow 200g/day</a:t>
            </a:r>
          </a:p>
          <a:p>
            <a:pPr lvl="1"/>
            <a:r>
              <a:rPr lang="en-US" sz="1400"/>
              <a:t>Baxter: ScienceDiet dog food 300g/day</a:t>
            </a:r>
          </a:p>
          <a:p>
            <a:pPr lvl="1"/>
            <a:r>
              <a:rPr lang="en-US" sz="1400"/>
              <a:t>Boo: Purina puupy chow 300g twice a day</a:t>
            </a:r>
          </a:p>
          <a:p>
            <a:pPr lvl="1"/>
            <a:r>
              <a:rPr lang="en-US" sz="1400"/>
              <a:t>Food is in kitchen shelf left of fridge</a:t>
            </a:r>
          </a:p>
          <a:p>
            <a:r>
              <a:rPr lang="en-US" sz="1400"/>
              <a:t>Walk my dog</a:t>
            </a:r>
          </a:p>
          <a:p>
            <a:pPr lvl="1"/>
            <a:r>
              <a:rPr lang="en-US" sz="1400"/>
              <a:t>map.jpg of routes &amp; dog parks</a:t>
            </a:r>
          </a:p>
          <a:p>
            <a:r>
              <a:rPr lang="en-US" sz="1400"/>
              <a:t>Plant care</a:t>
            </a:r>
          </a:p>
          <a:p>
            <a:pPr lvl="1"/>
            <a:r>
              <a:rPr lang="en-US" sz="1400"/>
              <a:t>watering schedule attached to each pot</a:t>
            </a:r>
          </a:p>
          <a:p>
            <a:r>
              <a:rPr lang="en-US" sz="1400"/>
              <a:t>Contact info:</a:t>
            </a:r>
          </a:p>
          <a:p>
            <a:pPr lvl="1"/>
            <a:r>
              <a:rPr lang="en-US" sz="1400"/>
              <a:t>vet: vet_name@vet.com</a:t>
            </a:r>
          </a:p>
          <a:p>
            <a:pPr lvl="1"/>
            <a:r>
              <a:rPr lang="en-US" sz="1400"/>
              <a:t>repair person: bob@builder.com</a:t>
            </a:r>
          </a:p>
          <a:p>
            <a:pPr lvl="1"/>
            <a:r>
              <a:rPr lang="en-US" sz="1400"/>
              <a:t>lawncare company: lawns@lawnsome.com</a:t>
            </a:r>
          </a:p>
          <a:p>
            <a:r>
              <a:rPr lang="en-US" sz="1400"/>
              <a:t>Cash to buy goods &amp; services in desk drawer top</a:t>
            </a:r>
          </a:p>
        </p:txBody>
      </p:sp>
    </p:spTree>
    <p:extLst>
      <p:ext uri="{BB962C8B-B14F-4D97-AF65-F5344CB8AC3E}">
        <p14:creationId xmlns:p14="http://schemas.microsoft.com/office/powerpoint/2010/main" val="31305343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2EFF3-8928-F306-9149-F820A5C19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Data Onboarding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A197A-4D29-09D2-7488-E335FF438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Where is the data and how to access it?</a:t>
            </a:r>
          </a:p>
          <a:p>
            <a:r>
              <a:rPr lang="en-US"/>
              <a:t>What is the data management plan for the project?</a:t>
            </a:r>
          </a:p>
          <a:p>
            <a:r>
              <a:rPr lang="en-US"/>
              <a:t>What are the requirements for data sharing?</a:t>
            </a:r>
          </a:p>
          <a:p>
            <a:r>
              <a:rPr lang="en-US"/>
              <a:t>How do you collaborate with your coauthors?</a:t>
            </a:r>
          </a:p>
          <a:p>
            <a:r>
              <a:rPr lang="en-US"/>
              <a:t>Where is the metadata and what do the fields mean?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480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C4CDC-7EF5-0088-A5C2-5160459F0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D5BDE-D562-ACBF-8B32-065574E8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/>
              <a:t>What did you have to learn when you started your project? (don’t include domain knowledge)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D528-7860-6541-ABF3-4BF3CC65D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424223"/>
            <a:ext cx="9601200" cy="3581400"/>
          </a:xfrm>
          <a:custGeom>
            <a:avLst/>
            <a:gdLst>
              <a:gd name="connsiteX0" fmla="*/ 0 w 9601200"/>
              <a:gd name="connsiteY0" fmla="*/ 0 h 3581400"/>
              <a:gd name="connsiteX1" fmla="*/ 493776 w 9601200"/>
              <a:gd name="connsiteY1" fmla="*/ 0 h 3581400"/>
              <a:gd name="connsiteX2" fmla="*/ 891540 w 9601200"/>
              <a:gd name="connsiteY2" fmla="*/ 0 h 3581400"/>
              <a:gd name="connsiteX3" fmla="*/ 1577340 w 9601200"/>
              <a:gd name="connsiteY3" fmla="*/ 0 h 3581400"/>
              <a:gd name="connsiteX4" fmla="*/ 2455164 w 9601200"/>
              <a:gd name="connsiteY4" fmla="*/ 0 h 3581400"/>
              <a:gd name="connsiteX5" fmla="*/ 3044952 w 9601200"/>
              <a:gd name="connsiteY5" fmla="*/ 0 h 3581400"/>
              <a:gd name="connsiteX6" fmla="*/ 3634740 w 9601200"/>
              <a:gd name="connsiteY6" fmla="*/ 0 h 3581400"/>
              <a:gd name="connsiteX7" fmla="*/ 4320540 w 9601200"/>
              <a:gd name="connsiteY7" fmla="*/ 0 h 3581400"/>
              <a:gd name="connsiteX8" fmla="*/ 5102352 w 9601200"/>
              <a:gd name="connsiteY8" fmla="*/ 0 h 3581400"/>
              <a:gd name="connsiteX9" fmla="*/ 5884164 w 9601200"/>
              <a:gd name="connsiteY9" fmla="*/ 0 h 3581400"/>
              <a:gd name="connsiteX10" fmla="*/ 6665976 w 9601200"/>
              <a:gd name="connsiteY10" fmla="*/ 0 h 3581400"/>
              <a:gd name="connsiteX11" fmla="*/ 7543800 w 9601200"/>
              <a:gd name="connsiteY11" fmla="*/ 0 h 3581400"/>
              <a:gd name="connsiteX12" fmla="*/ 8229600 w 9601200"/>
              <a:gd name="connsiteY12" fmla="*/ 0 h 3581400"/>
              <a:gd name="connsiteX13" fmla="*/ 9011412 w 9601200"/>
              <a:gd name="connsiteY13" fmla="*/ 0 h 3581400"/>
              <a:gd name="connsiteX14" fmla="*/ 9601200 w 9601200"/>
              <a:gd name="connsiteY14" fmla="*/ 0 h 3581400"/>
              <a:gd name="connsiteX15" fmla="*/ 9601200 w 9601200"/>
              <a:gd name="connsiteY15" fmla="*/ 596900 h 3581400"/>
              <a:gd name="connsiteX16" fmla="*/ 9601200 w 9601200"/>
              <a:gd name="connsiteY16" fmla="*/ 1229614 h 3581400"/>
              <a:gd name="connsiteX17" fmla="*/ 9601200 w 9601200"/>
              <a:gd name="connsiteY17" fmla="*/ 1898142 h 3581400"/>
              <a:gd name="connsiteX18" fmla="*/ 9601200 w 9601200"/>
              <a:gd name="connsiteY18" fmla="*/ 2530856 h 3581400"/>
              <a:gd name="connsiteX19" fmla="*/ 9601200 w 9601200"/>
              <a:gd name="connsiteY19" fmla="*/ 3056128 h 3581400"/>
              <a:gd name="connsiteX20" fmla="*/ 9601200 w 9601200"/>
              <a:gd name="connsiteY20" fmla="*/ 3581400 h 3581400"/>
              <a:gd name="connsiteX21" fmla="*/ 9011412 w 9601200"/>
              <a:gd name="connsiteY21" fmla="*/ 3581400 h 3581400"/>
              <a:gd name="connsiteX22" fmla="*/ 8325612 w 9601200"/>
              <a:gd name="connsiteY22" fmla="*/ 3581400 h 3581400"/>
              <a:gd name="connsiteX23" fmla="*/ 7927848 w 9601200"/>
              <a:gd name="connsiteY23" fmla="*/ 3581400 h 3581400"/>
              <a:gd name="connsiteX24" fmla="*/ 7338060 w 9601200"/>
              <a:gd name="connsiteY24" fmla="*/ 3581400 h 3581400"/>
              <a:gd name="connsiteX25" fmla="*/ 6556248 w 9601200"/>
              <a:gd name="connsiteY25" fmla="*/ 3581400 h 3581400"/>
              <a:gd name="connsiteX26" fmla="*/ 6062472 w 9601200"/>
              <a:gd name="connsiteY26" fmla="*/ 3581400 h 3581400"/>
              <a:gd name="connsiteX27" fmla="*/ 5184648 w 9601200"/>
              <a:gd name="connsiteY27" fmla="*/ 3581400 h 3581400"/>
              <a:gd name="connsiteX28" fmla="*/ 4306824 w 9601200"/>
              <a:gd name="connsiteY28" fmla="*/ 3581400 h 3581400"/>
              <a:gd name="connsiteX29" fmla="*/ 3621024 w 9601200"/>
              <a:gd name="connsiteY29" fmla="*/ 3581400 h 3581400"/>
              <a:gd name="connsiteX30" fmla="*/ 2743200 w 9601200"/>
              <a:gd name="connsiteY30" fmla="*/ 3581400 h 3581400"/>
              <a:gd name="connsiteX31" fmla="*/ 2057400 w 9601200"/>
              <a:gd name="connsiteY31" fmla="*/ 3581400 h 3581400"/>
              <a:gd name="connsiteX32" fmla="*/ 1275588 w 9601200"/>
              <a:gd name="connsiteY32" fmla="*/ 3581400 h 3581400"/>
              <a:gd name="connsiteX33" fmla="*/ 877824 w 9601200"/>
              <a:gd name="connsiteY33" fmla="*/ 3581400 h 3581400"/>
              <a:gd name="connsiteX34" fmla="*/ 0 w 9601200"/>
              <a:gd name="connsiteY34" fmla="*/ 3581400 h 3581400"/>
              <a:gd name="connsiteX35" fmla="*/ 0 w 9601200"/>
              <a:gd name="connsiteY35" fmla="*/ 3020314 h 3581400"/>
              <a:gd name="connsiteX36" fmla="*/ 0 w 9601200"/>
              <a:gd name="connsiteY36" fmla="*/ 2459228 h 3581400"/>
              <a:gd name="connsiteX37" fmla="*/ 0 w 9601200"/>
              <a:gd name="connsiteY37" fmla="*/ 1933956 h 3581400"/>
              <a:gd name="connsiteX38" fmla="*/ 0 w 9601200"/>
              <a:gd name="connsiteY38" fmla="*/ 1372870 h 3581400"/>
              <a:gd name="connsiteX39" fmla="*/ 0 w 9601200"/>
              <a:gd name="connsiteY39" fmla="*/ 740156 h 3581400"/>
              <a:gd name="connsiteX40" fmla="*/ 0 w 9601200"/>
              <a:gd name="connsiteY40" fmla="*/ 0 h 358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9601200" h="3581400" fill="none" extrusionOk="0">
                <a:moveTo>
                  <a:pt x="0" y="0"/>
                </a:moveTo>
                <a:cubicBezTo>
                  <a:pt x="221652" y="-19791"/>
                  <a:pt x="315463" y="7769"/>
                  <a:pt x="493776" y="0"/>
                </a:cubicBezTo>
                <a:cubicBezTo>
                  <a:pt x="672089" y="-7769"/>
                  <a:pt x="747292" y="8804"/>
                  <a:pt x="891540" y="0"/>
                </a:cubicBezTo>
                <a:cubicBezTo>
                  <a:pt x="1035788" y="-8804"/>
                  <a:pt x="1337037" y="-15412"/>
                  <a:pt x="1577340" y="0"/>
                </a:cubicBezTo>
                <a:cubicBezTo>
                  <a:pt x="1817643" y="15412"/>
                  <a:pt x="2098184" y="-40293"/>
                  <a:pt x="2455164" y="0"/>
                </a:cubicBezTo>
                <a:cubicBezTo>
                  <a:pt x="2812144" y="40293"/>
                  <a:pt x="2757181" y="-26254"/>
                  <a:pt x="3044952" y="0"/>
                </a:cubicBezTo>
                <a:cubicBezTo>
                  <a:pt x="3332723" y="26254"/>
                  <a:pt x="3418452" y="-28469"/>
                  <a:pt x="3634740" y="0"/>
                </a:cubicBezTo>
                <a:cubicBezTo>
                  <a:pt x="3851028" y="28469"/>
                  <a:pt x="4125222" y="33102"/>
                  <a:pt x="4320540" y="0"/>
                </a:cubicBezTo>
                <a:cubicBezTo>
                  <a:pt x="4515858" y="-33102"/>
                  <a:pt x="4940088" y="23208"/>
                  <a:pt x="5102352" y="0"/>
                </a:cubicBezTo>
                <a:cubicBezTo>
                  <a:pt x="5264616" y="-23208"/>
                  <a:pt x="5667911" y="26563"/>
                  <a:pt x="5884164" y="0"/>
                </a:cubicBezTo>
                <a:cubicBezTo>
                  <a:pt x="6100417" y="-26563"/>
                  <a:pt x="6424494" y="-37937"/>
                  <a:pt x="6665976" y="0"/>
                </a:cubicBezTo>
                <a:cubicBezTo>
                  <a:pt x="6907458" y="37937"/>
                  <a:pt x="7179194" y="-28992"/>
                  <a:pt x="7543800" y="0"/>
                </a:cubicBezTo>
                <a:cubicBezTo>
                  <a:pt x="7908406" y="28992"/>
                  <a:pt x="8028763" y="19351"/>
                  <a:pt x="8229600" y="0"/>
                </a:cubicBezTo>
                <a:cubicBezTo>
                  <a:pt x="8430437" y="-19351"/>
                  <a:pt x="8828145" y="-5747"/>
                  <a:pt x="9011412" y="0"/>
                </a:cubicBezTo>
                <a:cubicBezTo>
                  <a:pt x="9194679" y="5747"/>
                  <a:pt x="9434786" y="11273"/>
                  <a:pt x="9601200" y="0"/>
                </a:cubicBezTo>
                <a:cubicBezTo>
                  <a:pt x="9626460" y="282247"/>
                  <a:pt x="9604205" y="408603"/>
                  <a:pt x="9601200" y="596900"/>
                </a:cubicBezTo>
                <a:cubicBezTo>
                  <a:pt x="9598195" y="785197"/>
                  <a:pt x="9629013" y="962835"/>
                  <a:pt x="9601200" y="1229614"/>
                </a:cubicBezTo>
                <a:cubicBezTo>
                  <a:pt x="9573387" y="1496393"/>
                  <a:pt x="9607583" y="1586438"/>
                  <a:pt x="9601200" y="1898142"/>
                </a:cubicBezTo>
                <a:cubicBezTo>
                  <a:pt x="9594817" y="2209846"/>
                  <a:pt x="9575149" y="2270230"/>
                  <a:pt x="9601200" y="2530856"/>
                </a:cubicBezTo>
                <a:cubicBezTo>
                  <a:pt x="9627251" y="2791482"/>
                  <a:pt x="9577026" y="2940943"/>
                  <a:pt x="9601200" y="3056128"/>
                </a:cubicBezTo>
                <a:cubicBezTo>
                  <a:pt x="9625374" y="3171313"/>
                  <a:pt x="9620236" y="3321535"/>
                  <a:pt x="9601200" y="3581400"/>
                </a:cubicBezTo>
                <a:cubicBezTo>
                  <a:pt x="9380247" y="3604439"/>
                  <a:pt x="9238502" y="3560131"/>
                  <a:pt x="9011412" y="3581400"/>
                </a:cubicBezTo>
                <a:cubicBezTo>
                  <a:pt x="8784322" y="3602669"/>
                  <a:pt x="8531286" y="3607792"/>
                  <a:pt x="8325612" y="3581400"/>
                </a:cubicBezTo>
                <a:cubicBezTo>
                  <a:pt x="8119938" y="3555008"/>
                  <a:pt x="8123106" y="3599027"/>
                  <a:pt x="7927848" y="3581400"/>
                </a:cubicBezTo>
                <a:cubicBezTo>
                  <a:pt x="7732590" y="3563773"/>
                  <a:pt x="7551527" y="3598292"/>
                  <a:pt x="7338060" y="3581400"/>
                </a:cubicBezTo>
                <a:cubicBezTo>
                  <a:pt x="7124593" y="3564508"/>
                  <a:pt x="6833648" y="3568452"/>
                  <a:pt x="6556248" y="3581400"/>
                </a:cubicBezTo>
                <a:cubicBezTo>
                  <a:pt x="6278848" y="3594348"/>
                  <a:pt x="6217777" y="3565844"/>
                  <a:pt x="6062472" y="3581400"/>
                </a:cubicBezTo>
                <a:cubicBezTo>
                  <a:pt x="5907167" y="3596956"/>
                  <a:pt x="5383461" y="3591305"/>
                  <a:pt x="5184648" y="3581400"/>
                </a:cubicBezTo>
                <a:cubicBezTo>
                  <a:pt x="4985835" y="3571495"/>
                  <a:pt x="4637224" y="3540364"/>
                  <a:pt x="4306824" y="3581400"/>
                </a:cubicBezTo>
                <a:cubicBezTo>
                  <a:pt x="3976424" y="3622436"/>
                  <a:pt x="3810490" y="3578413"/>
                  <a:pt x="3621024" y="3581400"/>
                </a:cubicBezTo>
                <a:cubicBezTo>
                  <a:pt x="3431558" y="3584387"/>
                  <a:pt x="3172840" y="3555270"/>
                  <a:pt x="2743200" y="3581400"/>
                </a:cubicBezTo>
                <a:cubicBezTo>
                  <a:pt x="2313560" y="3607530"/>
                  <a:pt x="2274138" y="3615039"/>
                  <a:pt x="2057400" y="3581400"/>
                </a:cubicBezTo>
                <a:cubicBezTo>
                  <a:pt x="1840662" y="3547761"/>
                  <a:pt x="1555040" y="3584298"/>
                  <a:pt x="1275588" y="3581400"/>
                </a:cubicBezTo>
                <a:cubicBezTo>
                  <a:pt x="996136" y="3578502"/>
                  <a:pt x="1043693" y="3586485"/>
                  <a:pt x="877824" y="3581400"/>
                </a:cubicBezTo>
                <a:cubicBezTo>
                  <a:pt x="711955" y="3576315"/>
                  <a:pt x="338845" y="3584079"/>
                  <a:pt x="0" y="3581400"/>
                </a:cubicBezTo>
                <a:cubicBezTo>
                  <a:pt x="-27436" y="3347089"/>
                  <a:pt x="6159" y="3145399"/>
                  <a:pt x="0" y="3020314"/>
                </a:cubicBezTo>
                <a:cubicBezTo>
                  <a:pt x="-6159" y="2895229"/>
                  <a:pt x="24729" y="2573069"/>
                  <a:pt x="0" y="2459228"/>
                </a:cubicBezTo>
                <a:cubicBezTo>
                  <a:pt x="-24729" y="2345387"/>
                  <a:pt x="-3571" y="2055391"/>
                  <a:pt x="0" y="1933956"/>
                </a:cubicBezTo>
                <a:cubicBezTo>
                  <a:pt x="3571" y="1812521"/>
                  <a:pt x="15258" y="1601318"/>
                  <a:pt x="0" y="1372870"/>
                </a:cubicBezTo>
                <a:cubicBezTo>
                  <a:pt x="-15258" y="1144422"/>
                  <a:pt x="-21914" y="974626"/>
                  <a:pt x="0" y="740156"/>
                </a:cubicBezTo>
                <a:cubicBezTo>
                  <a:pt x="21914" y="505686"/>
                  <a:pt x="29533" y="251378"/>
                  <a:pt x="0" y="0"/>
                </a:cubicBezTo>
                <a:close/>
              </a:path>
              <a:path w="9601200" h="3581400" stroke="0" extrusionOk="0">
                <a:moveTo>
                  <a:pt x="0" y="0"/>
                </a:moveTo>
                <a:cubicBezTo>
                  <a:pt x="280995" y="5266"/>
                  <a:pt x="371446" y="-382"/>
                  <a:pt x="589788" y="0"/>
                </a:cubicBezTo>
                <a:cubicBezTo>
                  <a:pt x="808130" y="382"/>
                  <a:pt x="858258" y="-18623"/>
                  <a:pt x="987552" y="0"/>
                </a:cubicBezTo>
                <a:cubicBezTo>
                  <a:pt x="1116846" y="18623"/>
                  <a:pt x="1562126" y="19992"/>
                  <a:pt x="1865376" y="0"/>
                </a:cubicBezTo>
                <a:cubicBezTo>
                  <a:pt x="2168626" y="-19992"/>
                  <a:pt x="2173207" y="-14839"/>
                  <a:pt x="2455164" y="0"/>
                </a:cubicBezTo>
                <a:cubicBezTo>
                  <a:pt x="2737121" y="14839"/>
                  <a:pt x="2844905" y="-24874"/>
                  <a:pt x="3044952" y="0"/>
                </a:cubicBezTo>
                <a:cubicBezTo>
                  <a:pt x="3244999" y="24874"/>
                  <a:pt x="3510382" y="-31740"/>
                  <a:pt x="3922776" y="0"/>
                </a:cubicBezTo>
                <a:cubicBezTo>
                  <a:pt x="4335170" y="31740"/>
                  <a:pt x="4232619" y="-8246"/>
                  <a:pt x="4416552" y="0"/>
                </a:cubicBezTo>
                <a:cubicBezTo>
                  <a:pt x="4600485" y="8246"/>
                  <a:pt x="5077705" y="14602"/>
                  <a:pt x="5294376" y="0"/>
                </a:cubicBezTo>
                <a:cubicBezTo>
                  <a:pt x="5511047" y="-14602"/>
                  <a:pt x="5854574" y="-36808"/>
                  <a:pt x="6172200" y="0"/>
                </a:cubicBezTo>
                <a:cubicBezTo>
                  <a:pt x="6489826" y="36808"/>
                  <a:pt x="6640797" y="-28229"/>
                  <a:pt x="6858000" y="0"/>
                </a:cubicBezTo>
                <a:cubicBezTo>
                  <a:pt x="7075203" y="28229"/>
                  <a:pt x="7493069" y="37864"/>
                  <a:pt x="7735824" y="0"/>
                </a:cubicBezTo>
                <a:cubicBezTo>
                  <a:pt x="7978579" y="-37864"/>
                  <a:pt x="8062735" y="-8927"/>
                  <a:pt x="8325612" y="0"/>
                </a:cubicBezTo>
                <a:cubicBezTo>
                  <a:pt x="8588489" y="8927"/>
                  <a:pt x="8772334" y="-24525"/>
                  <a:pt x="8915400" y="0"/>
                </a:cubicBezTo>
                <a:cubicBezTo>
                  <a:pt x="9058466" y="24525"/>
                  <a:pt x="9379721" y="-16545"/>
                  <a:pt x="9601200" y="0"/>
                </a:cubicBezTo>
                <a:cubicBezTo>
                  <a:pt x="9584465" y="120683"/>
                  <a:pt x="9598241" y="347165"/>
                  <a:pt x="9601200" y="561086"/>
                </a:cubicBezTo>
                <a:cubicBezTo>
                  <a:pt x="9604159" y="775007"/>
                  <a:pt x="9630716" y="996635"/>
                  <a:pt x="9601200" y="1157986"/>
                </a:cubicBezTo>
                <a:cubicBezTo>
                  <a:pt x="9571684" y="1319337"/>
                  <a:pt x="9571239" y="1521242"/>
                  <a:pt x="9601200" y="1790700"/>
                </a:cubicBezTo>
                <a:cubicBezTo>
                  <a:pt x="9631161" y="2060158"/>
                  <a:pt x="9613605" y="2172765"/>
                  <a:pt x="9601200" y="2423414"/>
                </a:cubicBezTo>
                <a:cubicBezTo>
                  <a:pt x="9588795" y="2674063"/>
                  <a:pt x="9615242" y="2828126"/>
                  <a:pt x="9601200" y="3056128"/>
                </a:cubicBezTo>
                <a:cubicBezTo>
                  <a:pt x="9587158" y="3284130"/>
                  <a:pt x="9593328" y="3462114"/>
                  <a:pt x="9601200" y="3581400"/>
                </a:cubicBezTo>
                <a:cubicBezTo>
                  <a:pt x="9474644" y="3563417"/>
                  <a:pt x="9275874" y="3605889"/>
                  <a:pt x="9107424" y="3581400"/>
                </a:cubicBezTo>
                <a:cubicBezTo>
                  <a:pt x="8938974" y="3556911"/>
                  <a:pt x="8759097" y="3603523"/>
                  <a:pt x="8421624" y="3581400"/>
                </a:cubicBezTo>
                <a:cubicBezTo>
                  <a:pt x="8084151" y="3559277"/>
                  <a:pt x="8104827" y="3585166"/>
                  <a:pt x="7927848" y="3581400"/>
                </a:cubicBezTo>
                <a:cubicBezTo>
                  <a:pt x="7750869" y="3577634"/>
                  <a:pt x="7517346" y="3600856"/>
                  <a:pt x="7242048" y="3581400"/>
                </a:cubicBezTo>
                <a:cubicBezTo>
                  <a:pt x="6966750" y="3561944"/>
                  <a:pt x="7008619" y="3582469"/>
                  <a:pt x="6844284" y="3581400"/>
                </a:cubicBezTo>
                <a:cubicBezTo>
                  <a:pt x="6679949" y="3580331"/>
                  <a:pt x="6642923" y="3581608"/>
                  <a:pt x="6446520" y="3581400"/>
                </a:cubicBezTo>
                <a:cubicBezTo>
                  <a:pt x="6250117" y="3581192"/>
                  <a:pt x="6051128" y="3580322"/>
                  <a:pt x="5760720" y="3581400"/>
                </a:cubicBezTo>
                <a:cubicBezTo>
                  <a:pt x="5470312" y="3582478"/>
                  <a:pt x="5458208" y="3561671"/>
                  <a:pt x="5266944" y="3581400"/>
                </a:cubicBezTo>
                <a:cubicBezTo>
                  <a:pt x="5075680" y="3601129"/>
                  <a:pt x="4747669" y="3590592"/>
                  <a:pt x="4485132" y="3581400"/>
                </a:cubicBezTo>
                <a:cubicBezTo>
                  <a:pt x="4222595" y="3572208"/>
                  <a:pt x="4215683" y="3560548"/>
                  <a:pt x="3991356" y="3581400"/>
                </a:cubicBezTo>
                <a:cubicBezTo>
                  <a:pt x="3767029" y="3602252"/>
                  <a:pt x="3486433" y="3590143"/>
                  <a:pt x="3209544" y="3581400"/>
                </a:cubicBezTo>
                <a:cubicBezTo>
                  <a:pt x="2932655" y="3572657"/>
                  <a:pt x="2951316" y="3562439"/>
                  <a:pt x="2811780" y="3581400"/>
                </a:cubicBezTo>
                <a:cubicBezTo>
                  <a:pt x="2672244" y="3600361"/>
                  <a:pt x="2191149" y="3583447"/>
                  <a:pt x="2029968" y="3581400"/>
                </a:cubicBezTo>
                <a:cubicBezTo>
                  <a:pt x="1868787" y="3579353"/>
                  <a:pt x="1738235" y="3598363"/>
                  <a:pt x="1536192" y="3581400"/>
                </a:cubicBezTo>
                <a:cubicBezTo>
                  <a:pt x="1334149" y="3564437"/>
                  <a:pt x="1315154" y="3575679"/>
                  <a:pt x="1138428" y="3581400"/>
                </a:cubicBezTo>
                <a:cubicBezTo>
                  <a:pt x="961702" y="3587121"/>
                  <a:pt x="856113" y="3595502"/>
                  <a:pt x="644652" y="3581400"/>
                </a:cubicBezTo>
                <a:cubicBezTo>
                  <a:pt x="433191" y="3567298"/>
                  <a:pt x="229372" y="3600426"/>
                  <a:pt x="0" y="3581400"/>
                </a:cubicBezTo>
                <a:cubicBezTo>
                  <a:pt x="20218" y="3444112"/>
                  <a:pt x="17261" y="3217930"/>
                  <a:pt x="0" y="3056128"/>
                </a:cubicBezTo>
                <a:cubicBezTo>
                  <a:pt x="-17261" y="2894326"/>
                  <a:pt x="-13312" y="2676127"/>
                  <a:pt x="0" y="2566670"/>
                </a:cubicBezTo>
                <a:cubicBezTo>
                  <a:pt x="13312" y="2457213"/>
                  <a:pt x="-4398" y="2204251"/>
                  <a:pt x="0" y="2077212"/>
                </a:cubicBezTo>
                <a:cubicBezTo>
                  <a:pt x="4398" y="1950173"/>
                  <a:pt x="-16348" y="1586558"/>
                  <a:pt x="0" y="1444498"/>
                </a:cubicBezTo>
                <a:cubicBezTo>
                  <a:pt x="16348" y="1302438"/>
                  <a:pt x="-19269" y="1185161"/>
                  <a:pt x="0" y="955040"/>
                </a:cubicBezTo>
                <a:cubicBezTo>
                  <a:pt x="19269" y="724919"/>
                  <a:pt x="7063" y="379697"/>
                  <a:pt x="0" y="0"/>
                </a:cubicBezTo>
                <a:close/>
              </a:path>
            </a:pathLst>
          </a:custGeom>
          <a:ln w="571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219033472"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1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9BE8-213D-1BBE-6F06-6FAC72D95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your directory structure?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C96BD-0C76-E79E-2EDB-C4634E6AB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Hint: You can use the unix tree command to list your directories</a:t>
            </a:r>
          </a:p>
          <a:p>
            <a:r>
              <a:rPr lang="en-US"/>
              <a:t>You can use pen and paper, or a drawing tool like draw.io (</a:t>
            </a:r>
            <a:r>
              <a:rPr lang="en-US">
                <a:hlinkClick r:id="rId2"/>
              </a:rPr>
              <a:t>https://app.diagrams.net/</a:t>
            </a:r>
            <a:r>
              <a:rPr lang="en-US"/>
              <a:t>) </a:t>
            </a:r>
          </a:p>
          <a:p>
            <a:endParaRPr lang="en-US"/>
          </a:p>
        </p:txBody>
      </p:sp>
      <p:sp>
        <p:nvSpPr>
          <p:cNvPr id="4" name="Internal Storage 3">
            <a:extLst>
              <a:ext uri="{FF2B5EF4-FFF2-40B4-BE49-F238E27FC236}">
                <a16:creationId xmlns:a16="http://schemas.microsoft.com/office/drawing/2014/main" id="{6E2E8E26-4DB3-191B-E09A-45017027C52B}"/>
              </a:ext>
            </a:extLst>
          </p:cNvPr>
          <p:cNvSpPr/>
          <p:nvPr/>
        </p:nvSpPr>
        <p:spPr>
          <a:xfrm>
            <a:off x="9207795" y="1690577"/>
            <a:ext cx="2870791" cy="3902149"/>
          </a:xfrm>
          <a:prstGeom prst="flowChartInternalStorag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 directory diagram is like a blueprint or map of a house. You can create folders to hold things in the future</a:t>
            </a:r>
          </a:p>
        </p:txBody>
      </p:sp>
    </p:spTree>
    <p:extLst>
      <p:ext uri="{BB962C8B-B14F-4D97-AF65-F5344CB8AC3E}">
        <p14:creationId xmlns:p14="http://schemas.microsoft.com/office/powerpoint/2010/main" val="3096547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7E3E7-6F26-3E42-B056-1752A8231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Onboarding documents answer questions about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539E-88D5-099B-EB6E-683C35A17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Go over the onboarding document template</a:t>
            </a:r>
          </a:p>
          <a:p>
            <a:r>
              <a:rPr lang="en-US">
                <a:hlinkClick r:id="rId2"/>
              </a:rPr>
              <a:t>Template</a:t>
            </a:r>
            <a:endParaRPr lang="en-US"/>
          </a:p>
          <a:p>
            <a:r>
              <a:rPr lang="en-US">
                <a:hlinkClick r:id="rId3"/>
              </a:rPr>
              <a:t>Example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9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5FEDC0-1B3A-F975-4D84-DDBFDD3D6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Offboarding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664FD-7C37-9CDC-1A6A-83B3879EC2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89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F2FF-A96A-E589-A572-5616B538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Leaving for vacation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7656A-2795-D1A1-E213-9C19637BA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Put key in lockbox</a:t>
            </a:r>
          </a:p>
          <a:p>
            <a:r>
              <a:rPr lang="en-US"/>
              <a:t>Clean &amp; put away laundry</a:t>
            </a:r>
          </a:p>
          <a:p>
            <a:r>
              <a:rPr lang="en-US"/>
              <a:t>Take out the trash</a:t>
            </a:r>
          </a:p>
          <a:p>
            <a:r>
              <a:rPr lang="en-US"/>
              <a:t>Organize plants, pet food, leashes, etc</a:t>
            </a:r>
          </a:p>
          <a:p>
            <a:r>
              <a:rPr lang="en-US"/>
              <a:t>Inform contacts</a:t>
            </a:r>
          </a:p>
          <a:p>
            <a:r>
              <a:rPr lang="en-US"/>
              <a:t>Print out house-sitting document and leave it out</a:t>
            </a:r>
          </a:p>
        </p:txBody>
      </p:sp>
    </p:spTree>
    <p:extLst>
      <p:ext uri="{BB962C8B-B14F-4D97-AF65-F5344CB8AC3E}">
        <p14:creationId xmlns:p14="http://schemas.microsoft.com/office/powerpoint/2010/main" val="313971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Onboarding">
            <a:extLst>
              <a:ext uri="{FF2B5EF4-FFF2-40B4-BE49-F238E27FC236}">
                <a16:creationId xmlns:a16="http://schemas.microsoft.com/office/drawing/2014/main" id="{C456C982-B3FC-9419-F4AC-F820B5C9D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0043" y="568335"/>
            <a:ext cx="3230853" cy="3230853"/>
          </a:xfrm>
          <a:prstGeom prst="rect">
            <a:avLst/>
          </a:prstGeom>
          <a:ln w="12700">
            <a:noFill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C071FF3-9C7A-D5F6-3D1E-CDCC052D194D}"/>
              </a:ext>
            </a:extLst>
          </p:cNvPr>
          <p:cNvSpPr txBox="1">
            <a:spLocks/>
          </p:cNvSpPr>
          <p:nvPr/>
        </p:nvSpPr>
        <p:spPr>
          <a:xfrm>
            <a:off x="1294869" y="4184374"/>
            <a:ext cx="9601200" cy="1485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Your offboarding is someone else’s onboarding</a:t>
            </a:r>
          </a:p>
        </p:txBody>
      </p:sp>
    </p:spTree>
    <p:extLst>
      <p:ext uri="{BB962C8B-B14F-4D97-AF65-F5344CB8AC3E}">
        <p14:creationId xmlns:p14="http://schemas.microsoft.com/office/powerpoint/2010/main" val="454127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1183-7854-4D4C-D900-EC8770AB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Offboarding checklist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1ABF2-8DEC-5051-CCEE-59BD5A1E9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See example</a:t>
            </a:r>
          </a:p>
          <a:p>
            <a:r>
              <a:rPr lang="en-US"/>
              <a:t>Make your own additions </a:t>
            </a:r>
            <a:r>
              <a:rPr lang="en-US">
                <a:sym typeface="Wingdings" pitchFamily="2" charset="2"/>
              </a:rPr>
              <a:t></a:t>
            </a:r>
          </a:p>
          <a:p>
            <a:pPr lvl="1"/>
            <a:r>
              <a:rPr lang="en-US" i="0"/>
              <a:t>Transfer data to your new organization</a:t>
            </a:r>
          </a:p>
        </p:txBody>
      </p:sp>
    </p:spTree>
    <p:extLst>
      <p:ext uri="{BB962C8B-B14F-4D97-AF65-F5344CB8AC3E}">
        <p14:creationId xmlns:p14="http://schemas.microsoft.com/office/powerpoint/2010/main" val="1895020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FA769-0FDA-62F5-D9BE-D91EB4FA3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Best practices for folder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0BAD9-F801-4CBA-80FD-3D50533DD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Helps you during your work &amp; helps you pass on your work</a:t>
            </a:r>
          </a:p>
          <a:p>
            <a:r>
              <a:rPr lang="en-US"/>
              <a:t>Raw Inputs/Path from Input to output (scripts)/Output</a:t>
            </a:r>
          </a:p>
          <a:p>
            <a:r>
              <a:rPr lang="en-US"/>
              <a:t>Change your raw data so it’s read only !!</a:t>
            </a:r>
          </a:p>
          <a:p>
            <a:r>
              <a:rPr lang="en-US"/>
              <a:t>Use git to snapshot your code and backup to GitHub</a:t>
            </a:r>
          </a:p>
          <a:p>
            <a:r>
              <a:rPr lang="en-US"/>
              <a:t>At minimum:</a:t>
            </a:r>
          </a:p>
          <a:p>
            <a:pPr lvl="1"/>
            <a:r>
              <a:rPr lang="en-US"/>
              <a:t>README to keep track of input/code/output. Keep only files in README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30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38AF7-3E69-21B6-518E-0CA14CC7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Closing shop: how to create a knowledge transfer document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E44029-749F-A0FC-F58B-63C267A11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98265" y="259026"/>
            <a:ext cx="5663648" cy="614177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If you have an onboarding document, it’s already mostly there!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Add info about laboratory materials, protocols, lab notebooks, presentations/posters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Additional focus on “next steps” and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See </a:t>
            </a:r>
            <a:r>
              <a:rPr lang="en-US" sz="2000">
                <a:hlinkClick r:id="rId2"/>
              </a:rPr>
              <a:t>HMS RDM Knowledge Transfer File 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See </a:t>
            </a:r>
            <a:r>
              <a:rPr lang="en-US" sz="2000">
                <a:hlinkClick r:id="rId3"/>
              </a:rPr>
              <a:t>KU Leuven checklist </a:t>
            </a:r>
            <a:r>
              <a:rPr lang="en-US" sz="2000"/>
              <a:t>for research data handover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/>
              <a:t>See </a:t>
            </a:r>
            <a:r>
              <a:rPr lang="en-US" sz="2000">
                <a:hlinkClick r:id="rId4"/>
              </a:rPr>
              <a:t>FASRC Offboarding policies </a:t>
            </a:r>
            <a:r>
              <a:rPr lang="en-US" sz="2000"/>
              <a:t>and procedures</a:t>
            </a:r>
          </a:p>
        </p:txBody>
      </p:sp>
    </p:spTree>
    <p:extLst>
      <p:ext uri="{BB962C8B-B14F-4D97-AF65-F5344CB8AC3E}">
        <p14:creationId xmlns:p14="http://schemas.microsoft.com/office/powerpoint/2010/main" val="33463373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72608-EE2A-5060-09B0-A60D008F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Your next steps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75A6C6-1D7B-0231-76C5-33318D2D8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Fill out your own onboarding document and add specifics to your offboarding checklist</a:t>
            </a:r>
          </a:p>
          <a:p>
            <a:r>
              <a:rPr lang="en-US"/>
              <a:t>Come to an office hours or set up a meeting with us with questions and comments (and your draft documents) to receive one-on-one help/advice</a:t>
            </a:r>
          </a:p>
        </p:txBody>
      </p:sp>
    </p:spTree>
    <p:extLst>
      <p:ext uri="{BB962C8B-B14F-4D97-AF65-F5344CB8AC3E}">
        <p14:creationId xmlns:p14="http://schemas.microsoft.com/office/powerpoint/2010/main" val="4160474445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35889</TotalTime>
  <Words>546</Words>
  <Application>Microsoft Macintosh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Franklin Gothic Book</vt:lpstr>
      <vt:lpstr>Wingdings</vt:lpstr>
      <vt:lpstr>Crop</vt:lpstr>
      <vt:lpstr>The Baton Pass: preparing your data for the hand-off</vt:lpstr>
      <vt:lpstr>Onboarding</vt:lpstr>
      <vt:lpstr>Will you house sit for me for the next 2 months?</vt:lpstr>
      <vt:lpstr>Will you house sit for me for the next 2 months?</vt:lpstr>
      <vt:lpstr>Research Data Onboarding</vt:lpstr>
      <vt:lpstr>What did you have to learn when you started your project? (don’t include domain knowledge)</vt:lpstr>
      <vt:lpstr>What is your directory structure?</vt:lpstr>
      <vt:lpstr>Onboarding documents answer questions about your project</vt:lpstr>
      <vt:lpstr>Offboarding</vt:lpstr>
      <vt:lpstr>Leaving for vacation checklist</vt:lpstr>
      <vt:lpstr>PowerPoint Presentation</vt:lpstr>
      <vt:lpstr>Offboarding checklist</vt:lpstr>
      <vt:lpstr>Best practices for folder organization</vt:lpstr>
      <vt:lpstr>Closing shop: how to create a knowledge transfer document</vt:lpstr>
      <vt:lpstr>Your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Ma, Lei</dc:creator>
  <cp:lastModifiedBy>Ma, Lei</cp:lastModifiedBy>
  <cp:revision>10</cp:revision>
  <dcterms:created xsi:type="dcterms:W3CDTF">2025-03-11T19:54:24Z</dcterms:created>
  <dcterms:modified xsi:type="dcterms:W3CDTF">2025-09-24T17:07:00Z</dcterms:modified>
</cp:coreProperties>
</file>